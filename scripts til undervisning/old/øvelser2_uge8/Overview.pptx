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60000" cy="3338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60000" cy="3338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180000"/>
            <a:ext cx="9720000" cy="900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"/>
          <p:cNvSpPr/>
          <p:nvPr/>
        </p:nvSpPr>
        <p:spPr>
          <a:xfrm>
            <a:off x="7560000" y="5130000"/>
            <a:ext cx="2520000" cy="405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"/>
          <p:cNvSpPr/>
          <p:nvPr/>
        </p:nvSpPr>
        <p:spPr>
          <a:xfrm>
            <a:off x="900000" y="5130000"/>
            <a:ext cx="6480000" cy="40500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"/>
          <p:cNvSpPr/>
          <p:nvPr/>
        </p:nvSpPr>
        <p:spPr>
          <a:xfrm>
            <a:off x="180000" y="5130000"/>
            <a:ext cx="540000" cy="405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Click to edit the outline text format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288000">
              <a:spcAft>
                <a:spcPts val="848"/>
              </a:spcAft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Second Outline Level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lvl="2" marL="576000">
              <a:spcAft>
                <a:spcPts val="635"/>
              </a:spcAft>
            </a:pPr>
            <a:r>
              <a:rPr b="0" lang="en-US" sz="1350" spc="-1" strike="noStrike">
                <a:solidFill>
                  <a:srgbClr val="1c1c1c"/>
                </a:solidFill>
                <a:latin typeface="Source Sans Pro Light"/>
              </a:rPr>
              <a:t>Third Outline Level</a:t>
            </a:r>
            <a:endParaRPr b="0" lang="en-US" sz="1350" spc="-1" strike="noStrike">
              <a:solidFill>
                <a:srgbClr val="1c1c1c"/>
              </a:solidFill>
              <a:latin typeface="Source Sans Pro Light"/>
            </a:endParaRPr>
          </a:p>
          <a:p>
            <a:pPr lvl="3" marL="864000">
              <a:spcAft>
                <a:spcPts val="425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Fourth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4" marL="1152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Fifth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5" marL="1440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Sixth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6" marL="1728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Seventh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</p:txBody>
      </p:sp>
      <p:sp>
        <p:nvSpPr>
          <p:cNvPr id="6" name=""/>
          <p:cNvSpPr/>
          <p:nvPr/>
        </p:nvSpPr>
        <p:spPr>
          <a:xfrm>
            <a:off x="180000" y="5130000"/>
            <a:ext cx="540000" cy="405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" name="PlaceHolder 3"/>
          <p:cNvSpPr>
            <a:spLocks noGrp="1"/>
          </p:cNvSpPr>
          <p:nvPr>
            <p:ph type="sldNum"/>
          </p:nvPr>
        </p:nvSpPr>
        <p:spPr>
          <a:xfrm>
            <a:off x="-180000" y="5130000"/>
            <a:ext cx="126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fld id="{F03031D2-588F-470C-9654-EFA781A38C45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/>
          </p:nvPr>
        </p:nvSpPr>
        <p:spPr>
          <a:xfrm>
            <a:off x="900000" y="5130000"/>
            <a:ext cx="648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/>
          </p:nvPr>
        </p:nvSpPr>
        <p:spPr>
          <a:xfrm>
            <a:off x="7560000" y="5130000"/>
            <a:ext cx="2340000" cy="391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r"/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1980000"/>
            <a:ext cx="9720000" cy="990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2160000"/>
            <a:ext cx="918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40000" y="3150000"/>
            <a:ext cx="9000000" cy="1890000"/>
          </a:xfrm>
          <a:prstGeom prst="rect">
            <a:avLst/>
          </a:prstGeom>
        </p:spPr>
        <p:txBody>
          <a:bodyPr lIns="0" rIns="0" tIns="0" bIns="0">
            <a:normAutofit fontScale="94000"/>
          </a:bodyPr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Click to edit the outline text format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288000">
              <a:spcAft>
                <a:spcPts val="848"/>
              </a:spcAft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Second Outline Level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lvl="2" marL="576000">
              <a:spcAft>
                <a:spcPts val="635"/>
              </a:spcAft>
            </a:pPr>
            <a:r>
              <a:rPr b="0" lang="en-US" sz="1350" spc="-1" strike="noStrike">
                <a:solidFill>
                  <a:srgbClr val="1c1c1c"/>
                </a:solidFill>
                <a:latin typeface="Source Sans Pro Light"/>
              </a:rPr>
              <a:t>Third Outline Level</a:t>
            </a:r>
            <a:endParaRPr b="0" lang="en-US" sz="1350" spc="-1" strike="noStrike">
              <a:solidFill>
                <a:srgbClr val="1c1c1c"/>
              </a:solidFill>
              <a:latin typeface="Source Sans Pro Light"/>
            </a:endParaRPr>
          </a:p>
          <a:p>
            <a:pPr lvl="3" marL="864000">
              <a:spcAft>
                <a:spcPts val="425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Fourth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4" marL="1152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Fifth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5" marL="1440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Sixth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6" marL="1728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Seventh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/>
          </p:nvPr>
        </p:nvSpPr>
        <p:spPr>
          <a:xfrm>
            <a:off x="7560000" y="5130000"/>
            <a:ext cx="234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1" lang="en-US" sz="1800" spc="-1" strike="noStrike">
                <a:solidFill>
                  <a:srgbClr val="c9211e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c9211e"/>
              </a:solidFill>
              <a:latin typeface="Source Sans Pro Black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/>
          </p:nvPr>
        </p:nvSpPr>
        <p:spPr>
          <a:xfrm>
            <a:off x="1080000" y="5130000"/>
            <a:ext cx="324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1" lang="en-US" sz="1800" spc="-1" strike="noStrike">
                <a:solidFill>
                  <a:srgbClr val="c9211e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c9211e"/>
              </a:solidFill>
              <a:latin typeface="Source Sans Pro Black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/>
          </p:nvPr>
        </p:nvSpPr>
        <p:spPr>
          <a:xfrm>
            <a:off x="180000" y="5130000"/>
            <a:ext cx="540000" cy="405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53334D62-991F-47EF-98F4-12EE12FED6F9}" type="slidenum">
              <a:rPr b="1" lang="en-US" sz="1800" spc="-1" strike="noStrike">
                <a:solidFill>
                  <a:srgbClr val="c9211e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c9211e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cbs.dk/bibliotek/databaser/orbis" TargetMode="Externa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datacvr.virk.dk/" TargetMode="External"/><Relationship Id="rId2" Type="http://schemas.openxmlformats.org/officeDocument/2006/relationships/hyperlink" Target="https://datacvr.virk.dk/enhed/virksomhed/61126228" TargetMode="External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 txBox="1"/>
          <p:nvPr/>
        </p:nvSpPr>
        <p:spPr>
          <a:xfrm>
            <a:off x="360000" y="2160000"/>
            <a:ext cx="918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zxx" sz="2400" spc="-1" strike="noStrike">
                <a:solidFill>
                  <a:srgbClr val="ffffff"/>
                </a:solidFill>
                <a:latin typeface="Source Sans Pro Black"/>
              </a:rPr>
              <a:t>Øvelseslektion#2 </a:t>
            </a:r>
            <a:br/>
            <a:r>
              <a:rPr b="1" lang="zxx" sz="2400" spc="-1" strike="noStrike">
                <a:solidFill>
                  <a:srgbClr val="ffffff"/>
                </a:solidFill>
                <a:latin typeface="Source Sans Pro Black"/>
              </a:rPr>
              <a:t>Indsamling og konstruktion af netværksdata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40000" y="3150000"/>
            <a:ext cx="9000000" cy="18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endParaRPr b="0" lang="en-US" sz="22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zxx" sz="2400" spc="-1" strike="noStrike">
                <a:solidFill>
                  <a:srgbClr val="ffffff"/>
                </a:solidFill>
                <a:latin typeface="Source Sans Pro Black"/>
              </a:rPr>
              <a:t>#Datakilder: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216000" indent="-216000">
              <a:spcAft>
                <a:spcPts val="853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 </a:t>
            </a: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Danish Elite Nework 2017 (den17).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 </a:t>
            </a: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Data fra Orbis (se Lasses video på Canvas).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---------------------------------------------------------------------------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 </a:t>
            </a: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Data fra andre kilder, som I selv finder. CVR ,fx.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 txBox="1"/>
          <p:nvPr/>
        </p:nvSpPr>
        <p:spPr>
          <a:xfrm>
            <a:off x="4572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zxx" sz="2400" spc="-1" strike="noStrike">
                <a:solidFill>
                  <a:srgbClr val="ffffff"/>
                </a:solidFill>
                <a:latin typeface="Source Sans Pro Black"/>
              </a:rPr>
              <a:t>#Custom functions til den17 og Orbis 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56000"/>
          </a:bodyPr>
          <a:p>
            <a:pPr>
              <a:spcAft>
                <a:spcPts val="853"/>
              </a:spcAft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På Canvas ligger en fil: “custom_functions.R”, den skal I downloade og lægge i jeres projekt-mappes R-script folder.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>
              <a:spcAft>
                <a:spcPts val="853"/>
              </a:spcAft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 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>
              <a:spcAft>
                <a:spcPts val="853"/>
              </a:spcAft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Indeholder en række funktioner vi skal bruge til at lave specifikke udtræk fra den17 datasættet: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show.all.tags( )</a:t>
            </a:r>
            <a:r>
              <a:rPr b="1" lang="zxx" sz="1950" spc="-1" strike="noStrike">
                <a:solidFill>
                  <a:srgbClr val="999999"/>
                </a:solidFill>
                <a:latin typeface="Source Sans Pro Semibold"/>
              </a:rPr>
              <a:t> </a:t>
            </a:r>
            <a:r>
              <a:rPr b="1" i="1" lang="zxx" sz="1950" spc="-1" strike="noStrike">
                <a:solidFill>
                  <a:srgbClr val="999999"/>
                </a:solidFill>
                <a:latin typeface="Source Sans Pro Semibold"/>
              </a:rPr>
              <a:t>#viser hvilke tags der er i data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standard.sectors( ) </a:t>
            </a:r>
            <a:r>
              <a:rPr b="1" i="1" lang="zxx" sz="1950" spc="-1" strike="noStrike">
                <a:solidFill>
                  <a:srgbClr val="999999"/>
                </a:solidFill>
                <a:latin typeface="Source Sans Pro Semibold"/>
              </a:rPr>
              <a:t>#laver en liste over sammenhængen mellem tags og sectorer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tags.to.sectors( ) </a:t>
            </a:r>
            <a:r>
              <a:rPr b="1" i="1" lang="zxx" sz="1950" spc="-1" strike="noStrike">
                <a:solidFill>
                  <a:srgbClr val="999999"/>
                </a:solidFill>
                <a:latin typeface="Source Sans Pro Semibold"/>
              </a:rPr>
              <a:t>#subsetter et den-data-object til en sector baseret på tags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has.tags( ) </a:t>
            </a:r>
            <a:r>
              <a:rPr b="1" i="1" lang="zxx" sz="1950" spc="-1" strike="noStrike">
                <a:solidFill>
                  <a:srgbClr val="999999"/>
                </a:solidFill>
                <a:latin typeface="Source Sans Pro Semibold"/>
              </a:rPr>
              <a:t>#</a:t>
            </a:r>
            <a:r>
              <a:rPr b="1" i="1" lang="zxx" sz="1950" spc="-1" strike="noStrike">
                <a:solidFill>
                  <a:srgbClr val="999999"/>
                </a:solidFill>
                <a:latin typeface="Source Sans Pro Semibold"/>
              </a:rPr>
              <a:t>finder individer, affiliations eller hele datasæt, med et eller flere tags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sectors.to.role( ) </a:t>
            </a:r>
            <a:r>
              <a:rPr b="1" lang="zxx" sz="1950" spc="-1" strike="noStrike">
                <a:solidFill>
                  <a:srgbClr val="999999"/>
                </a:solidFill>
                <a:latin typeface="Source Sans Pro Semibold"/>
              </a:rPr>
              <a:t>#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Og en genvejs-funktion til at ‘indlæse’ et Orbis-datasæt, så det får samme struktur som den17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zxx" sz="1950" spc="-1" strike="noStrike">
                <a:solidFill>
                  <a:srgbClr val="1c1c1c"/>
                </a:solidFill>
                <a:latin typeface="Source Sans Pro Semibold"/>
              </a:rPr>
              <a:t>clean_orbis( )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#Subsetting den17 (gentagelse fra sidst...)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filter( … </a:t>
            </a:r>
            <a:r>
              <a:rPr b="1" i="1" lang="en-US" sz="1950" spc="-1" strike="noStrike">
                <a:solidFill>
                  <a:srgbClr val="b2b2b2"/>
                </a:solidFill>
                <a:latin typeface="Source Sans Pro Semibold"/>
              </a:rPr>
              <a:t>logical condition</a:t>
            </a:r>
            <a:r>
              <a:rPr b="1" lang="en-US" sz="1950" spc="-1" strike="noStrike">
                <a:solidFill>
                  <a:srgbClr val="b2b2b2"/>
                </a:solidFill>
                <a:latin typeface="Source Sans Pro Semibold"/>
              </a:rPr>
              <a:t> </a:t>
            </a: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… )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grep eller grepl 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#</a:t>
            </a:r>
            <a:r>
              <a:rPr b="1" lang="en-US" sz="1600" spc="-1" strike="noStrike" u="sng">
                <a:solidFill>
                  <a:srgbClr val="b2b2b2"/>
                </a:solidFill>
                <a:uFillTx/>
                <a:latin typeface="Source Sans Pro Semibold"/>
              </a:rPr>
              <a:t>G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lobal </a:t>
            </a:r>
            <a:r>
              <a:rPr b="1" lang="en-US" sz="1600" spc="-1" strike="noStrike" u="sng">
                <a:solidFill>
                  <a:srgbClr val="b2b2b2"/>
                </a:solidFill>
                <a:uFillTx/>
                <a:latin typeface="Source Sans Pro Semibold"/>
              </a:rPr>
              <a:t>R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egular </a:t>
            </a:r>
            <a:r>
              <a:rPr b="1" lang="en-US" sz="1600" spc="-1" strike="noStrike" u="sng">
                <a:solidFill>
                  <a:srgbClr val="b2b2b2"/>
                </a:solidFill>
                <a:uFillTx/>
                <a:latin typeface="Source Sans Pro Semibold"/>
              </a:rPr>
              <a:t>E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xpression search and </a:t>
            </a:r>
            <a:r>
              <a:rPr b="1" lang="en-US" sz="1600" spc="-1" strike="noStrike" u="sng">
                <a:solidFill>
                  <a:srgbClr val="b2b2b2"/>
                </a:solidFill>
                <a:uFillTx/>
                <a:latin typeface="Source Sans Pro Semibold"/>
              </a:rPr>
              <a:t>P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rint (+l for logical)</a:t>
            </a:r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sectors/tags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#forberedelse af data til netværk objekter (dataformater)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60000" y="1350000"/>
            <a:ext cx="51264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97000"/>
          </a:bodyPr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(two-mode) edgelist </a:t>
            </a:r>
            <a:r>
              <a:rPr b="1" lang="en-US" sz="1950" spc="-1" strike="noStrike">
                <a:solidFill>
                  <a:srgbClr val="999999"/>
                </a:solidFill>
                <a:latin typeface="Source Sans Pro Semibold"/>
              </a:rPr>
              <a:t>#rækker svarer til forbindelser mellem to typer af enheder, f.x. individer og organisationer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incidence (biadjacency) matrix </a:t>
            </a:r>
            <a:r>
              <a:rPr b="1" lang="en-US" sz="1950" spc="-1" strike="noStrike">
                <a:solidFill>
                  <a:srgbClr val="999999"/>
                </a:solidFill>
                <a:latin typeface="Source Sans Pro Semibold"/>
              </a:rPr>
              <a:t>#rækker svarer til en type (f.x. individer) og kolonner svarer til en anden (f.x. organisationer)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lang="en-US" sz="1200" spc="-1" strike="noStrike">
                <a:solidFill>
                  <a:srgbClr val="000000"/>
                </a:solidFill>
                <a:latin typeface="Source Sans Pro Semibold"/>
              </a:rPr>
              <a:t>xtabs(~name + affiliation, data, sparse = TRUE)</a:t>
            </a:r>
            <a:endParaRPr b="1" lang="en-US" sz="120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000000"/>
                </a:solidFill>
                <a:latin typeface="Source Sans Pro Semibold"/>
              </a:rPr>
              <a:t>Adjacency matricer</a:t>
            </a:r>
            <a:r>
              <a:rPr b="1" lang="en-US" sz="1950" spc="-1" strike="noStrike">
                <a:solidFill>
                  <a:srgbClr val="999999"/>
                </a:solidFill>
                <a:latin typeface="Source Sans Pro Semibold"/>
              </a:rPr>
              <a:t> #rækker og koloner er af type (f.x. individer eller organisationer) 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lang="en-US" sz="1000" spc="-1" strike="noStrike">
                <a:solidFill>
                  <a:srgbClr val="000000"/>
                </a:solidFill>
                <a:latin typeface="Source Sans Pro Semibold"/>
              </a:rPr>
              <a:t>adj.i  ←  incidence %*% t(incidence)</a:t>
            </a:r>
            <a:endParaRPr b="1" lang="en-US" sz="100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lang="en-US" sz="1000" spc="-1" strike="noStrike">
                <a:solidFill>
                  <a:srgbClr val="000000"/>
                </a:solidFill>
                <a:latin typeface="Source Sans Pro Semibold"/>
              </a:rPr>
              <a:t>adj.a ←  t(incidence) %*% incidence</a:t>
            </a:r>
            <a:endParaRPr b="1" lang="en-US" sz="1000" spc="-1" strike="noStrike">
              <a:solidFill>
                <a:srgbClr val="1c1c1c"/>
              </a:solidFill>
              <a:latin typeface="Source Sans Pro Semibold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rcRect l="0" t="0" r="15389" b="0"/>
          <a:stretch/>
        </p:blipFill>
        <p:spPr>
          <a:xfrm>
            <a:off x="5943960" y="1424160"/>
            <a:ext cx="2514240" cy="633240"/>
          </a:xfrm>
          <a:prstGeom prst="rect">
            <a:avLst/>
          </a:prstGeom>
          <a:ln w="1800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5943600" y="2514600"/>
            <a:ext cx="2743200" cy="685800"/>
          </a:xfrm>
          <a:prstGeom prst="rect">
            <a:avLst/>
          </a:prstGeom>
          <a:ln w="18000">
            <a:noFill/>
          </a:ln>
        </p:spPr>
      </p:pic>
      <p:pic>
        <p:nvPicPr>
          <p:cNvPr id="100" name="" descr=""/>
          <p:cNvPicPr/>
          <p:nvPr/>
        </p:nvPicPr>
        <p:blipFill>
          <a:blip r:embed="rId3"/>
          <a:stretch/>
        </p:blipFill>
        <p:spPr>
          <a:xfrm>
            <a:off x="5029200" y="4419360"/>
            <a:ext cx="3886200" cy="657360"/>
          </a:xfrm>
          <a:prstGeom prst="rect">
            <a:avLst/>
          </a:prstGeom>
          <a:ln w="18000">
            <a:noFill/>
          </a:ln>
        </p:spPr>
      </p:pic>
      <p:pic>
        <p:nvPicPr>
          <p:cNvPr id="101" name="" descr=""/>
          <p:cNvPicPr/>
          <p:nvPr/>
        </p:nvPicPr>
        <p:blipFill>
          <a:blip r:embed="rId4"/>
          <a:stretch/>
        </p:blipFill>
        <p:spPr>
          <a:xfrm>
            <a:off x="5486400" y="3785400"/>
            <a:ext cx="3429000" cy="59976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#konstruktion af graf/netværks objekter fra matricer (igraph)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65000"/>
          </a:bodyPr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graph_from_biadjacency_matrix 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#tager en asymmetrisk matrice hvor rækker != kolonner, og returnerer et </a:t>
            </a:r>
            <a:r>
              <a:rPr b="1" i="1" lang="en-US" sz="1600" spc="-1" strike="noStrike">
                <a:solidFill>
                  <a:srgbClr val="b2b2b2"/>
                </a:solidFill>
                <a:latin typeface="Source Sans Pro Semibold"/>
              </a:rPr>
              <a:t>Two-mode (eller bipartite) 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projektion af et netværk.</a:t>
            </a:r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graph_from_adjacency_matrix 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#tager en symmetrisk matrice hvor rækker == kolonner, og returnerer en </a:t>
            </a:r>
            <a:r>
              <a:rPr b="1" i="1" lang="en-US" sz="1600" spc="-1" strike="noStrike">
                <a:solidFill>
                  <a:srgbClr val="b2b2b2"/>
                </a:solidFill>
                <a:latin typeface="Source Sans Pro Semibold"/>
              </a:rPr>
              <a:t>one-mode 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projektion af et netværk.</a:t>
            </a:r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  <a:p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+ simplify(….. , remove.multiple = TRUE, remove.loops = TRUE,  </a:t>
            </a:r>
            <a:r>
              <a:rPr b="1" lang="en-US" sz="1950" spc="-1" strike="noStrike">
                <a:solidFill>
                  <a:srgbClr val="b2b2b2"/>
                </a:solidFill>
                <a:latin typeface="Source Sans Pro Semibold"/>
              </a:rPr>
              <a:t>edge.attr.comb = … </a:t>
            </a: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)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lang="en-US" sz="1600" spc="-1" strike="noStrike">
                <a:solidFill>
                  <a:srgbClr val="000000"/>
                </a:solidFill>
                <a:latin typeface="Source Sans Pro Semibold"/>
              </a:rPr>
              <a:t>hurtigere alternativ:</a:t>
            </a:r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lang="en-US" sz="1600" spc="-1" strike="noStrike">
                <a:solidFill>
                  <a:srgbClr val="000000"/>
                </a:solidFill>
                <a:latin typeface="Source Sans Pro Semibold"/>
              </a:rPr>
              <a:t>gr ← graph_from_data_frame( ) 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#tager en one eller two-mode edgelist i data.frame format. Dvs. et datasæt med to kolonner, fx. name og affiliation</a:t>
            </a:r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  <a:p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i="1" lang="en-US" sz="1600" spc="-1" strike="noStrike">
                <a:solidFill>
                  <a:srgbClr val="000000"/>
                </a:solidFill>
                <a:latin typeface="Source Sans Pro Semibold"/>
              </a:rPr>
              <a:t>for two-mode kan man efterfølgende tilføje type attributten</a:t>
            </a:r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  <a:p>
            <a:r>
              <a:rPr b="1" lang="en-US" sz="1600" spc="-1" strike="noStrike">
                <a:solidFill>
                  <a:srgbClr val="000000"/>
                </a:solidFill>
                <a:latin typeface="Source Sans Pro Semibold"/>
              </a:rPr>
              <a:t>V(gr)$type ← bipartite_mapping(gr)$type </a:t>
            </a:r>
            <a:r>
              <a:rPr b="1" lang="en-US" sz="1600" spc="-1" strike="noStrike">
                <a:solidFill>
                  <a:srgbClr val="b2b2b2"/>
                </a:solidFill>
                <a:latin typeface="Source Sans Pro Semibold"/>
              </a:rPr>
              <a:t>#hvorefter vi kan tilføje en type attribute</a:t>
            </a:r>
            <a:endParaRPr b="1" lang="en-US" sz="160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315200" y="2310120"/>
            <a:ext cx="2286000" cy="66168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latin typeface="Source Sans Pro"/>
              </a:rPr>
              <a:t>“</a:t>
            </a:r>
            <a:r>
              <a:rPr b="0" lang="en-US" sz="1200" spc="-1" strike="noStrike">
                <a:latin typeface="Source Sans Pro"/>
              </a:rPr>
              <a:t>ignore”, “sum”, “prod”, “min”, “max”, “random”, “first”, “last”, ”mean”, “median”, “concat”</a:t>
            </a:r>
            <a:endParaRPr b="0" lang="en-US" sz="1200" spc="-1" strike="noStrike">
              <a:latin typeface="Source Sans Pro"/>
            </a:endParaRPr>
          </a:p>
        </p:txBody>
      </p:sp>
      <p:sp>
        <p:nvSpPr>
          <p:cNvPr id="105" name=""/>
          <p:cNvSpPr/>
          <p:nvPr/>
        </p:nvSpPr>
        <p:spPr>
          <a:xfrm flipH="1">
            <a:off x="7015320" y="2514600"/>
            <a:ext cx="339480" cy="268200"/>
          </a:xfrm>
          <a:prstGeom prst="line">
            <a:avLst/>
          </a:prstGeom>
          <a:ln w="18000">
            <a:solidFill>
              <a:srgbClr val="9999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#Netværks komponenter….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228600" y="1350000"/>
            <a:ext cx="4317120" cy="3387600"/>
          </a:xfrm>
          <a:prstGeom prst="rect">
            <a:avLst/>
          </a:prstGeom>
          <a:ln w="18000">
            <a:noFill/>
          </a:ln>
        </p:spPr>
      </p:pic>
      <p:pic>
        <p:nvPicPr>
          <p:cNvPr id="109" name="" descr=""/>
          <p:cNvPicPr/>
          <p:nvPr/>
        </p:nvPicPr>
        <p:blipFill>
          <a:blip r:embed="rId2"/>
          <a:srcRect l="0" t="0" r="19807" b="0"/>
          <a:stretch/>
        </p:blipFill>
        <p:spPr>
          <a:xfrm>
            <a:off x="4503960" y="1143000"/>
            <a:ext cx="3954240" cy="3726360"/>
          </a:xfrm>
          <a:prstGeom prst="rect">
            <a:avLst/>
          </a:prstGeom>
          <a:ln w="18000">
            <a:noFill/>
          </a:ln>
        </p:spPr>
      </p:pic>
      <p:sp>
        <p:nvSpPr>
          <p:cNvPr id="110" name=""/>
          <p:cNvSpPr/>
          <p:nvPr/>
        </p:nvSpPr>
        <p:spPr>
          <a:xfrm flipV="1">
            <a:off x="1828800" y="2514600"/>
            <a:ext cx="2971800" cy="457200"/>
          </a:xfrm>
          <a:prstGeom prst="line">
            <a:avLst/>
          </a:prstGeom>
          <a:ln w="180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#Orbisdata: Tobacco and Liquor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60000" y="1350000"/>
            <a:ext cx="6921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76000"/>
          </a:bodyPr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  <a:hlinkClick r:id="rId1"/>
              </a:rPr>
              <a:t>https://www.cbs.dk/bibliotek/databaser/orbis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 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Filter: </a:t>
            </a:r>
            <a:r>
              <a:rPr b="1" i="1" lang="en-US" sz="1950" spc="-1" strike="noStrike">
                <a:solidFill>
                  <a:srgbClr val="b2b2b2"/>
                </a:solidFill>
                <a:latin typeface="Source Sans Pro Semibold"/>
              </a:rPr>
              <a:t>legal form: Plc ; Industry: NACE 11 (-soft drinks) + 12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1" lang="en-US" sz="1950" spc="-1" strike="noStrike">
                <a:solidFill>
                  <a:srgbClr val="000000"/>
                </a:solidFill>
                <a:latin typeface="Source Sans Pro Semibold"/>
              </a:rPr>
              <a:t>View results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1" lang="en-US" sz="1950" spc="-1" strike="noStrike">
                <a:solidFill>
                  <a:srgbClr val="000000"/>
                </a:solidFill>
                <a:latin typeface="Source Sans Pro Semibold"/>
              </a:rPr>
              <a:t>Add variables [add/remove columns]: 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432000" indent="-216000">
              <a:spcAft>
                <a:spcPts val="848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0" i="1" lang="en-US" sz="1650" spc="-1" strike="noStrike">
                <a:solidFill>
                  <a:srgbClr val="999999"/>
                </a:solidFill>
                <a:latin typeface="Source Sans Pro Light"/>
              </a:rPr>
              <a:t>”</a:t>
            </a:r>
            <a:r>
              <a:rPr b="0" i="1" lang="en-US" sz="1650" spc="-1" strike="noStrike">
                <a:solidFill>
                  <a:srgbClr val="999999"/>
                </a:solidFill>
                <a:latin typeface="Source Sans Pro Light"/>
              </a:rPr>
              <a:t>directors and managers” &gt; full name; id; job title; Current or previous; Appointment date, Resignation date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lvl="1" marL="432000" indent="-216000">
              <a:spcAft>
                <a:spcPts val="848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0" i="1" lang="en-US" sz="1650" spc="-1" strike="noStrike">
                <a:solidFill>
                  <a:srgbClr val="999999"/>
                </a:solidFill>
                <a:latin typeface="Source Sans Pro Light"/>
              </a:rPr>
              <a:t>“</a:t>
            </a:r>
            <a:r>
              <a:rPr b="0" i="1" lang="en-US" sz="1650" spc="-1" strike="noStrike">
                <a:solidFill>
                  <a:srgbClr val="999999"/>
                </a:solidFill>
                <a:latin typeface="Source Sans Pro Light"/>
              </a:rPr>
              <a:t>other role information” &gt; Type of role; Board, committee or department; Level of responsibility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lvl="1" marL="432000" indent="-216000">
              <a:spcAft>
                <a:spcPts val="848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0" i="1" lang="en-US" sz="1650" spc="-1" strike="noStrike">
                <a:solidFill>
                  <a:srgbClr val="999999"/>
                </a:solidFill>
                <a:latin typeface="Source Sans Pro Light"/>
              </a:rPr>
              <a:t>...og meget mere...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1" lang="en-US" sz="1950" spc="-1" strike="noStrike">
                <a:solidFill>
                  <a:srgbClr val="000000"/>
                </a:solidFill>
                <a:latin typeface="Source Sans Pro Semibold"/>
              </a:rPr>
              <a:t>Export: “</a:t>
            </a:r>
            <a:r>
              <a:rPr b="1" lang="en-US" sz="1950" spc="-1" strike="noStrike">
                <a:solidFill>
                  <a:srgbClr val="999999"/>
                </a:solidFill>
                <a:latin typeface="Source Sans Pro Semibold"/>
              </a:rPr>
              <a:t>Options for Excel” &gt; repeat single data item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000000"/>
                </a:solidFill>
                <a:latin typeface="Source Sans Pro Semibold"/>
              </a:rPr>
              <a:t> 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>
              <a:spcAft>
                <a:spcPts val="853"/>
              </a:spcAft>
            </a:pPr>
            <a:r>
              <a:rPr b="1" i="1" lang="en-US" sz="1950" spc="-1" strike="noStrike">
                <a:solidFill>
                  <a:srgbClr val="b2b2b2"/>
                </a:solidFill>
                <a:latin typeface="Source Sans Pro Semibold"/>
              </a:rPr>
              <a:t> 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 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7461720" y="2365200"/>
            <a:ext cx="2500920" cy="318276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#CVR - Det Centrale Virksomhedsregister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94000"/>
          </a:bodyPr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  <a:hlinkClick r:id="rId1"/>
              </a:rPr>
              <a:t>https://datacvr.virk.dk/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Filter: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432000" indent="-216000">
              <a:spcAft>
                <a:spcPts val="8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999999"/>
                </a:solidFill>
                <a:latin typeface="Source Sans Pro Semibold"/>
              </a:rPr>
              <a:t>Kommune: København</a:t>
            </a:r>
            <a:endParaRPr b="0" lang="en-US" sz="1950" spc="-1" strike="noStrike">
              <a:solidFill>
                <a:srgbClr val="1c1c1c"/>
              </a:solidFill>
              <a:latin typeface="Source Sans Pro Light"/>
            </a:endParaRPr>
          </a:p>
          <a:p>
            <a:pPr lvl="1" marL="432000" indent="-216000">
              <a:spcAft>
                <a:spcPts val="8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999999"/>
                </a:solidFill>
                <a:latin typeface="Source Sans Pro Semibold"/>
              </a:rPr>
              <a:t>Virksomhedsstatus: aktive</a:t>
            </a:r>
            <a:endParaRPr b="0" lang="en-US" sz="1950" spc="-1" strike="noStrike">
              <a:solidFill>
                <a:srgbClr val="1c1c1c"/>
              </a:solidFill>
              <a:latin typeface="Source Sans Pro Light"/>
            </a:endParaRPr>
          </a:p>
          <a:p>
            <a:pPr lvl="1" marL="432000" indent="-216000">
              <a:spcAft>
                <a:spcPts val="8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999999"/>
                </a:solidFill>
                <a:latin typeface="Source Sans Pro Semibold"/>
              </a:rPr>
              <a:t>Branchekode: 641900 (Banker, sparekasser og andelskasser)</a:t>
            </a:r>
            <a:endParaRPr b="0" lang="en-US" sz="1950" spc="-1" strike="noStrike">
              <a:solidFill>
                <a:srgbClr val="1c1c1c"/>
              </a:solidFill>
              <a:latin typeface="Source Sans Pro Light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000000"/>
                </a:solidFill>
                <a:latin typeface="Source Sans Pro Semibold"/>
              </a:rPr>
              <a:t>Eksporter: </a:t>
            </a:r>
            <a:r>
              <a:rPr b="1" lang="en-US" sz="1950" spc="-1" strike="noStrike">
                <a:solidFill>
                  <a:srgbClr val="999999"/>
                </a:solidFill>
                <a:latin typeface="Source Sans Pro Semibold"/>
              </a:rPr>
              <a:t>resultat: 32 virksomheder (108 enheder)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marL="216000" indent="-216000">
              <a:spcAft>
                <a:spcPts val="8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950" spc="-1" strike="noStrike">
                <a:solidFill>
                  <a:srgbClr val="000000"/>
                </a:solidFill>
                <a:latin typeface="Source Sans Pro Semibold"/>
              </a:rPr>
              <a:t>Lav bestyrelses netværk ved at slå op på CVRnumrene: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432000" indent="-216000">
              <a:spcAft>
                <a:spcPts val="8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000000"/>
                </a:solidFill>
                <a:latin typeface="Source Sans Pro Light"/>
              </a:rPr>
              <a:t>eksempel: </a:t>
            </a:r>
            <a:r>
              <a:rPr b="0" lang="en-US" sz="1650" spc="-1" strike="noStrike">
                <a:solidFill>
                  <a:srgbClr val="000000"/>
                </a:solidFill>
                <a:latin typeface="Source Sans Pro Light"/>
                <a:hlinkClick r:id="rId2"/>
              </a:rPr>
              <a:t>https://datacvr.virk.dk/enhed/virksomhed/61126228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Application>LibreOffice/7.1.6.2$Linux_X86_64 LibreOffice_project/0e133318fcee89abacd6a7d077e292f1145735c3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2024-02-21T11:25:52Z</dcterms:created>
  <dc:creator/>
  <dc:description/>
  <dc:language>en-US</dc:language>
  <cp:lastModifiedBy/>
  <dcterms:modified xsi:type="dcterms:W3CDTF">2024-02-22T18:34:06Z</dcterms:modified>
  <cp:revision>5</cp:revision>
  <dc:subject/>
  <dc:title>Alizarin</dc:title>
</cp:coreProperties>
</file>