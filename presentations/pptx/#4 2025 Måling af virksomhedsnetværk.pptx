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sldIdLst>
    <p:sldId id="256" r:id="rId2"/>
    <p:sldId id="257" r:id="rId3"/>
    <p:sldId id="425" r:id="rId4"/>
    <p:sldId id="384" r:id="rId5"/>
    <p:sldId id="412" r:id="rId6"/>
    <p:sldId id="396" r:id="rId7"/>
    <p:sldId id="397" r:id="rId8"/>
    <p:sldId id="385" r:id="rId9"/>
    <p:sldId id="410" r:id="rId10"/>
    <p:sldId id="399" r:id="rId11"/>
    <p:sldId id="413" r:id="rId12"/>
    <p:sldId id="414" r:id="rId13"/>
    <p:sldId id="415" r:id="rId14"/>
    <p:sldId id="418" r:id="rId15"/>
    <p:sldId id="417" r:id="rId16"/>
    <p:sldId id="416" r:id="rId17"/>
    <p:sldId id="401" r:id="rId18"/>
    <p:sldId id="411" r:id="rId19"/>
    <p:sldId id="402" r:id="rId20"/>
    <p:sldId id="403" r:id="rId21"/>
    <p:sldId id="419" r:id="rId22"/>
    <p:sldId id="406" r:id="rId23"/>
    <p:sldId id="407" r:id="rId24"/>
    <p:sldId id="421" r:id="rId25"/>
    <p:sldId id="423" r:id="rId26"/>
    <p:sldId id="422" r:id="rId27"/>
    <p:sldId id="424" r:id="rId28"/>
    <p:sldId id="426" r:id="rId29"/>
    <p:sldId id="427" r:id="rId30"/>
    <p:sldId id="408" r:id="rId31"/>
    <p:sldId id="409" r:id="rId32"/>
    <p:sldId id="428" r:id="rId33"/>
    <p:sldId id="429" r:id="rId34"/>
    <p:sldId id="398" r:id="rId35"/>
    <p:sldId id="430" r:id="rId36"/>
    <p:sldId id="400" r:id="rId37"/>
    <p:sldId id="431" r:id="rId38"/>
    <p:sldId id="432" r:id="rId39"/>
    <p:sldId id="433" r:id="rId40"/>
    <p:sldId id="434" r:id="rId41"/>
    <p:sldId id="309" r:id="rId42"/>
  </p:sldIdLst>
  <p:sldSz cx="9144000" cy="6858000" type="screen4x3"/>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 userDrawn="1">
          <p15:clr>
            <a:srgbClr val="A4A3A4"/>
          </p15:clr>
        </p15:guide>
        <p15:guide id="2" pos="249" userDrawn="1">
          <p15:clr>
            <a:srgbClr val="A4A3A4"/>
          </p15:clr>
        </p15:guide>
        <p15:guide id="3" pos="5511" userDrawn="1">
          <p15:clr>
            <a:srgbClr val="A4A3A4"/>
          </p15:clr>
        </p15:guide>
        <p15:guide id="4" orient="horz" pos="411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67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32" autoAdjust="0"/>
  </p:normalViewPr>
  <p:slideViewPr>
    <p:cSldViewPr>
      <p:cViewPr varScale="1">
        <p:scale>
          <a:sx n="71" d="100"/>
          <a:sy n="71" d="100"/>
        </p:scale>
        <p:origin x="1164" y="48"/>
      </p:cViewPr>
      <p:guideLst>
        <p:guide orient="horz" pos="210"/>
        <p:guide pos="249"/>
        <p:guide pos="5511"/>
        <p:guide orient="horz" pos="411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B99C7E1-F2A3-49A9-A82E-B5FF5E15DA00}" type="datetimeFigureOut">
              <a:rPr lang="da-DK" smtClean="0"/>
              <a:t>10-02-2025</a:t>
            </a:fld>
            <a:endParaRPr lang="da-DK"/>
          </a:p>
        </p:txBody>
      </p:sp>
      <p:sp>
        <p:nvSpPr>
          <p:cNvPr id="4" name="Pladsholder til diasbille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a-DK"/>
              <a:t>Klik for at redigere i master</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a-DK"/>
          </a:p>
        </p:txBody>
      </p:sp>
      <p:sp>
        <p:nvSpPr>
          <p:cNvPr id="7" name="Pladsholder til dias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84F6A9A-10CF-4AA0-BD89-7DB412DA9257}" type="slidenum">
              <a:rPr lang="da-DK" smtClean="0"/>
              <a:t>‹#›</a:t>
            </a:fld>
            <a:endParaRPr lang="da-DK"/>
          </a:p>
        </p:txBody>
      </p:sp>
    </p:spTree>
    <p:extLst>
      <p:ext uri="{BB962C8B-B14F-4D97-AF65-F5344CB8AC3E}">
        <p14:creationId xmlns:p14="http://schemas.microsoft.com/office/powerpoint/2010/main" val="2791617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Lasse</a:t>
            </a:r>
            <a:endParaRPr lang="da-DK" dirty="0"/>
          </a:p>
        </p:txBody>
      </p:sp>
      <p:sp>
        <p:nvSpPr>
          <p:cNvPr id="4" name="Slide Number Placeholder 3"/>
          <p:cNvSpPr>
            <a:spLocks noGrp="1"/>
          </p:cNvSpPr>
          <p:nvPr>
            <p:ph type="sldNum" sz="quarter" idx="10"/>
          </p:nvPr>
        </p:nvSpPr>
        <p:spPr/>
        <p:txBody>
          <a:bodyPr/>
          <a:lstStyle/>
          <a:p>
            <a:fld id="{984F6A9A-10CF-4AA0-BD89-7DB412DA9257}" type="slidenum">
              <a:rPr lang="da-DK" smtClean="0"/>
              <a:t>33</a:t>
            </a:fld>
            <a:endParaRPr lang="da-DK"/>
          </a:p>
        </p:txBody>
      </p:sp>
    </p:spTree>
    <p:extLst>
      <p:ext uri="{BB962C8B-B14F-4D97-AF65-F5344CB8AC3E}">
        <p14:creationId xmlns:p14="http://schemas.microsoft.com/office/powerpoint/2010/main" val="1662589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Christoph</a:t>
            </a:r>
            <a:endParaRPr lang="da-DK" dirty="0"/>
          </a:p>
        </p:txBody>
      </p:sp>
      <p:sp>
        <p:nvSpPr>
          <p:cNvPr id="4" name="Slide Number Placeholder 3"/>
          <p:cNvSpPr>
            <a:spLocks noGrp="1"/>
          </p:cNvSpPr>
          <p:nvPr>
            <p:ph type="sldNum" sz="quarter" idx="10"/>
          </p:nvPr>
        </p:nvSpPr>
        <p:spPr/>
        <p:txBody>
          <a:bodyPr/>
          <a:lstStyle/>
          <a:p>
            <a:fld id="{984F6A9A-10CF-4AA0-BD89-7DB412DA9257}" type="slidenum">
              <a:rPr lang="da-DK" smtClean="0"/>
              <a:t>34</a:t>
            </a:fld>
            <a:endParaRPr lang="da-DK"/>
          </a:p>
        </p:txBody>
      </p:sp>
    </p:spTree>
    <p:extLst>
      <p:ext uri="{BB962C8B-B14F-4D97-AF65-F5344CB8AC3E}">
        <p14:creationId xmlns:p14="http://schemas.microsoft.com/office/powerpoint/2010/main" val="19541097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Christoph</a:t>
            </a:r>
            <a:endParaRPr lang="da-DK" dirty="0"/>
          </a:p>
        </p:txBody>
      </p:sp>
      <p:sp>
        <p:nvSpPr>
          <p:cNvPr id="4" name="Slide Number Placeholder 3"/>
          <p:cNvSpPr>
            <a:spLocks noGrp="1"/>
          </p:cNvSpPr>
          <p:nvPr>
            <p:ph type="sldNum" sz="quarter" idx="10"/>
          </p:nvPr>
        </p:nvSpPr>
        <p:spPr/>
        <p:txBody>
          <a:bodyPr/>
          <a:lstStyle/>
          <a:p>
            <a:fld id="{984F6A9A-10CF-4AA0-BD89-7DB412DA9257}" type="slidenum">
              <a:rPr lang="da-DK" smtClean="0"/>
              <a:t>35</a:t>
            </a:fld>
            <a:endParaRPr lang="da-DK"/>
          </a:p>
        </p:txBody>
      </p:sp>
    </p:spTree>
    <p:extLst>
      <p:ext uri="{BB962C8B-B14F-4D97-AF65-F5344CB8AC3E}">
        <p14:creationId xmlns:p14="http://schemas.microsoft.com/office/powerpoint/2010/main" val="2907027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Christoph</a:t>
            </a:r>
            <a:endParaRPr lang="da-DK" dirty="0"/>
          </a:p>
        </p:txBody>
      </p:sp>
      <p:sp>
        <p:nvSpPr>
          <p:cNvPr id="4" name="Slide Number Placeholder 3"/>
          <p:cNvSpPr>
            <a:spLocks noGrp="1"/>
          </p:cNvSpPr>
          <p:nvPr>
            <p:ph type="sldNum" sz="quarter" idx="10"/>
          </p:nvPr>
        </p:nvSpPr>
        <p:spPr/>
        <p:txBody>
          <a:bodyPr/>
          <a:lstStyle/>
          <a:p>
            <a:fld id="{984F6A9A-10CF-4AA0-BD89-7DB412DA9257}" type="slidenum">
              <a:rPr lang="da-DK" smtClean="0"/>
              <a:t>36</a:t>
            </a:fld>
            <a:endParaRPr lang="da-DK"/>
          </a:p>
        </p:txBody>
      </p:sp>
    </p:spTree>
    <p:extLst>
      <p:ext uri="{BB962C8B-B14F-4D97-AF65-F5344CB8AC3E}">
        <p14:creationId xmlns:p14="http://schemas.microsoft.com/office/powerpoint/2010/main" val="6618622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Christoph</a:t>
            </a:r>
            <a:endParaRPr lang="da-DK" dirty="0"/>
          </a:p>
        </p:txBody>
      </p:sp>
      <p:sp>
        <p:nvSpPr>
          <p:cNvPr id="4" name="Slide Number Placeholder 3"/>
          <p:cNvSpPr>
            <a:spLocks noGrp="1"/>
          </p:cNvSpPr>
          <p:nvPr>
            <p:ph type="sldNum" sz="quarter" idx="10"/>
          </p:nvPr>
        </p:nvSpPr>
        <p:spPr/>
        <p:txBody>
          <a:bodyPr/>
          <a:lstStyle/>
          <a:p>
            <a:fld id="{984F6A9A-10CF-4AA0-BD89-7DB412DA9257}" type="slidenum">
              <a:rPr lang="da-DK" smtClean="0"/>
              <a:t>37</a:t>
            </a:fld>
            <a:endParaRPr lang="da-DK"/>
          </a:p>
        </p:txBody>
      </p:sp>
    </p:spTree>
    <p:extLst>
      <p:ext uri="{BB962C8B-B14F-4D97-AF65-F5344CB8AC3E}">
        <p14:creationId xmlns:p14="http://schemas.microsoft.com/office/powerpoint/2010/main" val="18427461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Lasse</a:t>
            </a:r>
            <a:endParaRPr lang="da-DK" dirty="0"/>
          </a:p>
        </p:txBody>
      </p:sp>
      <p:sp>
        <p:nvSpPr>
          <p:cNvPr id="4" name="Slide Number Placeholder 3"/>
          <p:cNvSpPr>
            <a:spLocks noGrp="1"/>
          </p:cNvSpPr>
          <p:nvPr>
            <p:ph type="sldNum" sz="quarter" idx="10"/>
          </p:nvPr>
        </p:nvSpPr>
        <p:spPr/>
        <p:txBody>
          <a:bodyPr/>
          <a:lstStyle/>
          <a:p>
            <a:fld id="{984F6A9A-10CF-4AA0-BD89-7DB412DA9257}" type="slidenum">
              <a:rPr lang="da-DK" smtClean="0"/>
              <a:t>38</a:t>
            </a:fld>
            <a:endParaRPr lang="da-DK"/>
          </a:p>
        </p:txBody>
      </p:sp>
    </p:spTree>
    <p:extLst>
      <p:ext uri="{BB962C8B-B14F-4D97-AF65-F5344CB8AC3E}">
        <p14:creationId xmlns:p14="http://schemas.microsoft.com/office/powerpoint/2010/main" val="38874177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Lasse</a:t>
            </a:r>
            <a:endParaRPr lang="da-DK" dirty="0"/>
          </a:p>
        </p:txBody>
      </p:sp>
      <p:sp>
        <p:nvSpPr>
          <p:cNvPr id="4" name="Slide Number Placeholder 3"/>
          <p:cNvSpPr>
            <a:spLocks noGrp="1"/>
          </p:cNvSpPr>
          <p:nvPr>
            <p:ph type="sldNum" sz="quarter" idx="10"/>
          </p:nvPr>
        </p:nvSpPr>
        <p:spPr/>
        <p:txBody>
          <a:bodyPr/>
          <a:lstStyle/>
          <a:p>
            <a:fld id="{984F6A9A-10CF-4AA0-BD89-7DB412DA9257}" type="slidenum">
              <a:rPr lang="da-DK" smtClean="0"/>
              <a:t>39</a:t>
            </a:fld>
            <a:endParaRPr lang="da-DK"/>
          </a:p>
        </p:txBody>
      </p:sp>
    </p:spTree>
    <p:extLst>
      <p:ext uri="{BB962C8B-B14F-4D97-AF65-F5344CB8AC3E}">
        <p14:creationId xmlns:p14="http://schemas.microsoft.com/office/powerpoint/2010/main" val="1388101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Christoph</a:t>
            </a:r>
            <a:endParaRPr lang="da-DK" dirty="0"/>
          </a:p>
        </p:txBody>
      </p:sp>
      <p:sp>
        <p:nvSpPr>
          <p:cNvPr id="4" name="Slide Number Placeholder 3"/>
          <p:cNvSpPr>
            <a:spLocks noGrp="1"/>
          </p:cNvSpPr>
          <p:nvPr>
            <p:ph type="sldNum" sz="quarter" idx="10"/>
          </p:nvPr>
        </p:nvSpPr>
        <p:spPr/>
        <p:txBody>
          <a:bodyPr/>
          <a:lstStyle/>
          <a:p>
            <a:fld id="{984F6A9A-10CF-4AA0-BD89-7DB412DA9257}" type="slidenum">
              <a:rPr lang="da-DK" smtClean="0"/>
              <a:t>40</a:t>
            </a:fld>
            <a:endParaRPr lang="da-DK"/>
          </a:p>
        </p:txBody>
      </p:sp>
    </p:spTree>
    <p:extLst>
      <p:ext uri="{BB962C8B-B14F-4D97-AF65-F5344CB8AC3E}">
        <p14:creationId xmlns:p14="http://schemas.microsoft.com/office/powerpoint/2010/main" val="26778316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3" name="Pladsholder til tekst 2"/>
          <p:cNvSpPr>
            <a:spLocks noGrp="1"/>
          </p:cNvSpPr>
          <p:nvPr>
            <p:ph type="body" sz="quarter" idx="10" hasCustomPrompt="1"/>
          </p:nvPr>
        </p:nvSpPr>
        <p:spPr>
          <a:xfrm>
            <a:off x="395288" y="333375"/>
            <a:ext cx="8353425" cy="719361"/>
          </a:xfrm>
        </p:spPr>
        <p:txBody>
          <a:bodyPr/>
          <a:lstStyle>
            <a:lvl1pPr>
              <a:lnSpc>
                <a:spcPct val="90000"/>
              </a:lnSpc>
              <a:defRPr sz="1300" b="1" baseline="0">
                <a:solidFill>
                  <a:srgbClr val="4967AA"/>
                </a:solidFill>
              </a:defRPr>
            </a:lvl1pPr>
          </a:lstStyle>
          <a:p>
            <a:pPr lvl="0"/>
            <a:r>
              <a:rPr lang="da-DK" dirty="0" err="1"/>
              <a:t>Click</a:t>
            </a:r>
            <a:r>
              <a:rPr lang="da-DK" dirty="0"/>
              <a:t> to </a:t>
            </a:r>
            <a:r>
              <a:rPr lang="da-DK" dirty="0" err="1"/>
              <a:t>add</a:t>
            </a:r>
            <a:r>
              <a:rPr lang="da-DK" dirty="0"/>
              <a:t> date, time and </a:t>
            </a:r>
            <a:r>
              <a:rPr lang="da-DK" dirty="0" err="1"/>
              <a:t>optional</a:t>
            </a:r>
            <a:r>
              <a:rPr lang="da-DK" dirty="0"/>
              <a:t> notes</a:t>
            </a:r>
          </a:p>
        </p:txBody>
      </p:sp>
      <p:sp>
        <p:nvSpPr>
          <p:cNvPr id="11" name="Pladsholder til tekst 10"/>
          <p:cNvSpPr>
            <a:spLocks noGrp="1"/>
          </p:cNvSpPr>
          <p:nvPr>
            <p:ph type="body" sz="quarter" idx="11" hasCustomPrompt="1"/>
          </p:nvPr>
        </p:nvSpPr>
        <p:spPr>
          <a:xfrm>
            <a:off x="395288" y="1052736"/>
            <a:ext cx="8353425" cy="2520279"/>
          </a:xfrm>
        </p:spPr>
        <p:txBody>
          <a:bodyPr anchor="b" anchorCtr="0"/>
          <a:lstStyle>
            <a:lvl1pPr>
              <a:lnSpc>
                <a:spcPct val="80000"/>
              </a:lnSpc>
              <a:defRPr sz="3600" b="1">
                <a:solidFill>
                  <a:srgbClr val="4967AA"/>
                </a:solidFill>
              </a:defRPr>
            </a:lvl1pPr>
          </a:lstStyle>
          <a:p>
            <a:pPr lvl="0"/>
            <a:r>
              <a:rPr lang="da-DK" dirty="0" err="1"/>
              <a:t>Click</a:t>
            </a:r>
            <a:r>
              <a:rPr lang="da-DK" dirty="0"/>
              <a:t> to </a:t>
            </a:r>
            <a:r>
              <a:rPr lang="da-DK" dirty="0" err="1"/>
              <a:t>add</a:t>
            </a:r>
            <a:r>
              <a:rPr lang="da-DK" dirty="0"/>
              <a:t> </a:t>
            </a:r>
            <a:r>
              <a:rPr lang="da-DK" dirty="0" err="1"/>
              <a:t>title</a:t>
            </a:r>
            <a:endParaRPr lang="da-DK" dirty="0"/>
          </a:p>
        </p:txBody>
      </p:sp>
      <p:sp>
        <p:nvSpPr>
          <p:cNvPr id="13" name="Pladsholder til tekst 12"/>
          <p:cNvSpPr>
            <a:spLocks noGrp="1"/>
          </p:cNvSpPr>
          <p:nvPr>
            <p:ph type="body" sz="quarter" idx="12" hasCustomPrompt="1"/>
          </p:nvPr>
        </p:nvSpPr>
        <p:spPr>
          <a:xfrm>
            <a:off x="395288" y="3573016"/>
            <a:ext cx="8353425" cy="2303909"/>
          </a:xfrm>
        </p:spPr>
        <p:txBody>
          <a:bodyPr/>
          <a:lstStyle>
            <a:lvl1pPr>
              <a:lnSpc>
                <a:spcPct val="90000"/>
              </a:lnSpc>
              <a:defRPr sz="1600"/>
            </a:lvl1pPr>
          </a:lstStyle>
          <a:p>
            <a:pPr lvl="0"/>
            <a:r>
              <a:rPr lang="da-DK" dirty="0" err="1"/>
              <a:t>Click</a:t>
            </a:r>
            <a:r>
              <a:rPr lang="da-DK" dirty="0"/>
              <a:t> to </a:t>
            </a:r>
            <a:r>
              <a:rPr lang="da-DK" dirty="0" err="1"/>
              <a:t>add</a:t>
            </a:r>
            <a:r>
              <a:rPr lang="da-DK" dirty="0"/>
              <a:t> </a:t>
            </a:r>
            <a:r>
              <a:rPr lang="da-DK" dirty="0" err="1"/>
              <a:t>title</a:t>
            </a:r>
            <a:endParaRPr lang="da-DK" dirty="0"/>
          </a:p>
        </p:txBody>
      </p:sp>
      <p:pic>
        <p:nvPicPr>
          <p:cNvPr id="1028"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94418" y="6251942"/>
            <a:ext cx="2412000" cy="268000"/>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F3B8DB67-AFFD-4A84-9282-C1A564A7964E}"/>
              </a:ext>
            </a:extLst>
          </p:cNvPr>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4644008" y="6155992"/>
            <a:ext cx="4258310" cy="471170"/>
          </a:xfrm>
          <a:prstGeom prst="rect">
            <a:avLst/>
          </a:prstGeom>
          <a:noFill/>
          <a:ln>
            <a:noFill/>
          </a:ln>
        </p:spPr>
      </p:pic>
    </p:spTree>
    <p:extLst>
      <p:ext uri="{BB962C8B-B14F-4D97-AF65-F5344CB8AC3E}">
        <p14:creationId xmlns:p14="http://schemas.microsoft.com/office/powerpoint/2010/main" val="2263376756"/>
      </p:ext>
    </p:extLst>
  </p:cSld>
  <p:clrMapOvr>
    <a:masterClrMapping/>
  </p:clrMapOvr>
  <p:transition/>
  <p:extLst>
    <p:ext uri="{DCECCB84-F9BA-43D5-87BE-67443E8EF086}">
      <p15:sldGuideLst xmlns:p15="http://schemas.microsoft.com/office/powerpoint/2012/main">
        <p15:guide id="1" orient="horz" pos="210" userDrawn="1">
          <p15:clr>
            <a:srgbClr val="FBAE40"/>
          </p15:clr>
        </p15:guide>
        <p15:guide id="2" pos="5511" userDrawn="1">
          <p15:clr>
            <a:srgbClr val="FBAE40"/>
          </p15:clr>
        </p15:guide>
        <p15:guide id="3" pos="249" userDrawn="1">
          <p15:clr>
            <a:srgbClr val="FBAE40"/>
          </p15:clr>
        </p15:guide>
        <p15:guide id="4" orient="horz" pos="411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10" name="Content Placeholder 9"/>
          <p:cNvSpPr>
            <a:spLocks noGrp="1"/>
          </p:cNvSpPr>
          <p:nvPr>
            <p:ph sz="quarter" idx="11" hasCustomPrompt="1"/>
          </p:nvPr>
        </p:nvSpPr>
        <p:spPr>
          <a:xfrm>
            <a:off x="395289" y="1124743"/>
            <a:ext cx="8353424" cy="5139531"/>
          </a:xfrm>
        </p:spPr>
        <p:txBody>
          <a:bodyPr>
            <a:normAutofit/>
          </a:bodyPr>
          <a:lstStyle>
            <a:lvl1pPr>
              <a:defRPr baseline="0"/>
            </a:lvl1pPr>
          </a:lstStyle>
          <a:p>
            <a:pPr lvl="0"/>
            <a:r>
              <a:rPr lang="en-US" dirty="0"/>
              <a:t>Click to add text – or click an icon to add content</a:t>
            </a:r>
            <a:endParaRPr lang="da-DK" dirty="0"/>
          </a:p>
        </p:txBody>
      </p:sp>
      <p:pic>
        <p:nvPicPr>
          <p:cNvPr id="7"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208252586"/>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10" name="Content Placeholder 9"/>
          <p:cNvSpPr>
            <a:spLocks noGrp="1"/>
          </p:cNvSpPr>
          <p:nvPr>
            <p:ph sz="quarter" idx="11" hasCustomPrompt="1"/>
          </p:nvPr>
        </p:nvSpPr>
        <p:spPr>
          <a:xfrm>
            <a:off x="395289" y="1124743"/>
            <a:ext cx="3960687" cy="5139531"/>
          </a:xfrm>
        </p:spPr>
        <p:txBody>
          <a:bodyPr>
            <a:normAutofit/>
          </a:bodyPr>
          <a:lstStyle>
            <a:lvl1pPr>
              <a:defRPr baseline="0"/>
            </a:lvl1pPr>
          </a:lstStyle>
          <a:p>
            <a:pPr lvl="0"/>
            <a:r>
              <a:rPr lang="en-US" dirty="0"/>
              <a:t>Click to add text – or click an icon to add content</a:t>
            </a:r>
            <a:endParaRPr lang="da-DK" dirty="0"/>
          </a:p>
        </p:txBody>
      </p:sp>
      <p:sp>
        <p:nvSpPr>
          <p:cNvPr id="7" name="Content Placeholder 9"/>
          <p:cNvSpPr>
            <a:spLocks noGrp="1"/>
          </p:cNvSpPr>
          <p:nvPr>
            <p:ph sz="quarter" idx="12" hasCustomPrompt="1"/>
          </p:nvPr>
        </p:nvSpPr>
        <p:spPr>
          <a:xfrm>
            <a:off x="4788024" y="1124743"/>
            <a:ext cx="3960689" cy="5139531"/>
          </a:xfrm>
        </p:spPr>
        <p:txBody>
          <a:bodyPr>
            <a:normAutofit/>
          </a:bodyPr>
          <a:lstStyle>
            <a:lvl1pPr>
              <a:defRPr baseline="0"/>
            </a:lvl1pPr>
          </a:lstStyle>
          <a:p>
            <a:pPr lvl="0"/>
            <a:r>
              <a:rPr lang="en-US" dirty="0"/>
              <a:t>Click to add text – or click an icon to add content</a:t>
            </a:r>
            <a:endParaRPr lang="da-DK" dirty="0"/>
          </a:p>
        </p:txBody>
      </p:sp>
      <p:pic>
        <p:nvPicPr>
          <p:cNvPr id="9"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902259117"/>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10" name="Content Placeholder 9"/>
          <p:cNvSpPr>
            <a:spLocks noGrp="1"/>
          </p:cNvSpPr>
          <p:nvPr>
            <p:ph sz="quarter" idx="11" hasCustomPrompt="1"/>
          </p:nvPr>
        </p:nvSpPr>
        <p:spPr>
          <a:xfrm>
            <a:off x="395288" y="1124743"/>
            <a:ext cx="2520000" cy="5139531"/>
          </a:xfrm>
        </p:spPr>
        <p:txBody>
          <a:bodyPr>
            <a:normAutofit/>
          </a:bodyPr>
          <a:lstStyle>
            <a:lvl1pPr>
              <a:defRPr baseline="0"/>
            </a:lvl1pPr>
          </a:lstStyle>
          <a:p>
            <a:pPr lvl="0"/>
            <a:r>
              <a:rPr lang="en-US" dirty="0"/>
              <a:t>Click to add text – or click an icon to add content</a:t>
            </a:r>
            <a:endParaRPr lang="da-DK" dirty="0"/>
          </a:p>
        </p:txBody>
      </p:sp>
      <p:sp>
        <p:nvSpPr>
          <p:cNvPr id="9" name="Content Placeholder 9"/>
          <p:cNvSpPr>
            <a:spLocks noGrp="1"/>
          </p:cNvSpPr>
          <p:nvPr>
            <p:ph sz="quarter" idx="12" hasCustomPrompt="1"/>
          </p:nvPr>
        </p:nvSpPr>
        <p:spPr>
          <a:xfrm>
            <a:off x="3312000" y="1124471"/>
            <a:ext cx="2520000" cy="5139531"/>
          </a:xfrm>
        </p:spPr>
        <p:txBody>
          <a:bodyPr>
            <a:normAutofit/>
          </a:bodyPr>
          <a:lstStyle>
            <a:lvl1pPr>
              <a:defRPr baseline="0"/>
            </a:lvl1pPr>
          </a:lstStyle>
          <a:p>
            <a:pPr lvl="0"/>
            <a:r>
              <a:rPr lang="en-US" dirty="0"/>
              <a:t>Click to add text – or click an icon to add content</a:t>
            </a:r>
            <a:endParaRPr lang="da-DK" dirty="0"/>
          </a:p>
        </p:txBody>
      </p:sp>
      <p:sp>
        <p:nvSpPr>
          <p:cNvPr id="11" name="Content Placeholder 9"/>
          <p:cNvSpPr>
            <a:spLocks noGrp="1"/>
          </p:cNvSpPr>
          <p:nvPr>
            <p:ph sz="quarter" idx="13" hasCustomPrompt="1"/>
          </p:nvPr>
        </p:nvSpPr>
        <p:spPr>
          <a:xfrm>
            <a:off x="6215585" y="1124471"/>
            <a:ext cx="2520000" cy="5139531"/>
          </a:xfrm>
        </p:spPr>
        <p:txBody>
          <a:bodyPr>
            <a:normAutofit/>
          </a:bodyPr>
          <a:lstStyle>
            <a:lvl1pPr>
              <a:defRPr baseline="0"/>
            </a:lvl1pPr>
          </a:lstStyle>
          <a:p>
            <a:pPr lvl="0"/>
            <a:r>
              <a:rPr lang="en-US" dirty="0"/>
              <a:t>Click to add text – or click an icon to add content</a:t>
            </a:r>
            <a:endParaRPr lang="da-DK" dirty="0"/>
          </a:p>
        </p:txBody>
      </p:sp>
      <p:pic>
        <p:nvPicPr>
          <p:cNvPr id="12"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451912543"/>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7" name="Content Placeholder 9"/>
          <p:cNvSpPr>
            <a:spLocks noGrp="1"/>
          </p:cNvSpPr>
          <p:nvPr>
            <p:ph sz="quarter" idx="12" hasCustomPrompt="1"/>
          </p:nvPr>
        </p:nvSpPr>
        <p:spPr>
          <a:xfrm>
            <a:off x="395288" y="1124743"/>
            <a:ext cx="8353425" cy="2448273"/>
          </a:xfrm>
        </p:spPr>
        <p:txBody>
          <a:bodyPr>
            <a:normAutofit/>
          </a:bodyPr>
          <a:lstStyle>
            <a:lvl1pPr>
              <a:defRPr baseline="0"/>
            </a:lvl1pPr>
          </a:lstStyle>
          <a:p>
            <a:pPr lvl="0"/>
            <a:r>
              <a:rPr lang="en-US" dirty="0"/>
              <a:t>Click to add text – or click an icon to add content</a:t>
            </a:r>
            <a:endParaRPr lang="da-DK" dirty="0"/>
          </a:p>
        </p:txBody>
      </p:sp>
      <p:sp>
        <p:nvSpPr>
          <p:cNvPr id="10" name="Content Placeholder 9"/>
          <p:cNvSpPr>
            <a:spLocks noGrp="1"/>
          </p:cNvSpPr>
          <p:nvPr>
            <p:ph sz="quarter" idx="13" hasCustomPrompt="1"/>
          </p:nvPr>
        </p:nvSpPr>
        <p:spPr>
          <a:xfrm>
            <a:off x="395288" y="3816002"/>
            <a:ext cx="8344783" cy="2448000"/>
          </a:xfrm>
        </p:spPr>
        <p:txBody>
          <a:bodyPr>
            <a:normAutofit/>
          </a:bodyPr>
          <a:lstStyle>
            <a:lvl1pPr>
              <a:defRPr baseline="0"/>
            </a:lvl1pPr>
          </a:lstStyle>
          <a:p>
            <a:pPr lvl="0"/>
            <a:r>
              <a:rPr lang="en-US" dirty="0"/>
              <a:t>Click to add text – or click an icon to add content</a:t>
            </a:r>
            <a:endParaRPr lang="da-DK" dirty="0"/>
          </a:p>
        </p:txBody>
      </p:sp>
      <p:pic>
        <p:nvPicPr>
          <p:cNvPr id="11"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27569324"/>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10" name="Content Placeholder 9"/>
          <p:cNvSpPr>
            <a:spLocks noGrp="1"/>
          </p:cNvSpPr>
          <p:nvPr>
            <p:ph sz="quarter" idx="11" hasCustomPrompt="1"/>
          </p:nvPr>
        </p:nvSpPr>
        <p:spPr>
          <a:xfrm>
            <a:off x="395289" y="1124743"/>
            <a:ext cx="3960687" cy="5139531"/>
          </a:xfrm>
        </p:spPr>
        <p:txBody>
          <a:bodyPr>
            <a:normAutofit/>
          </a:bodyPr>
          <a:lstStyle>
            <a:lvl1pPr>
              <a:defRPr baseline="0"/>
            </a:lvl1pPr>
          </a:lstStyle>
          <a:p>
            <a:pPr lvl="0"/>
            <a:r>
              <a:rPr lang="en-US" dirty="0"/>
              <a:t>Click to add text – or click an icon to add content</a:t>
            </a:r>
            <a:endParaRPr lang="da-DK" dirty="0"/>
          </a:p>
        </p:txBody>
      </p:sp>
      <p:sp>
        <p:nvSpPr>
          <p:cNvPr id="7" name="Content Placeholder 9"/>
          <p:cNvSpPr>
            <a:spLocks noGrp="1"/>
          </p:cNvSpPr>
          <p:nvPr>
            <p:ph sz="quarter" idx="12" hasCustomPrompt="1"/>
          </p:nvPr>
        </p:nvSpPr>
        <p:spPr>
          <a:xfrm>
            <a:off x="4788024" y="1124743"/>
            <a:ext cx="3960689" cy="2448273"/>
          </a:xfrm>
        </p:spPr>
        <p:txBody>
          <a:bodyPr>
            <a:normAutofit/>
          </a:bodyPr>
          <a:lstStyle>
            <a:lvl1pPr>
              <a:defRPr baseline="0"/>
            </a:lvl1pPr>
          </a:lstStyle>
          <a:p>
            <a:pPr lvl="0"/>
            <a:r>
              <a:rPr lang="en-US" dirty="0"/>
              <a:t>Click to add text – or click an icon to add content</a:t>
            </a:r>
            <a:endParaRPr lang="da-DK" dirty="0"/>
          </a:p>
        </p:txBody>
      </p:sp>
      <p:sp>
        <p:nvSpPr>
          <p:cNvPr id="8" name="Content Placeholder 9"/>
          <p:cNvSpPr>
            <a:spLocks noGrp="1"/>
          </p:cNvSpPr>
          <p:nvPr>
            <p:ph sz="quarter" idx="13" hasCustomPrompt="1"/>
          </p:nvPr>
        </p:nvSpPr>
        <p:spPr>
          <a:xfrm>
            <a:off x="4786367" y="3816002"/>
            <a:ext cx="3953704" cy="2448000"/>
          </a:xfrm>
        </p:spPr>
        <p:txBody>
          <a:bodyPr>
            <a:normAutofit/>
          </a:bodyPr>
          <a:lstStyle>
            <a:lvl1pPr>
              <a:defRPr baseline="0"/>
            </a:lvl1pPr>
          </a:lstStyle>
          <a:p>
            <a:pPr lvl="0"/>
            <a:r>
              <a:rPr lang="en-US" dirty="0"/>
              <a:t>Click to add text – or click an icon to add content</a:t>
            </a:r>
            <a:endParaRPr lang="da-DK" dirty="0"/>
          </a:p>
        </p:txBody>
      </p:sp>
      <p:pic>
        <p:nvPicPr>
          <p:cNvPr id="11"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674405617"/>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10" name="Content Placeholder 9"/>
          <p:cNvSpPr>
            <a:spLocks noGrp="1"/>
          </p:cNvSpPr>
          <p:nvPr>
            <p:ph sz="quarter" idx="11" hasCustomPrompt="1"/>
          </p:nvPr>
        </p:nvSpPr>
        <p:spPr>
          <a:xfrm>
            <a:off x="4788026" y="1124743"/>
            <a:ext cx="3960687" cy="5139531"/>
          </a:xfrm>
        </p:spPr>
        <p:txBody>
          <a:bodyPr>
            <a:normAutofit/>
          </a:bodyPr>
          <a:lstStyle>
            <a:lvl1pPr>
              <a:defRPr baseline="0"/>
            </a:lvl1pPr>
          </a:lstStyle>
          <a:p>
            <a:pPr lvl="0"/>
            <a:r>
              <a:rPr lang="en-US" dirty="0"/>
              <a:t>Click to add text – or click an icon to add content</a:t>
            </a:r>
            <a:endParaRPr lang="da-DK" dirty="0"/>
          </a:p>
        </p:txBody>
      </p:sp>
      <p:sp>
        <p:nvSpPr>
          <p:cNvPr id="11" name="Content Placeholder 9"/>
          <p:cNvSpPr>
            <a:spLocks noGrp="1"/>
          </p:cNvSpPr>
          <p:nvPr>
            <p:ph sz="quarter" idx="12" hasCustomPrompt="1"/>
          </p:nvPr>
        </p:nvSpPr>
        <p:spPr>
          <a:xfrm>
            <a:off x="396945" y="1124743"/>
            <a:ext cx="3960689" cy="2448273"/>
          </a:xfrm>
        </p:spPr>
        <p:txBody>
          <a:bodyPr>
            <a:normAutofit/>
          </a:bodyPr>
          <a:lstStyle>
            <a:lvl1pPr>
              <a:defRPr baseline="0"/>
            </a:lvl1pPr>
          </a:lstStyle>
          <a:p>
            <a:pPr lvl="0"/>
            <a:r>
              <a:rPr lang="en-US" dirty="0"/>
              <a:t>Click to add text – or click an icon to add content</a:t>
            </a:r>
            <a:endParaRPr lang="da-DK" dirty="0"/>
          </a:p>
        </p:txBody>
      </p:sp>
      <p:sp>
        <p:nvSpPr>
          <p:cNvPr id="12" name="Content Placeholder 9"/>
          <p:cNvSpPr>
            <a:spLocks noGrp="1"/>
          </p:cNvSpPr>
          <p:nvPr>
            <p:ph sz="quarter" idx="13" hasCustomPrompt="1"/>
          </p:nvPr>
        </p:nvSpPr>
        <p:spPr>
          <a:xfrm>
            <a:off x="395288" y="3816002"/>
            <a:ext cx="3953704" cy="2448000"/>
          </a:xfrm>
        </p:spPr>
        <p:txBody>
          <a:bodyPr>
            <a:normAutofit/>
          </a:bodyPr>
          <a:lstStyle>
            <a:lvl1pPr>
              <a:defRPr baseline="0"/>
            </a:lvl1pPr>
          </a:lstStyle>
          <a:p>
            <a:pPr lvl="0"/>
            <a:r>
              <a:rPr lang="en-US" dirty="0"/>
              <a:t>Click to add text – or click an icon to add content</a:t>
            </a:r>
            <a:endParaRPr lang="da-DK" dirty="0"/>
          </a:p>
        </p:txBody>
      </p:sp>
      <p:pic>
        <p:nvPicPr>
          <p:cNvPr id="13"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885730283"/>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11" name="Content Placeholder 9"/>
          <p:cNvSpPr>
            <a:spLocks noGrp="1"/>
          </p:cNvSpPr>
          <p:nvPr>
            <p:ph sz="quarter" idx="15" hasCustomPrompt="1"/>
          </p:nvPr>
        </p:nvSpPr>
        <p:spPr>
          <a:xfrm>
            <a:off x="395288" y="3816002"/>
            <a:ext cx="8344783" cy="2448000"/>
          </a:xfrm>
        </p:spPr>
        <p:txBody>
          <a:bodyPr>
            <a:normAutofit/>
          </a:bodyPr>
          <a:lstStyle>
            <a:lvl1pPr>
              <a:defRPr baseline="0"/>
            </a:lvl1pPr>
          </a:lstStyle>
          <a:p>
            <a:pPr lvl="0"/>
            <a:r>
              <a:rPr lang="en-US" dirty="0"/>
              <a:t>Click to add text – or click an icon to add content</a:t>
            </a:r>
            <a:endParaRPr lang="da-DK" dirty="0"/>
          </a:p>
        </p:txBody>
      </p:sp>
      <p:sp>
        <p:nvSpPr>
          <p:cNvPr id="12" name="Content Placeholder 9"/>
          <p:cNvSpPr>
            <a:spLocks noGrp="1"/>
          </p:cNvSpPr>
          <p:nvPr>
            <p:ph sz="quarter" idx="12" hasCustomPrompt="1"/>
          </p:nvPr>
        </p:nvSpPr>
        <p:spPr>
          <a:xfrm>
            <a:off x="4788024" y="1124743"/>
            <a:ext cx="3960689" cy="2448273"/>
          </a:xfrm>
        </p:spPr>
        <p:txBody>
          <a:bodyPr>
            <a:normAutofit/>
          </a:bodyPr>
          <a:lstStyle>
            <a:lvl1pPr>
              <a:defRPr baseline="0"/>
            </a:lvl1pPr>
          </a:lstStyle>
          <a:p>
            <a:pPr lvl="0"/>
            <a:r>
              <a:rPr lang="en-US" dirty="0"/>
              <a:t>Click to add text – or click an icon to add content</a:t>
            </a:r>
            <a:endParaRPr lang="da-DK" dirty="0"/>
          </a:p>
        </p:txBody>
      </p:sp>
      <p:sp>
        <p:nvSpPr>
          <p:cNvPr id="13" name="Content Placeholder 9"/>
          <p:cNvSpPr>
            <a:spLocks noGrp="1"/>
          </p:cNvSpPr>
          <p:nvPr>
            <p:ph sz="quarter" idx="16" hasCustomPrompt="1"/>
          </p:nvPr>
        </p:nvSpPr>
        <p:spPr>
          <a:xfrm>
            <a:off x="395288" y="1124744"/>
            <a:ext cx="3960689" cy="2448273"/>
          </a:xfrm>
        </p:spPr>
        <p:txBody>
          <a:bodyPr>
            <a:normAutofit/>
          </a:bodyPr>
          <a:lstStyle>
            <a:lvl1pPr>
              <a:defRPr baseline="0"/>
            </a:lvl1pPr>
          </a:lstStyle>
          <a:p>
            <a:pPr lvl="0"/>
            <a:r>
              <a:rPr lang="en-US" dirty="0"/>
              <a:t>Click to add text – or click an icon to add content</a:t>
            </a:r>
            <a:endParaRPr lang="da-DK" dirty="0"/>
          </a:p>
        </p:txBody>
      </p:sp>
      <p:pic>
        <p:nvPicPr>
          <p:cNvPr id="14"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569829573"/>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4963528" y="6264002"/>
            <a:ext cx="3785185"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395288" y="333375"/>
            <a:ext cx="5761037" cy="719138"/>
          </a:xfrm>
        </p:spPr>
        <p:txBody>
          <a:bodyPr>
            <a:normAutofit/>
          </a:bodyPr>
          <a:lstStyle>
            <a:lvl1pPr>
              <a:defRPr sz="3200" b="1">
                <a:solidFill>
                  <a:srgbClr val="4967AA"/>
                </a:solidFill>
              </a:defRPr>
            </a:lvl1pPr>
          </a:lstStyle>
          <a:p>
            <a:pPr lvl="0"/>
            <a:r>
              <a:rPr lang="da-DK" dirty="0"/>
              <a:t>Click to add title</a:t>
            </a:r>
          </a:p>
        </p:txBody>
      </p:sp>
      <p:sp>
        <p:nvSpPr>
          <p:cNvPr id="12" name="Content Placeholder 9"/>
          <p:cNvSpPr>
            <a:spLocks noGrp="1"/>
          </p:cNvSpPr>
          <p:nvPr>
            <p:ph sz="quarter" idx="12" hasCustomPrompt="1"/>
          </p:nvPr>
        </p:nvSpPr>
        <p:spPr>
          <a:xfrm>
            <a:off x="4788024" y="3815729"/>
            <a:ext cx="3960689" cy="2448273"/>
          </a:xfrm>
        </p:spPr>
        <p:txBody>
          <a:bodyPr>
            <a:normAutofit/>
          </a:bodyPr>
          <a:lstStyle>
            <a:lvl1pPr>
              <a:defRPr baseline="0"/>
            </a:lvl1pPr>
          </a:lstStyle>
          <a:p>
            <a:pPr lvl="0"/>
            <a:r>
              <a:rPr lang="en-US" dirty="0"/>
              <a:t>Click to add text – or click an icon to add content</a:t>
            </a:r>
            <a:endParaRPr lang="da-DK" dirty="0"/>
          </a:p>
        </p:txBody>
      </p:sp>
      <p:sp>
        <p:nvSpPr>
          <p:cNvPr id="13" name="Content Placeholder 9"/>
          <p:cNvSpPr>
            <a:spLocks noGrp="1"/>
          </p:cNvSpPr>
          <p:nvPr>
            <p:ph sz="quarter" idx="16" hasCustomPrompt="1"/>
          </p:nvPr>
        </p:nvSpPr>
        <p:spPr>
          <a:xfrm>
            <a:off x="395288" y="3815730"/>
            <a:ext cx="3960689" cy="2448273"/>
          </a:xfrm>
        </p:spPr>
        <p:txBody>
          <a:bodyPr>
            <a:normAutofit/>
          </a:bodyPr>
          <a:lstStyle>
            <a:lvl1pPr>
              <a:defRPr baseline="0"/>
            </a:lvl1pPr>
          </a:lstStyle>
          <a:p>
            <a:pPr lvl="0"/>
            <a:r>
              <a:rPr lang="en-US" dirty="0"/>
              <a:t>Click to add text – or click an icon to add content</a:t>
            </a:r>
            <a:endParaRPr lang="da-DK" dirty="0"/>
          </a:p>
        </p:txBody>
      </p:sp>
      <p:sp>
        <p:nvSpPr>
          <p:cNvPr id="10" name="Content Placeholder 9"/>
          <p:cNvSpPr>
            <a:spLocks noGrp="1"/>
          </p:cNvSpPr>
          <p:nvPr>
            <p:ph sz="quarter" idx="17" hasCustomPrompt="1"/>
          </p:nvPr>
        </p:nvSpPr>
        <p:spPr>
          <a:xfrm>
            <a:off x="395288" y="1124743"/>
            <a:ext cx="8353425" cy="2448273"/>
          </a:xfrm>
        </p:spPr>
        <p:txBody>
          <a:bodyPr>
            <a:normAutofit/>
          </a:bodyPr>
          <a:lstStyle>
            <a:lvl1pPr>
              <a:defRPr baseline="0"/>
            </a:lvl1pPr>
          </a:lstStyle>
          <a:p>
            <a:pPr lvl="0"/>
            <a:r>
              <a:rPr lang="en-US" dirty="0"/>
              <a:t>Click to add text – or click an icon to add content</a:t>
            </a:r>
            <a:endParaRPr lang="da-DK" dirty="0"/>
          </a:p>
        </p:txBody>
      </p:sp>
      <p:pic>
        <p:nvPicPr>
          <p:cNvPr id="14"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36713" y="330743"/>
            <a:ext cx="2412000" cy="2680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95363092"/>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460" name="Text Placeholder 2"/>
          <p:cNvSpPr>
            <a:spLocks noGrp="1"/>
          </p:cNvSpPr>
          <p:nvPr>
            <p:ph type="body" idx="1"/>
          </p:nvPr>
        </p:nvSpPr>
        <p:spPr bwMode="auto">
          <a:xfrm>
            <a:off x="395288" y="333375"/>
            <a:ext cx="8353425" cy="619124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Click to edit Master text styles</a:t>
            </a:r>
          </a:p>
          <a:p>
            <a:pPr lvl="1"/>
            <a:r>
              <a:rPr lang="en-US" dirty="0"/>
              <a:t>First level</a:t>
            </a:r>
          </a:p>
          <a:p>
            <a:pPr lvl="2"/>
            <a:r>
              <a:rPr lang="en-US" dirty="0"/>
              <a:t>Second level</a:t>
            </a:r>
          </a:p>
          <a:p>
            <a:pPr lvl="3"/>
            <a:r>
              <a:rPr lang="en-US" dirty="0"/>
              <a:t>Third level</a:t>
            </a:r>
          </a:p>
          <a:p>
            <a:pPr lvl="4"/>
            <a:r>
              <a:rPr lang="en-US" dirty="0"/>
              <a:t>Fourth level</a:t>
            </a:r>
          </a:p>
          <a:p>
            <a:pPr lvl="1"/>
            <a:endParaRPr lang="en-US" dirty="0"/>
          </a:p>
        </p:txBody>
      </p:sp>
    </p:spTree>
    <p:extLst>
      <p:ext uri="{BB962C8B-B14F-4D97-AF65-F5344CB8AC3E}">
        <p14:creationId xmlns:p14="http://schemas.microsoft.com/office/powerpoint/2010/main" val="2635023368"/>
      </p:ext>
    </p:extLst>
  </p:cSld>
  <p:clrMap bg1="lt1" tx1="dk1" bg2="lt2" tx2="dk2" accent1="accent1" accent2="accent2" accent3="accent3" accent4="accent4" accent5="accent5" accent6="accent6" hlink="hlink" folHlink="folHlink"/>
  <p:sldLayoutIdLst>
    <p:sldLayoutId id="2147483661" r:id="rId1"/>
    <p:sldLayoutId id="2147483669" r:id="rId2"/>
    <p:sldLayoutId id="2147483670" r:id="rId3"/>
    <p:sldLayoutId id="2147483676" r:id="rId4"/>
    <p:sldLayoutId id="2147483672" r:id="rId5"/>
    <p:sldLayoutId id="2147483671" r:id="rId6"/>
    <p:sldLayoutId id="2147483675" r:id="rId7"/>
    <p:sldLayoutId id="2147483673" r:id="rId8"/>
    <p:sldLayoutId id="2147483674" r:id="rId9"/>
  </p:sldLayoutIdLst>
  <p:hf sldNum="0" hdr="0" dt="0"/>
  <p:txStyles>
    <p:titleStyle>
      <a:lvl1pPr algn="l" defTabSz="914258" rtl="0" eaLnBrk="1" fontAlgn="base" hangingPunct="1">
        <a:lnSpc>
          <a:spcPct val="100000"/>
        </a:lnSpc>
        <a:spcBef>
          <a:spcPct val="0"/>
        </a:spcBef>
        <a:spcAft>
          <a:spcPct val="0"/>
        </a:spcAft>
        <a:defRPr sz="3200" b="1" kern="1200">
          <a:solidFill>
            <a:srgbClr val="4967AA"/>
          </a:solidFill>
          <a:latin typeface="+mj-lt"/>
          <a:ea typeface="+mj-ea"/>
          <a:cs typeface="+mj-cs"/>
        </a:defRPr>
      </a:lvl1pPr>
      <a:lvl2pPr algn="l" defTabSz="914258" rtl="0" eaLnBrk="1" fontAlgn="base" hangingPunct="1">
        <a:lnSpc>
          <a:spcPts val="3050"/>
        </a:lnSpc>
        <a:spcBef>
          <a:spcPct val="0"/>
        </a:spcBef>
        <a:spcAft>
          <a:spcPct val="0"/>
        </a:spcAft>
        <a:defRPr sz="2200" b="1">
          <a:solidFill>
            <a:schemeClr val="tx2"/>
          </a:solidFill>
          <a:latin typeface="Arial" charset="0"/>
        </a:defRPr>
      </a:lvl2pPr>
      <a:lvl3pPr algn="l" defTabSz="914258" rtl="0" eaLnBrk="1" fontAlgn="base" hangingPunct="1">
        <a:lnSpc>
          <a:spcPts val="3050"/>
        </a:lnSpc>
        <a:spcBef>
          <a:spcPct val="0"/>
        </a:spcBef>
        <a:spcAft>
          <a:spcPct val="0"/>
        </a:spcAft>
        <a:defRPr sz="2200" b="1">
          <a:solidFill>
            <a:schemeClr val="tx2"/>
          </a:solidFill>
          <a:latin typeface="Arial" charset="0"/>
        </a:defRPr>
      </a:lvl3pPr>
      <a:lvl4pPr algn="l" defTabSz="914258" rtl="0" eaLnBrk="1" fontAlgn="base" hangingPunct="1">
        <a:lnSpc>
          <a:spcPts val="3050"/>
        </a:lnSpc>
        <a:spcBef>
          <a:spcPct val="0"/>
        </a:spcBef>
        <a:spcAft>
          <a:spcPct val="0"/>
        </a:spcAft>
        <a:defRPr sz="2200" b="1">
          <a:solidFill>
            <a:schemeClr val="tx2"/>
          </a:solidFill>
          <a:latin typeface="Arial" charset="0"/>
        </a:defRPr>
      </a:lvl4pPr>
      <a:lvl5pPr algn="l" defTabSz="914258" rtl="0" eaLnBrk="1" fontAlgn="base" hangingPunct="1">
        <a:lnSpc>
          <a:spcPts val="3050"/>
        </a:lnSpc>
        <a:spcBef>
          <a:spcPct val="0"/>
        </a:spcBef>
        <a:spcAft>
          <a:spcPct val="0"/>
        </a:spcAft>
        <a:defRPr sz="2200" b="1">
          <a:solidFill>
            <a:schemeClr val="tx2"/>
          </a:solidFill>
          <a:latin typeface="Arial" charset="0"/>
        </a:defRPr>
      </a:lvl5pPr>
      <a:lvl6pPr marL="410134" algn="l" rtl="0" eaLnBrk="1" fontAlgn="base" hangingPunct="1">
        <a:spcBef>
          <a:spcPct val="0"/>
        </a:spcBef>
        <a:spcAft>
          <a:spcPct val="0"/>
        </a:spcAft>
        <a:defRPr sz="2200" b="1">
          <a:solidFill>
            <a:schemeClr val="accent1"/>
          </a:solidFill>
          <a:latin typeface="Arial" charset="0"/>
        </a:defRPr>
      </a:lvl6pPr>
      <a:lvl7pPr marL="820269" algn="l" rtl="0" eaLnBrk="1" fontAlgn="base" hangingPunct="1">
        <a:spcBef>
          <a:spcPct val="0"/>
        </a:spcBef>
        <a:spcAft>
          <a:spcPct val="0"/>
        </a:spcAft>
        <a:defRPr sz="2200" b="1">
          <a:solidFill>
            <a:schemeClr val="accent1"/>
          </a:solidFill>
          <a:latin typeface="Arial" charset="0"/>
        </a:defRPr>
      </a:lvl7pPr>
      <a:lvl8pPr marL="1230403" algn="l" rtl="0" eaLnBrk="1" fontAlgn="base" hangingPunct="1">
        <a:spcBef>
          <a:spcPct val="0"/>
        </a:spcBef>
        <a:spcAft>
          <a:spcPct val="0"/>
        </a:spcAft>
        <a:defRPr sz="2200" b="1">
          <a:solidFill>
            <a:schemeClr val="accent1"/>
          </a:solidFill>
          <a:latin typeface="Arial" charset="0"/>
        </a:defRPr>
      </a:lvl8pPr>
      <a:lvl9pPr marL="1640536" algn="l" rtl="0" eaLnBrk="1" fontAlgn="base" hangingPunct="1">
        <a:spcBef>
          <a:spcPct val="0"/>
        </a:spcBef>
        <a:spcAft>
          <a:spcPct val="0"/>
        </a:spcAft>
        <a:defRPr sz="2200" b="1">
          <a:solidFill>
            <a:schemeClr val="accent1"/>
          </a:solidFill>
          <a:latin typeface="Arial" charset="0"/>
        </a:defRPr>
      </a:lvl9pPr>
    </p:titleStyle>
    <p:bodyStyle>
      <a:lvl1pPr marL="0" indent="0" algn="l" defTabSz="914258" rtl="0" eaLnBrk="1" fontAlgn="base" hangingPunct="1">
        <a:spcBef>
          <a:spcPct val="0"/>
        </a:spcBef>
        <a:spcAft>
          <a:spcPts val="300"/>
        </a:spcAft>
        <a:buFont typeface="Arial" charset="0"/>
        <a:defRPr lang="en-US" sz="2000" kern="1200" dirty="0">
          <a:solidFill>
            <a:schemeClr val="tx1"/>
          </a:solidFill>
          <a:latin typeface="+mn-lt"/>
          <a:ea typeface="+mn-ea"/>
          <a:cs typeface="+mn-cs"/>
        </a:defRPr>
      </a:lvl1pPr>
      <a:lvl2pPr marL="182281" indent="-182281"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2pPr>
      <a:lvl3pPr marL="357444" indent="-175162"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3pPr>
      <a:lvl4pPr marL="539725" indent="-182281" algn="l" defTabSz="914258" rtl="0" eaLnBrk="1" fontAlgn="base" hangingPunct="1">
        <a:spcBef>
          <a:spcPct val="0"/>
        </a:spcBef>
        <a:spcAft>
          <a:spcPts val="600"/>
        </a:spcAft>
        <a:buFont typeface="Arial" charset="0"/>
        <a:buChar char="•"/>
        <a:defRPr lang="en-US" kern="1200" dirty="0">
          <a:solidFill>
            <a:schemeClr val="tx1"/>
          </a:solidFill>
          <a:latin typeface="+mn-lt"/>
          <a:ea typeface="+mj-ea"/>
          <a:cs typeface="+mj-cs"/>
        </a:defRPr>
      </a:lvl4pPr>
      <a:lvl5pPr marL="712039" indent="-172314" algn="l" defTabSz="914258" rtl="0" eaLnBrk="1" fontAlgn="base" hangingPunct="1">
        <a:spcBef>
          <a:spcPct val="0"/>
        </a:spcBef>
        <a:spcAft>
          <a:spcPts val="600"/>
        </a:spcAft>
        <a:buFont typeface="Arial" charset="0"/>
        <a:buChar char="‒"/>
        <a:defRPr lang="en-GB" kern="1200" dirty="0">
          <a:solidFill>
            <a:schemeClr val="tx1"/>
          </a:solidFill>
          <a:latin typeface="+mn-lt"/>
          <a:ea typeface="+mj-ea"/>
          <a:cs typeface="+mj-cs"/>
        </a:defRPr>
      </a:lvl5pPr>
      <a:lvl6pPr marL="803179" indent="-163770" algn="l" defTabSz="820269" rtl="0" eaLnBrk="1" latinLnBrk="0" hangingPunct="1">
        <a:spcBef>
          <a:spcPts val="0"/>
        </a:spcBef>
        <a:spcAft>
          <a:spcPts val="269"/>
        </a:spcAft>
        <a:buFont typeface="Arial" pitchFamily="34" charset="0"/>
        <a:buChar char="•"/>
        <a:defRPr sz="1400" kern="1200" baseline="0">
          <a:solidFill>
            <a:schemeClr val="accent1"/>
          </a:solidFill>
          <a:latin typeface="+mn-lt"/>
          <a:ea typeface="+mn-ea"/>
          <a:cs typeface="+mn-cs"/>
        </a:defRPr>
      </a:lvl6pPr>
      <a:lvl7pPr marL="968371" indent="-165192"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7pPr>
      <a:lvl8pPr marL="1123597" indent="-155225"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8pPr>
      <a:lvl9pPr marL="1287365" indent="-163770"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9pPr>
    </p:bodyStyle>
    <p:otherStyle>
      <a:defPPr>
        <a:defRPr lang="en-US"/>
      </a:defPPr>
      <a:lvl1pPr marL="0" algn="l" defTabSz="820269" rtl="0" eaLnBrk="1" latinLnBrk="0" hangingPunct="1">
        <a:defRPr sz="1600" kern="1200">
          <a:solidFill>
            <a:schemeClr val="tx1"/>
          </a:solidFill>
          <a:latin typeface="+mn-lt"/>
          <a:ea typeface="+mn-ea"/>
          <a:cs typeface="+mn-cs"/>
        </a:defRPr>
      </a:lvl1pPr>
      <a:lvl2pPr marL="410134" algn="l" defTabSz="820269" rtl="0" eaLnBrk="1" latinLnBrk="0" hangingPunct="1">
        <a:defRPr sz="1600" kern="1200">
          <a:solidFill>
            <a:schemeClr val="tx1"/>
          </a:solidFill>
          <a:latin typeface="+mn-lt"/>
          <a:ea typeface="+mn-ea"/>
          <a:cs typeface="+mn-cs"/>
        </a:defRPr>
      </a:lvl2pPr>
      <a:lvl3pPr marL="820269" algn="l" defTabSz="820269" rtl="0" eaLnBrk="1" latinLnBrk="0" hangingPunct="1">
        <a:defRPr sz="1600" kern="1200">
          <a:solidFill>
            <a:schemeClr val="tx1"/>
          </a:solidFill>
          <a:latin typeface="+mn-lt"/>
          <a:ea typeface="+mn-ea"/>
          <a:cs typeface="+mn-cs"/>
        </a:defRPr>
      </a:lvl3pPr>
      <a:lvl4pPr marL="1230403" algn="l" defTabSz="820269" rtl="0" eaLnBrk="1" latinLnBrk="0" hangingPunct="1">
        <a:defRPr sz="1600" kern="1200">
          <a:solidFill>
            <a:schemeClr val="tx1"/>
          </a:solidFill>
          <a:latin typeface="+mn-lt"/>
          <a:ea typeface="+mn-ea"/>
          <a:cs typeface="+mn-cs"/>
        </a:defRPr>
      </a:lvl4pPr>
      <a:lvl5pPr marL="1640536" algn="l" defTabSz="820269" rtl="0" eaLnBrk="1" latinLnBrk="0" hangingPunct="1">
        <a:defRPr sz="1600" kern="1200">
          <a:solidFill>
            <a:schemeClr val="tx1"/>
          </a:solidFill>
          <a:latin typeface="+mn-lt"/>
          <a:ea typeface="+mn-ea"/>
          <a:cs typeface="+mn-cs"/>
        </a:defRPr>
      </a:lvl5pPr>
      <a:lvl6pPr marL="2050670" algn="l" defTabSz="820269" rtl="0" eaLnBrk="1" latinLnBrk="0" hangingPunct="1">
        <a:defRPr sz="1600" kern="1200">
          <a:solidFill>
            <a:schemeClr val="tx1"/>
          </a:solidFill>
          <a:latin typeface="+mn-lt"/>
          <a:ea typeface="+mn-ea"/>
          <a:cs typeface="+mn-cs"/>
        </a:defRPr>
      </a:lvl6pPr>
      <a:lvl7pPr marL="2460804" algn="l" defTabSz="820269" rtl="0" eaLnBrk="1" latinLnBrk="0" hangingPunct="1">
        <a:defRPr sz="1600" kern="1200">
          <a:solidFill>
            <a:schemeClr val="tx1"/>
          </a:solidFill>
          <a:latin typeface="+mn-lt"/>
          <a:ea typeface="+mn-ea"/>
          <a:cs typeface="+mn-cs"/>
        </a:defRPr>
      </a:lvl7pPr>
      <a:lvl8pPr marL="2870939" algn="l" defTabSz="820269" rtl="0" eaLnBrk="1" latinLnBrk="0" hangingPunct="1">
        <a:defRPr sz="1600" kern="1200">
          <a:solidFill>
            <a:schemeClr val="tx1"/>
          </a:solidFill>
          <a:latin typeface="+mn-lt"/>
          <a:ea typeface="+mn-ea"/>
          <a:cs typeface="+mn-cs"/>
        </a:defRPr>
      </a:lvl8pPr>
      <a:lvl9pPr marL="3281073" algn="l" defTabSz="820269"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emf"/><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hyperlink" Target="https://docs.google.com/spreadsheets/d/12ewDPQkQqDUAywUAYFhzviwGgHxvxOqUs_36Rj8H2mo/edit?usp=sharing"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5288" y="764704"/>
            <a:ext cx="8353425" cy="288032"/>
          </a:xfrm>
        </p:spPr>
        <p:txBody>
          <a:bodyPr/>
          <a:lstStyle/>
          <a:p>
            <a:r>
              <a:rPr lang="da-DK" noProof="0" dirty="0">
                <a:latin typeface="CBS NEW" panose="02000506080000020004" pitchFamily="2" charset="0"/>
              </a:rPr>
              <a:t>Virksomhedsstrategi i et netværksperspektiv, Forelæsning #4, 10. februar 2025</a:t>
            </a:r>
          </a:p>
        </p:txBody>
      </p:sp>
      <p:sp>
        <p:nvSpPr>
          <p:cNvPr id="3" name="Text Placeholder 2"/>
          <p:cNvSpPr>
            <a:spLocks noGrp="1"/>
          </p:cNvSpPr>
          <p:nvPr>
            <p:ph type="body" sz="quarter" idx="11"/>
          </p:nvPr>
        </p:nvSpPr>
        <p:spPr>
          <a:xfrm>
            <a:off x="395288" y="4365104"/>
            <a:ext cx="8353425" cy="648072"/>
          </a:xfrm>
        </p:spPr>
        <p:txBody>
          <a:bodyPr/>
          <a:lstStyle/>
          <a:p>
            <a:r>
              <a:rPr lang="da-DK" sz="6000" dirty="0">
                <a:latin typeface="CBS NEW" panose="02000506080000020004" pitchFamily="2" charset="0"/>
              </a:rPr>
              <a:t>Måling af virksomhedsnetværk</a:t>
            </a:r>
            <a:endParaRPr lang="da-DK" sz="6000" noProof="0" dirty="0">
              <a:latin typeface="CBS NEW" panose="02000506080000020004" pitchFamily="2" charset="0"/>
            </a:endParaRPr>
          </a:p>
        </p:txBody>
      </p:sp>
      <p:sp>
        <p:nvSpPr>
          <p:cNvPr id="4" name="Text Placeholder 3"/>
          <p:cNvSpPr>
            <a:spLocks noGrp="1"/>
          </p:cNvSpPr>
          <p:nvPr>
            <p:ph type="body" sz="quarter" idx="12"/>
          </p:nvPr>
        </p:nvSpPr>
        <p:spPr>
          <a:xfrm>
            <a:off x="395288" y="5373216"/>
            <a:ext cx="8353425" cy="503709"/>
          </a:xfrm>
        </p:spPr>
        <p:txBody>
          <a:bodyPr/>
          <a:lstStyle/>
          <a:p>
            <a:r>
              <a:rPr lang="da-DK" noProof="0" dirty="0">
                <a:latin typeface="CBS NEW" panose="02000506080000020004" pitchFamily="2" charset="0"/>
              </a:rPr>
              <a:t>Christoph Ellersgaard</a:t>
            </a:r>
          </a:p>
          <a:p>
            <a:r>
              <a:rPr lang="da-DK" noProof="0" dirty="0">
                <a:latin typeface="CBS NEW" panose="02000506080000020004" pitchFamily="2" charset="0"/>
              </a:rPr>
              <a:t>Lektor ved Department of Organization, Copenhagen Business School</a:t>
            </a:r>
          </a:p>
          <a:p>
            <a:endParaRPr lang="da-DK" noProof="0" dirty="0"/>
          </a:p>
        </p:txBody>
      </p:sp>
      <p:cxnSp>
        <p:nvCxnSpPr>
          <p:cNvPr id="7" name="Straight Connector 6"/>
          <p:cNvCxnSpPr/>
          <p:nvPr/>
        </p:nvCxnSpPr>
        <p:spPr>
          <a:xfrm>
            <a:off x="395288" y="1052736"/>
            <a:ext cx="7993136"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8" name="Text Placeholder 2"/>
          <p:cNvSpPr txBox="1">
            <a:spLocks/>
          </p:cNvSpPr>
          <p:nvPr/>
        </p:nvSpPr>
        <p:spPr bwMode="auto">
          <a:xfrm>
            <a:off x="395536" y="4725145"/>
            <a:ext cx="8353425" cy="5760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defTabSz="914258" rtl="0" eaLnBrk="1" fontAlgn="base" hangingPunct="1">
              <a:lnSpc>
                <a:spcPct val="80000"/>
              </a:lnSpc>
              <a:spcBef>
                <a:spcPct val="0"/>
              </a:spcBef>
              <a:spcAft>
                <a:spcPts val="300"/>
              </a:spcAft>
              <a:buFont typeface="Arial" charset="0"/>
              <a:defRPr lang="en-US" sz="3600" b="1" kern="1200">
                <a:solidFill>
                  <a:srgbClr val="4967AA"/>
                </a:solidFill>
                <a:latin typeface="+mn-lt"/>
                <a:ea typeface="+mn-ea"/>
                <a:cs typeface="+mn-cs"/>
              </a:defRPr>
            </a:lvl1pPr>
            <a:lvl2pPr marL="182281" indent="-182281"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2pPr>
            <a:lvl3pPr marL="357444" indent="-175162"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3pPr>
            <a:lvl4pPr marL="539725" indent="-182281" algn="l" defTabSz="914258" rtl="0" eaLnBrk="1" fontAlgn="base" hangingPunct="1">
              <a:spcBef>
                <a:spcPct val="0"/>
              </a:spcBef>
              <a:spcAft>
                <a:spcPts val="600"/>
              </a:spcAft>
              <a:buFont typeface="Arial" charset="0"/>
              <a:buChar char="•"/>
              <a:defRPr lang="en-US" kern="1200" dirty="0">
                <a:solidFill>
                  <a:schemeClr val="tx1"/>
                </a:solidFill>
                <a:latin typeface="+mn-lt"/>
                <a:ea typeface="+mj-ea"/>
                <a:cs typeface="+mj-cs"/>
              </a:defRPr>
            </a:lvl4pPr>
            <a:lvl5pPr marL="712039" indent="-172314" algn="l" defTabSz="914258" rtl="0" eaLnBrk="1" fontAlgn="base" hangingPunct="1">
              <a:spcBef>
                <a:spcPct val="0"/>
              </a:spcBef>
              <a:spcAft>
                <a:spcPts val="600"/>
              </a:spcAft>
              <a:buFont typeface="Arial" charset="0"/>
              <a:buChar char="‒"/>
              <a:defRPr lang="en-GB" kern="1200" dirty="0">
                <a:solidFill>
                  <a:schemeClr val="tx1"/>
                </a:solidFill>
                <a:latin typeface="+mn-lt"/>
                <a:ea typeface="+mj-ea"/>
                <a:cs typeface="+mj-cs"/>
              </a:defRPr>
            </a:lvl5pPr>
            <a:lvl6pPr marL="803179" indent="-163770" algn="l" defTabSz="820269" rtl="0" eaLnBrk="1" latinLnBrk="0" hangingPunct="1">
              <a:spcBef>
                <a:spcPts val="0"/>
              </a:spcBef>
              <a:spcAft>
                <a:spcPts val="269"/>
              </a:spcAft>
              <a:buFont typeface="Arial" pitchFamily="34" charset="0"/>
              <a:buChar char="•"/>
              <a:defRPr sz="1400" kern="1200" baseline="0">
                <a:solidFill>
                  <a:schemeClr val="accent1"/>
                </a:solidFill>
                <a:latin typeface="+mn-lt"/>
                <a:ea typeface="+mn-ea"/>
                <a:cs typeface="+mn-cs"/>
              </a:defRPr>
            </a:lvl6pPr>
            <a:lvl7pPr marL="968371" indent="-165192"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7pPr>
            <a:lvl8pPr marL="1123597" indent="-155225"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8pPr>
            <a:lvl9pPr marL="1287365" indent="-163770"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9pPr>
          </a:lstStyle>
          <a:p>
            <a:r>
              <a:rPr lang="da-DK" sz="2800" dirty="0">
                <a:latin typeface="CBS NEW" panose="02000506080000020004" pitchFamily="2" charset="0"/>
              </a:rPr>
              <a:t>Andre veje til netværksdata</a:t>
            </a:r>
          </a:p>
        </p:txBody>
      </p:sp>
      <p:pic>
        <p:nvPicPr>
          <p:cNvPr id="6" name="Picture 5"/>
          <p:cNvPicPr>
            <a:picLocks noChangeAspect="1"/>
          </p:cNvPicPr>
          <p:nvPr/>
        </p:nvPicPr>
        <p:blipFill>
          <a:blip r:embed="rId2"/>
          <a:stretch>
            <a:fillRect/>
          </a:stretch>
        </p:blipFill>
        <p:spPr>
          <a:xfrm>
            <a:off x="395288" y="1418319"/>
            <a:ext cx="7344618" cy="2658753"/>
          </a:xfrm>
          <a:prstGeom prst="rect">
            <a:avLst/>
          </a:prstGeom>
        </p:spPr>
      </p:pic>
    </p:spTree>
    <p:extLst>
      <p:ext uri="{BB962C8B-B14F-4D97-AF65-F5344CB8AC3E}">
        <p14:creationId xmlns:p14="http://schemas.microsoft.com/office/powerpoint/2010/main" val="322925922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a:latin typeface="CBS NEW" panose="02000506080000020004" pitchFamily="2" charset="0"/>
              </a:rPr>
              <a:t>Program</a:t>
            </a:r>
          </a:p>
        </p:txBody>
      </p:sp>
      <p:sp>
        <p:nvSpPr>
          <p:cNvPr id="3" name="Content Placeholder 2"/>
          <p:cNvSpPr>
            <a:spLocks noGrp="1"/>
          </p:cNvSpPr>
          <p:nvPr>
            <p:ph sz="quarter" idx="11"/>
          </p:nvPr>
        </p:nvSpPr>
        <p:spPr/>
        <p:txBody>
          <a:bodyPr/>
          <a:lstStyle/>
          <a:p>
            <a:pPr marL="514350" indent="-514350">
              <a:buFont typeface="+mj-lt"/>
              <a:buAutoNum type="arabicPeriod"/>
            </a:pPr>
            <a:r>
              <a:rPr lang="da-DK" sz="3200" noProof="0" dirty="0">
                <a:latin typeface="CBS NEW" panose="02000506080000020004" pitchFamily="2" charset="0"/>
              </a:rPr>
              <a:t>Vigtige spørgsmål at stille, når man samler netværksdata ind</a:t>
            </a:r>
          </a:p>
          <a:p>
            <a:pPr marL="514350" indent="-514350">
              <a:buFont typeface="+mj-lt"/>
              <a:buAutoNum type="arabicPeriod"/>
            </a:pPr>
            <a:r>
              <a:rPr lang="da-DK" sz="3200" noProof="0" dirty="0">
                <a:latin typeface="CBS NEW" panose="02000506080000020004" pitchFamily="2" charset="0"/>
              </a:rPr>
              <a:t>Datamatricer</a:t>
            </a:r>
          </a:p>
          <a:p>
            <a:pPr marL="514350" indent="-514350">
              <a:buFont typeface="+mj-lt"/>
              <a:buAutoNum type="arabicPeriod"/>
            </a:pPr>
            <a:r>
              <a:rPr lang="en-US" sz="3200" dirty="0" err="1">
                <a:latin typeface="CBS NEW" panose="02000506080000020004" pitchFamily="2" charset="0"/>
              </a:rPr>
              <a:t>Fælles</a:t>
            </a:r>
            <a:r>
              <a:rPr lang="en-US" sz="3200" dirty="0">
                <a:latin typeface="CBS NEW" panose="02000506080000020004" pitchFamily="2" charset="0"/>
              </a:rPr>
              <a:t> </a:t>
            </a:r>
            <a:r>
              <a:rPr lang="en-US" sz="3200" dirty="0" err="1">
                <a:latin typeface="CBS NEW" panose="02000506080000020004" pitchFamily="2" charset="0"/>
              </a:rPr>
              <a:t>øvelse</a:t>
            </a:r>
            <a:r>
              <a:rPr lang="en-US" sz="3200" dirty="0">
                <a:latin typeface="CBS NEW" panose="02000506080000020004" pitchFamily="2" charset="0"/>
              </a:rPr>
              <a:t>: EB 6. semester </a:t>
            </a:r>
            <a:r>
              <a:rPr lang="en-US" sz="3200" dirty="0" err="1">
                <a:latin typeface="CBS NEW" panose="02000506080000020004" pitchFamily="2" charset="0"/>
              </a:rPr>
              <a:t>som</a:t>
            </a:r>
            <a:r>
              <a:rPr lang="en-US" sz="3200" dirty="0">
                <a:latin typeface="CBS NEW" panose="02000506080000020004" pitchFamily="2" charset="0"/>
              </a:rPr>
              <a:t> </a:t>
            </a:r>
            <a:r>
              <a:rPr lang="en-US" sz="3200" dirty="0" err="1">
                <a:latin typeface="CBS NEW" panose="02000506080000020004" pitchFamily="2" charset="0"/>
              </a:rPr>
              <a:t>netværk</a:t>
            </a:r>
            <a:endParaRPr lang="en-US" sz="3200" dirty="0">
              <a:latin typeface="CBS NEW" panose="02000506080000020004" pitchFamily="2" charset="0"/>
            </a:endParaRPr>
          </a:p>
          <a:p>
            <a:pPr marL="514350" indent="-514350">
              <a:buFont typeface="+mj-lt"/>
              <a:buAutoNum type="arabicPeriod"/>
            </a:pPr>
            <a:r>
              <a:rPr lang="en-US" sz="3200" dirty="0" err="1">
                <a:latin typeface="CBS NEW" panose="02000506080000020004" pitchFamily="2" charset="0"/>
              </a:rPr>
              <a:t>Eksamen</a:t>
            </a:r>
            <a:endParaRPr lang="da-DK" sz="320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202961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en-US" sz="4800" dirty="0" err="1">
                <a:latin typeface="CBS NEW" panose="02000506080000020004" pitchFamily="2" charset="0"/>
              </a:rPr>
              <a:t>Formål</a:t>
            </a:r>
            <a:endParaRPr lang="da-DK" sz="4800" noProof="0" dirty="0">
              <a:latin typeface="CBS NEW" panose="02000506080000020004" pitchFamily="2" charset="0"/>
            </a:endParaRPr>
          </a:p>
        </p:txBody>
      </p:sp>
      <p:sp>
        <p:nvSpPr>
          <p:cNvPr id="3" name="Content Placeholder 2"/>
          <p:cNvSpPr>
            <a:spLocks noGrp="1"/>
          </p:cNvSpPr>
          <p:nvPr>
            <p:ph sz="quarter" idx="11"/>
          </p:nvPr>
        </p:nvSpPr>
        <p:spPr/>
        <p:txBody>
          <a:bodyPr/>
          <a:lstStyle/>
          <a:p>
            <a:pPr marL="514350" indent="-514350">
              <a:buFont typeface="+mj-lt"/>
              <a:buAutoNum type="arabicPeriod"/>
            </a:pPr>
            <a:r>
              <a:rPr lang="en-US" sz="3200" noProof="0" dirty="0">
                <a:latin typeface="CBS NEW" panose="02000506080000020004" pitchFamily="2" charset="0"/>
              </a:rPr>
              <a:t>Give </a:t>
            </a:r>
            <a:r>
              <a:rPr lang="en-US" sz="3200" noProof="0" dirty="0" err="1">
                <a:latin typeface="CBS NEW" panose="02000506080000020004" pitchFamily="2" charset="0"/>
              </a:rPr>
              <a:t>overblik</a:t>
            </a:r>
            <a:r>
              <a:rPr lang="en-US" sz="3200" noProof="0" dirty="0">
                <a:latin typeface="CBS NEW" panose="02000506080000020004" pitchFamily="2" charset="0"/>
              </a:rPr>
              <a:t> over, </a:t>
            </a:r>
            <a:r>
              <a:rPr lang="en-US" sz="3200" noProof="0" dirty="0" err="1">
                <a:latin typeface="CBS NEW" panose="02000506080000020004" pitchFamily="2" charset="0"/>
              </a:rPr>
              <a:t>hvordan</a:t>
            </a:r>
            <a:r>
              <a:rPr lang="en-US" sz="3200" noProof="0" dirty="0">
                <a:latin typeface="CBS NEW" panose="02000506080000020004" pitchFamily="2" charset="0"/>
              </a:rPr>
              <a:t> </a:t>
            </a:r>
            <a:r>
              <a:rPr lang="en-US" sz="3200" noProof="0" dirty="0" err="1">
                <a:latin typeface="CBS NEW" panose="02000506080000020004" pitchFamily="2" charset="0"/>
              </a:rPr>
              <a:t>netværksdata</a:t>
            </a:r>
            <a:r>
              <a:rPr lang="en-US" sz="3200" noProof="0" dirty="0">
                <a:latin typeface="CBS NEW" panose="02000506080000020004" pitchFamily="2" charset="0"/>
              </a:rPr>
              <a:t> – </a:t>
            </a:r>
            <a:r>
              <a:rPr lang="en-US" sz="3200" noProof="0" dirty="0" err="1">
                <a:latin typeface="CBS NEW" panose="02000506080000020004" pitchFamily="2" charset="0"/>
              </a:rPr>
              <a:t>herunder</a:t>
            </a:r>
            <a:r>
              <a:rPr lang="en-US" sz="3200" noProof="0" dirty="0">
                <a:latin typeface="CBS NEW" panose="02000506080000020004" pitchFamily="2" charset="0"/>
              </a:rPr>
              <a:t> </a:t>
            </a:r>
            <a:r>
              <a:rPr lang="en-US" sz="3200" noProof="0" dirty="0" err="1">
                <a:latin typeface="CBS NEW" panose="02000506080000020004" pitchFamily="2" charset="0"/>
              </a:rPr>
              <a:t>det</a:t>
            </a:r>
            <a:r>
              <a:rPr lang="en-US" sz="3200" noProof="0" dirty="0">
                <a:latin typeface="CBS NEW" panose="02000506080000020004" pitchFamily="2" charset="0"/>
              </a:rPr>
              <a:t> I </a:t>
            </a:r>
            <a:r>
              <a:rPr lang="en-US" sz="3200" noProof="0" dirty="0" err="1">
                <a:latin typeface="CBS NEW" panose="02000506080000020004" pitchFamily="2" charset="0"/>
              </a:rPr>
              <a:t>benytter</a:t>
            </a:r>
            <a:r>
              <a:rPr lang="en-US" sz="3200" noProof="0" dirty="0">
                <a:latin typeface="CBS NEW" panose="02000506080000020004" pitchFamily="2" charset="0"/>
              </a:rPr>
              <a:t> </a:t>
            </a:r>
            <a:r>
              <a:rPr lang="en-US" sz="3200" noProof="0" dirty="0" err="1">
                <a:latin typeface="CBS NEW" panose="02000506080000020004" pitchFamily="2" charset="0"/>
              </a:rPr>
              <a:t>i</a:t>
            </a:r>
            <a:r>
              <a:rPr lang="en-US" sz="3200" noProof="0" dirty="0">
                <a:latin typeface="CBS NEW" panose="02000506080000020004" pitchFamily="2" charset="0"/>
              </a:rPr>
              <a:t> </a:t>
            </a:r>
            <a:r>
              <a:rPr lang="en-US" sz="3200" noProof="0" dirty="0" err="1">
                <a:latin typeface="CBS NEW" panose="02000506080000020004" pitchFamily="2" charset="0"/>
              </a:rPr>
              <a:t>øvelserne</a:t>
            </a:r>
            <a:r>
              <a:rPr lang="en-US" sz="3200" noProof="0" dirty="0">
                <a:latin typeface="CBS NEW" panose="02000506080000020004" pitchFamily="2" charset="0"/>
              </a:rPr>
              <a:t> – </a:t>
            </a:r>
            <a:r>
              <a:rPr lang="en-US" sz="3200" noProof="0" dirty="0" err="1">
                <a:latin typeface="CBS NEW" panose="02000506080000020004" pitchFamily="2" charset="0"/>
              </a:rPr>
              <a:t>bliver</a:t>
            </a:r>
            <a:r>
              <a:rPr lang="en-US" sz="3200" noProof="0" dirty="0">
                <a:latin typeface="CBS NEW" panose="02000506080000020004" pitchFamily="2" charset="0"/>
              </a:rPr>
              <a:t> </a:t>
            </a:r>
            <a:r>
              <a:rPr lang="en-US" sz="3200" noProof="0" dirty="0" err="1">
                <a:latin typeface="CBS NEW" panose="02000506080000020004" pitchFamily="2" charset="0"/>
              </a:rPr>
              <a:t>til</a:t>
            </a:r>
            <a:endParaRPr lang="en-US" sz="3200" noProof="0" dirty="0">
              <a:latin typeface="CBS NEW" panose="02000506080000020004" pitchFamily="2" charset="0"/>
            </a:endParaRPr>
          </a:p>
          <a:p>
            <a:pPr marL="514350" indent="-514350">
              <a:buFont typeface="+mj-lt"/>
              <a:buAutoNum type="arabicPeriod"/>
            </a:pPr>
            <a:r>
              <a:rPr lang="en-US" sz="3200" dirty="0" err="1">
                <a:latin typeface="CBS NEW" panose="02000506080000020004" pitchFamily="2" charset="0"/>
              </a:rPr>
              <a:t>Gøre</a:t>
            </a:r>
            <a:r>
              <a:rPr lang="en-US" sz="3200" dirty="0">
                <a:latin typeface="CBS NEW" panose="02000506080000020004" pitchFamily="2" charset="0"/>
              </a:rPr>
              <a:t> </a:t>
            </a:r>
            <a:r>
              <a:rPr lang="en-US" sz="3200" dirty="0" err="1">
                <a:latin typeface="CBS NEW" panose="02000506080000020004" pitchFamily="2" charset="0"/>
              </a:rPr>
              <a:t>jer</a:t>
            </a:r>
            <a:r>
              <a:rPr lang="en-US" sz="3200" dirty="0">
                <a:latin typeface="CBS NEW" panose="02000506080000020004" pitchFamily="2" charset="0"/>
              </a:rPr>
              <a:t> </a:t>
            </a:r>
            <a:r>
              <a:rPr lang="en-US" sz="3200" dirty="0" err="1">
                <a:latin typeface="CBS NEW" panose="02000506080000020004" pitchFamily="2" charset="0"/>
              </a:rPr>
              <a:t>i</a:t>
            </a:r>
            <a:r>
              <a:rPr lang="en-US" sz="3200" dirty="0">
                <a:latin typeface="CBS NEW" panose="02000506080000020004" pitchFamily="2" charset="0"/>
              </a:rPr>
              <a:t> stand </a:t>
            </a:r>
            <a:r>
              <a:rPr lang="en-US" sz="3200" dirty="0" err="1">
                <a:latin typeface="CBS NEW" panose="02000506080000020004" pitchFamily="2" charset="0"/>
              </a:rPr>
              <a:t>til</a:t>
            </a:r>
            <a:r>
              <a:rPr lang="en-US" sz="3200" dirty="0">
                <a:latin typeface="CBS NEW" panose="02000506080000020004" pitchFamily="2" charset="0"/>
              </a:rPr>
              <a:t> </a:t>
            </a:r>
            <a:r>
              <a:rPr lang="en-US" sz="3200" dirty="0" err="1">
                <a:latin typeface="CBS NEW" panose="02000506080000020004" pitchFamily="2" charset="0"/>
              </a:rPr>
              <a:t>selv</a:t>
            </a:r>
            <a:r>
              <a:rPr lang="en-US" sz="3200" dirty="0">
                <a:latin typeface="CBS NEW" panose="02000506080000020004" pitchFamily="2" charset="0"/>
              </a:rPr>
              <a:t> at </a:t>
            </a:r>
            <a:r>
              <a:rPr lang="en-US" sz="3200" dirty="0" err="1">
                <a:latin typeface="CBS NEW" panose="02000506080000020004" pitchFamily="2" charset="0"/>
              </a:rPr>
              <a:t>indsamle</a:t>
            </a:r>
            <a:r>
              <a:rPr lang="en-US" sz="3200" dirty="0">
                <a:latin typeface="CBS NEW" panose="02000506080000020004" pitchFamily="2" charset="0"/>
              </a:rPr>
              <a:t> </a:t>
            </a:r>
            <a:r>
              <a:rPr lang="en-US" sz="3200" dirty="0" err="1">
                <a:latin typeface="CBS NEW" panose="02000506080000020004" pitchFamily="2" charset="0"/>
              </a:rPr>
              <a:t>netværksdata</a:t>
            </a:r>
            <a:r>
              <a:rPr lang="en-US" sz="3200" dirty="0">
                <a:latin typeface="CBS NEW" panose="02000506080000020004" pitchFamily="2" charset="0"/>
              </a:rPr>
              <a:t> (</a:t>
            </a:r>
            <a:r>
              <a:rPr lang="en-US" sz="3200" dirty="0" err="1">
                <a:latin typeface="CBS NEW" panose="02000506080000020004" pitchFamily="2" charset="0"/>
              </a:rPr>
              <a:t>som</a:t>
            </a:r>
            <a:r>
              <a:rPr lang="en-US" sz="3200" dirty="0">
                <a:latin typeface="CBS NEW" panose="02000506080000020004" pitchFamily="2" charset="0"/>
              </a:rPr>
              <a:t> </a:t>
            </a:r>
            <a:r>
              <a:rPr lang="en-US" sz="3200" dirty="0" err="1">
                <a:latin typeface="CBS NEW" panose="02000506080000020004" pitchFamily="2" charset="0"/>
              </a:rPr>
              <a:t>kan</a:t>
            </a:r>
            <a:r>
              <a:rPr lang="en-US" sz="3200" dirty="0">
                <a:latin typeface="CBS NEW" panose="02000506080000020004" pitchFamily="2" charset="0"/>
              </a:rPr>
              <a:t> </a:t>
            </a:r>
            <a:r>
              <a:rPr lang="en-US" sz="3200" dirty="0" err="1">
                <a:latin typeface="CBS NEW" panose="02000506080000020004" pitchFamily="2" charset="0"/>
              </a:rPr>
              <a:t>benyttes</a:t>
            </a:r>
            <a:r>
              <a:rPr lang="en-US" sz="3200" dirty="0">
                <a:latin typeface="CBS NEW" panose="02000506080000020004" pitchFamily="2" charset="0"/>
              </a:rPr>
              <a:t> </a:t>
            </a:r>
            <a:r>
              <a:rPr lang="en-US" sz="3200" dirty="0" err="1">
                <a:latin typeface="CBS NEW" panose="02000506080000020004" pitchFamily="2" charset="0"/>
              </a:rPr>
              <a:t>i</a:t>
            </a:r>
            <a:r>
              <a:rPr lang="en-US" sz="3200" dirty="0">
                <a:latin typeface="CBS NEW" panose="02000506080000020004" pitchFamily="2" charset="0"/>
              </a:rPr>
              <a:t> </a:t>
            </a:r>
            <a:r>
              <a:rPr lang="en-US" sz="3200" dirty="0" err="1">
                <a:latin typeface="CBS NEW" panose="02000506080000020004" pitchFamily="2" charset="0"/>
              </a:rPr>
              <a:t>eksamensopgaven</a:t>
            </a:r>
            <a:r>
              <a:rPr lang="en-US" sz="3200" dirty="0">
                <a:latin typeface="CBS NEW" panose="02000506080000020004" pitchFamily="2" charset="0"/>
              </a:rPr>
              <a:t>)</a:t>
            </a:r>
            <a:endParaRPr lang="da-DK" sz="32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613075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5288" y="764704"/>
            <a:ext cx="8353425" cy="288032"/>
          </a:xfrm>
        </p:spPr>
        <p:txBody>
          <a:bodyPr/>
          <a:lstStyle/>
          <a:p>
            <a:r>
              <a:rPr lang="da-DK" dirty="0">
                <a:latin typeface="CBS NEW" panose="02000506080000020004" pitchFamily="2" charset="0"/>
              </a:rPr>
              <a:t>Virksomhedsstrategi i et netværksperspektiv, Forelæsning #4, 10. februar 2025</a:t>
            </a:r>
          </a:p>
        </p:txBody>
      </p:sp>
      <p:sp>
        <p:nvSpPr>
          <p:cNvPr id="3" name="Text Placeholder 2"/>
          <p:cNvSpPr>
            <a:spLocks noGrp="1"/>
          </p:cNvSpPr>
          <p:nvPr>
            <p:ph type="body" sz="quarter" idx="11"/>
          </p:nvPr>
        </p:nvSpPr>
        <p:spPr>
          <a:xfrm>
            <a:off x="395288" y="4365104"/>
            <a:ext cx="8353425" cy="648072"/>
          </a:xfrm>
        </p:spPr>
        <p:txBody>
          <a:bodyPr/>
          <a:lstStyle/>
          <a:p>
            <a:r>
              <a:rPr lang="da-DK" sz="7200" dirty="0">
                <a:latin typeface="CBS NEW" panose="02000506080000020004" pitchFamily="2" charset="0"/>
              </a:rPr>
              <a:t>1. Vigtige spørgsmål at stille, når man samler netværksdata ind</a:t>
            </a:r>
            <a:endParaRPr lang="da-DK" sz="7200" noProof="0" dirty="0">
              <a:latin typeface="CBS NEW" panose="02000506080000020004" pitchFamily="2" charset="0"/>
            </a:endParaRPr>
          </a:p>
        </p:txBody>
      </p:sp>
      <p:cxnSp>
        <p:nvCxnSpPr>
          <p:cNvPr id="7" name="Straight Connector 6"/>
          <p:cNvCxnSpPr/>
          <p:nvPr/>
        </p:nvCxnSpPr>
        <p:spPr>
          <a:xfrm>
            <a:off x="395288" y="1052736"/>
            <a:ext cx="7993136"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8" name="Text Placeholder 2"/>
          <p:cNvSpPr txBox="1">
            <a:spLocks/>
          </p:cNvSpPr>
          <p:nvPr/>
        </p:nvSpPr>
        <p:spPr bwMode="auto">
          <a:xfrm>
            <a:off x="395536" y="4725145"/>
            <a:ext cx="8353425" cy="5760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defTabSz="914258" rtl="0" eaLnBrk="1" fontAlgn="base" hangingPunct="1">
              <a:lnSpc>
                <a:spcPct val="80000"/>
              </a:lnSpc>
              <a:spcBef>
                <a:spcPct val="0"/>
              </a:spcBef>
              <a:spcAft>
                <a:spcPts val="300"/>
              </a:spcAft>
              <a:buFont typeface="Arial" charset="0"/>
              <a:defRPr lang="en-US" sz="3600" b="1" kern="1200">
                <a:solidFill>
                  <a:srgbClr val="4967AA"/>
                </a:solidFill>
                <a:latin typeface="+mn-lt"/>
                <a:ea typeface="+mn-ea"/>
                <a:cs typeface="+mn-cs"/>
              </a:defRPr>
            </a:lvl1pPr>
            <a:lvl2pPr marL="182281" indent="-182281"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2pPr>
            <a:lvl3pPr marL="357444" indent="-175162"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3pPr>
            <a:lvl4pPr marL="539725" indent="-182281" algn="l" defTabSz="914258" rtl="0" eaLnBrk="1" fontAlgn="base" hangingPunct="1">
              <a:spcBef>
                <a:spcPct val="0"/>
              </a:spcBef>
              <a:spcAft>
                <a:spcPts val="600"/>
              </a:spcAft>
              <a:buFont typeface="Arial" charset="0"/>
              <a:buChar char="•"/>
              <a:defRPr lang="en-US" kern="1200" dirty="0">
                <a:solidFill>
                  <a:schemeClr val="tx1"/>
                </a:solidFill>
                <a:latin typeface="+mn-lt"/>
                <a:ea typeface="+mj-ea"/>
                <a:cs typeface="+mj-cs"/>
              </a:defRPr>
            </a:lvl4pPr>
            <a:lvl5pPr marL="712039" indent="-172314" algn="l" defTabSz="914258" rtl="0" eaLnBrk="1" fontAlgn="base" hangingPunct="1">
              <a:spcBef>
                <a:spcPct val="0"/>
              </a:spcBef>
              <a:spcAft>
                <a:spcPts val="600"/>
              </a:spcAft>
              <a:buFont typeface="Arial" charset="0"/>
              <a:buChar char="‒"/>
              <a:defRPr lang="en-GB" kern="1200" dirty="0">
                <a:solidFill>
                  <a:schemeClr val="tx1"/>
                </a:solidFill>
                <a:latin typeface="+mn-lt"/>
                <a:ea typeface="+mj-ea"/>
                <a:cs typeface="+mj-cs"/>
              </a:defRPr>
            </a:lvl5pPr>
            <a:lvl6pPr marL="803179" indent="-163770" algn="l" defTabSz="820269" rtl="0" eaLnBrk="1" latinLnBrk="0" hangingPunct="1">
              <a:spcBef>
                <a:spcPts val="0"/>
              </a:spcBef>
              <a:spcAft>
                <a:spcPts val="269"/>
              </a:spcAft>
              <a:buFont typeface="Arial" pitchFamily="34" charset="0"/>
              <a:buChar char="•"/>
              <a:defRPr sz="1400" kern="1200" baseline="0">
                <a:solidFill>
                  <a:schemeClr val="accent1"/>
                </a:solidFill>
                <a:latin typeface="+mn-lt"/>
                <a:ea typeface="+mn-ea"/>
                <a:cs typeface="+mn-cs"/>
              </a:defRPr>
            </a:lvl6pPr>
            <a:lvl7pPr marL="968371" indent="-165192"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7pPr>
            <a:lvl8pPr marL="1123597" indent="-155225"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8pPr>
            <a:lvl9pPr marL="1287365" indent="-163770"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9pPr>
          </a:lstStyle>
          <a:p>
            <a:endParaRPr lang="en-US" sz="2800" dirty="0">
              <a:latin typeface="CBS NEW" panose="02000506080000020004" pitchFamily="2" charset="0"/>
            </a:endParaRPr>
          </a:p>
        </p:txBody>
      </p:sp>
    </p:spTree>
    <p:extLst>
      <p:ext uri="{BB962C8B-B14F-4D97-AF65-F5344CB8AC3E}">
        <p14:creationId xmlns:p14="http://schemas.microsoft.com/office/powerpoint/2010/main" val="3885144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De to centrale spørgsmål</a:t>
            </a:r>
            <a:endParaRPr lang="da-DK" sz="48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1"/>
          </p:nvPr>
        </p:nvSpPr>
        <p:spPr/>
        <p:txBody>
          <a:bodyPr>
            <a:normAutofit/>
          </a:bodyPr>
          <a:lstStyle/>
          <a:p>
            <a:pPr marL="742950" indent="-742950">
              <a:buFont typeface="+mj-lt"/>
              <a:buAutoNum type="arabicPeriod"/>
            </a:pPr>
            <a:r>
              <a:rPr lang="da-DK" sz="3600" dirty="0">
                <a:latin typeface="CBS NEW" panose="02000506080000020004" pitchFamily="2" charset="0"/>
                <a:ea typeface="Verdana" panose="020B0604030504040204" pitchFamily="34" charset="0"/>
              </a:rPr>
              <a:t>Hvad er forbindelserne. Altså hvad udgør en relation? Hvad skal være en streg</a:t>
            </a:r>
          </a:p>
          <a:p>
            <a:pPr marL="1102950" lvl="2" indent="-742950">
              <a:buFont typeface="+mj-lt"/>
              <a:buAutoNum type="alphaLcParenR"/>
            </a:pPr>
            <a:r>
              <a:rPr lang="en-US" sz="3200" dirty="0" err="1">
                <a:latin typeface="CBS NEW" panose="02000506080000020004" pitchFamily="2" charset="0"/>
                <a:ea typeface="Verdana" panose="020B0604030504040204" pitchFamily="34" charset="0"/>
              </a:rPr>
              <a:t>Skal</a:t>
            </a:r>
            <a:r>
              <a:rPr lang="en-US" sz="3200" dirty="0">
                <a:latin typeface="CBS NEW" panose="02000506080000020004" pitchFamily="2" charset="0"/>
                <a:ea typeface="Verdana" panose="020B0604030504040204" pitchFamily="34" charset="0"/>
              </a:rPr>
              <a:t> </a:t>
            </a:r>
            <a:r>
              <a:rPr lang="en-US" sz="3200" dirty="0" err="1">
                <a:latin typeface="CBS NEW" panose="02000506080000020004" pitchFamily="2" charset="0"/>
                <a:ea typeface="Verdana" panose="020B0604030504040204" pitchFamily="34" charset="0"/>
              </a:rPr>
              <a:t>denne</a:t>
            </a:r>
            <a:r>
              <a:rPr lang="en-US" sz="3200" dirty="0">
                <a:latin typeface="CBS NEW" panose="02000506080000020004" pitchFamily="2" charset="0"/>
                <a:ea typeface="Verdana" panose="020B0604030504040204" pitchFamily="34" charset="0"/>
              </a:rPr>
              <a:t> have et </a:t>
            </a:r>
            <a:r>
              <a:rPr lang="en-US" sz="3200" dirty="0" err="1">
                <a:latin typeface="CBS NEW" panose="02000506080000020004" pitchFamily="2" charset="0"/>
                <a:ea typeface="Verdana" panose="020B0604030504040204" pitchFamily="34" charset="0"/>
              </a:rPr>
              <a:t>retning</a:t>
            </a:r>
            <a:r>
              <a:rPr lang="en-US" sz="3200" dirty="0">
                <a:latin typeface="CBS NEW" panose="02000506080000020004" pitchFamily="2" charset="0"/>
                <a:ea typeface="Verdana" panose="020B0604030504040204" pitchFamily="34" charset="0"/>
              </a:rPr>
              <a:t>?</a:t>
            </a:r>
          </a:p>
          <a:p>
            <a:pPr marL="1102950" lvl="2" indent="-742950">
              <a:buFont typeface="+mj-lt"/>
              <a:buAutoNum type="alphaLcParenR"/>
            </a:pPr>
            <a:r>
              <a:rPr lang="en-US" sz="3200" dirty="0" err="1">
                <a:latin typeface="CBS NEW" panose="02000506080000020004" pitchFamily="2" charset="0"/>
                <a:ea typeface="Verdana" panose="020B0604030504040204" pitchFamily="34" charset="0"/>
              </a:rPr>
              <a:t>Skal</a:t>
            </a:r>
            <a:r>
              <a:rPr lang="en-US" sz="3200" dirty="0">
                <a:latin typeface="CBS NEW" panose="02000506080000020004" pitchFamily="2" charset="0"/>
                <a:ea typeface="Verdana" panose="020B0604030504040204" pitchFamily="34" charset="0"/>
              </a:rPr>
              <a:t> den have </a:t>
            </a:r>
            <a:r>
              <a:rPr lang="en-US" sz="3200" dirty="0" err="1">
                <a:latin typeface="CBS NEW" panose="02000506080000020004" pitchFamily="2" charset="0"/>
                <a:ea typeface="Verdana" panose="020B0604030504040204" pitchFamily="34" charset="0"/>
              </a:rPr>
              <a:t>vægt</a:t>
            </a:r>
            <a:r>
              <a:rPr lang="en-US" sz="3200" dirty="0">
                <a:latin typeface="CBS NEW" panose="02000506080000020004" pitchFamily="2" charset="0"/>
                <a:ea typeface="Verdana" panose="020B0604030504040204" pitchFamily="34" charset="0"/>
              </a:rPr>
              <a:t>?</a:t>
            </a:r>
          </a:p>
          <a:p>
            <a:pPr marL="1102950" lvl="2" indent="-742950">
              <a:buFont typeface="+mj-lt"/>
              <a:buAutoNum type="alphaLcParenR"/>
            </a:pPr>
            <a:r>
              <a:rPr lang="en-US" sz="3200" dirty="0" err="1">
                <a:latin typeface="CBS NEW" panose="02000506080000020004" pitchFamily="2" charset="0"/>
                <a:ea typeface="Verdana" panose="020B0604030504040204" pitchFamily="34" charset="0"/>
              </a:rPr>
              <a:t>Skal</a:t>
            </a:r>
            <a:r>
              <a:rPr lang="en-US" sz="3200" dirty="0">
                <a:latin typeface="CBS NEW" panose="02000506080000020004" pitchFamily="2" charset="0"/>
                <a:ea typeface="Verdana" panose="020B0604030504040204" pitchFamily="34" charset="0"/>
              </a:rPr>
              <a:t> der </a:t>
            </a:r>
            <a:r>
              <a:rPr lang="en-US" sz="3200" dirty="0" err="1">
                <a:latin typeface="CBS NEW" panose="02000506080000020004" pitchFamily="2" charset="0"/>
                <a:ea typeface="Verdana" panose="020B0604030504040204" pitchFamily="34" charset="0"/>
              </a:rPr>
              <a:t>være</a:t>
            </a:r>
            <a:r>
              <a:rPr lang="en-US" sz="3200" dirty="0">
                <a:latin typeface="CBS NEW" panose="02000506080000020004" pitchFamily="2" charset="0"/>
                <a:ea typeface="Verdana" panose="020B0604030504040204" pitchFamily="34" charset="0"/>
              </a:rPr>
              <a:t> </a:t>
            </a:r>
            <a:r>
              <a:rPr lang="en-US" sz="3200" dirty="0" err="1">
                <a:latin typeface="CBS NEW" panose="02000506080000020004" pitchFamily="2" charset="0"/>
                <a:ea typeface="Verdana" panose="020B0604030504040204" pitchFamily="34" charset="0"/>
              </a:rPr>
              <a:t>flere</a:t>
            </a:r>
            <a:r>
              <a:rPr lang="en-US" sz="3200" dirty="0">
                <a:latin typeface="CBS NEW" panose="02000506080000020004" pitchFamily="2" charset="0"/>
                <a:ea typeface="Verdana" panose="020B0604030504040204" pitchFamily="34" charset="0"/>
              </a:rPr>
              <a:t> slags </a:t>
            </a:r>
            <a:r>
              <a:rPr lang="en-US" sz="3200" dirty="0" err="1">
                <a:latin typeface="CBS NEW" panose="02000506080000020004" pitchFamily="2" charset="0"/>
                <a:ea typeface="Verdana" panose="020B0604030504040204" pitchFamily="34" charset="0"/>
              </a:rPr>
              <a:t>forbindelser</a:t>
            </a:r>
            <a:r>
              <a:rPr lang="en-US" sz="3200" dirty="0">
                <a:latin typeface="CBS NEW" panose="02000506080000020004" pitchFamily="2" charset="0"/>
                <a:ea typeface="Verdana" panose="020B0604030504040204" pitchFamily="34" charset="0"/>
              </a:rPr>
              <a:t> (</a:t>
            </a:r>
            <a:r>
              <a:rPr lang="en-US" sz="3200" dirty="0" err="1">
                <a:latin typeface="CBS NEW" panose="02000506080000020004" pitchFamily="2" charset="0"/>
                <a:ea typeface="Verdana" panose="020B0604030504040204" pitchFamily="34" charset="0"/>
              </a:rPr>
              <a:t>multiplekse</a:t>
            </a:r>
            <a:r>
              <a:rPr lang="en-US" sz="3200" dirty="0">
                <a:latin typeface="CBS NEW" panose="02000506080000020004" pitchFamily="2" charset="0"/>
                <a:ea typeface="Verdana" panose="020B0604030504040204" pitchFamily="34" charset="0"/>
              </a:rPr>
              <a:t> </a:t>
            </a:r>
            <a:r>
              <a:rPr lang="en-US" sz="3200" dirty="0" err="1">
                <a:latin typeface="CBS NEW" panose="02000506080000020004" pitchFamily="2" charset="0"/>
                <a:ea typeface="Verdana" panose="020B0604030504040204" pitchFamily="34" charset="0"/>
              </a:rPr>
              <a:t>netværk</a:t>
            </a:r>
            <a:r>
              <a:rPr lang="en-US" sz="3200" dirty="0">
                <a:latin typeface="CBS NEW" panose="02000506080000020004" pitchFamily="2" charset="0"/>
                <a:ea typeface="Verdana" panose="020B0604030504040204" pitchFamily="34" charset="0"/>
              </a:rPr>
              <a:t>)?</a:t>
            </a:r>
            <a:endParaRPr lang="da-DK" sz="3200" dirty="0">
              <a:latin typeface="CBS NEW" panose="02000506080000020004" pitchFamily="2" charset="0"/>
              <a:ea typeface="Verdana" panose="020B0604030504040204" pitchFamily="34" charset="0"/>
            </a:endParaRPr>
          </a:p>
          <a:p>
            <a:pPr marL="742950" indent="-742950">
              <a:buFont typeface="+mj-lt"/>
              <a:buAutoNum type="arabicPeriod"/>
            </a:pPr>
            <a:r>
              <a:rPr lang="da-DK" sz="3600" dirty="0">
                <a:latin typeface="CBS NEW" panose="02000506080000020004" pitchFamily="2" charset="0"/>
                <a:ea typeface="Verdana" panose="020B0604030504040204" pitchFamily="34" charset="0"/>
              </a:rPr>
              <a:t>Afgræsning af netværket. Hvem skal med. Altså hvad skal være et punkt?</a:t>
            </a:r>
          </a:p>
        </p:txBody>
      </p:sp>
    </p:spTree>
    <p:extLst>
      <p:ext uri="{BB962C8B-B14F-4D97-AF65-F5344CB8AC3E}">
        <p14:creationId xmlns:p14="http://schemas.microsoft.com/office/powerpoint/2010/main" val="302518771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400" dirty="0">
                <a:latin typeface="CBS NEW" panose="02000506080000020004" pitchFamily="2" charset="0"/>
              </a:rPr>
              <a:t>Så hvad er netværksanalyse?</a:t>
            </a:r>
            <a:endParaRPr lang="da-DK" sz="44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1"/>
          </p:nvPr>
        </p:nvSpPr>
        <p:spPr/>
        <p:txBody>
          <a:bodyPr>
            <a:normAutofit/>
          </a:bodyPr>
          <a:lstStyle/>
          <a:p>
            <a:pPr marL="342900" indent="-342900">
              <a:buFont typeface="CBS NEW" panose="02000506080000020004" pitchFamily="2" charset="0"/>
              <a:buChar char="—"/>
            </a:pPr>
            <a:r>
              <a:rPr lang="da-DK" sz="4000" dirty="0">
                <a:latin typeface="CBS NEW" panose="02000506080000020004" pitchFamily="2" charset="0"/>
                <a:ea typeface="Verdana" panose="020B0604030504040204" pitchFamily="34" charset="0"/>
              </a:rPr>
              <a:t>Punkter og streger…</a:t>
            </a:r>
          </a:p>
          <a:p>
            <a:pPr marL="342900" indent="-342900">
              <a:buFont typeface="CBS NEW" panose="02000506080000020004" pitchFamily="2" charset="0"/>
              <a:buChar char="—"/>
            </a:pPr>
            <a:r>
              <a:rPr lang="en-US" sz="4000" dirty="0">
                <a:latin typeface="CBS NEW" panose="02000506080000020004" pitchFamily="2" charset="0"/>
                <a:ea typeface="Verdana" panose="020B0604030504040204" pitchFamily="34" charset="0"/>
              </a:rPr>
              <a:t>Illustration </a:t>
            </a:r>
            <a:r>
              <a:rPr lang="en-US" sz="4000" dirty="0" err="1">
                <a:latin typeface="CBS NEW" panose="02000506080000020004" pitchFamily="2" charset="0"/>
                <a:ea typeface="Verdana" panose="020B0604030504040204" pitchFamily="34" charset="0"/>
              </a:rPr>
              <a:t>af</a:t>
            </a:r>
            <a:r>
              <a:rPr lang="en-US" sz="4000" dirty="0">
                <a:latin typeface="CBS NEW" panose="02000506080000020004" pitchFamily="2" charset="0"/>
                <a:ea typeface="Verdana" panose="020B0604030504040204" pitchFamily="34" charset="0"/>
              </a:rPr>
              <a:t> </a:t>
            </a:r>
            <a:r>
              <a:rPr lang="en-US" sz="4000" dirty="0" err="1">
                <a:latin typeface="CBS NEW" panose="02000506080000020004" pitchFamily="2" charset="0"/>
                <a:ea typeface="Verdana" panose="020B0604030504040204" pitchFamily="34" charset="0"/>
              </a:rPr>
              <a:t>relationer</a:t>
            </a:r>
            <a:endParaRPr lang="en-US" sz="4000" dirty="0">
              <a:latin typeface="CBS NEW" panose="02000506080000020004" pitchFamily="2" charset="0"/>
              <a:ea typeface="Verdana" panose="020B0604030504040204" pitchFamily="34" charset="0"/>
            </a:endParaRPr>
          </a:p>
          <a:p>
            <a:pPr marL="342900" indent="-342900">
              <a:buFont typeface="CBS NEW" panose="02000506080000020004" pitchFamily="2" charset="0"/>
              <a:buChar char="—"/>
            </a:pPr>
            <a:r>
              <a:rPr lang="en-US" sz="4000" dirty="0" err="1">
                <a:latin typeface="CBS NEW" panose="02000506080000020004" pitchFamily="2" charset="0"/>
                <a:ea typeface="Verdana" panose="020B0604030504040204" pitchFamily="34" charset="0"/>
              </a:rPr>
              <a:t>Konstruktion</a:t>
            </a:r>
            <a:r>
              <a:rPr lang="en-US" sz="4000" dirty="0">
                <a:latin typeface="CBS NEW" panose="02000506080000020004" pitchFamily="2" charset="0"/>
                <a:ea typeface="Verdana" panose="020B0604030504040204" pitchFamily="34" charset="0"/>
              </a:rPr>
              <a:t> </a:t>
            </a:r>
            <a:r>
              <a:rPr lang="en-US" sz="4000" dirty="0" err="1">
                <a:latin typeface="CBS NEW" panose="02000506080000020004" pitchFamily="2" charset="0"/>
                <a:ea typeface="Verdana" panose="020B0604030504040204" pitchFamily="34" charset="0"/>
              </a:rPr>
              <a:t>af</a:t>
            </a:r>
            <a:r>
              <a:rPr lang="en-US" sz="4000" dirty="0">
                <a:latin typeface="CBS NEW" panose="02000506080000020004" pitchFamily="2" charset="0"/>
                <a:ea typeface="Verdana" panose="020B0604030504040204" pitchFamily="34" charset="0"/>
              </a:rPr>
              <a:t> </a:t>
            </a:r>
            <a:r>
              <a:rPr lang="en-US" sz="4000" dirty="0" err="1">
                <a:latin typeface="CBS NEW" panose="02000506080000020004" pitchFamily="2" charset="0"/>
                <a:ea typeface="Verdana" panose="020B0604030504040204" pitchFamily="34" charset="0"/>
              </a:rPr>
              <a:t>relationelle</a:t>
            </a:r>
            <a:r>
              <a:rPr lang="en-US" sz="4000" dirty="0">
                <a:latin typeface="CBS NEW" panose="02000506080000020004" pitchFamily="2" charset="0"/>
                <a:ea typeface="Verdana" panose="020B0604030504040204" pitchFamily="34" charset="0"/>
              </a:rPr>
              <a:t> data</a:t>
            </a:r>
          </a:p>
          <a:p>
            <a:pPr marL="342900" indent="-342900">
              <a:buFont typeface="CBS NEW" panose="02000506080000020004" pitchFamily="2" charset="0"/>
              <a:buChar char="—"/>
            </a:pPr>
            <a:r>
              <a:rPr lang="en-US" sz="4000" dirty="0" err="1">
                <a:latin typeface="CBS NEW" panose="02000506080000020004" pitchFamily="2" charset="0"/>
                <a:ea typeface="Verdana" panose="020B0604030504040204" pitchFamily="34" charset="0"/>
              </a:rPr>
              <a:t>Analyse</a:t>
            </a:r>
            <a:r>
              <a:rPr lang="en-US" sz="4000" dirty="0">
                <a:latin typeface="CBS NEW" panose="02000506080000020004" pitchFamily="2" charset="0"/>
                <a:ea typeface="Verdana" panose="020B0604030504040204" pitchFamily="34" charset="0"/>
              </a:rPr>
              <a:t> </a:t>
            </a:r>
            <a:r>
              <a:rPr lang="en-US" sz="4000" dirty="0" err="1">
                <a:latin typeface="CBS NEW" panose="02000506080000020004" pitchFamily="2" charset="0"/>
                <a:ea typeface="Verdana" panose="020B0604030504040204" pitchFamily="34" charset="0"/>
              </a:rPr>
              <a:t>af</a:t>
            </a:r>
            <a:r>
              <a:rPr lang="en-US" sz="4000" dirty="0">
                <a:latin typeface="CBS NEW" panose="02000506080000020004" pitchFamily="2" charset="0"/>
                <a:ea typeface="Verdana" panose="020B0604030504040204" pitchFamily="34" charset="0"/>
              </a:rPr>
              <a:t> </a:t>
            </a:r>
            <a:r>
              <a:rPr lang="en-US" sz="4000" dirty="0" err="1">
                <a:latin typeface="CBS NEW" panose="02000506080000020004" pitchFamily="2" charset="0"/>
                <a:ea typeface="Verdana" panose="020B0604030504040204" pitchFamily="34" charset="0"/>
              </a:rPr>
              <a:t>relationelle</a:t>
            </a:r>
            <a:r>
              <a:rPr lang="en-US" sz="4000" dirty="0">
                <a:latin typeface="CBS NEW" panose="02000506080000020004" pitchFamily="2" charset="0"/>
                <a:ea typeface="Verdana" panose="020B0604030504040204" pitchFamily="34" charset="0"/>
              </a:rPr>
              <a:t> data </a:t>
            </a:r>
            <a:r>
              <a:rPr lang="en-US" sz="4000" dirty="0" err="1">
                <a:latin typeface="CBS NEW" panose="02000506080000020004" pitchFamily="2" charset="0"/>
                <a:ea typeface="Verdana" panose="020B0604030504040204" pitchFamily="34" charset="0"/>
              </a:rPr>
              <a:t>gennem</a:t>
            </a:r>
            <a:r>
              <a:rPr lang="en-US" sz="4000" dirty="0">
                <a:latin typeface="CBS NEW" panose="02000506080000020004" pitchFamily="2" charset="0"/>
                <a:ea typeface="Verdana" panose="020B0604030504040204" pitchFamily="34" charset="0"/>
              </a:rPr>
              <a:t> </a:t>
            </a:r>
            <a:r>
              <a:rPr lang="en-US" sz="4000" dirty="0" err="1">
                <a:latin typeface="CBS NEW" panose="02000506080000020004" pitchFamily="2" charset="0"/>
                <a:ea typeface="Verdana" panose="020B0604030504040204" pitchFamily="34" charset="0"/>
              </a:rPr>
              <a:t>grafteori</a:t>
            </a:r>
            <a:endParaRPr lang="en-US" sz="4000" dirty="0">
              <a:latin typeface="CBS NEW" panose="02000506080000020004" pitchFamily="2" charset="0"/>
              <a:ea typeface="Verdana" panose="020B0604030504040204" pitchFamily="34" charset="0"/>
            </a:endParaRPr>
          </a:p>
        </p:txBody>
      </p:sp>
    </p:spTree>
    <p:extLst>
      <p:ext uri="{BB962C8B-B14F-4D97-AF65-F5344CB8AC3E}">
        <p14:creationId xmlns:p14="http://schemas.microsoft.com/office/powerpoint/2010/main" val="652408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400" dirty="0">
                <a:latin typeface="CBS NEW" panose="02000506080000020004" pitchFamily="2" charset="0"/>
              </a:rPr>
              <a:t>Hvilken slags data kan bruges?</a:t>
            </a:r>
            <a:endParaRPr lang="da-DK" sz="44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1"/>
          </p:nvPr>
        </p:nvSpPr>
        <p:spPr/>
        <p:txBody>
          <a:bodyPr>
            <a:normAutofit/>
          </a:bodyPr>
          <a:lstStyle/>
          <a:p>
            <a:r>
              <a:rPr lang="da-DK" sz="4000" dirty="0">
                <a:latin typeface="CBS NEW" panose="02000506080000020004" pitchFamily="2" charset="0"/>
                <a:ea typeface="Verdana" panose="020B0604030504040204" pitchFamily="34" charset="0"/>
              </a:rPr>
              <a:t>Forbindelser mellem hvad som helst:</a:t>
            </a:r>
          </a:p>
          <a:p>
            <a:pPr marL="342900" indent="-342900">
              <a:buFont typeface="CBS NEW" panose="02000506080000020004" pitchFamily="2" charset="0"/>
              <a:buChar char="—"/>
            </a:pPr>
            <a:r>
              <a:rPr lang="da-DK" sz="4000" dirty="0">
                <a:latin typeface="CBS NEW" panose="02000506080000020004" pitchFamily="2" charset="0"/>
                <a:ea typeface="Verdana" panose="020B0604030504040204" pitchFamily="34" charset="0"/>
              </a:rPr>
              <a:t>Individer: </a:t>
            </a:r>
          </a:p>
          <a:p>
            <a:pPr marL="882625" lvl="3" indent="-342900">
              <a:buFont typeface="CBS NEW" panose="02000506080000020004" pitchFamily="2" charset="0"/>
              <a:buChar char="—"/>
            </a:pPr>
            <a:r>
              <a:rPr lang="da-DK" sz="3800" dirty="0">
                <a:latin typeface="CBS NEW" panose="02000506080000020004" pitchFamily="2" charset="0"/>
                <a:ea typeface="Verdana" panose="020B0604030504040204" pitchFamily="34" charset="0"/>
              </a:rPr>
              <a:t>Medlemskaber, venskaber, familierelationer, arbejdsrelationer, begivenheder</a:t>
            </a:r>
          </a:p>
          <a:p>
            <a:pPr marL="342900" indent="-342900">
              <a:buFont typeface="CBS NEW" panose="02000506080000020004" pitchFamily="2" charset="0"/>
              <a:buChar char="—"/>
            </a:pPr>
            <a:r>
              <a:rPr lang="da-DK" sz="4000" dirty="0">
                <a:latin typeface="CBS NEW" panose="02000506080000020004" pitchFamily="2" charset="0"/>
                <a:ea typeface="Verdana" panose="020B0604030504040204" pitchFamily="34" charset="0"/>
              </a:rPr>
              <a:t>Organisationer: </a:t>
            </a:r>
          </a:p>
          <a:p>
            <a:pPr marL="882625" lvl="3" indent="-342900">
              <a:buFont typeface="CBS NEW" panose="02000506080000020004" pitchFamily="2" charset="0"/>
              <a:buChar char="—"/>
            </a:pPr>
            <a:r>
              <a:rPr lang="da-DK" sz="3800" dirty="0">
                <a:latin typeface="CBS NEW" panose="02000506080000020004" pitchFamily="2" charset="0"/>
                <a:ea typeface="Verdana" panose="020B0604030504040204" pitchFamily="34" charset="0"/>
              </a:rPr>
              <a:t>Udveksling af individer, penge, støtte etc.</a:t>
            </a:r>
          </a:p>
          <a:p>
            <a:pPr marL="342900" indent="-342900">
              <a:buFont typeface="CBS NEW" panose="02000506080000020004" pitchFamily="2" charset="0"/>
              <a:buChar char="—"/>
            </a:pPr>
            <a:r>
              <a:rPr lang="da-DK" sz="4000" dirty="0">
                <a:latin typeface="CBS NEW" panose="02000506080000020004" pitchFamily="2" charset="0"/>
                <a:ea typeface="Verdana" panose="020B0604030504040204" pitchFamily="34" charset="0"/>
              </a:rPr>
              <a:t>Begreber og ideer: </a:t>
            </a:r>
          </a:p>
          <a:p>
            <a:pPr marL="882625" lvl="3" indent="-342900">
              <a:buFont typeface="CBS NEW" panose="02000506080000020004" pitchFamily="2" charset="0"/>
              <a:buChar char="—"/>
            </a:pPr>
            <a:r>
              <a:rPr lang="da-DK" sz="3800" dirty="0">
                <a:latin typeface="CBS NEW" panose="02000506080000020004" pitchFamily="2" charset="0"/>
                <a:ea typeface="Verdana" panose="020B0604030504040204" pitchFamily="34" charset="0"/>
              </a:rPr>
              <a:t>Sammenhænge</a:t>
            </a:r>
          </a:p>
        </p:txBody>
      </p:sp>
    </p:spTree>
    <p:extLst>
      <p:ext uri="{BB962C8B-B14F-4D97-AF65-F5344CB8AC3E}">
        <p14:creationId xmlns:p14="http://schemas.microsoft.com/office/powerpoint/2010/main" val="379607124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Hvad kan være forbindelser</a:t>
            </a:r>
            <a:endParaRPr lang="da-DK" sz="48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1"/>
          </p:nvPr>
        </p:nvSpPr>
        <p:spPr/>
        <p:txBody>
          <a:bodyPr/>
          <a:lstStyle/>
          <a:p>
            <a:endParaRPr lang="da-DK"/>
          </a:p>
        </p:txBody>
      </p:sp>
      <p:pic>
        <p:nvPicPr>
          <p:cNvPr id="6" name="Picture 5"/>
          <p:cNvPicPr>
            <a:picLocks noChangeAspect="1"/>
          </p:cNvPicPr>
          <p:nvPr/>
        </p:nvPicPr>
        <p:blipFill>
          <a:blip r:embed="rId2"/>
          <a:stretch>
            <a:fillRect/>
          </a:stretch>
        </p:blipFill>
        <p:spPr>
          <a:xfrm>
            <a:off x="323528" y="1124742"/>
            <a:ext cx="8676456" cy="2524821"/>
          </a:xfrm>
          <a:prstGeom prst="rect">
            <a:avLst/>
          </a:prstGeom>
        </p:spPr>
      </p:pic>
    </p:spTree>
    <p:extLst>
      <p:ext uri="{BB962C8B-B14F-4D97-AF65-F5344CB8AC3E}">
        <p14:creationId xmlns:p14="http://schemas.microsoft.com/office/powerpoint/2010/main" val="422924681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Tænk over…</a:t>
            </a:r>
            <a:r>
              <a:rPr lang="da-DK" sz="4400" dirty="0">
                <a:latin typeface="CBS NEW" panose="02000506080000020004" pitchFamily="2" charset="0"/>
              </a:rPr>
              <a:t>	</a:t>
            </a:r>
            <a:endParaRPr lang="da-DK" sz="44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1"/>
          </p:nvPr>
        </p:nvSpPr>
        <p:spPr/>
        <p:txBody>
          <a:bodyPr>
            <a:normAutofit fontScale="70000" lnSpcReduction="20000"/>
          </a:bodyPr>
          <a:lstStyle/>
          <a:p>
            <a:pPr marL="342900" indent="-342900">
              <a:buFont typeface="CBS NEW" panose="02000506080000020004" pitchFamily="2" charset="0"/>
              <a:buChar char="—"/>
            </a:pPr>
            <a:r>
              <a:rPr lang="da-DK" sz="4000" dirty="0">
                <a:latin typeface="CBS NEW" panose="02000506080000020004" pitchFamily="2" charset="0"/>
                <a:ea typeface="Verdana" panose="020B0604030504040204" pitchFamily="34" charset="0"/>
              </a:rPr>
              <a:t>Hvilken mekanisme er du interesseret i?</a:t>
            </a:r>
          </a:p>
          <a:p>
            <a:pPr marL="525181" lvl="1" indent="-342900">
              <a:buFont typeface="CBS NEW" panose="02000506080000020004" pitchFamily="2" charset="0"/>
              <a:buChar char="—"/>
            </a:pPr>
            <a:r>
              <a:rPr lang="da-DK" sz="4000" dirty="0">
                <a:latin typeface="CBS NEW" panose="02000506080000020004" pitchFamily="2" charset="0"/>
                <a:ea typeface="Verdana" panose="020B0604030504040204" pitchFamily="34" charset="0"/>
              </a:rPr>
              <a:t>Hvis det er overførsel af fx virus: relation = fysisk nærkontakt</a:t>
            </a:r>
          </a:p>
          <a:p>
            <a:pPr marL="525181" lvl="1" indent="-342900">
              <a:buFont typeface="CBS NEW" panose="02000506080000020004" pitchFamily="2" charset="0"/>
              <a:buChar char="—"/>
            </a:pPr>
            <a:r>
              <a:rPr lang="da-DK" sz="4000" dirty="0">
                <a:latin typeface="CBS NEW" panose="02000506080000020004" pitchFamily="2" charset="0"/>
                <a:ea typeface="Verdana" panose="020B0604030504040204" pitchFamily="34" charset="0"/>
              </a:rPr>
              <a:t>Hvis det er indflydelse på beslutninger: relation = påvirkning af </a:t>
            </a:r>
            <a:r>
              <a:rPr lang="da-DK" sz="4000" dirty="0" err="1">
                <a:latin typeface="CBS NEW" panose="02000506080000020004" pitchFamily="2" charset="0"/>
                <a:ea typeface="Verdana" panose="020B0604030504040204" pitchFamily="34" charset="0"/>
              </a:rPr>
              <a:t>beslutningsprocess</a:t>
            </a:r>
            <a:r>
              <a:rPr lang="da-DK" sz="4000" dirty="0">
                <a:latin typeface="CBS NEW" panose="02000506080000020004" pitchFamily="2" charset="0"/>
                <a:ea typeface="Verdana" panose="020B0604030504040204" pitchFamily="34" charset="0"/>
              </a:rPr>
              <a:t>/organ. </a:t>
            </a:r>
          </a:p>
          <a:p>
            <a:pPr marL="525181" lvl="1" indent="-342900">
              <a:buFont typeface="CBS NEW" panose="02000506080000020004" pitchFamily="2" charset="0"/>
              <a:buChar char="—"/>
            </a:pPr>
            <a:r>
              <a:rPr lang="da-DK" sz="4000" dirty="0">
                <a:latin typeface="CBS NEW" panose="02000506080000020004" pitchFamily="2" charset="0"/>
                <a:ea typeface="Verdana" panose="020B0604030504040204" pitchFamily="34" charset="0"/>
              </a:rPr>
              <a:t>Hvis det er oplevelse af at være populær/anerkendt: relation = fx oplevede venskaber</a:t>
            </a:r>
          </a:p>
          <a:p>
            <a:pPr marL="525181" lvl="1" indent="-342900">
              <a:buFont typeface="CBS NEW" panose="02000506080000020004" pitchFamily="2" charset="0"/>
              <a:buChar char="—"/>
            </a:pPr>
            <a:r>
              <a:rPr lang="da-DK" sz="4000" dirty="0">
                <a:latin typeface="CBS NEW" panose="02000506080000020004" pitchFamily="2" charset="0"/>
                <a:ea typeface="Verdana" panose="020B0604030504040204" pitchFamily="34" charset="0"/>
              </a:rPr>
              <a:t>Hvis det er virksomhedsinnovation: relation = fx videndeling / samarbejde i og mellem teams. </a:t>
            </a:r>
          </a:p>
          <a:p>
            <a:pPr marL="342900" indent="-342900">
              <a:buFont typeface="CBS NEW" panose="02000506080000020004" pitchFamily="2" charset="0"/>
              <a:buChar char="—"/>
            </a:pPr>
            <a:endParaRPr lang="da-DK" sz="4000" dirty="0">
              <a:latin typeface="CBS NEW" panose="02000506080000020004" pitchFamily="2" charset="0"/>
              <a:ea typeface="Verdana" panose="020B0604030504040204" pitchFamily="34" charset="0"/>
            </a:endParaRPr>
          </a:p>
          <a:p>
            <a:pPr marL="342900" indent="-342900">
              <a:buFont typeface="CBS NEW" panose="02000506080000020004" pitchFamily="2" charset="0"/>
              <a:buChar char="—"/>
            </a:pPr>
            <a:r>
              <a:rPr lang="da-DK" sz="4000" dirty="0">
                <a:latin typeface="CBS NEW" panose="02000506080000020004" pitchFamily="2" charset="0"/>
                <a:ea typeface="Verdana" panose="020B0604030504040204" pitchFamily="34" charset="0"/>
              </a:rPr>
              <a:t>Så først: Identificer mekanismen; dernæst argumenter for et </a:t>
            </a:r>
            <a:r>
              <a:rPr lang="da-DK" sz="4000" dirty="0" err="1">
                <a:latin typeface="CBS NEW" panose="02000506080000020004" pitchFamily="2" charset="0"/>
                <a:ea typeface="Verdana" panose="020B0604030504040204" pitchFamily="34" charset="0"/>
              </a:rPr>
              <a:t>relationsmål</a:t>
            </a:r>
            <a:endParaRPr lang="da-DK" sz="4000" dirty="0">
              <a:latin typeface="CBS NEW" panose="02000506080000020004" pitchFamily="2" charset="0"/>
              <a:ea typeface="Verdana" panose="020B0604030504040204" pitchFamily="34" charset="0"/>
            </a:endParaRPr>
          </a:p>
          <a:p>
            <a:pPr marL="342900" indent="-342900">
              <a:buFont typeface="CBS NEW" panose="02000506080000020004" pitchFamily="2" charset="0"/>
              <a:buChar char="—"/>
            </a:pPr>
            <a:endParaRPr lang="da-DK" sz="4000" dirty="0">
              <a:latin typeface="CBS NEW" panose="02000506080000020004" pitchFamily="2" charset="0"/>
              <a:ea typeface="Verdana" panose="020B0604030504040204" pitchFamily="34" charset="0"/>
            </a:endParaRPr>
          </a:p>
          <a:p>
            <a:pPr marL="342900" indent="-342900">
              <a:buFont typeface="CBS NEW" panose="02000506080000020004" pitchFamily="2" charset="0"/>
              <a:buChar char="—"/>
            </a:pPr>
            <a:r>
              <a:rPr lang="da-DK" sz="4000" dirty="0">
                <a:latin typeface="CBS NEW" panose="02000506080000020004" pitchFamily="2" charset="0"/>
                <a:ea typeface="Verdana" panose="020B0604030504040204" pitchFamily="34" charset="0"/>
              </a:rPr>
              <a:t>Levede vs. oplevede relationer (hvem kan du lide vs hvem taler du med)</a:t>
            </a:r>
          </a:p>
        </p:txBody>
      </p:sp>
    </p:spTree>
    <p:extLst>
      <p:ext uri="{BB962C8B-B14F-4D97-AF65-F5344CB8AC3E}">
        <p14:creationId xmlns:p14="http://schemas.microsoft.com/office/powerpoint/2010/main" val="88803037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Afgræsning af netværket</a:t>
            </a:r>
            <a:endParaRPr lang="da-DK" sz="48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1"/>
          </p:nvPr>
        </p:nvSpPr>
        <p:spPr/>
        <p:txBody>
          <a:bodyPr>
            <a:normAutofit/>
          </a:bodyPr>
          <a:lstStyle/>
          <a:p>
            <a:pPr marL="342900" indent="-342900">
              <a:buFont typeface="CBS NEW" panose="02000506080000020004" pitchFamily="2" charset="0"/>
              <a:buChar char="—"/>
            </a:pPr>
            <a:r>
              <a:rPr lang="da-DK" sz="2600" dirty="0">
                <a:latin typeface="CBS NEW" panose="02000506080000020004" pitchFamily="2" charset="0"/>
                <a:ea typeface="Verdana" panose="020B0604030504040204" pitchFamily="34" charset="0"/>
              </a:rPr>
              <a:t>Positionsmetoden</a:t>
            </a:r>
          </a:p>
          <a:p>
            <a:pPr marL="702900" lvl="2" indent="-342900">
              <a:buFont typeface="CBS NEW" panose="02000506080000020004" pitchFamily="2" charset="0"/>
              <a:buChar char="—"/>
            </a:pPr>
            <a:r>
              <a:rPr lang="da-DK" sz="2400" dirty="0">
                <a:latin typeface="CBS NEW" panose="02000506080000020004" pitchFamily="2" charset="0"/>
                <a:ea typeface="Verdana" panose="020B0604030504040204" pitchFamily="34" charset="0"/>
              </a:rPr>
              <a:t>Benytter egenskab(er) ved netværk til at afgøre, om de logisk falder indenfor populationen</a:t>
            </a:r>
          </a:p>
          <a:p>
            <a:pPr marL="702900" lvl="2" indent="-342900">
              <a:buFont typeface="CBS NEW" panose="02000506080000020004" pitchFamily="2" charset="0"/>
              <a:buChar char="—"/>
            </a:pPr>
            <a:r>
              <a:rPr lang="da-DK" sz="2400" dirty="0">
                <a:latin typeface="CBS NEW" panose="02000506080000020004" pitchFamily="2" charset="0"/>
                <a:ea typeface="Verdana" panose="020B0604030504040204" pitchFamily="34" charset="0"/>
              </a:rPr>
              <a:t>Gennemskuelig (oftest) og reproducerbar, men også formalistisk og arbitrære grænser</a:t>
            </a:r>
          </a:p>
          <a:p>
            <a:pPr marL="342900" indent="-342900">
              <a:buFont typeface="CBS NEW" panose="02000506080000020004" pitchFamily="2" charset="0"/>
              <a:buChar char="—"/>
            </a:pPr>
            <a:r>
              <a:rPr lang="da-DK" sz="2600" dirty="0">
                <a:latin typeface="CBS NEW" panose="02000506080000020004" pitchFamily="2" charset="0"/>
                <a:ea typeface="Verdana" panose="020B0604030504040204" pitchFamily="34" charset="0"/>
              </a:rPr>
              <a:t>Reputationsmetoden</a:t>
            </a:r>
          </a:p>
          <a:p>
            <a:pPr marL="702900" lvl="2" indent="-342900">
              <a:buFont typeface="CBS NEW" panose="02000506080000020004" pitchFamily="2" charset="0"/>
              <a:buChar char="—"/>
            </a:pPr>
            <a:r>
              <a:rPr lang="da-DK" sz="2400" dirty="0">
                <a:latin typeface="CBS NEW" panose="02000506080000020004" pitchFamily="2" charset="0"/>
                <a:ea typeface="Verdana" panose="020B0604030504040204" pitchFamily="34" charset="0"/>
              </a:rPr>
              <a:t>Benytter andres – enten indenfor eller udenfor populations – opfattelser til at afgøre, hvilke forbindelser, der skal tages med</a:t>
            </a:r>
          </a:p>
          <a:p>
            <a:pPr marL="702900" lvl="2" indent="-342900">
              <a:buFont typeface="CBS NEW" panose="02000506080000020004" pitchFamily="2" charset="0"/>
              <a:buChar char="—"/>
            </a:pPr>
            <a:r>
              <a:rPr lang="da-DK" sz="2400" dirty="0">
                <a:latin typeface="CBS NEW" panose="02000506080000020004" pitchFamily="2" charset="0"/>
                <a:ea typeface="Verdana" panose="020B0604030504040204" pitchFamily="34" charset="0"/>
              </a:rPr>
              <a:t>Uigennemskuelig, men sensitiv for feltets egne logiker. Men hvem klassificerer dem, der </a:t>
            </a:r>
            <a:r>
              <a:rPr lang="da-DK" sz="2400" dirty="0" err="1">
                <a:latin typeface="CBS NEW" panose="02000506080000020004" pitchFamily="2" charset="0"/>
                <a:ea typeface="Verdana" panose="020B0604030504040204" pitchFamily="34" charset="0"/>
              </a:rPr>
              <a:t>klassifiserer</a:t>
            </a:r>
            <a:r>
              <a:rPr lang="da-DK" sz="2400" dirty="0">
                <a:latin typeface="CBS NEW" panose="02000506080000020004" pitchFamily="2" charset="0"/>
                <a:ea typeface="Verdana" panose="020B0604030504040204" pitchFamily="34" charset="0"/>
              </a:rPr>
              <a:t>?</a:t>
            </a:r>
          </a:p>
        </p:txBody>
      </p:sp>
    </p:spTree>
    <p:extLst>
      <p:ext uri="{BB962C8B-B14F-4D97-AF65-F5344CB8AC3E}">
        <p14:creationId xmlns:p14="http://schemas.microsoft.com/office/powerpoint/2010/main" val="410119880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Grænsedragningsproblemet</a:t>
            </a:r>
            <a:endParaRPr lang="da-DK" sz="48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1"/>
          </p:nvPr>
        </p:nvSpPr>
        <p:spPr/>
        <p:txBody>
          <a:bodyPr>
            <a:normAutofit/>
          </a:bodyPr>
          <a:lstStyle/>
          <a:p>
            <a:pPr marL="342900" indent="-342900">
              <a:buFont typeface="CBS NEW" panose="02000506080000020004" pitchFamily="2" charset="0"/>
              <a:buChar char="—"/>
            </a:pPr>
            <a:r>
              <a:rPr lang="da-DK" sz="3600" dirty="0">
                <a:latin typeface="CBS NEW" panose="02000506080000020004" pitchFamily="2" charset="0"/>
                <a:ea typeface="Verdana" panose="020B0604030504040204" pitchFamily="34" charset="0"/>
              </a:rPr>
              <a:t>Metodiske tilgange til grænsedragning:</a:t>
            </a:r>
          </a:p>
          <a:p>
            <a:pPr marL="525181" lvl="1" indent="-342900">
              <a:buFont typeface="CBS NEW" panose="02000506080000020004" pitchFamily="2" charset="0"/>
              <a:buChar char="—"/>
            </a:pPr>
            <a:r>
              <a:rPr lang="da-DK" sz="3600" dirty="0">
                <a:latin typeface="CBS NEW" panose="02000506080000020004" pitchFamily="2" charset="0"/>
                <a:ea typeface="Verdana" panose="020B0604030504040204" pitchFamily="34" charset="0"/>
              </a:rPr>
              <a:t>Netværks</a:t>
            </a:r>
            <a:r>
              <a:rPr lang="da-DK" sz="3600" b="1" dirty="0">
                <a:latin typeface="CBS NEW" panose="02000506080000020004" pitchFamily="2" charset="0"/>
                <a:ea typeface="Verdana" panose="020B0604030504040204" pitchFamily="34" charset="0"/>
              </a:rPr>
              <a:t>realister</a:t>
            </a:r>
            <a:r>
              <a:rPr lang="da-DK" sz="3600" dirty="0">
                <a:latin typeface="CBS NEW" panose="02000506080000020004" pitchFamily="2" charset="0"/>
                <a:ea typeface="Verdana" panose="020B0604030504040204" pitchFamily="34" charset="0"/>
              </a:rPr>
              <a:t> vs. –</a:t>
            </a:r>
            <a:r>
              <a:rPr lang="da-DK" sz="3600" b="1" dirty="0">
                <a:latin typeface="CBS NEW" panose="02000506080000020004" pitchFamily="2" charset="0"/>
                <a:ea typeface="Verdana" panose="020B0604030504040204" pitchFamily="34" charset="0"/>
              </a:rPr>
              <a:t>nominalister</a:t>
            </a:r>
          </a:p>
          <a:p>
            <a:pPr marL="882625" lvl="3" indent="-342900">
              <a:buFont typeface="CBS NEW" panose="02000506080000020004" pitchFamily="2" charset="0"/>
              <a:buChar char="—"/>
            </a:pPr>
            <a:r>
              <a:rPr lang="da-DK" sz="3400" dirty="0">
                <a:latin typeface="CBS NEW" panose="02000506080000020004" pitchFamily="2" charset="0"/>
                <a:ea typeface="Verdana" panose="020B0604030504040204" pitchFamily="34" charset="0"/>
              </a:rPr>
              <a:t>Aktørernes egne blik på netværket vs. forskerens definition af hvad netværket er</a:t>
            </a:r>
          </a:p>
          <a:p>
            <a:pPr marL="525181" lvl="1" indent="-342900">
              <a:buFont typeface="CBS NEW" panose="02000506080000020004" pitchFamily="2" charset="0"/>
              <a:buChar char="—"/>
            </a:pPr>
            <a:r>
              <a:rPr lang="da-DK" sz="3600" dirty="0">
                <a:latin typeface="CBS NEW" panose="02000506080000020004" pitchFamily="2" charset="0"/>
                <a:ea typeface="Verdana" panose="020B0604030504040204" pitchFamily="34" charset="0"/>
              </a:rPr>
              <a:t>Ego- vs populations-centreret SNA</a:t>
            </a:r>
          </a:p>
          <a:p>
            <a:pPr marL="882625" lvl="3" indent="-342900">
              <a:buFont typeface="CBS NEW" panose="02000506080000020004" pitchFamily="2" charset="0"/>
              <a:buChar char="—"/>
            </a:pPr>
            <a:r>
              <a:rPr lang="da-DK" sz="3400" dirty="0">
                <a:latin typeface="CBS NEW" panose="02000506080000020004" pitchFamily="2" charset="0"/>
                <a:ea typeface="Verdana" panose="020B0604030504040204" pitchFamily="34" charset="0"/>
              </a:rPr>
              <a:t>Er vi interesseret i grænserne for individernes netværk? Eller for et netværk som sådan (fx innovation i </a:t>
            </a:r>
            <a:r>
              <a:rPr lang="da-DK" sz="3400" dirty="0" err="1">
                <a:latin typeface="CBS NEW" panose="02000506080000020004" pitchFamily="2" charset="0"/>
                <a:ea typeface="Verdana" panose="020B0604030504040204" pitchFamily="34" charset="0"/>
              </a:rPr>
              <a:t>biotech</a:t>
            </a:r>
            <a:r>
              <a:rPr lang="da-DK" sz="3400" dirty="0">
                <a:latin typeface="CBS NEW" panose="02000506080000020004" pitchFamily="2" charset="0"/>
                <a:ea typeface="Verdana" panose="020B0604030504040204" pitchFamily="34" charset="0"/>
              </a:rPr>
              <a:t>)? </a:t>
            </a:r>
          </a:p>
          <a:p>
            <a:pPr lvl="3" indent="0">
              <a:buNone/>
            </a:pPr>
            <a:r>
              <a:rPr lang="da-DK" sz="3600" dirty="0">
                <a:latin typeface="CBS NEW" panose="02000506080000020004" pitchFamily="2" charset="0"/>
                <a:ea typeface="Verdana" panose="020B0604030504040204" pitchFamily="34" charset="0"/>
              </a:rPr>
              <a:t>Laumann, </a:t>
            </a:r>
            <a:r>
              <a:rPr lang="da-DK" sz="3600" dirty="0" err="1">
                <a:latin typeface="CBS NEW" panose="02000506080000020004" pitchFamily="2" charset="0"/>
                <a:ea typeface="Verdana" panose="020B0604030504040204" pitchFamily="34" charset="0"/>
              </a:rPr>
              <a:t>Marsden</a:t>
            </a:r>
            <a:r>
              <a:rPr lang="da-DK" sz="3600" dirty="0">
                <a:latin typeface="CBS NEW" panose="02000506080000020004" pitchFamily="2" charset="0"/>
                <a:ea typeface="Verdana" panose="020B0604030504040204" pitchFamily="34" charset="0"/>
              </a:rPr>
              <a:t> &amp; </a:t>
            </a:r>
            <a:r>
              <a:rPr lang="da-DK" sz="3600" dirty="0" err="1">
                <a:latin typeface="CBS NEW" panose="02000506080000020004" pitchFamily="2" charset="0"/>
                <a:ea typeface="Verdana" panose="020B0604030504040204" pitchFamily="34" charset="0"/>
              </a:rPr>
              <a:t>Prensky</a:t>
            </a:r>
            <a:r>
              <a:rPr lang="da-DK" sz="3600" dirty="0">
                <a:latin typeface="CBS NEW" panose="02000506080000020004" pitchFamily="2" charset="0"/>
                <a:ea typeface="Verdana" panose="020B0604030504040204" pitchFamily="34" charset="0"/>
              </a:rPr>
              <a:t> (1983)</a:t>
            </a:r>
          </a:p>
        </p:txBody>
      </p:sp>
    </p:spTree>
    <p:extLst>
      <p:ext uri="{BB962C8B-B14F-4D97-AF65-F5344CB8AC3E}">
        <p14:creationId xmlns:p14="http://schemas.microsoft.com/office/powerpoint/2010/main" val="66258051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Realistisk grænsedragning</a:t>
            </a:r>
            <a:endParaRPr lang="da-DK" sz="48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1"/>
          </p:nvPr>
        </p:nvSpPr>
        <p:spPr/>
        <p:txBody>
          <a:bodyPr>
            <a:normAutofit fontScale="70000" lnSpcReduction="20000"/>
          </a:bodyPr>
          <a:lstStyle/>
          <a:p>
            <a:pPr algn="just"/>
            <a:r>
              <a:rPr lang="da-DK" sz="3600" dirty="0">
                <a:latin typeface="CBS NEW" panose="02000506080000020004" pitchFamily="2" charset="0"/>
                <a:ea typeface="Verdana" panose="020B0604030504040204" pitchFamily="34" charset="0"/>
              </a:rPr>
              <a:t>”In the realist approach, the </a:t>
            </a:r>
            <a:r>
              <a:rPr lang="da-DK" sz="3600" dirty="0" err="1">
                <a:latin typeface="CBS NEW" panose="02000506080000020004" pitchFamily="2" charset="0"/>
                <a:ea typeface="Verdana" panose="020B0604030504040204" pitchFamily="34" charset="0"/>
              </a:rPr>
              <a:t>investigator</a:t>
            </a:r>
            <a:r>
              <a:rPr lang="da-DK" sz="3600" dirty="0">
                <a:latin typeface="CBS NEW" panose="02000506080000020004" pitchFamily="2" charset="0"/>
                <a:ea typeface="Verdana" panose="020B0604030504040204" pitchFamily="34" charset="0"/>
              </a:rPr>
              <a:t> </a:t>
            </a:r>
            <a:r>
              <a:rPr lang="da-DK" sz="3600" dirty="0" err="1">
                <a:latin typeface="CBS NEW" panose="02000506080000020004" pitchFamily="2" charset="0"/>
                <a:ea typeface="Verdana" panose="020B0604030504040204" pitchFamily="34" charset="0"/>
              </a:rPr>
              <a:t>adopts</a:t>
            </a:r>
            <a:r>
              <a:rPr lang="da-DK" sz="3600" dirty="0">
                <a:latin typeface="CBS NEW" panose="02000506080000020004" pitchFamily="2" charset="0"/>
                <a:ea typeface="Verdana" panose="020B0604030504040204" pitchFamily="34" charset="0"/>
              </a:rPr>
              <a:t> the </a:t>
            </a:r>
            <a:r>
              <a:rPr lang="da-DK" sz="3600" dirty="0" err="1">
                <a:latin typeface="CBS NEW" panose="02000506080000020004" pitchFamily="2" charset="0"/>
                <a:ea typeface="Verdana" panose="020B0604030504040204" pitchFamily="34" charset="0"/>
              </a:rPr>
              <a:t>presumed</a:t>
            </a:r>
            <a:r>
              <a:rPr lang="da-DK" sz="3600" dirty="0">
                <a:latin typeface="CBS NEW" panose="02000506080000020004" pitchFamily="2" charset="0"/>
                <a:ea typeface="Verdana" panose="020B0604030504040204" pitchFamily="34" charset="0"/>
              </a:rPr>
              <a:t> vantage point of the </a:t>
            </a:r>
            <a:r>
              <a:rPr lang="da-DK" sz="3600" dirty="0" err="1">
                <a:latin typeface="CBS NEW" panose="02000506080000020004" pitchFamily="2" charset="0"/>
                <a:ea typeface="Verdana" panose="020B0604030504040204" pitchFamily="34" charset="0"/>
              </a:rPr>
              <a:t>actors</a:t>
            </a:r>
            <a:r>
              <a:rPr lang="da-DK" sz="3600" dirty="0">
                <a:latin typeface="CBS NEW" panose="02000506080000020004" pitchFamily="2" charset="0"/>
                <a:ea typeface="Verdana" panose="020B0604030504040204" pitchFamily="34" charset="0"/>
              </a:rPr>
              <a:t> themselves in </a:t>
            </a:r>
            <a:r>
              <a:rPr lang="da-DK" sz="3600" dirty="0" err="1">
                <a:latin typeface="CBS NEW" panose="02000506080000020004" pitchFamily="2" charset="0"/>
                <a:ea typeface="Verdana" panose="020B0604030504040204" pitchFamily="34" charset="0"/>
              </a:rPr>
              <a:t>defining</a:t>
            </a:r>
            <a:r>
              <a:rPr lang="da-DK" sz="3600" dirty="0">
                <a:latin typeface="CBS NEW" panose="02000506080000020004" pitchFamily="2" charset="0"/>
                <a:ea typeface="Verdana" panose="020B0604030504040204" pitchFamily="34" charset="0"/>
              </a:rPr>
              <a:t> </a:t>
            </a:r>
            <a:r>
              <a:rPr lang="da-DK" sz="3600" dirty="0" err="1">
                <a:latin typeface="CBS NEW" panose="02000506080000020004" pitchFamily="2" charset="0"/>
                <a:ea typeface="Verdana" panose="020B0604030504040204" pitchFamily="34" charset="0"/>
              </a:rPr>
              <a:t>boundaries</a:t>
            </a:r>
            <a:r>
              <a:rPr lang="da-DK" sz="3600" dirty="0">
                <a:latin typeface="CBS NEW" panose="02000506080000020004" pitchFamily="2" charset="0"/>
                <a:ea typeface="Verdana" panose="020B0604030504040204" pitchFamily="34" charset="0"/>
              </a:rPr>
              <a:t> of social </a:t>
            </a:r>
            <a:r>
              <a:rPr lang="da-DK" sz="3600" dirty="0" err="1">
                <a:latin typeface="CBS NEW" panose="02000506080000020004" pitchFamily="2" charset="0"/>
                <a:ea typeface="Verdana" panose="020B0604030504040204" pitchFamily="34" charset="0"/>
              </a:rPr>
              <a:t>entities</a:t>
            </a:r>
            <a:r>
              <a:rPr lang="da-DK" sz="3600" dirty="0">
                <a:latin typeface="CBS NEW" panose="02000506080000020004" pitchFamily="2" charset="0"/>
                <a:ea typeface="Verdana" panose="020B0604030504040204" pitchFamily="34" charset="0"/>
              </a:rPr>
              <a:t>. </a:t>
            </a:r>
            <a:r>
              <a:rPr lang="da-DK" sz="3600" dirty="0" err="1">
                <a:latin typeface="CBS NEW" panose="02000506080000020004" pitchFamily="2" charset="0"/>
                <a:ea typeface="Verdana" panose="020B0604030504040204" pitchFamily="34" charset="0"/>
              </a:rPr>
              <a:t>That</a:t>
            </a:r>
            <a:r>
              <a:rPr lang="da-DK" sz="3600" dirty="0">
                <a:latin typeface="CBS NEW" panose="02000506080000020004" pitchFamily="2" charset="0"/>
                <a:ea typeface="Verdana" panose="020B0604030504040204" pitchFamily="34" charset="0"/>
              </a:rPr>
              <a:t> is, the </a:t>
            </a:r>
            <a:r>
              <a:rPr lang="da-DK" sz="3600" dirty="0" err="1">
                <a:latin typeface="CBS NEW" panose="02000506080000020004" pitchFamily="2" charset="0"/>
                <a:ea typeface="Verdana" panose="020B0604030504040204" pitchFamily="34" charset="0"/>
              </a:rPr>
              <a:t>network</a:t>
            </a:r>
            <a:r>
              <a:rPr lang="da-DK" sz="3600" dirty="0">
                <a:latin typeface="CBS NEW" panose="02000506080000020004" pitchFamily="2" charset="0"/>
                <a:ea typeface="Verdana" panose="020B0604030504040204" pitchFamily="34" charset="0"/>
              </a:rPr>
              <a:t> is </a:t>
            </a:r>
            <a:r>
              <a:rPr lang="da-DK" sz="3600" dirty="0" err="1">
                <a:latin typeface="CBS NEW" panose="02000506080000020004" pitchFamily="2" charset="0"/>
                <a:ea typeface="Verdana" panose="020B0604030504040204" pitchFamily="34" charset="0"/>
              </a:rPr>
              <a:t>treated</a:t>
            </a:r>
            <a:r>
              <a:rPr lang="da-DK" sz="3600" dirty="0">
                <a:latin typeface="CBS NEW" panose="02000506080000020004" pitchFamily="2" charset="0"/>
                <a:ea typeface="Verdana" panose="020B0604030504040204" pitchFamily="34" charset="0"/>
              </a:rPr>
              <a:t> as a social </a:t>
            </a:r>
            <a:r>
              <a:rPr lang="da-DK" sz="3600" dirty="0" err="1">
                <a:latin typeface="CBS NEW" panose="02000506080000020004" pitchFamily="2" charset="0"/>
                <a:ea typeface="Verdana" panose="020B0604030504040204" pitchFamily="34" charset="0"/>
              </a:rPr>
              <a:t>fact</a:t>
            </a:r>
            <a:r>
              <a:rPr lang="da-DK" sz="3600" dirty="0">
                <a:latin typeface="CBS NEW" panose="02000506080000020004" pitchFamily="2" charset="0"/>
                <a:ea typeface="Verdana" panose="020B0604030504040204" pitchFamily="34" charset="0"/>
              </a:rPr>
              <a:t> </a:t>
            </a:r>
            <a:r>
              <a:rPr lang="da-DK" sz="3600" dirty="0" err="1">
                <a:latin typeface="CBS NEW" panose="02000506080000020004" pitchFamily="2" charset="0"/>
                <a:ea typeface="Verdana" panose="020B0604030504040204" pitchFamily="34" charset="0"/>
              </a:rPr>
              <a:t>only</a:t>
            </a:r>
            <a:r>
              <a:rPr lang="da-DK" sz="3600" dirty="0">
                <a:latin typeface="CBS NEW" panose="02000506080000020004" pitchFamily="2" charset="0"/>
                <a:ea typeface="Verdana" panose="020B0604030504040204" pitchFamily="34" charset="0"/>
              </a:rPr>
              <a:t> in </a:t>
            </a:r>
            <a:r>
              <a:rPr lang="da-DK" sz="3600" dirty="0" err="1">
                <a:latin typeface="CBS NEW" panose="02000506080000020004" pitchFamily="2" charset="0"/>
                <a:ea typeface="Verdana" panose="020B0604030504040204" pitchFamily="34" charset="0"/>
              </a:rPr>
              <a:t>that</a:t>
            </a:r>
            <a:r>
              <a:rPr lang="da-DK" sz="3600" dirty="0">
                <a:latin typeface="CBS NEW" panose="02000506080000020004" pitchFamily="2" charset="0"/>
                <a:ea typeface="Verdana" panose="020B0604030504040204" pitchFamily="34" charset="0"/>
              </a:rPr>
              <a:t> it is </a:t>
            </a:r>
            <a:r>
              <a:rPr lang="da-DK" sz="3600" dirty="0" err="1">
                <a:latin typeface="CBS NEW" panose="02000506080000020004" pitchFamily="2" charset="0"/>
                <a:ea typeface="Verdana" panose="020B0604030504040204" pitchFamily="34" charset="0"/>
              </a:rPr>
              <a:t>consciously</a:t>
            </a:r>
            <a:r>
              <a:rPr lang="da-DK" sz="3600" dirty="0">
                <a:latin typeface="CBS NEW" panose="02000506080000020004" pitchFamily="2" charset="0"/>
                <a:ea typeface="Verdana" panose="020B0604030504040204" pitchFamily="34" charset="0"/>
              </a:rPr>
              <a:t> </a:t>
            </a:r>
            <a:r>
              <a:rPr lang="da-DK" sz="3600" dirty="0" err="1">
                <a:latin typeface="CBS NEW" panose="02000506080000020004" pitchFamily="2" charset="0"/>
                <a:ea typeface="Verdana" panose="020B0604030504040204" pitchFamily="34" charset="0"/>
              </a:rPr>
              <a:t>experienced</a:t>
            </a:r>
            <a:r>
              <a:rPr lang="da-DK" sz="3600" dirty="0">
                <a:latin typeface="CBS NEW" panose="02000506080000020004" pitchFamily="2" charset="0"/>
                <a:ea typeface="Verdana" panose="020B0604030504040204" pitchFamily="34" charset="0"/>
              </a:rPr>
              <a:t> as </a:t>
            </a:r>
            <a:r>
              <a:rPr lang="da-DK" sz="3600" dirty="0" err="1">
                <a:latin typeface="CBS NEW" panose="02000506080000020004" pitchFamily="2" charset="0"/>
                <a:ea typeface="Verdana" panose="020B0604030504040204" pitchFamily="34" charset="0"/>
              </a:rPr>
              <a:t>such</a:t>
            </a:r>
            <a:r>
              <a:rPr lang="da-DK" sz="3600" dirty="0">
                <a:latin typeface="CBS NEW" panose="02000506080000020004" pitchFamily="2" charset="0"/>
                <a:ea typeface="Verdana" panose="020B0604030504040204" pitchFamily="34" charset="0"/>
              </a:rPr>
              <a:t> by the </a:t>
            </a:r>
            <a:r>
              <a:rPr lang="da-DK" sz="3600" dirty="0" err="1">
                <a:latin typeface="CBS NEW" panose="02000506080000020004" pitchFamily="2" charset="0"/>
                <a:ea typeface="Verdana" panose="020B0604030504040204" pitchFamily="34" charset="0"/>
              </a:rPr>
              <a:t>actors</a:t>
            </a:r>
            <a:r>
              <a:rPr lang="da-DK" sz="3600" dirty="0">
                <a:latin typeface="CBS NEW" panose="02000506080000020004" pitchFamily="2" charset="0"/>
                <a:ea typeface="Verdana" panose="020B0604030504040204" pitchFamily="34" charset="0"/>
              </a:rPr>
              <a:t> </a:t>
            </a:r>
            <a:r>
              <a:rPr lang="da-DK" sz="3600" dirty="0" err="1">
                <a:latin typeface="CBS NEW" panose="02000506080000020004" pitchFamily="2" charset="0"/>
                <a:ea typeface="Verdana" panose="020B0604030504040204" pitchFamily="34" charset="0"/>
              </a:rPr>
              <a:t>composing</a:t>
            </a:r>
            <a:r>
              <a:rPr lang="da-DK" sz="3600" dirty="0">
                <a:latin typeface="CBS NEW" panose="02000506080000020004" pitchFamily="2" charset="0"/>
                <a:ea typeface="Verdana" panose="020B0604030504040204" pitchFamily="34" charset="0"/>
              </a:rPr>
              <a:t> it… The realist </a:t>
            </a:r>
            <a:r>
              <a:rPr lang="da-DK" sz="3600" dirty="0" err="1">
                <a:latin typeface="CBS NEW" panose="02000506080000020004" pitchFamily="2" charset="0"/>
                <a:ea typeface="Verdana" panose="020B0604030504040204" pitchFamily="34" charset="0"/>
              </a:rPr>
              <a:t>strategy</a:t>
            </a:r>
            <a:r>
              <a:rPr lang="da-DK" sz="3600" dirty="0">
                <a:latin typeface="CBS NEW" panose="02000506080000020004" pitchFamily="2" charset="0"/>
                <a:ea typeface="Verdana" panose="020B0604030504040204" pitchFamily="34" charset="0"/>
              </a:rPr>
              <a:t> of </a:t>
            </a:r>
            <a:r>
              <a:rPr lang="da-DK" sz="3600" dirty="0" err="1">
                <a:latin typeface="CBS NEW" panose="02000506080000020004" pitchFamily="2" charset="0"/>
                <a:ea typeface="Verdana" panose="020B0604030504040204" pitchFamily="34" charset="0"/>
              </a:rPr>
              <a:t>setting</a:t>
            </a:r>
            <a:r>
              <a:rPr lang="da-DK" sz="3600" dirty="0">
                <a:latin typeface="CBS NEW" panose="02000506080000020004" pitchFamily="2" charset="0"/>
                <a:ea typeface="Verdana" panose="020B0604030504040204" pitchFamily="34" charset="0"/>
              </a:rPr>
              <a:t> </a:t>
            </a:r>
            <a:r>
              <a:rPr lang="da-DK" sz="3600" dirty="0" err="1">
                <a:latin typeface="CBS NEW" panose="02000506080000020004" pitchFamily="2" charset="0"/>
                <a:ea typeface="Verdana" panose="020B0604030504040204" pitchFamily="34" charset="0"/>
              </a:rPr>
              <a:t>network</a:t>
            </a:r>
            <a:r>
              <a:rPr lang="da-DK" sz="3600" dirty="0">
                <a:latin typeface="CBS NEW" panose="02000506080000020004" pitchFamily="2" charset="0"/>
                <a:ea typeface="Verdana" panose="020B0604030504040204" pitchFamily="34" charset="0"/>
              </a:rPr>
              <a:t> </a:t>
            </a:r>
            <a:r>
              <a:rPr lang="da-DK" sz="3600" dirty="0" err="1">
                <a:latin typeface="CBS NEW" panose="02000506080000020004" pitchFamily="2" charset="0"/>
                <a:ea typeface="Verdana" panose="020B0604030504040204" pitchFamily="34" charset="0"/>
              </a:rPr>
              <a:t>boundaries</a:t>
            </a:r>
            <a:r>
              <a:rPr lang="da-DK" sz="3600" dirty="0">
                <a:latin typeface="CBS NEW" panose="02000506080000020004" pitchFamily="2" charset="0"/>
                <a:ea typeface="Verdana" panose="020B0604030504040204" pitchFamily="34" charset="0"/>
              </a:rPr>
              <a:t> by definition </a:t>
            </a:r>
            <a:r>
              <a:rPr lang="da-DK" sz="3600" dirty="0" err="1">
                <a:latin typeface="CBS NEW" panose="02000506080000020004" pitchFamily="2" charset="0"/>
                <a:ea typeface="Verdana" panose="020B0604030504040204" pitchFamily="34" charset="0"/>
              </a:rPr>
              <a:t>assumes</a:t>
            </a:r>
            <a:r>
              <a:rPr lang="da-DK" sz="3600" dirty="0">
                <a:latin typeface="CBS NEW" panose="02000506080000020004" pitchFamily="2" charset="0"/>
                <a:ea typeface="Verdana" panose="020B0604030504040204" pitchFamily="34" charset="0"/>
              </a:rPr>
              <a:t> the proposition </a:t>
            </a:r>
            <a:r>
              <a:rPr lang="da-DK" sz="3600" dirty="0" err="1">
                <a:latin typeface="CBS NEW" panose="02000506080000020004" pitchFamily="2" charset="0"/>
                <a:ea typeface="Verdana" panose="020B0604030504040204" pitchFamily="34" charset="0"/>
              </a:rPr>
              <a:t>that</a:t>
            </a:r>
            <a:r>
              <a:rPr lang="da-DK" sz="3600" dirty="0">
                <a:latin typeface="CBS NEW" panose="02000506080000020004" pitchFamily="2" charset="0"/>
                <a:ea typeface="Verdana" panose="020B0604030504040204" pitchFamily="34" charset="0"/>
              </a:rPr>
              <a:t> a social </a:t>
            </a:r>
            <a:r>
              <a:rPr lang="da-DK" sz="3600" dirty="0" err="1">
                <a:latin typeface="CBS NEW" panose="02000506080000020004" pitchFamily="2" charset="0"/>
                <a:ea typeface="Verdana" panose="020B0604030504040204" pitchFamily="34" charset="0"/>
              </a:rPr>
              <a:t>entity</a:t>
            </a:r>
            <a:r>
              <a:rPr lang="da-DK" sz="3600" dirty="0">
                <a:latin typeface="CBS NEW" panose="02000506080000020004" pitchFamily="2" charset="0"/>
                <a:ea typeface="Verdana" panose="020B0604030504040204" pitchFamily="34" charset="0"/>
              </a:rPr>
              <a:t> </a:t>
            </a:r>
            <a:r>
              <a:rPr lang="da-DK" sz="3600" dirty="0" err="1">
                <a:latin typeface="CBS NEW" panose="02000506080000020004" pitchFamily="2" charset="0"/>
                <a:ea typeface="Verdana" panose="020B0604030504040204" pitchFamily="34" charset="0"/>
              </a:rPr>
              <a:t>exists</a:t>
            </a:r>
            <a:r>
              <a:rPr lang="da-DK" sz="3600" dirty="0">
                <a:latin typeface="CBS NEW" panose="02000506080000020004" pitchFamily="2" charset="0"/>
                <a:ea typeface="Verdana" panose="020B0604030504040204" pitchFamily="34" charset="0"/>
              </a:rPr>
              <a:t> as a </a:t>
            </a:r>
            <a:r>
              <a:rPr lang="da-DK" sz="3600" dirty="0" err="1">
                <a:latin typeface="CBS NEW" panose="02000506080000020004" pitchFamily="2" charset="0"/>
                <a:ea typeface="Verdana" panose="020B0604030504040204" pitchFamily="34" charset="0"/>
              </a:rPr>
              <a:t>collectively</a:t>
            </a:r>
            <a:r>
              <a:rPr lang="da-DK" sz="3600" dirty="0">
                <a:latin typeface="CBS NEW" panose="02000506080000020004" pitchFamily="2" charset="0"/>
                <a:ea typeface="Verdana" panose="020B0604030504040204" pitchFamily="34" charset="0"/>
              </a:rPr>
              <a:t> </a:t>
            </a:r>
            <a:r>
              <a:rPr lang="da-DK" sz="3600" dirty="0" err="1">
                <a:latin typeface="CBS NEW" panose="02000506080000020004" pitchFamily="2" charset="0"/>
                <a:ea typeface="Verdana" panose="020B0604030504040204" pitchFamily="34" charset="0"/>
              </a:rPr>
              <a:t>shared</a:t>
            </a:r>
            <a:r>
              <a:rPr lang="da-DK" sz="3600" dirty="0">
                <a:latin typeface="CBS NEW" panose="02000506080000020004" pitchFamily="2" charset="0"/>
                <a:ea typeface="Verdana" panose="020B0604030504040204" pitchFamily="34" charset="0"/>
              </a:rPr>
              <a:t> </a:t>
            </a:r>
            <a:r>
              <a:rPr lang="da-DK" sz="3600" dirty="0" err="1">
                <a:latin typeface="CBS NEW" panose="02000506080000020004" pitchFamily="2" charset="0"/>
                <a:ea typeface="Verdana" panose="020B0604030504040204" pitchFamily="34" charset="0"/>
              </a:rPr>
              <a:t>subjective</a:t>
            </a:r>
            <a:r>
              <a:rPr lang="da-DK" sz="3600" dirty="0">
                <a:latin typeface="CBS NEW" panose="02000506080000020004" pitchFamily="2" charset="0"/>
                <a:ea typeface="Verdana" panose="020B0604030504040204" pitchFamily="34" charset="0"/>
              </a:rPr>
              <a:t> </a:t>
            </a:r>
            <a:r>
              <a:rPr lang="da-DK" sz="3600" dirty="0" err="1">
                <a:latin typeface="CBS NEW" panose="02000506080000020004" pitchFamily="2" charset="0"/>
                <a:ea typeface="Verdana" panose="020B0604030504040204" pitchFamily="34" charset="0"/>
              </a:rPr>
              <a:t>awareness</a:t>
            </a:r>
            <a:r>
              <a:rPr lang="da-DK" sz="3600" dirty="0">
                <a:latin typeface="CBS NEW" panose="02000506080000020004" pitchFamily="2" charset="0"/>
                <a:ea typeface="Verdana" panose="020B0604030504040204" pitchFamily="34" charset="0"/>
              </a:rPr>
              <a:t> of all, or at </a:t>
            </a:r>
            <a:r>
              <a:rPr lang="da-DK" sz="3600" dirty="0" err="1">
                <a:latin typeface="CBS NEW" panose="02000506080000020004" pitchFamily="2" charset="0"/>
                <a:ea typeface="Verdana" panose="020B0604030504040204" pitchFamily="34" charset="0"/>
              </a:rPr>
              <a:t>least</a:t>
            </a:r>
            <a:r>
              <a:rPr lang="da-DK" sz="3600" dirty="0">
                <a:latin typeface="CBS NEW" panose="02000506080000020004" pitchFamily="2" charset="0"/>
                <a:ea typeface="Verdana" panose="020B0604030504040204" pitchFamily="34" charset="0"/>
              </a:rPr>
              <a:t> most, of the </a:t>
            </a:r>
            <a:r>
              <a:rPr lang="da-DK" sz="3600" dirty="0" err="1">
                <a:latin typeface="CBS NEW" panose="02000506080000020004" pitchFamily="2" charset="0"/>
                <a:ea typeface="Verdana" panose="020B0604030504040204" pitchFamily="34" charset="0"/>
              </a:rPr>
              <a:t>actors</a:t>
            </a:r>
            <a:r>
              <a:rPr lang="da-DK" sz="3600" dirty="0">
                <a:latin typeface="CBS NEW" panose="02000506080000020004" pitchFamily="2" charset="0"/>
                <a:ea typeface="Verdana" panose="020B0604030504040204" pitchFamily="34" charset="0"/>
              </a:rPr>
              <a:t> </a:t>
            </a:r>
            <a:r>
              <a:rPr lang="da-DK" sz="3600" dirty="0" err="1">
                <a:latin typeface="CBS NEW" panose="02000506080000020004" pitchFamily="2" charset="0"/>
                <a:ea typeface="Verdana" panose="020B0604030504040204" pitchFamily="34" charset="0"/>
              </a:rPr>
              <a:t>who</a:t>
            </a:r>
            <a:r>
              <a:rPr lang="da-DK" sz="3600" dirty="0">
                <a:latin typeface="CBS NEW" panose="02000506080000020004" pitchFamily="2" charset="0"/>
                <a:ea typeface="Verdana" panose="020B0604030504040204" pitchFamily="34" charset="0"/>
              </a:rPr>
              <a:t> </a:t>
            </a:r>
            <a:r>
              <a:rPr lang="da-DK" sz="3600" dirty="0" err="1">
                <a:latin typeface="CBS NEW" panose="02000506080000020004" pitchFamily="2" charset="0"/>
                <a:ea typeface="Verdana" panose="020B0604030504040204" pitchFamily="34" charset="0"/>
              </a:rPr>
              <a:t>are</a:t>
            </a:r>
            <a:r>
              <a:rPr lang="da-DK" sz="3600" dirty="0">
                <a:latin typeface="CBS NEW" panose="02000506080000020004" pitchFamily="2" charset="0"/>
                <a:ea typeface="Verdana" panose="020B0604030504040204" pitchFamily="34" charset="0"/>
              </a:rPr>
              <a:t> </a:t>
            </a:r>
            <a:r>
              <a:rPr lang="da-DK" sz="3600" dirty="0" err="1">
                <a:latin typeface="CBS NEW" panose="02000506080000020004" pitchFamily="2" charset="0"/>
                <a:ea typeface="Verdana" panose="020B0604030504040204" pitchFamily="34" charset="0"/>
              </a:rPr>
              <a:t>members</a:t>
            </a:r>
            <a:r>
              <a:rPr lang="da-DK" sz="3600" dirty="0">
                <a:latin typeface="CBS NEW" panose="02000506080000020004" pitchFamily="2" charset="0"/>
                <a:ea typeface="Verdana" panose="020B0604030504040204" pitchFamily="34" charset="0"/>
              </a:rPr>
              <a:t>”</a:t>
            </a:r>
          </a:p>
          <a:p>
            <a:pPr algn="r"/>
            <a:r>
              <a:rPr lang="da-DK" sz="3600" dirty="0">
                <a:latin typeface="CBS NEW" panose="02000506080000020004" pitchFamily="2" charset="0"/>
                <a:ea typeface="Verdana" panose="020B0604030504040204" pitchFamily="34" charset="0"/>
              </a:rPr>
              <a:t>(Laumann, </a:t>
            </a:r>
            <a:r>
              <a:rPr lang="da-DK" sz="3600" dirty="0" err="1">
                <a:latin typeface="CBS NEW" panose="02000506080000020004" pitchFamily="2" charset="0"/>
                <a:ea typeface="Verdana" panose="020B0604030504040204" pitchFamily="34" charset="0"/>
              </a:rPr>
              <a:t>Marsden</a:t>
            </a:r>
            <a:r>
              <a:rPr lang="da-DK" sz="3600" dirty="0">
                <a:latin typeface="CBS NEW" panose="02000506080000020004" pitchFamily="2" charset="0"/>
                <a:ea typeface="Verdana" panose="020B0604030504040204" pitchFamily="34" charset="0"/>
              </a:rPr>
              <a:t> &amp; </a:t>
            </a:r>
            <a:r>
              <a:rPr lang="da-DK" sz="3600" dirty="0" err="1">
                <a:latin typeface="CBS NEW" panose="02000506080000020004" pitchFamily="2" charset="0"/>
                <a:ea typeface="Verdana" panose="020B0604030504040204" pitchFamily="34" charset="0"/>
              </a:rPr>
              <a:t>Prensky</a:t>
            </a:r>
            <a:r>
              <a:rPr lang="da-DK" sz="3600" dirty="0">
                <a:latin typeface="CBS NEW" panose="02000506080000020004" pitchFamily="2" charset="0"/>
                <a:ea typeface="Verdana" panose="020B0604030504040204" pitchFamily="34" charset="0"/>
              </a:rPr>
              <a:t> (1983)</a:t>
            </a:r>
          </a:p>
          <a:p>
            <a:pPr marL="525181" lvl="1" indent="-342900">
              <a:buFont typeface="CBS NEW" panose="02000506080000020004" pitchFamily="2" charset="0"/>
              <a:buChar char="—"/>
            </a:pPr>
            <a:endParaRPr lang="da-DK" sz="3600" dirty="0">
              <a:latin typeface="CBS NEW" panose="02000506080000020004" pitchFamily="2" charset="0"/>
              <a:ea typeface="Verdana" panose="020B0604030504040204" pitchFamily="34" charset="0"/>
            </a:endParaRPr>
          </a:p>
          <a:p>
            <a:pPr marL="525181" lvl="1" indent="-342900">
              <a:buFont typeface="CBS NEW" panose="02000506080000020004" pitchFamily="2" charset="0"/>
              <a:buChar char="—"/>
            </a:pPr>
            <a:r>
              <a:rPr lang="da-DK" sz="3600" dirty="0">
                <a:latin typeface="CBS NEW" panose="02000506080000020004" pitchFamily="2" charset="0"/>
                <a:ea typeface="Verdana" panose="020B0604030504040204" pitchFamily="34" charset="0"/>
              </a:rPr>
              <a:t>Et netværk er hvad aktørerne ser som netværket (både deres eget og det ”store” netværk)</a:t>
            </a:r>
          </a:p>
          <a:p>
            <a:pPr marL="525181" lvl="1" indent="-342900">
              <a:buFont typeface="CBS NEW" panose="02000506080000020004" pitchFamily="2" charset="0"/>
              <a:buChar char="—"/>
            </a:pPr>
            <a:r>
              <a:rPr lang="da-DK" sz="3600" dirty="0">
                <a:latin typeface="CBS NEW" panose="02000506080000020004" pitchFamily="2" charset="0"/>
                <a:ea typeface="Verdana" panose="020B0604030504040204" pitchFamily="34" charset="0"/>
              </a:rPr>
              <a:t>Snebold-metoder</a:t>
            </a:r>
          </a:p>
          <a:p>
            <a:pPr marL="525181" lvl="1" indent="-342900">
              <a:buFont typeface="CBS NEW" panose="02000506080000020004" pitchFamily="2" charset="0"/>
              <a:buChar char="—"/>
            </a:pPr>
            <a:r>
              <a:rPr lang="da-DK" sz="3600" dirty="0">
                <a:latin typeface="CBS NEW" panose="02000506080000020004" pitchFamily="2" charset="0"/>
                <a:ea typeface="Verdana" panose="020B0604030504040204" pitchFamily="34" charset="0"/>
              </a:rPr>
              <a:t>Paradoksalt afhænger denne ”realistiske” tilgang meget af konteksten for hvad aktørerne forstår med en given relation</a:t>
            </a:r>
          </a:p>
          <a:p>
            <a:pPr marL="525181" lvl="1" indent="-342900">
              <a:buFont typeface="CBS NEW" panose="02000506080000020004" pitchFamily="2" charset="0"/>
              <a:buChar char="—"/>
            </a:pPr>
            <a:r>
              <a:rPr lang="da-DK" sz="3600" dirty="0">
                <a:latin typeface="CBS NEW" panose="02000506080000020004" pitchFamily="2" charset="0"/>
                <a:ea typeface="Verdana" panose="020B0604030504040204" pitchFamily="34" charset="0"/>
              </a:rPr>
              <a:t>Kan være nødvendigt at afgrænse spørgsmål til fx ”hvem er dine 10 vigtigste kontakter” </a:t>
            </a:r>
          </a:p>
        </p:txBody>
      </p:sp>
    </p:spTree>
    <p:extLst>
      <p:ext uri="{BB962C8B-B14F-4D97-AF65-F5344CB8AC3E}">
        <p14:creationId xmlns:p14="http://schemas.microsoft.com/office/powerpoint/2010/main" val="312191493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400" dirty="0" err="1">
                <a:latin typeface="CBS NEW" panose="02000506080000020004" pitchFamily="2" charset="0"/>
              </a:rPr>
              <a:t>Nominalistisk</a:t>
            </a:r>
            <a:r>
              <a:rPr lang="da-DK" sz="4400" dirty="0">
                <a:latin typeface="CBS NEW" panose="02000506080000020004" pitchFamily="2" charset="0"/>
              </a:rPr>
              <a:t> grænsedragning</a:t>
            </a:r>
            <a:endParaRPr lang="da-DK" sz="44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1"/>
          </p:nvPr>
        </p:nvSpPr>
        <p:spPr/>
        <p:txBody>
          <a:bodyPr>
            <a:normAutofit fontScale="77500" lnSpcReduction="20000"/>
          </a:bodyPr>
          <a:lstStyle/>
          <a:p>
            <a:pPr algn="just"/>
            <a:r>
              <a:rPr lang="da-DK" sz="3600" dirty="0">
                <a:latin typeface="CBS NEW" panose="02000506080000020004" pitchFamily="2" charset="0"/>
                <a:ea typeface="Verdana" panose="020B0604030504040204" pitchFamily="34" charset="0"/>
              </a:rPr>
              <a:t>”</a:t>
            </a:r>
            <a:r>
              <a:rPr lang="en-US" sz="3600" dirty="0">
                <a:latin typeface="CBS NEW" panose="02000506080000020004" pitchFamily="2" charset="0"/>
                <a:ea typeface="Verdana" panose="020B0604030504040204" pitchFamily="34" charset="0"/>
              </a:rPr>
              <a:t>An analyst self-consciously imposes a conceptual framework constructed to serve his own analytic purposes. Delineation of network boundaries is analytically relative to the purposes of the investigator, and thus network close has no ontologically independent status</a:t>
            </a:r>
            <a:r>
              <a:rPr lang="da-DK" sz="3600" dirty="0">
                <a:latin typeface="CBS NEW" panose="02000506080000020004" pitchFamily="2" charset="0"/>
                <a:ea typeface="Verdana" panose="020B0604030504040204" pitchFamily="34" charset="0"/>
              </a:rPr>
              <a:t>”</a:t>
            </a:r>
          </a:p>
          <a:p>
            <a:pPr algn="r"/>
            <a:r>
              <a:rPr lang="da-DK" sz="3600" dirty="0">
                <a:latin typeface="CBS NEW" panose="02000506080000020004" pitchFamily="2" charset="0"/>
                <a:ea typeface="Verdana" panose="020B0604030504040204" pitchFamily="34" charset="0"/>
              </a:rPr>
              <a:t>(Laumann, </a:t>
            </a:r>
            <a:r>
              <a:rPr lang="da-DK" sz="3600" dirty="0" err="1">
                <a:latin typeface="CBS NEW" panose="02000506080000020004" pitchFamily="2" charset="0"/>
                <a:ea typeface="Verdana" panose="020B0604030504040204" pitchFamily="34" charset="0"/>
              </a:rPr>
              <a:t>Marsden</a:t>
            </a:r>
            <a:r>
              <a:rPr lang="da-DK" sz="3600" dirty="0">
                <a:latin typeface="CBS NEW" panose="02000506080000020004" pitchFamily="2" charset="0"/>
                <a:ea typeface="Verdana" panose="020B0604030504040204" pitchFamily="34" charset="0"/>
              </a:rPr>
              <a:t> &amp; </a:t>
            </a:r>
            <a:r>
              <a:rPr lang="da-DK" sz="3600" dirty="0" err="1">
                <a:latin typeface="CBS NEW" panose="02000506080000020004" pitchFamily="2" charset="0"/>
                <a:ea typeface="Verdana" panose="020B0604030504040204" pitchFamily="34" charset="0"/>
              </a:rPr>
              <a:t>Prensky</a:t>
            </a:r>
            <a:r>
              <a:rPr lang="da-DK" sz="3600" dirty="0">
                <a:latin typeface="CBS NEW" panose="02000506080000020004" pitchFamily="2" charset="0"/>
                <a:ea typeface="Verdana" panose="020B0604030504040204" pitchFamily="34" charset="0"/>
              </a:rPr>
              <a:t> (1983)</a:t>
            </a:r>
          </a:p>
          <a:p>
            <a:pPr marL="525181" lvl="1" indent="-342900">
              <a:buFont typeface="CBS NEW" panose="02000506080000020004" pitchFamily="2" charset="0"/>
              <a:buChar char="—"/>
            </a:pPr>
            <a:endParaRPr lang="da-DK" sz="3600" dirty="0">
              <a:latin typeface="CBS NEW" panose="02000506080000020004" pitchFamily="2" charset="0"/>
              <a:ea typeface="Verdana" panose="020B0604030504040204" pitchFamily="34" charset="0"/>
            </a:endParaRPr>
          </a:p>
          <a:p>
            <a:pPr marL="525181" lvl="1" indent="-342900">
              <a:buFont typeface="CBS NEW" panose="02000506080000020004" pitchFamily="2" charset="0"/>
              <a:buChar char="—"/>
            </a:pPr>
            <a:r>
              <a:rPr lang="da-DK" sz="3600" dirty="0">
                <a:latin typeface="CBS NEW" panose="02000506080000020004" pitchFamily="2" charset="0"/>
                <a:ea typeface="Verdana" panose="020B0604030504040204" pitchFamily="34" charset="0"/>
              </a:rPr>
              <a:t>Forskerens analytiske perspektiv tager forrang </a:t>
            </a:r>
          </a:p>
          <a:p>
            <a:pPr marL="882625" lvl="3" indent="-342900">
              <a:buFont typeface="CBS NEW" panose="02000506080000020004" pitchFamily="2" charset="0"/>
              <a:buChar char="—"/>
            </a:pPr>
            <a:r>
              <a:rPr lang="da-DK" sz="3400" dirty="0">
                <a:latin typeface="CBS NEW" panose="02000506080000020004" pitchFamily="2" charset="0"/>
                <a:ea typeface="Verdana" panose="020B0604030504040204" pitchFamily="34" charset="0"/>
              </a:rPr>
              <a:t>Fx positionel, organisatorisk eller geografiske afgrænsning</a:t>
            </a:r>
          </a:p>
          <a:p>
            <a:pPr marL="882625" lvl="3" indent="-342900">
              <a:buFont typeface="CBS NEW" panose="02000506080000020004" pitchFamily="2" charset="0"/>
              <a:buChar char="—"/>
            </a:pPr>
            <a:r>
              <a:rPr lang="da-DK" sz="3400" dirty="0">
                <a:latin typeface="CBS NEW" panose="02000506080000020004" pitchFamily="2" charset="0"/>
                <a:ea typeface="Verdana" panose="020B0604030504040204" pitchFamily="34" charset="0"/>
              </a:rPr>
              <a:t>Eksempel ”Jeg er interesseret i netværket af beslutningstagere, som det tager sig ud i et netværket af formelle beslutningsprocesser” </a:t>
            </a:r>
          </a:p>
          <a:p>
            <a:pPr marL="1054939" lvl="4" indent="-342900">
              <a:buFont typeface="CBS NEW" panose="02000506080000020004" pitchFamily="2" charset="0"/>
              <a:buChar char="—"/>
            </a:pPr>
            <a:r>
              <a:rPr lang="da-DK" sz="3400" dirty="0">
                <a:latin typeface="CBS NEW" panose="02000506080000020004" pitchFamily="2" charset="0"/>
                <a:ea typeface="Verdana" panose="020B0604030504040204" pitchFamily="34" charset="0"/>
              </a:rPr>
              <a:t>Pragmatisk tilgang der analytisk afgrænser et netværk, men dermed også udelukker fx alle de uformelle relationer, som kan være nok så vigtige</a:t>
            </a:r>
          </a:p>
        </p:txBody>
      </p:sp>
    </p:spTree>
    <p:extLst>
      <p:ext uri="{BB962C8B-B14F-4D97-AF65-F5344CB8AC3E}">
        <p14:creationId xmlns:p14="http://schemas.microsoft.com/office/powerpoint/2010/main" val="246864283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400" dirty="0">
                <a:latin typeface="CBS NEW" panose="02000506080000020004" pitchFamily="2" charset="0"/>
              </a:rPr>
              <a:t>En </a:t>
            </a:r>
            <a:r>
              <a:rPr lang="da-DK" sz="4400" dirty="0" err="1">
                <a:latin typeface="CBS NEW" panose="02000506080000020004" pitchFamily="2" charset="0"/>
              </a:rPr>
              <a:t>outdated</a:t>
            </a:r>
            <a:r>
              <a:rPr lang="da-DK" sz="4400" dirty="0">
                <a:latin typeface="CBS NEW" panose="02000506080000020004" pitchFamily="2" charset="0"/>
              </a:rPr>
              <a:t> tankegang?</a:t>
            </a:r>
            <a:endParaRPr lang="da-DK" sz="44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1"/>
          </p:nvPr>
        </p:nvSpPr>
        <p:spPr/>
        <p:txBody>
          <a:bodyPr>
            <a:normAutofit fontScale="92500" lnSpcReduction="20000"/>
          </a:bodyPr>
          <a:lstStyle/>
          <a:p>
            <a:pPr marL="525181" lvl="1" indent="-342900">
              <a:buFont typeface="CBS NEW" panose="02000506080000020004" pitchFamily="2" charset="0"/>
              <a:buChar char="—"/>
            </a:pPr>
            <a:r>
              <a:rPr lang="da-DK" sz="3600" dirty="0">
                <a:latin typeface="CBS NEW" panose="02000506080000020004" pitchFamily="2" charset="0"/>
                <a:ea typeface="Verdana" panose="020B0604030504040204" pitchFamily="34" charset="0"/>
              </a:rPr>
              <a:t>Det her er ikke en facit liste</a:t>
            </a:r>
          </a:p>
          <a:p>
            <a:pPr marL="1054939" lvl="4" indent="-342900">
              <a:buFont typeface="CBS NEW" panose="02000506080000020004" pitchFamily="2" charset="0"/>
              <a:buChar char="—"/>
            </a:pPr>
            <a:r>
              <a:rPr lang="da-DK" sz="3400" dirty="0">
                <a:latin typeface="CBS NEW" panose="02000506080000020004" pitchFamily="2" charset="0"/>
                <a:ea typeface="Verdana" panose="020B0604030504040204" pitchFamily="34" charset="0"/>
              </a:rPr>
              <a:t>Det skulle gerne være klart, at det er et svært </a:t>
            </a:r>
            <a:r>
              <a:rPr lang="da-DK" sz="3400" dirty="0" err="1">
                <a:latin typeface="CBS NEW" panose="02000506080000020004" pitchFamily="2" charset="0"/>
                <a:ea typeface="Verdana" panose="020B0604030504040204" pitchFamily="34" charset="0"/>
              </a:rPr>
              <a:t>spørgsmal</a:t>
            </a:r>
            <a:r>
              <a:rPr lang="da-DK" sz="3400" dirty="0">
                <a:latin typeface="CBS NEW" panose="02000506080000020004" pitchFamily="2" charset="0"/>
                <a:ea typeface="Verdana" panose="020B0604030504040204" pitchFamily="34" charset="0"/>
              </a:rPr>
              <a:t> at afklare.</a:t>
            </a:r>
          </a:p>
          <a:p>
            <a:pPr marL="525181" lvl="1" indent="-342900">
              <a:buFont typeface="CBS NEW" panose="02000506080000020004" pitchFamily="2" charset="0"/>
              <a:buChar char="—"/>
            </a:pPr>
            <a:r>
              <a:rPr lang="da-DK" sz="3600" dirty="0">
                <a:latin typeface="CBS NEW" panose="02000506080000020004" pitchFamily="2" charset="0"/>
                <a:ea typeface="Verdana" panose="020B0604030504040204" pitchFamily="34" charset="0"/>
              </a:rPr>
              <a:t>Gammeldags opdeling</a:t>
            </a:r>
          </a:p>
          <a:p>
            <a:pPr marL="1054939" lvl="4" indent="-342900">
              <a:buFont typeface="CBS NEW" panose="02000506080000020004" pitchFamily="2" charset="0"/>
              <a:buChar char="—"/>
            </a:pPr>
            <a:r>
              <a:rPr lang="da-DK" sz="3400" dirty="0">
                <a:latin typeface="CBS NEW" panose="02000506080000020004" pitchFamily="2" charset="0"/>
                <a:ea typeface="Verdana" panose="020B0604030504040204" pitchFamily="34" charset="0"/>
              </a:rPr>
              <a:t>Kan være nyttig, men stringent er der en underliggende logik i forholdet mellem en objektiviseret social struktur og individernes selvforståede opfattelse af den struktur, der ikke adresseres i teksten, og skaber en </a:t>
            </a:r>
            <a:r>
              <a:rPr lang="da-DK" sz="3400" i="1" dirty="0" err="1">
                <a:latin typeface="CBS NEW" panose="02000506080000020004" pitchFamily="2" charset="0"/>
                <a:ea typeface="Verdana" panose="020B0604030504040204" pitchFamily="34" charset="0"/>
              </a:rPr>
              <a:t>fuzzy</a:t>
            </a:r>
            <a:r>
              <a:rPr lang="da-DK" sz="3400" dirty="0">
                <a:latin typeface="CBS NEW" panose="02000506080000020004" pitchFamily="2" charset="0"/>
                <a:ea typeface="Verdana" panose="020B0604030504040204" pitchFamily="34" charset="0"/>
              </a:rPr>
              <a:t> logik i opdelingen mellem de to</a:t>
            </a:r>
          </a:p>
          <a:p>
            <a:pPr marL="525181" lvl="1" indent="-342900">
              <a:buFont typeface="CBS NEW" panose="02000506080000020004" pitchFamily="2" charset="0"/>
              <a:buChar char="—"/>
            </a:pPr>
            <a:r>
              <a:rPr lang="da-DK" sz="3600" dirty="0">
                <a:latin typeface="CBS NEW" panose="02000506080000020004" pitchFamily="2" charset="0"/>
                <a:ea typeface="Verdana" panose="020B0604030504040204" pitchFamily="34" charset="0"/>
              </a:rPr>
              <a:t>Individernes selvopfattelse vs analytikerens afgrænsning (eller en teknisk afgrænsning)</a:t>
            </a:r>
          </a:p>
          <a:p>
            <a:pPr marL="1054939" lvl="4" indent="-342900">
              <a:buFont typeface="CBS NEW" panose="02000506080000020004" pitchFamily="2" charset="0"/>
              <a:buChar char="—"/>
            </a:pPr>
            <a:r>
              <a:rPr lang="da-DK" sz="3400" dirty="0">
                <a:latin typeface="CBS NEW" panose="02000506080000020004" pitchFamily="2" charset="0"/>
                <a:ea typeface="Verdana" panose="020B0604030504040204" pitchFamily="34" charset="0"/>
              </a:rPr>
              <a:t>Mere flydende end Laumann &amp; </a:t>
            </a:r>
            <a:r>
              <a:rPr lang="da-DK" sz="3400" dirty="0" err="1">
                <a:latin typeface="CBS NEW" panose="02000506080000020004" pitchFamily="2" charset="0"/>
                <a:ea typeface="Verdana" panose="020B0604030504040204" pitchFamily="34" charset="0"/>
              </a:rPr>
              <a:t>co</a:t>
            </a:r>
            <a:r>
              <a:rPr lang="da-DK" sz="3400" dirty="0">
                <a:latin typeface="CBS NEW" panose="02000506080000020004" pitchFamily="2" charset="0"/>
                <a:ea typeface="Verdana" panose="020B0604030504040204" pitchFamily="34" charset="0"/>
              </a:rPr>
              <a:t> indrømmer</a:t>
            </a:r>
            <a:endParaRPr lang="da-DK" sz="3200" dirty="0">
              <a:latin typeface="CBS NEW" panose="02000506080000020004" pitchFamily="2" charset="0"/>
              <a:ea typeface="Verdana" panose="020B0604030504040204" pitchFamily="34" charset="0"/>
            </a:endParaRPr>
          </a:p>
        </p:txBody>
      </p:sp>
    </p:spTree>
    <p:extLst>
      <p:ext uri="{BB962C8B-B14F-4D97-AF65-F5344CB8AC3E}">
        <p14:creationId xmlns:p14="http://schemas.microsoft.com/office/powerpoint/2010/main" val="270566532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err="1">
                <a:latin typeface="CBS NEW" panose="02000506080000020004" pitchFamily="2" charset="0"/>
              </a:rPr>
              <a:t>Summeøvelse</a:t>
            </a:r>
            <a:endParaRPr lang="da-DK" sz="48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1"/>
          </p:nvPr>
        </p:nvSpPr>
        <p:spPr/>
        <p:txBody>
          <a:bodyPr>
            <a:normAutofit fontScale="92500"/>
          </a:bodyPr>
          <a:lstStyle/>
          <a:p>
            <a:pPr marL="525181" lvl="1" indent="-342900">
              <a:buFont typeface="CBS NEW" panose="02000506080000020004" pitchFamily="2" charset="0"/>
              <a:buChar char="—"/>
            </a:pPr>
            <a:r>
              <a:rPr lang="da-DK" sz="3600" dirty="0">
                <a:latin typeface="CBS NEW" panose="02000506080000020004" pitchFamily="2" charset="0"/>
                <a:ea typeface="Verdana" panose="020B0604030504040204" pitchFamily="34" charset="0"/>
              </a:rPr>
              <a:t>Er den tilgang vi beskriver om indsamlingen af DEN17 </a:t>
            </a:r>
            <a:r>
              <a:rPr lang="da-DK" sz="3600" dirty="0" err="1">
                <a:latin typeface="CBS NEW" panose="02000506080000020004" pitchFamily="2" charset="0"/>
                <a:ea typeface="Verdana" panose="020B0604030504040204" pitchFamily="34" charset="0"/>
              </a:rPr>
              <a:t>nominalistisk</a:t>
            </a:r>
            <a:r>
              <a:rPr lang="da-DK" sz="3600" dirty="0">
                <a:latin typeface="CBS NEW" panose="02000506080000020004" pitchFamily="2" charset="0"/>
                <a:ea typeface="Verdana" panose="020B0604030504040204" pitchFamily="34" charset="0"/>
              </a:rPr>
              <a:t> eller realistisk?</a:t>
            </a:r>
          </a:p>
          <a:p>
            <a:pPr marL="525181" lvl="1" indent="-342900">
              <a:buFont typeface="CBS NEW" panose="02000506080000020004" pitchFamily="2" charset="0"/>
              <a:buChar char="—"/>
            </a:pPr>
            <a:r>
              <a:rPr lang="da-DK" sz="3400" dirty="0">
                <a:latin typeface="CBS NEW" panose="02000506080000020004" pitchFamily="2" charset="0"/>
                <a:ea typeface="Verdana" panose="020B0604030504040204" pitchFamily="34" charset="0"/>
              </a:rPr>
              <a:t>Er det sample vi bruger udtømmende?</a:t>
            </a:r>
          </a:p>
          <a:p>
            <a:pPr marL="525181" lvl="1" indent="-342900">
              <a:buFont typeface="CBS NEW" panose="02000506080000020004" pitchFamily="2" charset="0"/>
              <a:buChar char="—"/>
            </a:pPr>
            <a:r>
              <a:rPr lang="da-DK" sz="3400" dirty="0">
                <a:latin typeface="CBS NEW" panose="02000506080000020004" pitchFamily="2" charset="0"/>
                <a:ea typeface="Verdana" panose="020B0604030504040204" pitchFamily="34" charset="0"/>
              </a:rPr>
              <a:t>Hvad er styrkerne og svaghederne ved den</a:t>
            </a:r>
          </a:p>
          <a:p>
            <a:pPr marL="525181" lvl="1" indent="-342900">
              <a:buFont typeface="CBS NEW" panose="02000506080000020004" pitchFamily="2" charset="0"/>
              <a:buChar char="—"/>
            </a:pPr>
            <a:r>
              <a:rPr lang="da-DK" sz="3400" dirty="0">
                <a:latin typeface="CBS NEW" panose="02000506080000020004" pitchFamily="2" charset="0"/>
                <a:ea typeface="Verdana" panose="020B0604030504040204" pitchFamily="34" charset="0"/>
              </a:rPr>
              <a:t>metode, vi bruger til at identificere magteliten? </a:t>
            </a:r>
          </a:p>
          <a:p>
            <a:pPr marL="525181" lvl="1" indent="-342900">
              <a:buFont typeface="CBS NEW" panose="02000506080000020004" pitchFamily="2" charset="0"/>
              <a:buChar char="—"/>
            </a:pPr>
            <a:r>
              <a:rPr lang="da-DK" sz="3400" dirty="0">
                <a:latin typeface="CBS NEW" panose="02000506080000020004" pitchFamily="2" charset="0"/>
                <a:ea typeface="Verdana" panose="020B0604030504040204" pitchFamily="34" charset="0"/>
              </a:rPr>
              <a:t>Se i følgende artikler på Canvas:</a:t>
            </a:r>
          </a:p>
          <a:p>
            <a:pPr marL="1054939" lvl="4" indent="-342900">
              <a:buFont typeface="CBS NEW" panose="02000506080000020004" pitchFamily="2" charset="0"/>
              <a:buChar char="—"/>
            </a:pPr>
            <a:r>
              <a:rPr lang="da-DK" sz="3200" dirty="0">
                <a:latin typeface="CBS NEW" panose="02000506080000020004" pitchFamily="2" charset="0"/>
                <a:ea typeface="Verdana" panose="020B0604030504040204" pitchFamily="34" charset="0"/>
              </a:rPr>
              <a:t>Ellersgaard and Larsen - 2015 - The Danish Elite Network.pdf</a:t>
            </a:r>
          </a:p>
          <a:p>
            <a:pPr marL="1054939" lvl="4" indent="-342900">
              <a:buFont typeface="CBS NEW" panose="02000506080000020004" pitchFamily="2" charset="0"/>
              <a:buChar char="—"/>
            </a:pPr>
            <a:r>
              <a:rPr lang="da-DK" sz="3200" dirty="0">
                <a:latin typeface="CBS NEW" panose="02000506080000020004" pitchFamily="2" charset="0"/>
                <a:ea typeface="Verdana" panose="020B0604030504040204" pitchFamily="34" charset="0"/>
              </a:rPr>
              <a:t>Larsen Ellersgaard Bernsen 2015.pdf s. 20-21</a:t>
            </a:r>
          </a:p>
          <a:p>
            <a:pPr marL="1054939" lvl="4" indent="-342900">
              <a:buFont typeface="CBS NEW" panose="02000506080000020004" pitchFamily="2" charset="0"/>
              <a:buChar char="—"/>
            </a:pPr>
            <a:r>
              <a:rPr lang="da-DK" sz="3200" dirty="0">
                <a:latin typeface="CBS NEW" panose="02000506080000020004" pitchFamily="2" charset="0"/>
                <a:ea typeface="Verdana" panose="020B0604030504040204" pitchFamily="34" charset="0"/>
              </a:rPr>
              <a:t>E</a:t>
            </a:r>
            <a:r>
              <a:rPr lang="da-DK" sz="3400" dirty="0">
                <a:latin typeface="CBS NEW" panose="02000506080000020004" pitchFamily="2" charset="0"/>
                <a:ea typeface="Verdana" panose="020B0604030504040204" pitchFamily="34" charset="0"/>
              </a:rPr>
              <a:t>llersgaard Larsen Steinitz - 2019 - </a:t>
            </a:r>
            <a:r>
              <a:rPr lang="da-DK" sz="3400" dirty="0" err="1">
                <a:latin typeface="CBS NEW" panose="02000506080000020004" pitchFamily="2" charset="0"/>
                <a:ea typeface="Verdana" panose="020B0604030504040204" pitchFamily="34" charset="0"/>
              </a:rPr>
              <a:t>Personer_forgaar_magten_bestaar</a:t>
            </a:r>
            <a:r>
              <a:rPr lang="da-DK" sz="3400" dirty="0">
                <a:latin typeface="CBS NEW" panose="02000506080000020004" pitchFamily="2" charset="0"/>
                <a:ea typeface="Verdana" panose="020B0604030504040204" pitchFamily="34" charset="0"/>
              </a:rPr>
              <a:t> -metode.pdf”</a:t>
            </a:r>
          </a:p>
        </p:txBody>
      </p:sp>
    </p:spTree>
    <p:extLst>
      <p:ext uri="{BB962C8B-B14F-4D97-AF65-F5344CB8AC3E}">
        <p14:creationId xmlns:p14="http://schemas.microsoft.com/office/powerpoint/2010/main" val="262894102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err="1">
                <a:latin typeface="CBS NEW" panose="02000506080000020004" pitchFamily="2" charset="0"/>
              </a:rPr>
              <a:t>Ego-centrisk</a:t>
            </a:r>
            <a:r>
              <a:rPr lang="da-DK" sz="4800" dirty="0">
                <a:latin typeface="CBS NEW" panose="02000506080000020004" pitchFamily="2" charset="0"/>
              </a:rPr>
              <a:t> dataindsamling</a:t>
            </a:r>
            <a:endParaRPr lang="da-DK" sz="48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1"/>
          </p:nvPr>
        </p:nvSpPr>
        <p:spPr>
          <a:xfrm>
            <a:off x="395289" y="1124742"/>
            <a:ext cx="4104703" cy="5472609"/>
          </a:xfrm>
        </p:spPr>
        <p:txBody>
          <a:bodyPr>
            <a:normAutofit fontScale="70000" lnSpcReduction="20000"/>
          </a:bodyPr>
          <a:lstStyle/>
          <a:p>
            <a:pPr marL="525181" lvl="1" indent="-342900">
              <a:buFont typeface="CBS NEW" panose="02000506080000020004" pitchFamily="2" charset="0"/>
              <a:buChar char="—"/>
            </a:pPr>
            <a:r>
              <a:rPr lang="da-DK" sz="3600" dirty="0">
                <a:latin typeface="CBS NEW" panose="02000506080000020004" pitchFamily="2" charset="0"/>
                <a:ea typeface="Verdana" panose="020B0604030504040204" pitchFamily="34" charset="0"/>
              </a:rPr>
              <a:t>Hvis man gerne vil udtale sig om en meget bred population men ikke har adgang til data om denne </a:t>
            </a:r>
            <a:r>
              <a:rPr lang="da-DK" sz="3600" dirty="0" err="1">
                <a:latin typeface="CBS NEW" panose="02000506080000020004" pitchFamily="2" charset="0"/>
                <a:ea typeface="Verdana" panose="020B0604030504040204" pitchFamily="34" charset="0"/>
              </a:rPr>
              <a:t>populaton</a:t>
            </a:r>
            <a:r>
              <a:rPr lang="da-DK" sz="3600" dirty="0">
                <a:latin typeface="CBS NEW" panose="02000506080000020004" pitchFamily="2" charset="0"/>
                <a:ea typeface="Verdana" panose="020B0604030504040204" pitchFamily="34" charset="0"/>
              </a:rPr>
              <a:t> kan det være nødvendigt at udføre en </a:t>
            </a:r>
            <a:r>
              <a:rPr lang="da-DK" sz="3600" dirty="0" err="1">
                <a:latin typeface="CBS NEW" panose="02000506080000020004" pitchFamily="2" charset="0"/>
                <a:ea typeface="Verdana" panose="020B0604030504040204" pitchFamily="34" charset="0"/>
              </a:rPr>
              <a:t>ego-centrisk</a:t>
            </a:r>
            <a:r>
              <a:rPr lang="da-DK" sz="3600" dirty="0">
                <a:latin typeface="CBS NEW" panose="02000506080000020004" pitchFamily="2" charset="0"/>
                <a:ea typeface="Verdana" panose="020B0604030504040204" pitchFamily="34" charset="0"/>
              </a:rPr>
              <a:t> netværks-</a:t>
            </a:r>
            <a:r>
              <a:rPr lang="da-DK" sz="3600" dirty="0" err="1">
                <a:latin typeface="CBS NEW" panose="02000506080000020004" pitchFamily="2" charset="0"/>
                <a:ea typeface="Verdana" panose="020B0604030504040204" pitchFamily="34" charset="0"/>
              </a:rPr>
              <a:t>survey</a:t>
            </a:r>
            <a:endParaRPr lang="da-DK" sz="3600" dirty="0">
              <a:latin typeface="CBS NEW" panose="02000506080000020004" pitchFamily="2" charset="0"/>
              <a:ea typeface="Verdana" panose="020B0604030504040204" pitchFamily="34" charset="0"/>
            </a:endParaRPr>
          </a:p>
          <a:p>
            <a:pPr marL="525181" lvl="1" indent="-342900">
              <a:buFont typeface="CBS NEW" panose="02000506080000020004" pitchFamily="2" charset="0"/>
              <a:buChar char="—"/>
            </a:pPr>
            <a:r>
              <a:rPr lang="da-DK" sz="3600" dirty="0">
                <a:latin typeface="CBS NEW" panose="02000506080000020004" pitchFamily="2" charset="0"/>
                <a:ea typeface="Verdana" panose="020B0604030504040204" pitchFamily="34" charset="0"/>
              </a:rPr>
              <a:t>Enhederne er således ikke populations-netværket, men individernes netværk. Dette begrænser dog også, hvilke netværksstrukturer man kan undersøge:</a:t>
            </a:r>
          </a:p>
          <a:p>
            <a:pPr marL="700344" lvl="2" indent="-342900">
              <a:buFont typeface="CBS NEW" panose="02000506080000020004" pitchFamily="2" charset="0"/>
              <a:buChar char="—"/>
            </a:pPr>
            <a:r>
              <a:rPr lang="da-DK" sz="3600" dirty="0" err="1">
                <a:latin typeface="CBS NEW" panose="02000506080000020004" pitchFamily="2" charset="0"/>
                <a:ea typeface="Verdana" panose="020B0604030504040204" pitchFamily="34" charset="0"/>
              </a:rPr>
              <a:t>Dyadisk</a:t>
            </a:r>
            <a:r>
              <a:rPr lang="da-DK" sz="3600" dirty="0">
                <a:latin typeface="CBS NEW" panose="02000506080000020004" pitchFamily="2" charset="0"/>
                <a:ea typeface="Verdana" panose="020B0604030504040204" pitchFamily="34" charset="0"/>
              </a:rPr>
              <a:t> – hvilke typer af relation, hvor mange, hvilket mix?</a:t>
            </a:r>
          </a:p>
          <a:p>
            <a:pPr marL="700344" lvl="2" indent="-342900">
              <a:buFont typeface="CBS NEW" panose="02000506080000020004" pitchFamily="2" charset="0"/>
              <a:buChar char="—"/>
            </a:pPr>
            <a:r>
              <a:rPr lang="da-DK" sz="3600" dirty="0">
                <a:latin typeface="CBS NEW" panose="02000506080000020004" pitchFamily="2" charset="0"/>
                <a:ea typeface="Verdana" panose="020B0604030504040204" pitchFamily="34" charset="0"/>
              </a:rPr>
              <a:t>Trekants-strukturer fx </a:t>
            </a:r>
            <a:r>
              <a:rPr lang="da-DK" sz="3600" dirty="0" err="1">
                <a:latin typeface="CBS NEW" panose="02000506080000020004" pitchFamily="2" charset="0"/>
                <a:ea typeface="Verdana" panose="020B0604030504040204" pitchFamily="34" charset="0"/>
              </a:rPr>
              <a:t>transitivitet</a:t>
            </a:r>
            <a:r>
              <a:rPr lang="da-DK" sz="3600" dirty="0">
                <a:latin typeface="CBS NEW" panose="02000506080000020004" pitchFamily="2" charset="0"/>
                <a:ea typeface="Verdana" panose="020B0604030504040204" pitchFamily="34" charset="0"/>
              </a:rPr>
              <a:t> – ja men kræver at man interviewer alle egos alter!</a:t>
            </a:r>
          </a:p>
        </p:txBody>
      </p:sp>
      <p:pic>
        <p:nvPicPr>
          <p:cNvPr id="6" name="Content Placeholder 6"/>
          <p:cNvPicPr>
            <a:picLocks noChangeAspect="1"/>
          </p:cNvPicPr>
          <p:nvPr/>
        </p:nvPicPr>
        <p:blipFill rotWithShape="1">
          <a:blip r:embed="rId2" cstate="screen">
            <a:extLst>
              <a:ext uri="{28A0092B-C50C-407E-A947-70E740481C1C}">
                <a14:useLocalDpi xmlns:a14="http://schemas.microsoft.com/office/drawing/2010/main" val="0"/>
              </a:ext>
            </a:extLst>
          </a:blip>
          <a:srcRect t="4202" b="20153"/>
          <a:stretch/>
        </p:blipFill>
        <p:spPr>
          <a:xfrm>
            <a:off x="4688680" y="1124742"/>
            <a:ext cx="4203799" cy="4239989"/>
          </a:xfrm>
          <a:prstGeom prst="rect">
            <a:avLst/>
          </a:prstGeom>
        </p:spPr>
      </p:pic>
      <p:pic>
        <p:nvPicPr>
          <p:cNvPr id="7" name="Content Placeholder 6"/>
          <p:cNvPicPr>
            <a:picLocks noChangeAspect="1"/>
          </p:cNvPicPr>
          <p:nvPr/>
        </p:nvPicPr>
        <p:blipFill rotWithShape="1">
          <a:blip r:embed="rId3" cstate="screen">
            <a:extLst>
              <a:ext uri="{28A0092B-C50C-407E-A947-70E740481C1C}">
                <a14:useLocalDpi xmlns:a14="http://schemas.microsoft.com/office/drawing/2010/main" val="0"/>
              </a:ext>
            </a:extLst>
          </a:blip>
          <a:srcRect t="78452"/>
          <a:stretch/>
        </p:blipFill>
        <p:spPr bwMode="auto">
          <a:xfrm>
            <a:off x="4139952" y="5372186"/>
            <a:ext cx="4996439" cy="1435533"/>
          </a:xfrm>
          <a:prstGeom prst="rect">
            <a:avLst/>
          </a:prstGeom>
          <a:noFill/>
          <a:ln w="9525">
            <a:noFill/>
            <a:miter lim="800000"/>
            <a:headEnd/>
            <a:tailEnd/>
          </a:ln>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26996" y="900619"/>
            <a:ext cx="1465483" cy="1465483"/>
          </a:xfrm>
          <a:prstGeom prst="rect">
            <a:avLst/>
          </a:prstGeom>
        </p:spPr>
      </p:pic>
    </p:spTree>
    <p:extLst>
      <p:ext uri="{BB962C8B-B14F-4D97-AF65-F5344CB8AC3E}">
        <p14:creationId xmlns:p14="http://schemas.microsoft.com/office/powerpoint/2010/main" val="325736584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Konstruktion af netværk</a:t>
            </a:r>
            <a:endParaRPr lang="da-DK" sz="48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1"/>
          </p:nvPr>
        </p:nvSpPr>
        <p:spPr/>
        <p:txBody>
          <a:bodyPr>
            <a:normAutofit/>
          </a:bodyPr>
          <a:lstStyle/>
          <a:p>
            <a:r>
              <a:rPr lang="en-US" sz="2800" dirty="0">
                <a:latin typeface="CBS NEW" panose="02000506080000020004" pitchFamily="2" charset="0"/>
                <a:ea typeface="Verdana" panose="020B0604030504040204" pitchFamily="34" charset="0"/>
              </a:rPr>
              <a:t>Step-by-step</a:t>
            </a:r>
            <a:endParaRPr lang="da-DK" sz="2800" dirty="0">
              <a:latin typeface="CBS NEW" panose="02000506080000020004" pitchFamily="2" charset="0"/>
              <a:ea typeface="Verdana" panose="020B0604030504040204" pitchFamily="34" charset="0"/>
            </a:endParaRPr>
          </a:p>
          <a:p>
            <a:pPr marL="514350" indent="-514350">
              <a:buFont typeface="+mj-lt"/>
              <a:buAutoNum type="arabicPeriod"/>
            </a:pPr>
            <a:r>
              <a:rPr lang="da-DK" sz="2800" dirty="0">
                <a:latin typeface="CBS NEW" panose="02000506080000020004" pitchFamily="2" charset="0"/>
                <a:ea typeface="Verdana" panose="020B0604030504040204" pitchFamily="34" charset="0"/>
              </a:rPr>
              <a:t>Finde netværk (eller individer)</a:t>
            </a:r>
          </a:p>
          <a:p>
            <a:pPr marL="514350" indent="-514350">
              <a:buFont typeface="+mj-lt"/>
              <a:buAutoNum type="arabicPeriod"/>
            </a:pPr>
            <a:r>
              <a:rPr lang="da-DK" sz="2800" dirty="0">
                <a:latin typeface="CBS NEW" panose="02000506080000020004" pitchFamily="2" charset="0"/>
                <a:ea typeface="Verdana" panose="020B0604030504040204" pitchFamily="34" charset="0"/>
              </a:rPr>
              <a:t>Bestemme forbindelse</a:t>
            </a:r>
          </a:p>
          <a:p>
            <a:pPr marL="931500" lvl="2" indent="-571500">
              <a:buFont typeface="+mj-lt"/>
              <a:buAutoNum type="romanUcPeriod"/>
            </a:pPr>
            <a:r>
              <a:rPr lang="da-DK" sz="2800" dirty="0">
                <a:latin typeface="CBS NEW" panose="02000506080000020004" pitchFamily="2" charset="0"/>
                <a:ea typeface="Verdana" panose="020B0604030504040204" pitchFamily="34" charset="0"/>
              </a:rPr>
              <a:t>Definere position eller rolle.</a:t>
            </a:r>
          </a:p>
          <a:p>
            <a:pPr marL="931500" lvl="2" indent="-571500">
              <a:buFont typeface="+mj-lt"/>
              <a:buAutoNum type="romanUcPeriod"/>
            </a:pPr>
            <a:r>
              <a:rPr lang="da-DK" sz="2800" dirty="0">
                <a:latin typeface="CBS NEW" panose="02000506080000020004" pitchFamily="2" charset="0"/>
                <a:ea typeface="Verdana" panose="020B0604030504040204" pitchFamily="34" charset="0"/>
              </a:rPr>
              <a:t>Rettet vs. </a:t>
            </a:r>
            <a:r>
              <a:rPr lang="da-DK" sz="2800" dirty="0" err="1">
                <a:latin typeface="CBS NEW" panose="02000506080000020004" pitchFamily="2" charset="0"/>
                <a:ea typeface="Verdana" panose="020B0604030504040204" pitchFamily="34" charset="0"/>
              </a:rPr>
              <a:t>urettet</a:t>
            </a:r>
            <a:endParaRPr lang="da-DK" sz="2800" dirty="0">
              <a:latin typeface="CBS NEW" panose="02000506080000020004" pitchFamily="2" charset="0"/>
              <a:ea typeface="Verdana" panose="020B0604030504040204" pitchFamily="34" charset="0"/>
            </a:endParaRPr>
          </a:p>
          <a:p>
            <a:pPr marL="931500" lvl="2" indent="-571500">
              <a:buFont typeface="+mj-lt"/>
              <a:buAutoNum type="romanUcPeriod"/>
            </a:pPr>
            <a:r>
              <a:rPr lang="da-DK" sz="2800" dirty="0">
                <a:latin typeface="CBS NEW" panose="02000506080000020004" pitchFamily="2" charset="0"/>
                <a:ea typeface="Verdana" panose="020B0604030504040204" pitchFamily="34" charset="0"/>
              </a:rPr>
              <a:t>Afgøre type/vægt</a:t>
            </a:r>
          </a:p>
          <a:p>
            <a:pPr marL="514350" indent="-514350">
              <a:buFont typeface="+mj-lt"/>
              <a:buAutoNum type="arabicPeriod"/>
            </a:pPr>
            <a:r>
              <a:rPr lang="da-DK" sz="2800" dirty="0">
                <a:latin typeface="CBS NEW" panose="02000506080000020004" pitchFamily="2" charset="0"/>
                <a:ea typeface="Verdana" panose="020B0604030504040204" pitchFamily="34" charset="0"/>
              </a:rPr>
              <a:t>Registrere netværket</a:t>
            </a:r>
          </a:p>
          <a:p>
            <a:pPr marL="514350" indent="-514350">
              <a:buFont typeface="+mj-lt"/>
              <a:buAutoNum type="arabicPeriod"/>
            </a:pPr>
            <a:r>
              <a:rPr lang="da-DK" sz="2800" dirty="0">
                <a:latin typeface="CBS NEW" panose="02000506080000020004" pitchFamily="2" charset="0"/>
                <a:ea typeface="Verdana" panose="020B0604030504040204" pitchFamily="34" charset="0"/>
              </a:rPr>
              <a:t>Transformere netværket</a:t>
            </a:r>
          </a:p>
          <a:p>
            <a:pPr marL="874350" lvl="2" indent="-514350">
              <a:buFont typeface="+mj-lt"/>
              <a:buAutoNum type="romanUcPeriod"/>
            </a:pPr>
            <a:r>
              <a:rPr lang="da-DK" sz="2800" dirty="0">
                <a:latin typeface="CBS NEW" panose="02000506080000020004" pitchFamily="2" charset="0"/>
                <a:ea typeface="Verdana" panose="020B0604030504040204" pitchFamily="34" charset="0"/>
              </a:rPr>
              <a:t>Overveje retning som analytisk meningsfuldt</a:t>
            </a:r>
          </a:p>
          <a:p>
            <a:pPr marL="874350" lvl="2" indent="-514350">
              <a:buFont typeface="+mj-lt"/>
              <a:buAutoNum type="romanUcPeriod"/>
            </a:pPr>
            <a:r>
              <a:rPr lang="da-DK" sz="2800" dirty="0">
                <a:latin typeface="CBS NEW" panose="02000506080000020004" pitchFamily="2" charset="0"/>
                <a:ea typeface="Verdana" panose="020B0604030504040204" pitchFamily="34" charset="0"/>
              </a:rPr>
              <a:t>Overveje vægte og vægt gennem antallet af forbindelser som analytisk meningsfuldt</a:t>
            </a:r>
          </a:p>
        </p:txBody>
      </p:sp>
    </p:spTree>
    <p:extLst>
      <p:ext uri="{BB962C8B-B14F-4D97-AF65-F5344CB8AC3E}">
        <p14:creationId xmlns:p14="http://schemas.microsoft.com/office/powerpoint/2010/main" val="106781489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5288" y="764704"/>
            <a:ext cx="8353425" cy="288032"/>
          </a:xfrm>
        </p:spPr>
        <p:txBody>
          <a:bodyPr/>
          <a:lstStyle/>
          <a:p>
            <a:r>
              <a:rPr lang="da-DK" dirty="0">
                <a:latin typeface="CBS NEW" panose="02000506080000020004" pitchFamily="2" charset="0"/>
              </a:rPr>
              <a:t>Virksomhedsstrategi i et netværksperspektiv, Forelæsning #4, 10. februar 2025</a:t>
            </a:r>
          </a:p>
        </p:txBody>
      </p:sp>
      <p:sp>
        <p:nvSpPr>
          <p:cNvPr id="3" name="Text Placeholder 2"/>
          <p:cNvSpPr>
            <a:spLocks noGrp="1"/>
          </p:cNvSpPr>
          <p:nvPr>
            <p:ph type="body" sz="quarter" idx="11"/>
          </p:nvPr>
        </p:nvSpPr>
        <p:spPr>
          <a:xfrm>
            <a:off x="395288" y="4365104"/>
            <a:ext cx="8353425" cy="648072"/>
          </a:xfrm>
        </p:spPr>
        <p:txBody>
          <a:bodyPr/>
          <a:lstStyle/>
          <a:p>
            <a:r>
              <a:rPr lang="da-DK" sz="11500" dirty="0">
                <a:latin typeface="CBS NEW" panose="02000506080000020004" pitchFamily="2" charset="0"/>
              </a:rPr>
              <a:t>2. Datamatricer</a:t>
            </a:r>
            <a:endParaRPr lang="da-DK" sz="11500" noProof="0" dirty="0">
              <a:latin typeface="CBS NEW" panose="02000506080000020004" pitchFamily="2" charset="0"/>
            </a:endParaRPr>
          </a:p>
        </p:txBody>
      </p:sp>
      <p:cxnSp>
        <p:nvCxnSpPr>
          <p:cNvPr id="7" name="Straight Connector 6"/>
          <p:cNvCxnSpPr/>
          <p:nvPr/>
        </p:nvCxnSpPr>
        <p:spPr>
          <a:xfrm>
            <a:off x="395288" y="1052736"/>
            <a:ext cx="7993136"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8" name="Text Placeholder 2"/>
          <p:cNvSpPr txBox="1">
            <a:spLocks/>
          </p:cNvSpPr>
          <p:nvPr/>
        </p:nvSpPr>
        <p:spPr bwMode="auto">
          <a:xfrm>
            <a:off x="395536" y="4725145"/>
            <a:ext cx="8353425" cy="5760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defTabSz="914258" rtl="0" eaLnBrk="1" fontAlgn="base" hangingPunct="1">
              <a:lnSpc>
                <a:spcPct val="80000"/>
              </a:lnSpc>
              <a:spcBef>
                <a:spcPct val="0"/>
              </a:spcBef>
              <a:spcAft>
                <a:spcPts val="300"/>
              </a:spcAft>
              <a:buFont typeface="Arial" charset="0"/>
              <a:defRPr lang="en-US" sz="3600" b="1" kern="1200">
                <a:solidFill>
                  <a:srgbClr val="4967AA"/>
                </a:solidFill>
                <a:latin typeface="+mn-lt"/>
                <a:ea typeface="+mn-ea"/>
                <a:cs typeface="+mn-cs"/>
              </a:defRPr>
            </a:lvl1pPr>
            <a:lvl2pPr marL="182281" indent="-182281"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2pPr>
            <a:lvl3pPr marL="357444" indent="-175162"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3pPr>
            <a:lvl4pPr marL="539725" indent="-182281" algn="l" defTabSz="914258" rtl="0" eaLnBrk="1" fontAlgn="base" hangingPunct="1">
              <a:spcBef>
                <a:spcPct val="0"/>
              </a:spcBef>
              <a:spcAft>
                <a:spcPts val="600"/>
              </a:spcAft>
              <a:buFont typeface="Arial" charset="0"/>
              <a:buChar char="•"/>
              <a:defRPr lang="en-US" kern="1200" dirty="0">
                <a:solidFill>
                  <a:schemeClr val="tx1"/>
                </a:solidFill>
                <a:latin typeface="+mn-lt"/>
                <a:ea typeface="+mj-ea"/>
                <a:cs typeface="+mj-cs"/>
              </a:defRPr>
            </a:lvl4pPr>
            <a:lvl5pPr marL="712039" indent="-172314" algn="l" defTabSz="914258" rtl="0" eaLnBrk="1" fontAlgn="base" hangingPunct="1">
              <a:spcBef>
                <a:spcPct val="0"/>
              </a:spcBef>
              <a:spcAft>
                <a:spcPts val="600"/>
              </a:spcAft>
              <a:buFont typeface="Arial" charset="0"/>
              <a:buChar char="‒"/>
              <a:defRPr lang="en-GB" kern="1200" dirty="0">
                <a:solidFill>
                  <a:schemeClr val="tx1"/>
                </a:solidFill>
                <a:latin typeface="+mn-lt"/>
                <a:ea typeface="+mj-ea"/>
                <a:cs typeface="+mj-cs"/>
              </a:defRPr>
            </a:lvl5pPr>
            <a:lvl6pPr marL="803179" indent="-163770" algn="l" defTabSz="820269" rtl="0" eaLnBrk="1" latinLnBrk="0" hangingPunct="1">
              <a:spcBef>
                <a:spcPts val="0"/>
              </a:spcBef>
              <a:spcAft>
                <a:spcPts val="269"/>
              </a:spcAft>
              <a:buFont typeface="Arial" pitchFamily="34" charset="0"/>
              <a:buChar char="•"/>
              <a:defRPr sz="1400" kern="1200" baseline="0">
                <a:solidFill>
                  <a:schemeClr val="accent1"/>
                </a:solidFill>
                <a:latin typeface="+mn-lt"/>
                <a:ea typeface="+mn-ea"/>
                <a:cs typeface="+mn-cs"/>
              </a:defRPr>
            </a:lvl6pPr>
            <a:lvl7pPr marL="968371" indent="-165192"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7pPr>
            <a:lvl8pPr marL="1123597" indent="-155225"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8pPr>
            <a:lvl9pPr marL="1287365" indent="-163770"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9pPr>
          </a:lstStyle>
          <a:p>
            <a:endParaRPr lang="en-US" sz="2800" dirty="0">
              <a:latin typeface="CBS NEW" panose="02000506080000020004" pitchFamily="2" charset="0"/>
            </a:endParaRPr>
          </a:p>
        </p:txBody>
      </p:sp>
    </p:spTree>
    <p:extLst>
      <p:ext uri="{BB962C8B-B14F-4D97-AF65-F5344CB8AC3E}">
        <p14:creationId xmlns:p14="http://schemas.microsoft.com/office/powerpoint/2010/main" val="305120137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Dataindsamlingsmatricer</a:t>
            </a:r>
            <a:endParaRPr lang="da-DK" sz="48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1"/>
          </p:nvPr>
        </p:nvSpPr>
        <p:spPr/>
        <p:txBody>
          <a:bodyPr>
            <a:noAutofit/>
          </a:bodyPr>
          <a:lstStyle/>
          <a:p>
            <a:pPr marL="514350" indent="-514350">
              <a:buFont typeface="+mj-lt"/>
              <a:buAutoNum type="arabicPeriod"/>
            </a:pPr>
            <a:r>
              <a:rPr lang="da-DK" sz="2800" dirty="0" err="1">
                <a:latin typeface="CBS NEW" panose="02000506080000020004" pitchFamily="2" charset="0"/>
                <a:ea typeface="Verdana" panose="020B0604030504040204" pitchFamily="34" charset="0"/>
              </a:rPr>
              <a:t>Incidens</a:t>
            </a:r>
            <a:r>
              <a:rPr lang="da-DK" sz="2800" dirty="0">
                <a:latin typeface="CBS NEW" panose="02000506080000020004" pitchFamily="2" charset="0"/>
                <a:ea typeface="Verdana" panose="020B0604030504040204" pitchFamily="34" charset="0"/>
              </a:rPr>
              <a:t> (case-</a:t>
            </a:r>
            <a:r>
              <a:rPr lang="da-DK" sz="2800" dirty="0" err="1">
                <a:latin typeface="CBS NEW" panose="02000506080000020004" pitchFamily="2" charset="0"/>
                <a:ea typeface="Verdana" panose="020B0604030504040204" pitchFamily="34" charset="0"/>
              </a:rPr>
              <a:t>affiliation</a:t>
            </a:r>
            <a:r>
              <a:rPr lang="da-DK" sz="2800" dirty="0">
                <a:latin typeface="CBS NEW" panose="02000506080000020004" pitchFamily="2" charset="0"/>
                <a:ea typeface="Verdana" panose="020B0604030504040204" pitchFamily="34" charset="0"/>
              </a:rPr>
              <a:t>) matrice</a:t>
            </a:r>
          </a:p>
          <a:p>
            <a:pPr lvl="3">
              <a:buFont typeface="Corbel Light" panose="020B0303020204020204" pitchFamily="34" charset="0"/>
              <a:buChar char="–"/>
            </a:pPr>
            <a:r>
              <a:rPr lang="da-DK" sz="2800" dirty="0">
                <a:latin typeface="CBS NEW" panose="02000506080000020004" pitchFamily="2" charset="0"/>
                <a:ea typeface="Verdana" panose="020B0604030504040204" pitchFamily="34" charset="0"/>
              </a:rPr>
              <a:t>Fx individer og medlemskaber. Tænk hvert medlemskab som en binær variabel</a:t>
            </a:r>
          </a:p>
          <a:p>
            <a:pPr lvl="3">
              <a:buFont typeface="Corbel Light" panose="020B0303020204020204" pitchFamily="34" charset="0"/>
              <a:buChar char="–"/>
            </a:pPr>
            <a:r>
              <a:rPr lang="da-DK" sz="2800" dirty="0" err="1">
                <a:latin typeface="CBS NEW" panose="02000506080000020004" pitchFamily="2" charset="0"/>
                <a:ea typeface="Verdana" panose="020B0604030504040204" pitchFamily="34" charset="0"/>
              </a:rPr>
              <a:t>Two</a:t>
            </a:r>
            <a:r>
              <a:rPr lang="da-DK" sz="2800" dirty="0">
                <a:latin typeface="CBS NEW" panose="02000506080000020004" pitchFamily="2" charset="0"/>
                <a:ea typeface="Verdana" panose="020B0604030504040204" pitchFamily="34" charset="0"/>
              </a:rPr>
              <a:t>-mode </a:t>
            </a:r>
            <a:r>
              <a:rPr lang="da-DK" sz="2800" dirty="0" err="1">
                <a:latin typeface="CBS NEW" panose="02000506080000020004" pitchFamily="2" charset="0"/>
                <a:ea typeface="Verdana" panose="020B0604030504040204" pitchFamily="34" charset="0"/>
              </a:rPr>
              <a:t>network</a:t>
            </a:r>
            <a:endParaRPr lang="da-DK" sz="2800" dirty="0">
              <a:latin typeface="CBS NEW" panose="02000506080000020004" pitchFamily="2" charset="0"/>
              <a:ea typeface="Verdana" panose="020B0604030504040204" pitchFamily="34" charset="0"/>
            </a:endParaRPr>
          </a:p>
          <a:p>
            <a:pPr marL="514350" indent="-514350">
              <a:buFont typeface="+mj-lt"/>
              <a:buAutoNum type="arabicPeriod"/>
            </a:pPr>
            <a:r>
              <a:rPr lang="da-DK" sz="2800" dirty="0" err="1">
                <a:latin typeface="CBS NEW" panose="02000506080000020004" pitchFamily="2" charset="0"/>
                <a:ea typeface="Verdana" panose="020B0604030504040204" pitchFamily="34" charset="0"/>
              </a:rPr>
              <a:t>Edgelist</a:t>
            </a:r>
            <a:endParaRPr lang="da-DK" sz="2800" dirty="0">
              <a:latin typeface="CBS NEW" panose="02000506080000020004" pitchFamily="2" charset="0"/>
              <a:ea typeface="Verdana" panose="020B0604030504040204" pitchFamily="34" charset="0"/>
            </a:endParaRPr>
          </a:p>
          <a:p>
            <a:pPr marL="514350" indent="-514350">
              <a:buFont typeface="+mj-lt"/>
              <a:buAutoNum type="arabicPeriod"/>
            </a:pPr>
            <a:r>
              <a:rPr lang="da-DK" sz="2800" dirty="0" err="1">
                <a:latin typeface="CBS NEW" panose="02000506080000020004" pitchFamily="2" charset="0"/>
                <a:ea typeface="Verdana" panose="020B0604030504040204" pitchFamily="34" charset="0"/>
              </a:rPr>
              <a:t>Adjacency</a:t>
            </a:r>
            <a:r>
              <a:rPr lang="da-DK" sz="2800" dirty="0">
                <a:latin typeface="CBS NEW" panose="02000506080000020004" pitchFamily="2" charset="0"/>
                <a:ea typeface="Verdana" panose="020B0604030504040204" pitchFamily="34" charset="0"/>
              </a:rPr>
              <a:t> matricer</a:t>
            </a:r>
          </a:p>
          <a:p>
            <a:pPr marL="694350" lvl="1" indent="-514350">
              <a:buFont typeface="+mj-lt"/>
              <a:buAutoNum type="arabicPeriod"/>
            </a:pPr>
            <a:r>
              <a:rPr lang="da-DK" sz="3200" dirty="0">
                <a:latin typeface="CBS NEW" panose="02000506080000020004" pitchFamily="2" charset="0"/>
                <a:ea typeface="Verdana" panose="020B0604030504040204" pitchFamily="34" charset="0"/>
              </a:rPr>
              <a:t>Case-case-matricer. </a:t>
            </a:r>
          </a:p>
          <a:p>
            <a:pPr lvl="3">
              <a:buFont typeface="Corbel Light" panose="020B0303020204020204" pitchFamily="34" charset="0"/>
              <a:buChar char="–"/>
            </a:pPr>
            <a:r>
              <a:rPr lang="da-DK" sz="2800" dirty="0">
                <a:latin typeface="CBS NEW" panose="02000506080000020004" pitchFamily="2" charset="0"/>
                <a:ea typeface="Verdana" panose="020B0604030504040204" pitchFamily="34" charset="0"/>
              </a:rPr>
              <a:t>Hvilke individer er forbundet gennem fælles medlemskaber eller bekendtskaber?</a:t>
            </a:r>
          </a:p>
          <a:p>
            <a:pPr marL="694350" lvl="1" indent="-514350">
              <a:buFont typeface="+mj-lt"/>
              <a:buAutoNum type="arabicPeriod"/>
            </a:pPr>
            <a:r>
              <a:rPr lang="da-DK" sz="3200" dirty="0" err="1">
                <a:latin typeface="CBS NEW" panose="02000506080000020004" pitchFamily="2" charset="0"/>
                <a:ea typeface="Verdana" panose="020B0604030504040204" pitchFamily="34" charset="0"/>
              </a:rPr>
              <a:t>Affiliation-affliation</a:t>
            </a:r>
            <a:r>
              <a:rPr lang="da-DK" sz="3200" dirty="0">
                <a:latin typeface="CBS NEW" panose="02000506080000020004" pitchFamily="2" charset="0"/>
                <a:ea typeface="Verdana" panose="020B0604030504040204" pitchFamily="34" charset="0"/>
              </a:rPr>
              <a:t> matricer</a:t>
            </a:r>
          </a:p>
          <a:p>
            <a:pPr lvl="3">
              <a:buFont typeface="Corbel Light" panose="020B0303020204020204" pitchFamily="34" charset="0"/>
              <a:buChar char="–"/>
            </a:pPr>
            <a:r>
              <a:rPr lang="da-DK" sz="2800" dirty="0">
                <a:latin typeface="CBS NEW" panose="02000506080000020004" pitchFamily="2" charset="0"/>
                <a:ea typeface="Verdana" panose="020B0604030504040204" pitchFamily="34" charset="0"/>
              </a:rPr>
              <a:t>Hvilke organisationer er forbundet gennem fælles individer?</a:t>
            </a:r>
          </a:p>
        </p:txBody>
      </p:sp>
    </p:spTree>
    <p:extLst>
      <p:ext uri="{BB962C8B-B14F-4D97-AF65-F5344CB8AC3E}">
        <p14:creationId xmlns:p14="http://schemas.microsoft.com/office/powerpoint/2010/main" val="340761410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1. </a:t>
            </a:r>
            <a:r>
              <a:rPr lang="da-DK" sz="4800" dirty="0" err="1">
                <a:latin typeface="CBS NEW" panose="02000506080000020004" pitchFamily="2" charset="0"/>
              </a:rPr>
              <a:t>Incidens</a:t>
            </a:r>
            <a:r>
              <a:rPr lang="da-DK" sz="4800" dirty="0">
                <a:latin typeface="CBS NEW" panose="02000506080000020004" pitchFamily="2" charset="0"/>
              </a:rPr>
              <a:t> (case-</a:t>
            </a:r>
            <a:r>
              <a:rPr lang="da-DK" sz="4800" dirty="0" err="1">
                <a:latin typeface="CBS NEW" panose="02000506080000020004" pitchFamily="2" charset="0"/>
              </a:rPr>
              <a:t>affiliation</a:t>
            </a:r>
            <a:r>
              <a:rPr lang="da-DK" sz="4800" dirty="0">
                <a:latin typeface="CBS NEW" panose="02000506080000020004" pitchFamily="2" charset="0"/>
              </a:rPr>
              <a:t>)</a:t>
            </a:r>
            <a:endParaRPr lang="da-DK" sz="48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quarter" idx="11"/>
          </p:nvPr>
        </p:nvSpPr>
        <p:spPr/>
        <p:txBody>
          <a:bodyPr/>
          <a:lstStyle/>
          <a:p>
            <a:endParaRPr lang="da-DK" dirty="0"/>
          </a:p>
        </p:txBody>
      </p:sp>
      <p:graphicFrame>
        <p:nvGraphicFramePr>
          <p:cNvPr id="6" name="Table 3"/>
          <p:cNvGraphicFramePr/>
          <p:nvPr>
            <p:extLst>
              <p:ext uri="{D42A27DB-BD31-4B8C-83A1-F6EECF244321}">
                <p14:modId xmlns:p14="http://schemas.microsoft.com/office/powerpoint/2010/main" val="452175827"/>
              </p:ext>
            </p:extLst>
          </p:nvPr>
        </p:nvGraphicFramePr>
        <p:xfrm>
          <a:off x="399309" y="1129469"/>
          <a:ext cx="5675040" cy="2542320"/>
        </p:xfrm>
        <a:graphic>
          <a:graphicData uri="http://schemas.openxmlformats.org/drawingml/2006/table">
            <a:tbl>
              <a:tblPr/>
              <a:tblGrid>
                <a:gridCol w="945720">
                  <a:extLst>
                    <a:ext uri="{9D8B030D-6E8A-4147-A177-3AD203B41FA5}">
                      <a16:colId xmlns:a16="http://schemas.microsoft.com/office/drawing/2014/main" val="20000"/>
                    </a:ext>
                  </a:extLst>
                </a:gridCol>
                <a:gridCol w="945720">
                  <a:extLst>
                    <a:ext uri="{9D8B030D-6E8A-4147-A177-3AD203B41FA5}">
                      <a16:colId xmlns:a16="http://schemas.microsoft.com/office/drawing/2014/main" val="20001"/>
                    </a:ext>
                  </a:extLst>
                </a:gridCol>
                <a:gridCol w="945720">
                  <a:extLst>
                    <a:ext uri="{9D8B030D-6E8A-4147-A177-3AD203B41FA5}">
                      <a16:colId xmlns:a16="http://schemas.microsoft.com/office/drawing/2014/main" val="20002"/>
                    </a:ext>
                  </a:extLst>
                </a:gridCol>
                <a:gridCol w="945720">
                  <a:extLst>
                    <a:ext uri="{9D8B030D-6E8A-4147-A177-3AD203B41FA5}">
                      <a16:colId xmlns:a16="http://schemas.microsoft.com/office/drawing/2014/main" val="20003"/>
                    </a:ext>
                  </a:extLst>
                </a:gridCol>
                <a:gridCol w="945720">
                  <a:extLst>
                    <a:ext uri="{9D8B030D-6E8A-4147-A177-3AD203B41FA5}">
                      <a16:colId xmlns:a16="http://schemas.microsoft.com/office/drawing/2014/main" val="20004"/>
                    </a:ext>
                  </a:extLst>
                </a:gridCol>
                <a:gridCol w="946440">
                  <a:extLst>
                    <a:ext uri="{9D8B030D-6E8A-4147-A177-3AD203B41FA5}">
                      <a16:colId xmlns:a16="http://schemas.microsoft.com/office/drawing/2014/main" val="20005"/>
                    </a:ext>
                  </a:extLst>
                </a:gridCol>
              </a:tblGrid>
              <a:tr h="670680">
                <a:tc>
                  <a:txBody>
                    <a:bodyPr/>
                    <a:lstStyle/>
                    <a:p>
                      <a:endParaRPr lang="da-DK"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r>
                        <a:rPr lang="en-US" sz="1800" b="1" strike="noStrike" spc="-1">
                          <a:solidFill>
                            <a:srgbClr val="000000"/>
                          </a:solidFill>
                          <a:uFill>
                            <a:solidFill>
                              <a:srgbClr val="FFFFFF"/>
                            </a:solidFill>
                          </a:uFill>
                          <a:latin typeface="CBS NEW"/>
                        </a:rPr>
                        <a:t>Breakfast</a:t>
                      </a:r>
                      <a:endParaRPr lang="en-US" sz="1800" b="0" strike="noStrike" spc="-1">
                        <a:solidFill>
                          <a:srgbClr val="000000"/>
                        </a:solidFill>
                        <a:uFill>
                          <a:solidFill>
                            <a:srgbClr val="FFFFFF"/>
                          </a:solidFill>
                        </a:uFill>
                        <a:latin typeface="CBS NEW"/>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r>
                        <a:rPr lang="en-US" sz="1800" b="1" strike="noStrike" spc="-1">
                          <a:solidFill>
                            <a:srgbClr val="000000"/>
                          </a:solidFill>
                          <a:uFill>
                            <a:solidFill>
                              <a:srgbClr val="FFFFFF"/>
                            </a:solidFill>
                          </a:uFill>
                          <a:latin typeface="CBS NEW"/>
                        </a:rPr>
                        <a:t>Lunch</a:t>
                      </a:r>
                      <a:endParaRPr lang="en-US" sz="1800" b="0" strike="noStrike" spc="-1">
                        <a:solidFill>
                          <a:srgbClr val="000000"/>
                        </a:solidFill>
                        <a:uFill>
                          <a:solidFill>
                            <a:srgbClr val="FFFFFF"/>
                          </a:solidFill>
                        </a:uFill>
                        <a:latin typeface="CBS NEW"/>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r>
                        <a:rPr lang="en-US" sz="1800" b="1" strike="noStrike" spc="-1">
                          <a:solidFill>
                            <a:srgbClr val="000000"/>
                          </a:solidFill>
                          <a:uFill>
                            <a:solidFill>
                              <a:srgbClr val="FFFFFF"/>
                            </a:solidFill>
                          </a:uFill>
                          <a:latin typeface="CBS NEW"/>
                        </a:rPr>
                        <a:t>Dinner</a:t>
                      </a:r>
                      <a:endParaRPr lang="en-US" sz="1800" b="0" strike="noStrike" spc="-1">
                        <a:solidFill>
                          <a:srgbClr val="000000"/>
                        </a:solidFill>
                        <a:uFill>
                          <a:solidFill>
                            <a:srgbClr val="FFFFFF"/>
                          </a:solidFill>
                        </a:uFill>
                        <a:latin typeface="CBS NEW"/>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r>
                        <a:rPr lang="en-US" sz="1800" b="1" strike="noStrike" spc="-1">
                          <a:solidFill>
                            <a:srgbClr val="000000"/>
                          </a:solidFill>
                          <a:uFill>
                            <a:solidFill>
                              <a:srgbClr val="FFFFFF"/>
                            </a:solidFill>
                          </a:uFill>
                          <a:latin typeface="CBS NEW"/>
                        </a:rPr>
                        <a:t>Pub</a:t>
                      </a:r>
                      <a:endParaRPr lang="en-US" sz="1800" b="0" strike="noStrike" spc="-1">
                        <a:solidFill>
                          <a:srgbClr val="000000"/>
                        </a:solidFill>
                        <a:uFill>
                          <a:solidFill>
                            <a:srgbClr val="FFFFFF"/>
                          </a:solidFill>
                        </a:uFill>
                        <a:latin typeface="CBS NEW"/>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r>
                        <a:rPr lang="en-US" sz="1800" b="1" strike="noStrike" spc="-1">
                          <a:solidFill>
                            <a:srgbClr val="000000"/>
                          </a:solidFill>
                          <a:uFill>
                            <a:solidFill>
                              <a:srgbClr val="FFFFFF"/>
                            </a:solidFill>
                          </a:uFill>
                          <a:latin typeface="CBS NEW"/>
                        </a:rPr>
                        <a:t>Party</a:t>
                      </a:r>
                      <a:endParaRPr lang="en-US" sz="1800" b="0" strike="noStrike" spc="-1">
                        <a:solidFill>
                          <a:srgbClr val="000000"/>
                        </a:solidFill>
                        <a:uFill>
                          <a:solidFill>
                            <a:srgbClr val="FFFFFF"/>
                          </a:solidFill>
                        </a:uFill>
                        <a:latin typeface="CBS NEW"/>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extLst>
                  <a:ext uri="{0D108BD9-81ED-4DB2-BD59-A6C34878D82A}">
                    <a16:rowId xmlns:a16="http://schemas.microsoft.com/office/drawing/2014/main" val="10000"/>
                  </a:ext>
                </a:extLst>
              </a:tr>
              <a:tr h="400320">
                <a:tc>
                  <a:txBody>
                    <a:bodyPr/>
                    <a:lstStyle/>
                    <a:p>
                      <a:r>
                        <a:rPr lang="en-US" sz="1800" b="1" strike="noStrike" spc="-1">
                          <a:solidFill>
                            <a:srgbClr val="000000"/>
                          </a:solidFill>
                          <a:uFill>
                            <a:solidFill>
                              <a:srgbClr val="FFFFFF"/>
                            </a:solidFill>
                          </a:uFill>
                          <a:latin typeface="CBS NEW"/>
                        </a:rPr>
                        <a:t>Anton</a:t>
                      </a:r>
                      <a:endParaRPr lang="en-US" sz="1800" b="0" strike="noStrike" spc="-1">
                        <a:solidFill>
                          <a:srgbClr val="000000"/>
                        </a:solidFill>
                        <a:uFill>
                          <a:solidFill>
                            <a:srgbClr val="FFFFFF"/>
                          </a:solidFill>
                        </a:uFill>
                        <a:latin typeface="CBS NEW"/>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tc>
                  <a:txBody>
                    <a:bodyPr/>
                    <a:lstStyle/>
                    <a:p>
                      <a:pPr algn="r"/>
                      <a:r>
                        <a:rPr lang="en-US" sz="1800" b="0" strike="noStrike" spc="-1" dirty="0">
                          <a:solidFill>
                            <a:srgbClr val="000000"/>
                          </a:solidFill>
                          <a:uFill>
                            <a:solidFill>
                              <a:srgbClr val="FFFFFF"/>
                            </a:solidFill>
                          </a:uFill>
                          <a:latin typeface="CBS NEW"/>
                        </a:rPr>
                        <a:t>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pPr algn="r"/>
                      <a:r>
                        <a:rPr lang="en-US" sz="1800" b="0" strike="noStrike" spc="-1" dirty="0">
                          <a:solidFill>
                            <a:srgbClr val="000000"/>
                          </a:solidFill>
                          <a:uFill>
                            <a:solidFill>
                              <a:srgbClr val="FFFFFF"/>
                            </a:solidFill>
                          </a:uFill>
                          <a:latin typeface="CBS NEW"/>
                        </a:rPr>
                        <a:t>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extLst>
                  <a:ext uri="{0D108BD9-81ED-4DB2-BD59-A6C34878D82A}">
                    <a16:rowId xmlns:a16="http://schemas.microsoft.com/office/drawing/2014/main" val="10001"/>
                  </a:ext>
                </a:extLst>
              </a:tr>
              <a:tr h="400320">
                <a:tc>
                  <a:txBody>
                    <a:bodyPr/>
                    <a:lstStyle/>
                    <a:p>
                      <a:r>
                        <a:rPr lang="en-US" sz="1800" b="1" strike="noStrike" spc="-1" dirty="0">
                          <a:solidFill>
                            <a:srgbClr val="000000"/>
                          </a:solidFill>
                          <a:uFill>
                            <a:solidFill>
                              <a:srgbClr val="FFFFFF"/>
                            </a:solidFill>
                          </a:uFill>
                          <a:latin typeface="CBS NEW"/>
                        </a:rPr>
                        <a:t>Lasse</a:t>
                      </a:r>
                      <a:endParaRPr lang="en-US" sz="1800" b="0" strike="noStrike" spc="-1" dirty="0">
                        <a:solidFill>
                          <a:srgbClr val="000000"/>
                        </a:solidFill>
                        <a:uFill>
                          <a:solidFill>
                            <a:srgbClr val="FFFFFF"/>
                          </a:solidFill>
                        </a:uFill>
                        <a:latin typeface="CBS NEW"/>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pPr algn="r"/>
                      <a:r>
                        <a:rPr lang="en-US" sz="1800" b="0" strike="noStrike" spc="-1">
                          <a:solidFill>
                            <a:srgbClr val="000000"/>
                          </a:solidFill>
                          <a:uFill>
                            <a:solidFill>
                              <a:srgbClr val="FFFFFF"/>
                            </a:solidFill>
                          </a:uFill>
                          <a:latin typeface="CBS NEW"/>
                        </a:rPr>
                        <a:t>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pPr algn="r"/>
                      <a:r>
                        <a:rPr lang="en-US" sz="1800" b="0" strike="noStrike" spc="-1">
                          <a:solidFill>
                            <a:srgbClr val="000000"/>
                          </a:solidFill>
                          <a:uFill>
                            <a:solidFill>
                              <a:srgbClr val="FFFFFF"/>
                            </a:solidFill>
                          </a:uFill>
                          <a:latin typeface="CBS NEW"/>
                        </a:rPr>
                        <a:t>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extLst>
                  <a:ext uri="{0D108BD9-81ED-4DB2-BD59-A6C34878D82A}">
                    <a16:rowId xmlns:a16="http://schemas.microsoft.com/office/drawing/2014/main" val="10002"/>
                  </a:ext>
                </a:extLst>
              </a:tr>
              <a:tr h="670680">
                <a:tc>
                  <a:txBody>
                    <a:bodyPr/>
                    <a:lstStyle/>
                    <a:p>
                      <a:r>
                        <a:rPr lang="en-US" sz="1800" b="1" strike="noStrike" spc="-1">
                          <a:solidFill>
                            <a:srgbClr val="000000"/>
                          </a:solidFill>
                          <a:uFill>
                            <a:solidFill>
                              <a:srgbClr val="FFFFFF"/>
                            </a:solidFill>
                          </a:uFill>
                          <a:latin typeface="CBS NEW"/>
                        </a:rPr>
                        <a:t>Christoph</a:t>
                      </a:r>
                      <a:endParaRPr lang="en-US" sz="1800" b="0" strike="noStrike" spc="-1">
                        <a:solidFill>
                          <a:srgbClr val="000000"/>
                        </a:solidFill>
                        <a:uFill>
                          <a:solidFill>
                            <a:srgbClr val="FFFFFF"/>
                          </a:solidFill>
                        </a:uFill>
                        <a:latin typeface="CBS NEW"/>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pPr algn="r"/>
                      <a:r>
                        <a:rPr lang="en-US" sz="1800" b="0" strike="noStrike" spc="-1">
                          <a:solidFill>
                            <a:srgbClr val="000000"/>
                          </a:solidFill>
                          <a:uFill>
                            <a:solidFill>
                              <a:srgbClr val="FFFFFF"/>
                            </a:solidFill>
                          </a:uFill>
                          <a:latin typeface="CBS NEW"/>
                        </a:rPr>
                        <a:t>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tc>
                  <a:txBody>
                    <a:bodyPr/>
                    <a:lstStyle/>
                    <a:p>
                      <a:pPr algn="r"/>
                      <a:r>
                        <a:rPr lang="en-US" sz="1800" b="0" strike="noStrike" spc="-1">
                          <a:solidFill>
                            <a:srgbClr val="000000"/>
                          </a:solidFill>
                          <a:uFill>
                            <a:solidFill>
                              <a:srgbClr val="FFFFFF"/>
                            </a:solidFill>
                          </a:uFill>
                          <a:latin typeface="CBS NEW"/>
                        </a:rPr>
                        <a:t>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extLst>
                  <a:ext uri="{0D108BD9-81ED-4DB2-BD59-A6C34878D82A}">
                    <a16:rowId xmlns:a16="http://schemas.microsoft.com/office/drawing/2014/main" val="10003"/>
                  </a:ext>
                </a:extLst>
              </a:tr>
              <a:tr h="400320">
                <a:tc>
                  <a:txBody>
                    <a:bodyPr/>
                    <a:lstStyle/>
                    <a:p>
                      <a:r>
                        <a:rPr lang="en-US" sz="1800" b="1" strike="noStrike" spc="-1" dirty="0">
                          <a:solidFill>
                            <a:srgbClr val="000000"/>
                          </a:solidFill>
                          <a:uFill>
                            <a:solidFill>
                              <a:srgbClr val="FFFFFF"/>
                            </a:solidFill>
                          </a:uFill>
                          <a:latin typeface="CBS NEW"/>
                        </a:rPr>
                        <a:t>Jacob</a:t>
                      </a:r>
                      <a:endParaRPr lang="en-US" sz="1800" b="0" strike="noStrike" spc="-1" dirty="0">
                        <a:solidFill>
                          <a:srgbClr val="000000"/>
                        </a:solidFill>
                        <a:uFill>
                          <a:solidFill>
                            <a:srgbClr val="FFFFFF"/>
                          </a:solidFill>
                        </a:uFill>
                        <a:latin typeface="CBS NEW"/>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tc>
                  <a:txBody>
                    <a:bodyPr/>
                    <a:lstStyle/>
                    <a:p>
                      <a:pPr algn="r"/>
                      <a:r>
                        <a:rPr lang="en-US" sz="1800" b="0" strike="noStrike" spc="-1">
                          <a:solidFill>
                            <a:srgbClr val="000000"/>
                          </a:solidFill>
                          <a:uFill>
                            <a:solidFill>
                              <a:srgbClr val="FFFFFF"/>
                            </a:solidFill>
                          </a:uFill>
                          <a:latin typeface="CBS NEW"/>
                        </a:rPr>
                        <a:t>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tc>
                  <a:txBody>
                    <a:bodyPr/>
                    <a:lstStyle/>
                    <a:p>
                      <a:pPr algn="r"/>
                      <a:r>
                        <a:rPr lang="en-US" sz="1800" b="0" strike="noStrike" spc="-1" dirty="0">
                          <a:solidFill>
                            <a:srgbClr val="000000"/>
                          </a:solidFill>
                          <a:uFill>
                            <a:solidFill>
                              <a:srgbClr val="FFFFFF"/>
                            </a:solidFill>
                          </a:uFill>
                          <a:latin typeface="CBS NEW"/>
                        </a:rPr>
                        <a:t>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extLst>
                  <a:ext uri="{0D108BD9-81ED-4DB2-BD59-A6C34878D82A}">
                    <a16:rowId xmlns:a16="http://schemas.microsoft.com/office/drawing/2014/main" val="10004"/>
                  </a:ext>
                </a:extLst>
              </a:tr>
            </a:tbl>
          </a:graphicData>
        </a:graphic>
      </p:graphicFrame>
      <p:pic>
        <p:nvPicPr>
          <p:cNvPr id="7" name="Content Placeholder 9"/>
          <p:cNvPicPr>
            <a:picLocks/>
          </p:cNvPicPr>
          <p:nvPr/>
        </p:nvPicPr>
        <p:blipFill>
          <a:blip r:embed="rId2"/>
          <a:stretch/>
        </p:blipFill>
        <p:spPr>
          <a:xfrm>
            <a:off x="4355976" y="3510305"/>
            <a:ext cx="4645072" cy="3358528"/>
          </a:xfrm>
          <a:prstGeom prst="rect">
            <a:avLst/>
          </a:prstGeom>
          <a:ln>
            <a:noFill/>
          </a:ln>
        </p:spPr>
      </p:pic>
    </p:spTree>
    <p:extLst>
      <p:ext uri="{BB962C8B-B14F-4D97-AF65-F5344CB8AC3E}">
        <p14:creationId xmlns:p14="http://schemas.microsoft.com/office/powerpoint/2010/main" val="18108275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1. </a:t>
            </a:r>
            <a:r>
              <a:rPr lang="da-DK" sz="4800" dirty="0" err="1">
                <a:latin typeface="CBS NEW" panose="02000506080000020004" pitchFamily="2" charset="0"/>
              </a:rPr>
              <a:t>Incidens</a:t>
            </a:r>
            <a:r>
              <a:rPr lang="da-DK" sz="4800" dirty="0">
                <a:latin typeface="CBS NEW" panose="02000506080000020004" pitchFamily="2" charset="0"/>
              </a:rPr>
              <a:t> (case-</a:t>
            </a:r>
            <a:r>
              <a:rPr lang="da-DK" sz="4800" dirty="0" err="1">
                <a:latin typeface="CBS NEW" panose="02000506080000020004" pitchFamily="2" charset="0"/>
              </a:rPr>
              <a:t>affiliation</a:t>
            </a:r>
            <a:r>
              <a:rPr lang="da-DK" sz="4800" dirty="0">
                <a:latin typeface="CBS NEW" panose="02000506080000020004" pitchFamily="2" charset="0"/>
              </a:rPr>
              <a:t>)</a:t>
            </a:r>
            <a:endParaRPr lang="da-DK" sz="48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quarter" idx="11"/>
          </p:nvPr>
        </p:nvSpPr>
        <p:spPr/>
        <p:txBody>
          <a:bodyPr/>
          <a:lstStyle/>
          <a:p>
            <a:endParaRPr lang="da-DK" dirty="0"/>
          </a:p>
        </p:txBody>
      </p:sp>
      <p:pic>
        <p:nvPicPr>
          <p:cNvPr id="8" name="Picture 7"/>
          <p:cNvPicPr>
            <a:picLocks noChangeAspect="1"/>
          </p:cNvPicPr>
          <p:nvPr/>
        </p:nvPicPr>
        <p:blipFill>
          <a:blip r:embed="rId2"/>
          <a:stretch>
            <a:fillRect/>
          </a:stretch>
        </p:blipFill>
        <p:spPr>
          <a:xfrm>
            <a:off x="395288" y="1124742"/>
            <a:ext cx="8200201" cy="4879119"/>
          </a:xfrm>
          <a:prstGeom prst="rect">
            <a:avLst/>
          </a:prstGeom>
        </p:spPr>
      </p:pic>
    </p:spTree>
    <p:extLst>
      <p:ext uri="{BB962C8B-B14F-4D97-AF65-F5344CB8AC3E}">
        <p14:creationId xmlns:p14="http://schemas.microsoft.com/office/powerpoint/2010/main" val="1108231416"/>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2. </a:t>
            </a:r>
            <a:r>
              <a:rPr lang="da-DK" sz="4800" dirty="0" err="1">
                <a:latin typeface="CBS NEW" panose="02000506080000020004" pitchFamily="2" charset="0"/>
              </a:rPr>
              <a:t>Edgelist</a:t>
            </a:r>
            <a:endParaRPr lang="da-DK" sz="48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quarter" idx="11"/>
          </p:nvPr>
        </p:nvSpPr>
        <p:spPr/>
        <p:txBody>
          <a:bodyPr/>
          <a:lstStyle/>
          <a:p>
            <a:endParaRPr lang="da-DK" dirty="0"/>
          </a:p>
        </p:txBody>
      </p:sp>
      <p:graphicFrame>
        <p:nvGraphicFramePr>
          <p:cNvPr id="8" name="Table 3"/>
          <p:cNvGraphicFramePr/>
          <p:nvPr>
            <p:extLst>
              <p:ext uri="{D42A27DB-BD31-4B8C-83A1-F6EECF244321}">
                <p14:modId xmlns:p14="http://schemas.microsoft.com/office/powerpoint/2010/main" val="2694045239"/>
              </p:ext>
            </p:extLst>
          </p:nvPr>
        </p:nvGraphicFramePr>
        <p:xfrm>
          <a:off x="323528" y="1124744"/>
          <a:ext cx="5675040" cy="2542320"/>
        </p:xfrm>
        <a:graphic>
          <a:graphicData uri="http://schemas.openxmlformats.org/drawingml/2006/table">
            <a:tbl>
              <a:tblPr/>
              <a:tblGrid>
                <a:gridCol w="945720">
                  <a:extLst>
                    <a:ext uri="{9D8B030D-6E8A-4147-A177-3AD203B41FA5}">
                      <a16:colId xmlns:a16="http://schemas.microsoft.com/office/drawing/2014/main" val="20000"/>
                    </a:ext>
                  </a:extLst>
                </a:gridCol>
                <a:gridCol w="945720">
                  <a:extLst>
                    <a:ext uri="{9D8B030D-6E8A-4147-A177-3AD203B41FA5}">
                      <a16:colId xmlns:a16="http://schemas.microsoft.com/office/drawing/2014/main" val="20001"/>
                    </a:ext>
                  </a:extLst>
                </a:gridCol>
                <a:gridCol w="945720">
                  <a:extLst>
                    <a:ext uri="{9D8B030D-6E8A-4147-A177-3AD203B41FA5}">
                      <a16:colId xmlns:a16="http://schemas.microsoft.com/office/drawing/2014/main" val="20002"/>
                    </a:ext>
                  </a:extLst>
                </a:gridCol>
                <a:gridCol w="945720">
                  <a:extLst>
                    <a:ext uri="{9D8B030D-6E8A-4147-A177-3AD203B41FA5}">
                      <a16:colId xmlns:a16="http://schemas.microsoft.com/office/drawing/2014/main" val="20003"/>
                    </a:ext>
                  </a:extLst>
                </a:gridCol>
                <a:gridCol w="945720">
                  <a:extLst>
                    <a:ext uri="{9D8B030D-6E8A-4147-A177-3AD203B41FA5}">
                      <a16:colId xmlns:a16="http://schemas.microsoft.com/office/drawing/2014/main" val="20004"/>
                    </a:ext>
                  </a:extLst>
                </a:gridCol>
                <a:gridCol w="946440">
                  <a:extLst>
                    <a:ext uri="{9D8B030D-6E8A-4147-A177-3AD203B41FA5}">
                      <a16:colId xmlns:a16="http://schemas.microsoft.com/office/drawing/2014/main" val="20005"/>
                    </a:ext>
                  </a:extLst>
                </a:gridCol>
              </a:tblGrid>
              <a:tr h="670680">
                <a:tc>
                  <a:txBody>
                    <a:bodyPr/>
                    <a:lstStyle/>
                    <a:p>
                      <a:endParaRPr lang="da-DK" dirty="0"/>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r>
                        <a:rPr lang="en-US" sz="1800" b="1" strike="noStrike" spc="-1">
                          <a:solidFill>
                            <a:srgbClr val="000000"/>
                          </a:solidFill>
                          <a:uFill>
                            <a:solidFill>
                              <a:srgbClr val="FFFFFF"/>
                            </a:solidFill>
                          </a:uFill>
                          <a:latin typeface="CBS NEW"/>
                        </a:rPr>
                        <a:t>Breakfast</a:t>
                      </a:r>
                      <a:endParaRPr lang="en-US" sz="1800" b="0" strike="noStrike" spc="-1">
                        <a:solidFill>
                          <a:srgbClr val="000000"/>
                        </a:solidFill>
                        <a:uFill>
                          <a:solidFill>
                            <a:srgbClr val="FFFFFF"/>
                          </a:solidFill>
                        </a:uFill>
                        <a:latin typeface="CBS NEW"/>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r>
                        <a:rPr lang="en-US" sz="1800" b="1" strike="noStrike" spc="-1">
                          <a:solidFill>
                            <a:srgbClr val="000000"/>
                          </a:solidFill>
                          <a:uFill>
                            <a:solidFill>
                              <a:srgbClr val="FFFFFF"/>
                            </a:solidFill>
                          </a:uFill>
                          <a:latin typeface="CBS NEW"/>
                        </a:rPr>
                        <a:t>Lunch</a:t>
                      </a:r>
                      <a:endParaRPr lang="en-US" sz="1800" b="0" strike="noStrike" spc="-1">
                        <a:solidFill>
                          <a:srgbClr val="000000"/>
                        </a:solidFill>
                        <a:uFill>
                          <a:solidFill>
                            <a:srgbClr val="FFFFFF"/>
                          </a:solidFill>
                        </a:uFill>
                        <a:latin typeface="CBS NEW"/>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r>
                        <a:rPr lang="en-US" sz="1800" b="1" strike="noStrike" spc="-1">
                          <a:solidFill>
                            <a:srgbClr val="000000"/>
                          </a:solidFill>
                          <a:uFill>
                            <a:solidFill>
                              <a:srgbClr val="FFFFFF"/>
                            </a:solidFill>
                          </a:uFill>
                          <a:latin typeface="CBS NEW"/>
                        </a:rPr>
                        <a:t>Dinner</a:t>
                      </a:r>
                      <a:endParaRPr lang="en-US" sz="1800" b="0" strike="noStrike" spc="-1">
                        <a:solidFill>
                          <a:srgbClr val="000000"/>
                        </a:solidFill>
                        <a:uFill>
                          <a:solidFill>
                            <a:srgbClr val="FFFFFF"/>
                          </a:solidFill>
                        </a:uFill>
                        <a:latin typeface="CBS NEW"/>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r>
                        <a:rPr lang="en-US" sz="1800" b="1" strike="noStrike" spc="-1">
                          <a:solidFill>
                            <a:srgbClr val="000000"/>
                          </a:solidFill>
                          <a:uFill>
                            <a:solidFill>
                              <a:srgbClr val="FFFFFF"/>
                            </a:solidFill>
                          </a:uFill>
                          <a:latin typeface="CBS NEW"/>
                        </a:rPr>
                        <a:t>Pub</a:t>
                      </a:r>
                      <a:endParaRPr lang="en-US" sz="1800" b="0" strike="noStrike" spc="-1">
                        <a:solidFill>
                          <a:srgbClr val="000000"/>
                        </a:solidFill>
                        <a:uFill>
                          <a:solidFill>
                            <a:srgbClr val="FFFFFF"/>
                          </a:solidFill>
                        </a:uFill>
                        <a:latin typeface="CBS NEW"/>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r>
                        <a:rPr lang="en-US" sz="1800" b="1" strike="noStrike" spc="-1">
                          <a:solidFill>
                            <a:srgbClr val="000000"/>
                          </a:solidFill>
                          <a:uFill>
                            <a:solidFill>
                              <a:srgbClr val="FFFFFF"/>
                            </a:solidFill>
                          </a:uFill>
                          <a:latin typeface="CBS NEW"/>
                        </a:rPr>
                        <a:t>Party</a:t>
                      </a:r>
                      <a:endParaRPr lang="en-US" sz="1800" b="0" strike="noStrike" spc="-1">
                        <a:solidFill>
                          <a:srgbClr val="000000"/>
                        </a:solidFill>
                        <a:uFill>
                          <a:solidFill>
                            <a:srgbClr val="FFFFFF"/>
                          </a:solidFill>
                        </a:uFill>
                        <a:latin typeface="CBS NEW"/>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extLst>
                  <a:ext uri="{0D108BD9-81ED-4DB2-BD59-A6C34878D82A}">
                    <a16:rowId xmlns:a16="http://schemas.microsoft.com/office/drawing/2014/main" val="10000"/>
                  </a:ext>
                </a:extLst>
              </a:tr>
              <a:tr h="400320">
                <a:tc>
                  <a:txBody>
                    <a:bodyPr/>
                    <a:lstStyle/>
                    <a:p>
                      <a:r>
                        <a:rPr lang="en-US" sz="1800" b="1" strike="noStrike" spc="-1">
                          <a:solidFill>
                            <a:srgbClr val="000000"/>
                          </a:solidFill>
                          <a:uFill>
                            <a:solidFill>
                              <a:srgbClr val="FFFFFF"/>
                            </a:solidFill>
                          </a:uFill>
                          <a:latin typeface="CBS NEW"/>
                        </a:rPr>
                        <a:t>Anton</a:t>
                      </a:r>
                      <a:endParaRPr lang="en-US" sz="1800" b="0" strike="noStrike" spc="-1">
                        <a:solidFill>
                          <a:srgbClr val="000000"/>
                        </a:solidFill>
                        <a:uFill>
                          <a:solidFill>
                            <a:srgbClr val="FFFFFF"/>
                          </a:solidFill>
                        </a:uFill>
                        <a:latin typeface="CBS NEW"/>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tc>
                  <a:txBody>
                    <a:bodyPr/>
                    <a:lstStyle/>
                    <a:p>
                      <a:pPr algn="r"/>
                      <a:r>
                        <a:rPr lang="en-US" sz="1800" b="0" strike="noStrike" spc="-1">
                          <a:solidFill>
                            <a:srgbClr val="000000"/>
                          </a:solidFill>
                          <a:uFill>
                            <a:solidFill>
                              <a:srgbClr val="FFFFFF"/>
                            </a:solidFill>
                          </a:uFill>
                          <a:latin typeface="CBS NEW"/>
                        </a:rPr>
                        <a:t>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pPr algn="r"/>
                      <a:r>
                        <a:rPr lang="en-US" sz="1800" b="0" strike="noStrike" spc="-1">
                          <a:solidFill>
                            <a:srgbClr val="000000"/>
                          </a:solidFill>
                          <a:uFill>
                            <a:solidFill>
                              <a:srgbClr val="FFFFFF"/>
                            </a:solidFill>
                          </a:uFill>
                          <a:latin typeface="CBS NEW"/>
                        </a:rPr>
                        <a:t>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extLst>
                  <a:ext uri="{0D108BD9-81ED-4DB2-BD59-A6C34878D82A}">
                    <a16:rowId xmlns:a16="http://schemas.microsoft.com/office/drawing/2014/main" val="10001"/>
                  </a:ext>
                </a:extLst>
              </a:tr>
              <a:tr h="400320">
                <a:tc>
                  <a:txBody>
                    <a:bodyPr/>
                    <a:lstStyle/>
                    <a:p>
                      <a:r>
                        <a:rPr lang="en-US" sz="1800" b="1" strike="noStrike" spc="-1">
                          <a:solidFill>
                            <a:srgbClr val="000000"/>
                          </a:solidFill>
                          <a:uFill>
                            <a:solidFill>
                              <a:srgbClr val="FFFFFF"/>
                            </a:solidFill>
                          </a:uFill>
                          <a:latin typeface="CBS NEW"/>
                        </a:rPr>
                        <a:t>Lasse</a:t>
                      </a:r>
                      <a:endParaRPr lang="en-US" sz="1800" b="0" strike="noStrike" spc="-1">
                        <a:solidFill>
                          <a:srgbClr val="000000"/>
                        </a:solidFill>
                        <a:uFill>
                          <a:solidFill>
                            <a:srgbClr val="FFFFFF"/>
                          </a:solidFill>
                        </a:uFill>
                        <a:latin typeface="CBS NEW"/>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pPr algn="r"/>
                      <a:r>
                        <a:rPr lang="en-US" sz="1800" b="0" strike="noStrike" spc="-1">
                          <a:solidFill>
                            <a:srgbClr val="000000"/>
                          </a:solidFill>
                          <a:uFill>
                            <a:solidFill>
                              <a:srgbClr val="FFFFFF"/>
                            </a:solidFill>
                          </a:uFill>
                          <a:latin typeface="CBS NEW"/>
                        </a:rPr>
                        <a:t>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pPr algn="r"/>
                      <a:r>
                        <a:rPr lang="en-US" sz="1800" b="0" strike="noStrike" spc="-1">
                          <a:solidFill>
                            <a:srgbClr val="000000"/>
                          </a:solidFill>
                          <a:uFill>
                            <a:solidFill>
                              <a:srgbClr val="FFFFFF"/>
                            </a:solidFill>
                          </a:uFill>
                          <a:latin typeface="CBS NEW"/>
                        </a:rPr>
                        <a:t>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extLst>
                  <a:ext uri="{0D108BD9-81ED-4DB2-BD59-A6C34878D82A}">
                    <a16:rowId xmlns:a16="http://schemas.microsoft.com/office/drawing/2014/main" val="10002"/>
                  </a:ext>
                </a:extLst>
              </a:tr>
              <a:tr h="670680">
                <a:tc>
                  <a:txBody>
                    <a:bodyPr/>
                    <a:lstStyle/>
                    <a:p>
                      <a:r>
                        <a:rPr lang="en-US" sz="1800" b="1" strike="noStrike" spc="-1">
                          <a:solidFill>
                            <a:srgbClr val="000000"/>
                          </a:solidFill>
                          <a:uFill>
                            <a:solidFill>
                              <a:srgbClr val="FFFFFF"/>
                            </a:solidFill>
                          </a:uFill>
                          <a:latin typeface="CBS NEW"/>
                        </a:rPr>
                        <a:t>Christoph</a:t>
                      </a:r>
                      <a:endParaRPr lang="en-US" sz="1800" b="0" strike="noStrike" spc="-1">
                        <a:solidFill>
                          <a:srgbClr val="000000"/>
                        </a:solidFill>
                        <a:uFill>
                          <a:solidFill>
                            <a:srgbClr val="FFFFFF"/>
                          </a:solidFill>
                        </a:uFill>
                        <a:latin typeface="CBS NEW"/>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pPr algn="r"/>
                      <a:r>
                        <a:rPr lang="en-US" sz="1800" b="0" strike="noStrike" spc="-1">
                          <a:solidFill>
                            <a:srgbClr val="000000"/>
                          </a:solidFill>
                          <a:uFill>
                            <a:solidFill>
                              <a:srgbClr val="FFFFFF"/>
                            </a:solidFill>
                          </a:uFill>
                          <a:latin typeface="CBS NEW"/>
                        </a:rPr>
                        <a:t>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tc>
                  <a:txBody>
                    <a:bodyPr/>
                    <a:lstStyle/>
                    <a:p>
                      <a:pPr algn="r"/>
                      <a:r>
                        <a:rPr lang="en-US" sz="1800" b="0" strike="noStrike" spc="-1">
                          <a:solidFill>
                            <a:srgbClr val="000000"/>
                          </a:solidFill>
                          <a:uFill>
                            <a:solidFill>
                              <a:srgbClr val="FFFFFF"/>
                            </a:solidFill>
                          </a:uFill>
                          <a:latin typeface="CBS NEW"/>
                        </a:rPr>
                        <a:t>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extLst>
                  <a:ext uri="{0D108BD9-81ED-4DB2-BD59-A6C34878D82A}">
                    <a16:rowId xmlns:a16="http://schemas.microsoft.com/office/drawing/2014/main" val="10003"/>
                  </a:ext>
                </a:extLst>
              </a:tr>
              <a:tr h="400320">
                <a:tc>
                  <a:txBody>
                    <a:bodyPr/>
                    <a:lstStyle/>
                    <a:p>
                      <a:r>
                        <a:rPr lang="en-US" sz="1800" b="1" strike="noStrike" spc="-1">
                          <a:solidFill>
                            <a:srgbClr val="000000"/>
                          </a:solidFill>
                          <a:uFill>
                            <a:solidFill>
                              <a:srgbClr val="FFFFFF"/>
                            </a:solidFill>
                          </a:uFill>
                          <a:latin typeface="CBS NEW"/>
                        </a:rPr>
                        <a:t>Jacob</a:t>
                      </a:r>
                      <a:endParaRPr lang="en-US" sz="1800" b="0" strike="noStrike" spc="-1">
                        <a:solidFill>
                          <a:srgbClr val="000000"/>
                        </a:solidFill>
                        <a:uFill>
                          <a:solidFill>
                            <a:srgbClr val="FFFFFF"/>
                          </a:solidFill>
                        </a:uFill>
                        <a:latin typeface="CBS NEW"/>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tc>
                  <a:txBody>
                    <a:bodyPr/>
                    <a:lstStyle/>
                    <a:p>
                      <a:pPr algn="r"/>
                      <a:r>
                        <a:rPr lang="en-US" sz="1800" b="0" strike="noStrike" spc="-1">
                          <a:solidFill>
                            <a:srgbClr val="000000"/>
                          </a:solidFill>
                          <a:uFill>
                            <a:solidFill>
                              <a:srgbClr val="FFFFFF"/>
                            </a:solidFill>
                          </a:uFill>
                          <a:latin typeface="CBS NEW"/>
                        </a:rPr>
                        <a:t>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pPr algn="r"/>
                      <a:r>
                        <a:rPr lang="en-US" sz="1800" b="0" strike="noStrike" spc="-1">
                          <a:solidFill>
                            <a:srgbClr val="000000"/>
                          </a:solidFill>
                          <a:uFill>
                            <a:solidFill>
                              <a:srgbClr val="FFFFFF"/>
                            </a:solidFill>
                          </a:uFill>
                          <a:latin typeface="CBS NEW"/>
                        </a:rPr>
                        <a:t>1</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FCCFF"/>
                    </a:solidFill>
                  </a:tcPr>
                </a:tc>
                <a:tc>
                  <a:txBody>
                    <a:bodyPr/>
                    <a:lstStyle/>
                    <a:p>
                      <a:pPr algn="r"/>
                      <a:r>
                        <a:rPr lang="en-US" sz="1800" b="0" strike="noStrike" spc="-1" dirty="0">
                          <a:solidFill>
                            <a:srgbClr val="000000"/>
                          </a:solidFill>
                          <a:uFill>
                            <a:solidFill>
                              <a:srgbClr val="FFFFFF"/>
                            </a:solidFill>
                          </a:uFill>
                          <a:latin typeface="CBS NEW"/>
                        </a:rPr>
                        <a:t>0</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extLst>
                  <a:ext uri="{0D108BD9-81ED-4DB2-BD59-A6C34878D82A}">
                    <a16:rowId xmlns:a16="http://schemas.microsoft.com/office/drawing/2014/main" val="10004"/>
                  </a:ext>
                </a:extLst>
              </a:tr>
            </a:tbl>
          </a:graphicData>
        </a:graphic>
      </p:graphicFrame>
      <p:graphicFrame>
        <p:nvGraphicFramePr>
          <p:cNvPr id="10" name="Table 2"/>
          <p:cNvGraphicFramePr/>
          <p:nvPr>
            <p:extLst>
              <p:ext uri="{D42A27DB-BD31-4B8C-83A1-F6EECF244321}">
                <p14:modId xmlns:p14="http://schemas.microsoft.com/office/powerpoint/2010/main" val="2213193598"/>
              </p:ext>
            </p:extLst>
          </p:nvPr>
        </p:nvGraphicFramePr>
        <p:xfrm>
          <a:off x="5943600" y="1078114"/>
          <a:ext cx="3200400" cy="5186160"/>
        </p:xfrm>
        <a:graphic>
          <a:graphicData uri="http://schemas.openxmlformats.org/drawingml/2006/table">
            <a:tbl>
              <a:tblPr/>
              <a:tblGrid>
                <a:gridCol w="1600560">
                  <a:extLst>
                    <a:ext uri="{9D8B030D-6E8A-4147-A177-3AD203B41FA5}">
                      <a16:colId xmlns:a16="http://schemas.microsoft.com/office/drawing/2014/main" val="20000"/>
                    </a:ext>
                  </a:extLst>
                </a:gridCol>
                <a:gridCol w="1599840">
                  <a:extLst>
                    <a:ext uri="{9D8B030D-6E8A-4147-A177-3AD203B41FA5}">
                      <a16:colId xmlns:a16="http://schemas.microsoft.com/office/drawing/2014/main" val="20001"/>
                    </a:ext>
                  </a:extLst>
                </a:gridCol>
              </a:tblGrid>
              <a:tr h="382320">
                <a:tc>
                  <a:txBody>
                    <a:bodyPr/>
                    <a:lstStyle/>
                    <a:p>
                      <a:r>
                        <a:rPr lang="en-US" sz="1800" b="1" strike="noStrike" spc="-1" dirty="0">
                          <a:solidFill>
                            <a:srgbClr val="000000"/>
                          </a:solidFill>
                          <a:uFill>
                            <a:solidFill>
                              <a:srgbClr val="FFFFFF"/>
                            </a:solidFill>
                          </a:uFill>
                          <a:latin typeface="CBS NEW"/>
                        </a:rPr>
                        <a:t>Name</a:t>
                      </a:r>
                      <a:endParaRPr lang="en-US" sz="1800" b="0" strike="noStrike" spc="-1" dirty="0">
                        <a:solidFill>
                          <a:srgbClr val="000000"/>
                        </a:solidFill>
                        <a:uFill>
                          <a:solidFill>
                            <a:srgbClr val="FFFFFF"/>
                          </a:solidFill>
                        </a:uFill>
                        <a:latin typeface="CBS NEW"/>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r>
                        <a:rPr lang="en-US" sz="1800" b="1" strike="noStrike" spc="-1">
                          <a:solidFill>
                            <a:srgbClr val="000000"/>
                          </a:solidFill>
                          <a:uFill>
                            <a:solidFill>
                              <a:srgbClr val="FFFFFF"/>
                            </a:solidFill>
                          </a:uFill>
                          <a:latin typeface="CBS NEW"/>
                        </a:rPr>
                        <a:t>Affiliation</a:t>
                      </a:r>
                      <a:endParaRPr lang="en-US" sz="1800" b="0" strike="noStrike" spc="-1">
                        <a:solidFill>
                          <a:srgbClr val="000000"/>
                        </a:solidFill>
                        <a:uFill>
                          <a:solidFill>
                            <a:srgbClr val="FFFFFF"/>
                          </a:solidFill>
                        </a:uFill>
                        <a:latin typeface="CBS NEW"/>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extLst>
                  <a:ext uri="{0D108BD9-81ED-4DB2-BD59-A6C34878D82A}">
                    <a16:rowId xmlns:a16="http://schemas.microsoft.com/office/drawing/2014/main" val="10000"/>
                  </a:ext>
                </a:extLst>
              </a:tr>
              <a:tr h="400320">
                <a:tc>
                  <a:txBody>
                    <a:bodyPr/>
                    <a:lstStyle/>
                    <a:p>
                      <a:r>
                        <a:rPr lang="en-US" sz="1800" b="0" strike="noStrike" spc="-1">
                          <a:solidFill>
                            <a:srgbClr val="000000"/>
                          </a:solidFill>
                          <a:uFill>
                            <a:solidFill>
                              <a:srgbClr val="FFFFFF"/>
                            </a:solidFill>
                          </a:uFill>
                          <a:latin typeface="CBS NEW"/>
                        </a:rPr>
                        <a:t>Anton</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r>
                        <a:rPr lang="en-US" sz="1800" b="0" strike="noStrike" spc="-1">
                          <a:solidFill>
                            <a:srgbClr val="000000"/>
                          </a:solidFill>
                          <a:uFill>
                            <a:solidFill>
                              <a:srgbClr val="FFFFFF"/>
                            </a:solidFill>
                          </a:uFill>
                          <a:latin typeface="CBS NEW"/>
                        </a:rPr>
                        <a:t>Breakfast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extLst>
                  <a:ext uri="{0D108BD9-81ED-4DB2-BD59-A6C34878D82A}">
                    <a16:rowId xmlns:a16="http://schemas.microsoft.com/office/drawing/2014/main" val="10001"/>
                  </a:ext>
                </a:extLst>
              </a:tr>
              <a:tr h="400320">
                <a:tc>
                  <a:txBody>
                    <a:bodyPr/>
                    <a:lstStyle/>
                    <a:p>
                      <a:r>
                        <a:rPr lang="en-US" sz="1800" b="0" strike="noStrike" spc="-1" dirty="0">
                          <a:solidFill>
                            <a:srgbClr val="000000"/>
                          </a:solidFill>
                          <a:uFill>
                            <a:solidFill>
                              <a:srgbClr val="FFFFFF"/>
                            </a:solidFill>
                          </a:uFill>
                          <a:latin typeface="CBS NEW"/>
                        </a:rPr>
                        <a:t>Anton</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r>
                        <a:rPr lang="en-US" sz="1800" b="0" strike="noStrike" spc="-1">
                          <a:solidFill>
                            <a:srgbClr val="000000"/>
                          </a:solidFill>
                          <a:uFill>
                            <a:solidFill>
                              <a:srgbClr val="FFFFFF"/>
                            </a:solidFill>
                          </a:uFill>
                          <a:latin typeface="CBS NEW"/>
                        </a:rPr>
                        <a:t>Lunch</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extLst>
                  <a:ext uri="{0D108BD9-81ED-4DB2-BD59-A6C34878D82A}">
                    <a16:rowId xmlns:a16="http://schemas.microsoft.com/office/drawing/2014/main" val="10002"/>
                  </a:ext>
                </a:extLst>
              </a:tr>
              <a:tr h="400320">
                <a:tc>
                  <a:txBody>
                    <a:bodyPr/>
                    <a:lstStyle/>
                    <a:p>
                      <a:r>
                        <a:rPr lang="en-US" sz="1800" b="0" strike="noStrike" spc="-1">
                          <a:solidFill>
                            <a:srgbClr val="000000"/>
                          </a:solidFill>
                          <a:uFill>
                            <a:solidFill>
                              <a:srgbClr val="FFFFFF"/>
                            </a:solidFill>
                          </a:uFill>
                          <a:latin typeface="CBS NEW"/>
                        </a:rPr>
                        <a:t>Anton</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r>
                        <a:rPr lang="en-US" sz="1800" b="0" strike="noStrike" spc="-1">
                          <a:solidFill>
                            <a:srgbClr val="000000"/>
                          </a:solidFill>
                          <a:uFill>
                            <a:solidFill>
                              <a:srgbClr val="FFFFFF"/>
                            </a:solidFill>
                          </a:uFill>
                          <a:latin typeface="CBS NEW"/>
                        </a:rPr>
                        <a:t>Party</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extLst>
                  <a:ext uri="{0D108BD9-81ED-4DB2-BD59-A6C34878D82A}">
                    <a16:rowId xmlns:a16="http://schemas.microsoft.com/office/drawing/2014/main" val="10003"/>
                  </a:ext>
                </a:extLst>
              </a:tr>
              <a:tr h="400320">
                <a:tc>
                  <a:txBody>
                    <a:bodyPr/>
                    <a:lstStyle/>
                    <a:p>
                      <a:r>
                        <a:rPr lang="en-US" sz="1800" b="0" strike="noStrike" spc="-1">
                          <a:solidFill>
                            <a:srgbClr val="000000"/>
                          </a:solidFill>
                          <a:uFill>
                            <a:solidFill>
                              <a:srgbClr val="FFFFFF"/>
                            </a:solidFill>
                          </a:uFill>
                          <a:latin typeface="CBS NEW"/>
                        </a:rPr>
                        <a:t>Lasse</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r>
                        <a:rPr lang="en-US" sz="1800" b="0" strike="noStrike" spc="-1">
                          <a:solidFill>
                            <a:srgbClr val="000000"/>
                          </a:solidFill>
                          <a:uFill>
                            <a:solidFill>
                              <a:srgbClr val="FFFFFF"/>
                            </a:solidFill>
                          </a:uFill>
                          <a:latin typeface="CBS NEW"/>
                        </a:rPr>
                        <a:t>Dinner</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extLst>
                  <a:ext uri="{0D108BD9-81ED-4DB2-BD59-A6C34878D82A}">
                    <a16:rowId xmlns:a16="http://schemas.microsoft.com/office/drawing/2014/main" val="10004"/>
                  </a:ext>
                </a:extLst>
              </a:tr>
              <a:tr h="400320">
                <a:tc>
                  <a:txBody>
                    <a:bodyPr/>
                    <a:lstStyle/>
                    <a:p>
                      <a:r>
                        <a:rPr lang="en-US" sz="1800" b="0" strike="noStrike" spc="-1">
                          <a:solidFill>
                            <a:srgbClr val="000000"/>
                          </a:solidFill>
                          <a:uFill>
                            <a:solidFill>
                              <a:srgbClr val="FFFFFF"/>
                            </a:solidFill>
                          </a:uFill>
                          <a:latin typeface="CBS NEW"/>
                        </a:rPr>
                        <a:t>Lasse</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r>
                        <a:rPr lang="en-US" sz="1800" b="0" strike="noStrike" spc="-1">
                          <a:solidFill>
                            <a:srgbClr val="000000"/>
                          </a:solidFill>
                          <a:uFill>
                            <a:solidFill>
                              <a:srgbClr val="FFFFFF"/>
                            </a:solidFill>
                          </a:uFill>
                          <a:latin typeface="CBS NEW"/>
                        </a:rPr>
                        <a:t>Pub</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extLst>
                  <a:ext uri="{0D108BD9-81ED-4DB2-BD59-A6C34878D82A}">
                    <a16:rowId xmlns:a16="http://schemas.microsoft.com/office/drawing/2014/main" val="10005"/>
                  </a:ext>
                </a:extLst>
              </a:tr>
              <a:tr h="400320">
                <a:tc>
                  <a:txBody>
                    <a:bodyPr/>
                    <a:lstStyle/>
                    <a:p>
                      <a:r>
                        <a:rPr lang="en-US" sz="1800" b="0" strike="noStrike" spc="-1">
                          <a:solidFill>
                            <a:srgbClr val="000000"/>
                          </a:solidFill>
                          <a:uFill>
                            <a:solidFill>
                              <a:srgbClr val="FFFFFF"/>
                            </a:solidFill>
                          </a:uFill>
                          <a:latin typeface="CBS NEW"/>
                        </a:rPr>
                        <a:t>Lasse</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r>
                        <a:rPr lang="en-US" sz="1800" b="0" strike="noStrike" spc="-1">
                          <a:solidFill>
                            <a:srgbClr val="000000"/>
                          </a:solidFill>
                          <a:uFill>
                            <a:solidFill>
                              <a:srgbClr val="FFFFFF"/>
                            </a:solidFill>
                          </a:uFill>
                          <a:latin typeface="CBS NEW"/>
                        </a:rPr>
                        <a:t>Party</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extLst>
                  <a:ext uri="{0D108BD9-81ED-4DB2-BD59-A6C34878D82A}">
                    <a16:rowId xmlns:a16="http://schemas.microsoft.com/office/drawing/2014/main" val="10006"/>
                  </a:ext>
                </a:extLst>
              </a:tr>
              <a:tr h="400320">
                <a:tc>
                  <a:txBody>
                    <a:bodyPr/>
                    <a:lstStyle/>
                    <a:p>
                      <a:r>
                        <a:rPr lang="en-US" sz="1800" b="0" strike="noStrike" spc="-1">
                          <a:solidFill>
                            <a:srgbClr val="000000"/>
                          </a:solidFill>
                          <a:uFill>
                            <a:solidFill>
                              <a:srgbClr val="FFFFFF"/>
                            </a:solidFill>
                          </a:uFill>
                          <a:latin typeface="CBS NEW"/>
                        </a:rPr>
                        <a:t>Christoph</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r>
                        <a:rPr lang="en-US" sz="1800" b="0" strike="noStrike" spc="-1">
                          <a:solidFill>
                            <a:srgbClr val="000000"/>
                          </a:solidFill>
                          <a:uFill>
                            <a:solidFill>
                              <a:srgbClr val="FFFFFF"/>
                            </a:solidFill>
                          </a:uFill>
                          <a:latin typeface="CBS NEW"/>
                        </a:rPr>
                        <a:t>Lunch</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extLst>
                  <a:ext uri="{0D108BD9-81ED-4DB2-BD59-A6C34878D82A}">
                    <a16:rowId xmlns:a16="http://schemas.microsoft.com/office/drawing/2014/main" val="10007"/>
                  </a:ext>
                </a:extLst>
              </a:tr>
              <a:tr h="400320">
                <a:tc>
                  <a:txBody>
                    <a:bodyPr/>
                    <a:lstStyle/>
                    <a:p>
                      <a:r>
                        <a:rPr lang="en-US" sz="1800" b="0" strike="noStrike" spc="-1">
                          <a:solidFill>
                            <a:srgbClr val="000000"/>
                          </a:solidFill>
                          <a:uFill>
                            <a:solidFill>
                              <a:srgbClr val="FFFFFF"/>
                            </a:solidFill>
                          </a:uFill>
                          <a:latin typeface="CBS NEW"/>
                        </a:rPr>
                        <a:t>Christoph</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r>
                        <a:rPr lang="en-US" sz="1800" b="0" strike="noStrike" spc="-1">
                          <a:solidFill>
                            <a:srgbClr val="000000"/>
                          </a:solidFill>
                          <a:uFill>
                            <a:solidFill>
                              <a:srgbClr val="FFFFFF"/>
                            </a:solidFill>
                          </a:uFill>
                          <a:latin typeface="CBS NEW"/>
                        </a:rPr>
                        <a:t>Pub</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extLst>
                  <a:ext uri="{0D108BD9-81ED-4DB2-BD59-A6C34878D82A}">
                    <a16:rowId xmlns:a16="http://schemas.microsoft.com/office/drawing/2014/main" val="10008"/>
                  </a:ext>
                </a:extLst>
              </a:tr>
              <a:tr h="400320">
                <a:tc>
                  <a:txBody>
                    <a:bodyPr/>
                    <a:lstStyle/>
                    <a:p>
                      <a:r>
                        <a:rPr lang="en-US" sz="1800" b="0" strike="noStrike" spc="-1">
                          <a:solidFill>
                            <a:srgbClr val="000000"/>
                          </a:solidFill>
                          <a:uFill>
                            <a:solidFill>
                              <a:srgbClr val="FFFFFF"/>
                            </a:solidFill>
                          </a:uFill>
                          <a:latin typeface="CBS NEW"/>
                        </a:rPr>
                        <a:t>Christoph</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r>
                        <a:rPr lang="en-US" sz="1800" b="0" strike="noStrike" spc="-1">
                          <a:solidFill>
                            <a:srgbClr val="000000"/>
                          </a:solidFill>
                          <a:uFill>
                            <a:solidFill>
                              <a:srgbClr val="FFFFFF"/>
                            </a:solidFill>
                          </a:uFill>
                          <a:latin typeface="CBS NEW"/>
                        </a:rPr>
                        <a:t>Party</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extLst>
                  <a:ext uri="{0D108BD9-81ED-4DB2-BD59-A6C34878D82A}">
                    <a16:rowId xmlns:a16="http://schemas.microsoft.com/office/drawing/2014/main" val="10009"/>
                  </a:ext>
                </a:extLst>
              </a:tr>
              <a:tr h="400320">
                <a:tc>
                  <a:txBody>
                    <a:bodyPr/>
                    <a:lstStyle/>
                    <a:p>
                      <a:r>
                        <a:rPr lang="en-US" sz="1800" b="0" strike="noStrike" spc="-1">
                          <a:solidFill>
                            <a:srgbClr val="000000"/>
                          </a:solidFill>
                          <a:uFill>
                            <a:solidFill>
                              <a:srgbClr val="FFFFFF"/>
                            </a:solidFill>
                          </a:uFill>
                          <a:latin typeface="CBS NEW"/>
                        </a:rPr>
                        <a:t>Jacob</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r>
                        <a:rPr lang="en-US" sz="1800" b="0" strike="noStrike" spc="-1">
                          <a:solidFill>
                            <a:srgbClr val="000000"/>
                          </a:solidFill>
                          <a:uFill>
                            <a:solidFill>
                              <a:srgbClr val="FFFFFF"/>
                            </a:solidFill>
                          </a:uFill>
                          <a:latin typeface="CBS NEW"/>
                        </a:rPr>
                        <a:t>Breakfast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extLst>
                  <a:ext uri="{0D108BD9-81ED-4DB2-BD59-A6C34878D82A}">
                    <a16:rowId xmlns:a16="http://schemas.microsoft.com/office/drawing/2014/main" val="10010"/>
                  </a:ext>
                </a:extLst>
              </a:tr>
              <a:tr h="400320">
                <a:tc>
                  <a:txBody>
                    <a:bodyPr/>
                    <a:lstStyle/>
                    <a:p>
                      <a:r>
                        <a:rPr lang="en-US" sz="1800" b="0" strike="noStrike" spc="-1">
                          <a:solidFill>
                            <a:srgbClr val="000000"/>
                          </a:solidFill>
                          <a:uFill>
                            <a:solidFill>
                              <a:srgbClr val="FFFFFF"/>
                            </a:solidFill>
                          </a:uFill>
                          <a:latin typeface="CBS NEW"/>
                        </a:rPr>
                        <a:t>Jacob</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r>
                        <a:rPr lang="en-US" sz="1800" b="0" strike="noStrike" spc="-1">
                          <a:solidFill>
                            <a:srgbClr val="000000"/>
                          </a:solidFill>
                          <a:uFill>
                            <a:solidFill>
                              <a:srgbClr val="FFFFFF"/>
                            </a:solidFill>
                          </a:uFill>
                          <a:latin typeface="CBS NEW"/>
                        </a:rPr>
                        <a:t>Lunch</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extLst>
                  <a:ext uri="{0D108BD9-81ED-4DB2-BD59-A6C34878D82A}">
                    <a16:rowId xmlns:a16="http://schemas.microsoft.com/office/drawing/2014/main" val="10011"/>
                  </a:ext>
                </a:extLst>
              </a:tr>
              <a:tr h="400320">
                <a:tc>
                  <a:txBody>
                    <a:bodyPr/>
                    <a:lstStyle/>
                    <a:p>
                      <a:r>
                        <a:rPr lang="en-US" sz="1800" b="0" strike="noStrike" spc="-1">
                          <a:solidFill>
                            <a:srgbClr val="000000"/>
                          </a:solidFill>
                          <a:uFill>
                            <a:solidFill>
                              <a:srgbClr val="FFFFFF"/>
                            </a:solidFill>
                          </a:uFill>
                          <a:latin typeface="CBS NEW"/>
                        </a:rPr>
                        <a:t>Jacob</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tc>
                  <a:txBody>
                    <a:bodyPr/>
                    <a:lstStyle/>
                    <a:p>
                      <a:r>
                        <a:rPr lang="en-US" sz="1800" b="0" strike="noStrike" spc="-1" dirty="0">
                          <a:solidFill>
                            <a:srgbClr val="000000"/>
                          </a:solidFill>
                          <a:uFill>
                            <a:solidFill>
                              <a:srgbClr val="FFFFFF"/>
                            </a:solidFill>
                          </a:uFill>
                          <a:latin typeface="CBS NEW"/>
                        </a:rPr>
                        <a:t>Pub</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F7F7F3"/>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82960836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3. Case-case-matricer</a:t>
            </a:r>
            <a:endParaRPr lang="da-DK" sz="48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6" name="Content Placeholder 2"/>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383278" y="1340768"/>
            <a:ext cx="8376013" cy="4746407"/>
          </a:xfrm>
          <a:prstGeom prst="rect">
            <a:avLst/>
          </a:prstGeom>
        </p:spPr>
      </p:pic>
    </p:spTree>
    <p:extLst>
      <p:ext uri="{BB962C8B-B14F-4D97-AF65-F5344CB8AC3E}">
        <p14:creationId xmlns:p14="http://schemas.microsoft.com/office/powerpoint/2010/main" val="405032998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3. Case-case-matricer</a:t>
            </a:r>
            <a:endParaRPr lang="da-DK" sz="48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2"/>
          <a:stretch>
            <a:fillRect/>
          </a:stretch>
        </p:blipFill>
        <p:spPr>
          <a:xfrm>
            <a:off x="395288" y="1412776"/>
            <a:ext cx="8255917" cy="4680520"/>
          </a:xfrm>
          <a:prstGeom prst="rect">
            <a:avLst/>
          </a:prstGeom>
        </p:spPr>
      </p:pic>
    </p:spTree>
    <p:extLst>
      <p:ext uri="{BB962C8B-B14F-4D97-AF65-F5344CB8AC3E}">
        <p14:creationId xmlns:p14="http://schemas.microsoft.com/office/powerpoint/2010/main" val="256080560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1. </a:t>
            </a:r>
            <a:r>
              <a:rPr lang="da-DK" sz="4800" dirty="0" err="1">
                <a:latin typeface="CBS NEW" panose="02000506080000020004" pitchFamily="2" charset="0"/>
              </a:rPr>
              <a:t>Incidens</a:t>
            </a:r>
            <a:r>
              <a:rPr lang="da-DK" sz="4800" dirty="0">
                <a:latin typeface="CBS NEW" panose="02000506080000020004" pitchFamily="2" charset="0"/>
              </a:rPr>
              <a:t> (case-</a:t>
            </a:r>
            <a:r>
              <a:rPr lang="da-DK" sz="4800" dirty="0" err="1">
                <a:latin typeface="CBS NEW" panose="02000506080000020004" pitchFamily="2" charset="0"/>
              </a:rPr>
              <a:t>affiliation</a:t>
            </a:r>
            <a:r>
              <a:rPr lang="da-DK" sz="4800" dirty="0">
                <a:latin typeface="CBS NEW" panose="02000506080000020004" pitchFamily="2" charset="0"/>
              </a:rPr>
              <a:t>)</a:t>
            </a:r>
            <a:endParaRPr lang="da-DK" sz="48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quarter" idx="11"/>
          </p:nvPr>
        </p:nvSpPr>
        <p:spPr/>
        <p:txBody>
          <a:bodyPr/>
          <a:lstStyle/>
          <a:p>
            <a:endParaRPr lang="da-DK" dirty="0"/>
          </a:p>
        </p:txBody>
      </p:sp>
      <p:pic>
        <p:nvPicPr>
          <p:cNvPr id="8" name="Picture 7"/>
          <p:cNvPicPr>
            <a:picLocks noChangeAspect="1"/>
          </p:cNvPicPr>
          <p:nvPr/>
        </p:nvPicPr>
        <p:blipFill>
          <a:blip r:embed="rId2"/>
          <a:stretch>
            <a:fillRect/>
          </a:stretch>
        </p:blipFill>
        <p:spPr>
          <a:xfrm>
            <a:off x="395288" y="1124742"/>
            <a:ext cx="8200201" cy="4879119"/>
          </a:xfrm>
          <a:prstGeom prst="rect">
            <a:avLst/>
          </a:prstGeom>
        </p:spPr>
      </p:pic>
    </p:spTree>
    <p:extLst>
      <p:ext uri="{BB962C8B-B14F-4D97-AF65-F5344CB8AC3E}">
        <p14:creationId xmlns:p14="http://schemas.microsoft.com/office/powerpoint/2010/main" val="295090226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3. Case-case-matricer</a:t>
            </a:r>
            <a:endParaRPr lang="da-DK" sz="48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2"/>
          <a:stretch>
            <a:fillRect/>
          </a:stretch>
        </p:blipFill>
        <p:spPr>
          <a:xfrm>
            <a:off x="0" y="1412776"/>
            <a:ext cx="8428613" cy="4320480"/>
          </a:xfrm>
          <a:prstGeom prst="rect">
            <a:avLst/>
          </a:prstGeom>
        </p:spPr>
      </p:pic>
    </p:spTree>
    <p:extLst>
      <p:ext uri="{BB962C8B-B14F-4D97-AF65-F5344CB8AC3E}">
        <p14:creationId xmlns:p14="http://schemas.microsoft.com/office/powerpoint/2010/main" val="3042065452"/>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a:srcRect l="47510" t="3031" b="50722"/>
          <a:stretch/>
        </p:blipFill>
        <p:spPr>
          <a:xfrm>
            <a:off x="611560" y="3495066"/>
            <a:ext cx="3456384" cy="3029248"/>
          </a:xfrm>
          <a:prstGeom prst="rect">
            <a:avLst/>
          </a:prstGeom>
        </p:spPr>
      </p:pic>
      <p:sp>
        <p:nvSpPr>
          <p:cNvPr id="2" name="Text Placeholder 1"/>
          <p:cNvSpPr>
            <a:spLocks noGrp="1"/>
          </p:cNvSpPr>
          <p:nvPr>
            <p:ph type="body" sz="quarter" idx="10"/>
          </p:nvPr>
        </p:nvSpPr>
        <p:spPr/>
        <p:txBody>
          <a:bodyPr>
            <a:noAutofit/>
          </a:bodyPr>
          <a:lstStyle/>
          <a:p>
            <a:r>
              <a:rPr lang="en-US" sz="4800" noProof="0" dirty="0">
                <a:latin typeface="CBS NEW" panose="02000506080000020004" pitchFamily="2" charset="0"/>
              </a:rPr>
              <a:t>Two-mode </a:t>
            </a:r>
            <a:r>
              <a:rPr lang="en-US" sz="4800" noProof="0" dirty="0" err="1">
                <a:latin typeface="CBS NEW" panose="02000506080000020004" pitchFamily="2" charset="0"/>
              </a:rPr>
              <a:t>netværk</a:t>
            </a:r>
            <a:endParaRPr lang="da-DK" sz="48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1"/>
          </p:nvPr>
        </p:nvSpPr>
        <p:spPr>
          <a:xfrm>
            <a:off x="395289" y="1124743"/>
            <a:ext cx="4104703" cy="3312370"/>
          </a:xfrm>
        </p:spPr>
        <p:txBody>
          <a:bodyPr>
            <a:normAutofit fontScale="92500"/>
          </a:bodyPr>
          <a:lstStyle/>
          <a:p>
            <a:pPr marL="525181" lvl="1" indent="-342900">
              <a:buFont typeface="CBS NEW" panose="02000506080000020004" pitchFamily="2" charset="0"/>
              <a:buChar char="—"/>
            </a:pPr>
            <a:r>
              <a:rPr lang="da-DK" sz="3600" dirty="0">
                <a:latin typeface="CBS NEW" panose="02000506080000020004" pitchFamily="2" charset="0"/>
                <a:ea typeface="Verdana" panose="020B0604030504040204" pitchFamily="34" charset="0"/>
              </a:rPr>
              <a:t>Illustrere både organisation og individ på samme tid</a:t>
            </a:r>
          </a:p>
          <a:p>
            <a:pPr marL="525181" lvl="1" indent="-342900">
              <a:buFont typeface="CBS NEW" panose="02000506080000020004" pitchFamily="2" charset="0"/>
              <a:buChar char="—"/>
            </a:pPr>
            <a:r>
              <a:rPr lang="da-DK" sz="3600" dirty="0">
                <a:latin typeface="CBS NEW" panose="02000506080000020004" pitchFamily="2" charset="0"/>
                <a:ea typeface="Verdana" panose="020B0604030504040204" pitchFamily="34" charset="0"/>
              </a:rPr>
              <a:t>Kan også benyttes i forhold til </a:t>
            </a:r>
            <a:r>
              <a:rPr lang="da-DK" sz="3600" dirty="0" err="1">
                <a:latin typeface="CBS NEW" panose="02000506080000020004" pitchFamily="2" charset="0"/>
                <a:ea typeface="Verdana" panose="020B0604030504040204" pitchFamily="34" charset="0"/>
              </a:rPr>
              <a:t>centralitetsberegninger</a:t>
            </a:r>
            <a:r>
              <a:rPr lang="da-DK" sz="3600" dirty="0">
                <a:latin typeface="CBS NEW" panose="02000506080000020004" pitchFamily="2" charset="0"/>
                <a:ea typeface="Verdana" panose="020B0604030504040204" pitchFamily="34" charset="0"/>
              </a:rPr>
              <a:t> etc.</a:t>
            </a:r>
          </a:p>
        </p:txBody>
      </p:sp>
      <p:pic>
        <p:nvPicPr>
          <p:cNvPr id="6" name="Content Placeholder 6"/>
          <p:cNvPicPr>
            <a:picLocks noChangeAspect="1"/>
          </p:cNvPicPr>
          <p:nvPr/>
        </p:nvPicPr>
        <p:blipFill rotWithShape="1">
          <a:blip r:embed="rId3" cstate="screen">
            <a:extLst>
              <a:ext uri="{28A0092B-C50C-407E-A947-70E740481C1C}">
                <a14:useLocalDpi xmlns:a14="http://schemas.microsoft.com/office/drawing/2010/main" val="0"/>
              </a:ext>
            </a:extLst>
          </a:blip>
          <a:srcRect t="4202" b="20153"/>
          <a:stretch/>
        </p:blipFill>
        <p:spPr>
          <a:xfrm>
            <a:off x="4688680" y="1124742"/>
            <a:ext cx="4203799" cy="4239989"/>
          </a:xfrm>
          <a:prstGeom prst="rect">
            <a:avLst/>
          </a:prstGeom>
        </p:spPr>
      </p:pic>
      <p:pic>
        <p:nvPicPr>
          <p:cNvPr id="7" name="Content Placeholder 6"/>
          <p:cNvPicPr>
            <a:picLocks noChangeAspect="1"/>
          </p:cNvPicPr>
          <p:nvPr/>
        </p:nvPicPr>
        <p:blipFill rotWithShape="1">
          <a:blip r:embed="rId4" cstate="screen">
            <a:extLst>
              <a:ext uri="{28A0092B-C50C-407E-A947-70E740481C1C}">
                <a14:useLocalDpi xmlns:a14="http://schemas.microsoft.com/office/drawing/2010/main" val="0"/>
              </a:ext>
            </a:extLst>
          </a:blip>
          <a:srcRect t="78452"/>
          <a:stretch/>
        </p:blipFill>
        <p:spPr bwMode="auto">
          <a:xfrm>
            <a:off x="4139952" y="5372186"/>
            <a:ext cx="4996439" cy="1435533"/>
          </a:xfrm>
          <a:prstGeom prst="rect">
            <a:avLst/>
          </a:prstGeom>
          <a:noFill/>
          <a:ln w="9525">
            <a:noFill/>
            <a:miter lim="800000"/>
            <a:headEnd/>
            <a:tailEnd/>
          </a:ln>
        </p:spPr>
      </p:pic>
      <p:pic>
        <p:nvPicPr>
          <p:cNvPr id="8" name="Picture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26996" y="900619"/>
            <a:ext cx="1465483" cy="1465483"/>
          </a:xfrm>
          <a:prstGeom prst="rect">
            <a:avLst/>
          </a:prstGeom>
        </p:spPr>
      </p:pic>
    </p:spTree>
    <p:extLst>
      <p:ext uri="{BB962C8B-B14F-4D97-AF65-F5344CB8AC3E}">
        <p14:creationId xmlns:p14="http://schemas.microsoft.com/office/powerpoint/2010/main" val="42093772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000" dirty="0">
                <a:latin typeface="CBS NEW" panose="02000506080000020004" pitchFamily="2" charset="0"/>
              </a:rPr>
              <a:t>The </a:t>
            </a:r>
            <a:r>
              <a:rPr lang="da-DK" sz="4000" dirty="0" err="1">
                <a:latin typeface="CBS NEW" panose="02000506080000020004" pitchFamily="2" charset="0"/>
              </a:rPr>
              <a:t>duality</a:t>
            </a:r>
            <a:r>
              <a:rPr lang="da-DK" sz="4000" dirty="0">
                <a:latin typeface="CBS NEW" panose="02000506080000020004" pitchFamily="2" charset="0"/>
              </a:rPr>
              <a:t> of persons and </a:t>
            </a:r>
            <a:r>
              <a:rPr lang="da-DK" sz="4000" dirty="0" err="1">
                <a:latin typeface="CBS NEW" panose="02000506080000020004" pitchFamily="2" charset="0"/>
              </a:rPr>
              <a:t>groups</a:t>
            </a:r>
            <a:endParaRPr lang="da-DK" sz="40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1"/>
          </p:nvPr>
        </p:nvSpPr>
        <p:spPr/>
        <p:txBody>
          <a:bodyPr>
            <a:noAutofit/>
          </a:bodyPr>
          <a:lstStyle/>
          <a:p>
            <a:r>
              <a:rPr lang="da-DK" sz="2800" dirty="0" err="1">
                <a:latin typeface="CBS NEW" panose="02000506080000020004" pitchFamily="2" charset="0"/>
                <a:ea typeface="Verdana" panose="020B0604030504040204" pitchFamily="34" charset="0"/>
              </a:rPr>
              <a:t>Breiger</a:t>
            </a:r>
            <a:r>
              <a:rPr lang="da-DK" sz="2800" dirty="0">
                <a:latin typeface="CBS NEW" panose="02000506080000020004" pitchFamily="2" charset="0"/>
                <a:ea typeface="Verdana" panose="020B0604030504040204" pitchFamily="34" charset="0"/>
              </a:rPr>
              <a:t> (1974)</a:t>
            </a:r>
          </a:p>
          <a:p>
            <a:pPr lvl="2">
              <a:buFont typeface="Corbel Light" panose="020B0303020204020204" pitchFamily="34" charset="0"/>
              <a:buChar char="–"/>
            </a:pPr>
            <a:r>
              <a:rPr lang="da-DK" sz="2800" dirty="0">
                <a:latin typeface="CBS NEW" panose="02000506080000020004" pitchFamily="2" charset="0"/>
                <a:ea typeface="Verdana" panose="020B0604030504040204" pitchFamily="34" charset="0"/>
              </a:rPr>
              <a:t>Medlemskaber versus sociale relationer</a:t>
            </a:r>
          </a:p>
          <a:p>
            <a:pPr lvl="2">
              <a:buFont typeface="Corbel Light" panose="020B0303020204020204" pitchFamily="34" charset="0"/>
              <a:buChar char="–"/>
            </a:pPr>
            <a:r>
              <a:rPr lang="da-DK" sz="2800" dirty="0">
                <a:latin typeface="CBS NEW" panose="02000506080000020004" pitchFamily="2" charset="0"/>
                <a:ea typeface="Verdana" panose="020B0604030504040204" pitchFamily="34" charset="0"/>
              </a:rPr>
              <a:t>Vi får viden om individer i kraft af at vide, hvem der er medlemmer af de samme organisationer som dem og vi får viden om organisationer ved at se, hvilke andre organisationer, de deler medlemmer med</a:t>
            </a:r>
          </a:p>
          <a:p>
            <a:pPr lvl="3">
              <a:buFont typeface="Corbel Light" panose="020B0303020204020204" pitchFamily="34" charset="0"/>
              <a:buChar char="–"/>
            </a:pPr>
            <a:r>
              <a:rPr lang="en-US" sz="2400" dirty="0">
                <a:latin typeface="CBS NEW" panose="02000506080000020004" pitchFamily="2" charset="0"/>
                <a:ea typeface="Verdana" panose="020B0604030504040204" pitchFamily="34" charset="0"/>
              </a:rPr>
              <a:t>"A man may be regarded as the point of intersection of an indefinite number of circles representing social groups, having as many arcs passing through him as there are  groups“ Charles H. Cooley (1902:148)</a:t>
            </a:r>
            <a:endParaRPr lang="da-DK" sz="2600" dirty="0">
              <a:latin typeface="CBS NEW" panose="02000506080000020004" pitchFamily="2" charset="0"/>
              <a:ea typeface="Verdana" panose="020B0604030504040204" pitchFamily="34" charset="0"/>
            </a:endParaRPr>
          </a:p>
          <a:p>
            <a:pPr lvl="2">
              <a:buFont typeface="Corbel Light" panose="020B0303020204020204" pitchFamily="34" charset="0"/>
              <a:buChar char="–"/>
            </a:pPr>
            <a:r>
              <a:rPr lang="da-DK" sz="2800" dirty="0" err="1">
                <a:latin typeface="CBS NEW" panose="02000506080000020004" pitchFamily="2" charset="0"/>
                <a:ea typeface="Verdana" panose="020B0604030504040204" pitchFamily="34" charset="0"/>
              </a:rPr>
              <a:t>Two</a:t>
            </a:r>
            <a:r>
              <a:rPr lang="da-DK" sz="2800" dirty="0">
                <a:latin typeface="CBS NEW" panose="02000506080000020004" pitchFamily="2" charset="0"/>
                <a:ea typeface="Verdana" panose="020B0604030504040204" pitchFamily="34" charset="0"/>
              </a:rPr>
              <a:t>-mode </a:t>
            </a:r>
            <a:r>
              <a:rPr lang="da-DK" sz="2800" dirty="0" err="1">
                <a:latin typeface="CBS NEW" panose="02000506080000020004" pitchFamily="2" charset="0"/>
                <a:ea typeface="Verdana" panose="020B0604030504040204" pitchFamily="34" charset="0"/>
              </a:rPr>
              <a:t>networks</a:t>
            </a:r>
            <a:r>
              <a:rPr lang="da-DK" sz="2800" dirty="0">
                <a:latin typeface="CBS NEW" panose="02000506080000020004" pitchFamily="2" charset="0"/>
                <a:ea typeface="Verdana" panose="020B0604030504040204" pitchFamily="34" charset="0"/>
              </a:rPr>
              <a:t>:</a:t>
            </a:r>
          </a:p>
          <a:p>
            <a:pPr lvl="3">
              <a:buFont typeface="Corbel Light" panose="020B0303020204020204" pitchFamily="34" charset="0"/>
              <a:buChar char="–"/>
            </a:pPr>
            <a:r>
              <a:rPr lang="en-US" sz="2400" dirty="0">
                <a:latin typeface="CBS NEW" panose="02000506080000020004" pitchFamily="2" charset="0"/>
                <a:ea typeface="Verdana" panose="020B0604030504040204" pitchFamily="34" charset="0"/>
              </a:rPr>
              <a:t>“Consider a set of individuals and a set of groups such that the value of a tie between any two individuals is defined as the number of groups of which they both are members. The value of a tie between any two groups is de fined conversely as the number of persons who belong to both” (</a:t>
            </a:r>
            <a:r>
              <a:rPr lang="en-US" sz="2400" dirty="0" err="1">
                <a:latin typeface="CBS NEW" panose="02000506080000020004" pitchFamily="2" charset="0"/>
                <a:ea typeface="Verdana" panose="020B0604030504040204" pitchFamily="34" charset="0"/>
              </a:rPr>
              <a:t>Breiger</a:t>
            </a:r>
            <a:r>
              <a:rPr lang="en-US" sz="2400" dirty="0">
                <a:latin typeface="CBS NEW" panose="02000506080000020004" pitchFamily="2" charset="0"/>
                <a:ea typeface="Verdana" panose="020B0604030504040204" pitchFamily="34" charset="0"/>
              </a:rPr>
              <a:t> 1974: 181-2)</a:t>
            </a:r>
            <a:endParaRPr lang="da-DK" sz="2600" dirty="0">
              <a:latin typeface="CBS NEW" panose="02000506080000020004" pitchFamily="2" charset="0"/>
              <a:ea typeface="Verdana" panose="020B0604030504040204" pitchFamily="34" charset="0"/>
            </a:endParaRPr>
          </a:p>
        </p:txBody>
      </p:sp>
    </p:spTree>
    <p:extLst>
      <p:ext uri="{BB962C8B-B14F-4D97-AF65-F5344CB8AC3E}">
        <p14:creationId xmlns:p14="http://schemas.microsoft.com/office/powerpoint/2010/main" val="187626894"/>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000" dirty="0">
                <a:latin typeface="CBS NEW" panose="02000506080000020004" pitchFamily="2" charset="0"/>
              </a:rPr>
              <a:t>The </a:t>
            </a:r>
            <a:r>
              <a:rPr lang="da-DK" sz="4000" dirty="0" err="1">
                <a:latin typeface="CBS NEW" panose="02000506080000020004" pitchFamily="2" charset="0"/>
              </a:rPr>
              <a:t>duality</a:t>
            </a:r>
            <a:r>
              <a:rPr lang="da-DK" sz="4000" dirty="0">
                <a:latin typeface="CBS NEW" panose="02000506080000020004" pitchFamily="2" charset="0"/>
              </a:rPr>
              <a:t> of persons and </a:t>
            </a:r>
            <a:r>
              <a:rPr lang="da-DK" sz="4000" dirty="0" err="1">
                <a:latin typeface="CBS NEW" panose="02000506080000020004" pitchFamily="2" charset="0"/>
              </a:rPr>
              <a:t>groups</a:t>
            </a:r>
            <a:endParaRPr lang="da-DK" sz="40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1"/>
          </p:nvPr>
        </p:nvSpPr>
        <p:spPr/>
        <p:txBody>
          <a:bodyPr>
            <a:noAutofit/>
          </a:bodyPr>
          <a:lstStyle/>
          <a:p>
            <a:endParaRPr lang="da-DK" sz="2600" dirty="0">
              <a:latin typeface="CBS NEW" panose="02000506080000020004" pitchFamily="2" charset="0"/>
              <a:ea typeface="Verdana" panose="020B0604030504040204" pitchFamily="34" charset="0"/>
            </a:endParaRPr>
          </a:p>
        </p:txBody>
      </p:sp>
      <p:pic>
        <p:nvPicPr>
          <p:cNvPr id="3" name="Picture 2"/>
          <p:cNvPicPr>
            <a:picLocks noChangeAspect="1"/>
          </p:cNvPicPr>
          <p:nvPr/>
        </p:nvPicPr>
        <p:blipFill>
          <a:blip r:embed="rId2"/>
          <a:stretch>
            <a:fillRect/>
          </a:stretch>
        </p:blipFill>
        <p:spPr>
          <a:xfrm>
            <a:off x="395288" y="1124743"/>
            <a:ext cx="6441861" cy="5733257"/>
          </a:xfrm>
          <a:prstGeom prst="rect">
            <a:avLst/>
          </a:prstGeom>
        </p:spPr>
      </p:pic>
    </p:spTree>
    <p:extLst>
      <p:ext uri="{BB962C8B-B14F-4D97-AF65-F5344CB8AC3E}">
        <p14:creationId xmlns:p14="http://schemas.microsoft.com/office/powerpoint/2010/main" val="625513629"/>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5288" y="764704"/>
            <a:ext cx="8353425" cy="288032"/>
          </a:xfrm>
        </p:spPr>
        <p:txBody>
          <a:bodyPr/>
          <a:lstStyle/>
          <a:p>
            <a:r>
              <a:rPr lang="da-DK" dirty="0">
                <a:latin typeface="CBS NEW" panose="02000506080000020004" pitchFamily="2" charset="0"/>
              </a:rPr>
              <a:t>Virksomhedsstrategi i et netværksperspektiv, Forelæsning #4, 10. februar 2025</a:t>
            </a:r>
          </a:p>
        </p:txBody>
      </p:sp>
      <p:sp>
        <p:nvSpPr>
          <p:cNvPr id="3" name="Text Placeholder 2"/>
          <p:cNvSpPr>
            <a:spLocks noGrp="1"/>
          </p:cNvSpPr>
          <p:nvPr>
            <p:ph type="body" sz="quarter" idx="11"/>
          </p:nvPr>
        </p:nvSpPr>
        <p:spPr>
          <a:xfrm>
            <a:off x="395288" y="4365104"/>
            <a:ext cx="8353425" cy="648072"/>
          </a:xfrm>
        </p:spPr>
        <p:txBody>
          <a:bodyPr/>
          <a:lstStyle/>
          <a:p>
            <a:r>
              <a:rPr lang="en-US" sz="8000" dirty="0">
                <a:latin typeface="CBS NEW" panose="02000506080000020004" pitchFamily="2" charset="0"/>
              </a:rPr>
              <a:t>3</a:t>
            </a:r>
            <a:r>
              <a:rPr lang="en-US" sz="8000" noProof="0" dirty="0">
                <a:latin typeface="CBS NEW" panose="02000506080000020004" pitchFamily="2" charset="0"/>
              </a:rPr>
              <a:t>. </a:t>
            </a:r>
            <a:r>
              <a:rPr lang="en-US" sz="8000" noProof="0" dirty="0" err="1">
                <a:latin typeface="CBS NEW" panose="02000506080000020004" pitchFamily="2" charset="0"/>
              </a:rPr>
              <a:t>Øvelse</a:t>
            </a:r>
            <a:r>
              <a:rPr lang="en-US" sz="8000" noProof="0" dirty="0">
                <a:latin typeface="CBS NEW" panose="02000506080000020004" pitchFamily="2" charset="0"/>
              </a:rPr>
              <a:t>: </a:t>
            </a:r>
            <a:r>
              <a:rPr lang="en-US" sz="8000" noProof="0" dirty="0" err="1">
                <a:latin typeface="CBS NEW" panose="02000506080000020004" pitchFamily="2" charset="0"/>
              </a:rPr>
              <a:t>Netværksanalyse</a:t>
            </a:r>
            <a:r>
              <a:rPr lang="en-US" sz="8000" noProof="0" dirty="0">
                <a:latin typeface="CBS NEW" panose="02000506080000020004" pitchFamily="2" charset="0"/>
              </a:rPr>
              <a:t> </a:t>
            </a:r>
            <a:r>
              <a:rPr lang="en-US" sz="8000" noProof="0" dirty="0" err="1">
                <a:latin typeface="CBS NEW" panose="02000506080000020004" pitchFamily="2" charset="0"/>
              </a:rPr>
              <a:t>af</a:t>
            </a:r>
            <a:r>
              <a:rPr lang="en-US" sz="8000" noProof="0" dirty="0">
                <a:latin typeface="CBS NEW" panose="02000506080000020004" pitchFamily="2" charset="0"/>
              </a:rPr>
              <a:t> EB 6. semester</a:t>
            </a:r>
            <a:endParaRPr lang="da-DK" sz="8000" noProof="0" dirty="0">
              <a:latin typeface="CBS NEW" panose="02000506080000020004" pitchFamily="2" charset="0"/>
            </a:endParaRPr>
          </a:p>
        </p:txBody>
      </p:sp>
      <p:cxnSp>
        <p:nvCxnSpPr>
          <p:cNvPr id="7" name="Straight Connector 6"/>
          <p:cNvCxnSpPr/>
          <p:nvPr/>
        </p:nvCxnSpPr>
        <p:spPr>
          <a:xfrm>
            <a:off x="395288" y="1052736"/>
            <a:ext cx="7993136"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8" name="Text Placeholder 2"/>
          <p:cNvSpPr txBox="1">
            <a:spLocks/>
          </p:cNvSpPr>
          <p:nvPr/>
        </p:nvSpPr>
        <p:spPr bwMode="auto">
          <a:xfrm>
            <a:off x="395536" y="4725145"/>
            <a:ext cx="8353425" cy="5760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defTabSz="914258" rtl="0" eaLnBrk="1" fontAlgn="base" hangingPunct="1">
              <a:lnSpc>
                <a:spcPct val="80000"/>
              </a:lnSpc>
              <a:spcBef>
                <a:spcPct val="0"/>
              </a:spcBef>
              <a:spcAft>
                <a:spcPts val="300"/>
              </a:spcAft>
              <a:buFont typeface="Arial" charset="0"/>
              <a:defRPr lang="en-US" sz="3600" b="1" kern="1200">
                <a:solidFill>
                  <a:srgbClr val="4967AA"/>
                </a:solidFill>
                <a:latin typeface="+mn-lt"/>
                <a:ea typeface="+mn-ea"/>
                <a:cs typeface="+mn-cs"/>
              </a:defRPr>
            </a:lvl1pPr>
            <a:lvl2pPr marL="182281" indent="-182281"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2pPr>
            <a:lvl3pPr marL="357444" indent="-175162"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3pPr>
            <a:lvl4pPr marL="539725" indent="-182281" algn="l" defTabSz="914258" rtl="0" eaLnBrk="1" fontAlgn="base" hangingPunct="1">
              <a:spcBef>
                <a:spcPct val="0"/>
              </a:spcBef>
              <a:spcAft>
                <a:spcPts val="600"/>
              </a:spcAft>
              <a:buFont typeface="Arial" charset="0"/>
              <a:buChar char="•"/>
              <a:defRPr lang="en-US" kern="1200" dirty="0">
                <a:solidFill>
                  <a:schemeClr val="tx1"/>
                </a:solidFill>
                <a:latin typeface="+mn-lt"/>
                <a:ea typeface="+mj-ea"/>
                <a:cs typeface="+mj-cs"/>
              </a:defRPr>
            </a:lvl4pPr>
            <a:lvl5pPr marL="712039" indent="-172314" algn="l" defTabSz="914258" rtl="0" eaLnBrk="1" fontAlgn="base" hangingPunct="1">
              <a:spcBef>
                <a:spcPct val="0"/>
              </a:spcBef>
              <a:spcAft>
                <a:spcPts val="600"/>
              </a:spcAft>
              <a:buFont typeface="Arial" charset="0"/>
              <a:buChar char="‒"/>
              <a:defRPr lang="en-GB" kern="1200" dirty="0">
                <a:solidFill>
                  <a:schemeClr val="tx1"/>
                </a:solidFill>
                <a:latin typeface="+mn-lt"/>
                <a:ea typeface="+mj-ea"/>
                <a:cs typeface="+mj-cs"/>
              </a:defRPr>
            </a:lvl5pPr>
            <a:lvl6pPr marL="803179" indent="-163770" algn="l" defTabSz="820269" rtl="0" eaLnBrk="1" latinLnBrk="0" hangingPunct="1">
              <a:spcBef>
                <a:spcPts val="0"/>
              </a:spcBef>
              <a:spcAft>
                <a:spcPts val="269"/>
              </a:spcAft>
              <a:buFont typeface="Arial" pitchFamily="34" charset="0"/>
              <a:buChar char="•"/>
              <a:defRPr sz="1400" kern="1200" baseline="0">
                <a:solidFill>
                  <a:schemeClr val="accent1"/>
                </a:solidFill>
                <a:latin typeface="+mn-lt"/>
                <a:ea typeface="+mn-ea"/>
                <a:cs typeface="+mn-cs"/>
              </a:defRPr>
            </a:lvl6pPr>
            <a:lvl7pPr marL="968371" indent="-165192"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7pPr>
            <a:lvl8pPr marL="1123597" indent="-155225"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8pPr>
            <a:lvl9pPr marL="1287365" indent="-163770"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9pPr>
          </a:lstStyle>
          <a:p>
            <a:endParaRPr lang="en-US" sz="2800" dirty="0">
              <a:latin typeface="CBS NEW" panose="02000506080000020004" pitchFamily="2" charset="0"/>
            </a:endParaRPr>
          </a:p>
        </p:txBody>
      </p:sp>
    </p:spTree>
    <p:extLst>
      <p:ext uri="{BB962C8B-B14F-4D97-AF65-F5344CB8AC3E}">
        <p14:creationId xmlns:p14="http://schemas.microsoft.com/office/powerpoint/2010/main" val="55330748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Øvelse</a:t>
            </a:r>
            <a:endParaRPr lang="da-DK" sz="4800" noProof="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1"/>
          </p:nvPr>
        </p:nvSpPr>
        <p:spPr/>
        <p:txBody>
          <a:bodyPr>
            <a:normAutofit lnSpcReduction="10000"/>
          </a:bodyPr>
          <a:lstStyle/>
          <a:p>
            <a:pPr marL="514350" indent="-514350">
              <a:buFont typeface="+mj-lt"/>
              <a:buAutoNum type="arabicPeriod"/>
            </a:pPr>
            <a:r>
              <a:rPr lang="da-DK" sz="2600" dirty="0">
                <a:latin typeface="CBS NEW" panose="02000506080000020004" pitchFamily="2" charset="0"/>
                <a:ea typeface="Verdana" panose="020B0604030504040204" pitchFamily="34" charset="0"/>
              </a:rPr>
              <a:t>Finde netværk (eller individer): Alle Eksamensgrupper</a:t>
            </a:r>
          </a:p>
          <a:p>
            <a:pPr marL="928944" lvl="2" indent="-571500">
              <a:buFont typeface="+mj-lt"/>
              <a:buAutoNum type="romanUcPeriod"/>
            </a:pPr>
            <a:r>
              <a:rPr lang="en-US" sz="2600" dirty="0" err="1">
                <a:latin typeface="CBS NEW" panose="02000506080000020004" pitchFamily="2" charset="0"/>
                <a:ea typeface="Verdana" panose="020B0604030504040204" pitchFamily="34" charset="0"/>
              </a:rPr>
              <a:t>Skriv</a:t>
            </a:r>
            <a:r>
              <a:rPr lang="en-US" sz="2600" dirty="0">
                <a:latin typeface="CBS NEW" panose="02000506080000020004" pitchFamily="2" charset="0"/>
                <a:ea typeface="Verdana" panose="020B0604030504040204" pitchFamily="34" charset="0"/>
              </a:rPr>
              <a:t> </a:t>
            </a:r>
            <a:r>
              <a:rPr lang="en-US" sz="2600" dirty="0" err="1">
                <a:latin typeface="CBS NEW" panose="02000506080000020004" pitchFamily="2" charset="0"/>
                <a:ea typeface="Verdana" panose="020B0604030504040204" pitchFamily="34" charset="0"/>
              </a:rPr>
              <a:t>jeres</a:t>
            </a:r>
            <a:r>
              <a:rPr lang="en-US" sz="2600" dirty="0">
                <a:latin typeface="CBS NEW" panose="02000506080000020004" pitchFamily="2" charset="0"/>
                <a:ea typeface="Verdana" panose="020B0604030504040204" pitchFamily="34" charset="0"/>
              </a:rPr>
              <a:t> </a:t>
            </a:r>
            <a:r>
              <a:rPr lang="en-US" sz="2600" dirty="0" err="1">
                <a:latin typeface="CBS NEW" panose="02000506080000020004" pitchFamily="2" charset="0"/>
                <a:ea typeface="Verdana" panose="020B0604030504040204" pitchFamily="34" charset="0"/>
              </a:rPr>
              <a:t>navne</a:t>
            </a:r>
            <a:r>
              <a:rPr lang="en-US" sz="2600" dirty="0">
                <a:latin typeface="CBS NEW" panose="02000506080000020004" pitchFamily="2" charset="0"/>
                <a:ea typeface="Verdana" panose="020B0604030504040204" pitchFamily="34" charset="0"/>
              </a:rPr>
              <a:t> (og </a:t>
            </a:r>
            <a:r>
              <a:rPr lang="en-US" sz="2600" dirty="0" err="1">
                <a:latin typeface="CBS NEW" panose="02000506080000020004" pitchFamily="2" charset="0"/>
                <a:ea typeface="Verdana" panose="020B0604030504040204" pitchFamily="34" charset="0"/>
              </a:rPr>
              <a:t>primær</a:t>
            </a:r>
            <a:r>
              <a:rPr lang="en-US" sz="2600" dirty="0">
                <a:latin typeface="CBS NEW" panose="02000506080000020004" pitchFamily="2" charset="0"/>
                <a:ea typeface="Verdana" panose="020B0604030504040204" pitchFamily="34" charset="0"/>
              </a:rPr>
              <a:t> X hold) </a:t>
            </a:r>
            <a:r>
              <a:rPr lang="en-US" sz="2600" dirty="0" err="1">
                <a:latin typeface="CBS NEW" panose="02000506080000020004" pitchFamily="2" charset="0"/>
                <a:ea typeface="Verdana" panose="020B0604030504040204" pitchFamily="34" charset="0"/>
              </a:rPr>
              <a:t>i</a:t>
            </a:r>
            <a:r>
              <a:rPr lang="en-US" sz="2600" dirty="0">
                <a:latin typeface="CBS NEW" panose="02000506080000020004" pitchFamily="2" charset="0"/>
                <a:ea typeface="Verdana" panose="020B0604030504040204" pitchFamily="34" charset="0"/>
              </a:rPr>
              <a:t> sheet 2 “</a:t>
            </a:r>
            <a:r>
              <a:rPr lang="en-US" sz="2600" dirty="0" err="1">
                <a:latin typeface="CBS NEW" panose="02000506080000020004" pitchFamily="2" charset="0"/>
                <a:ea typeface="Verdana" panose="020B0604030504040204" pitchFamily="34" charset="0"/>
              </a:rPr>
              <a:t>Grupper</a:t>
            </a:r>
            <a:r>
              <a:rPr lang="en-US" sz="2600" dirty="0">
                <a:latin typeface="CBS NEW" panose="02000506080000020004" pitchFamily="2" charset="0"/>
                <a:ea typeface="Verdana" panose="020B0604030504040204" pitchFamily="34" charset="0"/>
              </a:rPr>
              <a:t>” (NB: </a:t>
            </a:r>
            <a:r>
              <a:rPr lang="en-US" sz="2600" dirty="0" err="1">
                <a:latin typeface="CBS NEW" panose="02000506080000020004" pitchFamily="2" charset="0"/>
                <a:ea typeface="Verdana" panose="020B0604030504040204" pitchFamily="34" charset="0"/>
              </a:rPr>
              <a:t>Frivilligt</a:t>
            </a:r>
            <a:r>
              <a:rPr lang="en-US" sz="2600" dirty="0">
                <a:latin typeface="CBS NEW" panose="02000506080000020004" pitchFamily="2" charset="0"/>
                <a:ea typeface="Verdana" panose="020B0604030504040204" pitchFamily="34" charset="0"/>
              </a:rPr>
              <a:t>!) </a:t>
            </a:r>
            <a:endParaRPr lang="da-DK" sz="2600" dirty="0">
              <a:latin typeface="CBS NEW" panose="02000506080000020004" pitchFamily="2" charset="0"/>
              <a:ea typeface="Verdana" panose="020B0604030504040204" pitchFamily="34" charset="0"/>
            </a:endParaRPr>
          </a:p>
          <a:p>
            <a:pPr marL="514350" indent="-514350">
              <a:buFont typeface="+mj-lt"/>
              <a:buAutoNum type="arabicPeriod"/>
            </a:pPr>
            <a:r>
              <a:rPr lang="da-DK" sz="2600" dirty="0">
                <a:latin typeface="CBS NEW" panose="02000506080000020004" pitchFamily="2" charset="0"/>
                <a:ea typeface="Verdana" panose="020B0604030504040204" pitchFamily="34" charset="0"/>
              </a:rPr>
              <a:t>Bestemme forbindelse: Samarbejde med andre grupper</a:t>
            </a:r>
          </a:p>
          <a:p>
            <a:pPr marL="931500" lvl="2" indent="-571500">
              <a:buFont typeface="+mj-lt"/>
              <a:buAutoNum type="romanUcPeriod"/>
            </a:pPr>
            <a:r>
              <a:rPr lang="en-US" sz="2400" dirty="0" err="1">
                <a:latin typeface="CBS NEW" panose="02000506080000020004" pitchFamily="2" charset="0"/>
                <a:ea typeface="Verdana" panose="020B0604030504040204" pitchFamily="34" charset="0"/>
              </a:rPr>
              <a:t>Deler</a:t>
            </a:r>
            <a:r>
              <a:rPr lang="en-US" sz="2400" dirty="0">
                <a:latin typeface="CBS NEW" panose="02000506080000020004" pitchFamily="2" charset="0"/>
                <a:ea typeface="Verdana" panose="020B0604030504040204" pitchFamily="34" charset="0"/>
              </a:rPr>
              <a:t> man </a:t>
            </a:r>
            <a:r>
              <a:rPr lang="en-US" sz="2400" dirty="0" err="1">
                <a:latin typeface="CBS NEW" panose="02000506080000020004" pitchFamily="2" charset="0"/>
                <a:ea typeface="Verdana" panose="020B0604030504040204" pitchFamily="34" charset="0"/>
              </a:rPr>
              <a:t>viden</a:t>
            </a:r>
            <a:r>
              <a:rPr lang="en-US" sz="2400" dirty="0">
                <a:latin typeface="CBS NEW" panose="02000506080000020004" pitchFamily="2" charset="0"/>
                <a:ea typeface="Verdana" panose="020B0604030504040204" pitchFamily="34" charset="0"/>
              </a:rPr>
              <a:t> og giver sparring med </a:t>
            </a:r>
            <a:r>
              <a:rPr lang="en-US" sz="2400" dirty="0" err="1">
                <a:latin typeface="CBS NEW" panose="02000506080000020004" pitchFamily="2" charset="0"/>
                <a:ea typeface="Verdana" panose="020B0604030504040204" pitchFamily="34" charset="0"/>
              </a:rPr>
              <a:t>medlemmer</a:t>
            </a:r>
            <a:r>
              <a:rPr lang="en-US" sz="2400" dirty="0">
                <a:latin typeface="CBS NEW" panose="02000506080000020004" pitchFamily="2" charset="0"/>
                <a:ea typeface="Verdana" panose="020B0604030504040204" pitchFamily="34" charset="0"/>
              </a:rPr>
              <a:t> </a:t>
            </a:r>
            <a:r>
              <a:rPr lang="en-US" sz="2400" dirty="0" err="1">
                <a:latin typeface="CBS NEW" panose="02000506080000020004" pitchFamily="2" charset="0"/>
                <a:ea typeface="Verdana" panose="020B0604030504040204" pitchFamily="34" charset="0"/>
              </a:rPr>
              <a:t>af</a:t>
            </a:r>
            <a:r>
              <a:rPr lang="en-US" sz="2400" dirty="0">
                <a:latin typeface="CBS NEW" panose="02000506080000020004" pitchFamily="2" charset="0"/>
                <a:ea typeface="Verdana" panose="020B0604030504040204" pitchFamily="34" charset="0"/>
              </a:rPr>
              <a:t> </a:t>
            </a:r>
            <a:r>
              <a:rPr lang="en-US" sz="2400" dirty="0" err="1">
                <a:latin typeface="CBS NEW" panose="02000506080000020004" pitchFamily="2" charset="0"/>
                <a:ea typeface="Verdana" panose="020B0604030504040204" pitchFamily="34" charset="0"/>
              </a:rPr>
              <a:t>en</a:t>
            </a:r>
            <a:r>
              <a:rPr lang="en-US" sz="2400" dirty="0">
                <a:latin typeface="CBS NEW" panose="02000506080000020004" pitchFamily="2" charset="0"/>
                <a:ea typeface="Verdana" panose="020B0604030504040204" pitchFamily="34" charset="0"/>
              </a:rPr>
              <a:t> </a:t>
            </a:r>
            <a:r>
              <a:rPr lang="en-US" sz="2400" dirty="0" err="1">
                <a:latin typeface="CBS NEW" panose="02000506080000020004" pitchFamily="2" charset="0"/>
                <a:ea typeface="Verdana" panose="020B0604030504040204" pitchFamily="34" charset="0"/>
              </a:rPr>
              <a:t>anden</a:t>
            </a:r>
            <a:r>
              <a:rPr lang="en-US" sz="2400" dirty="0">
                <a:latin typeface="CBS NEW" panose="02000506080000020004" pitchFamily="2" charset="0"/>
                <a:ea typeface="Verdana" panose="020B0604030504040204" pitchFamily="34" charset="0"/>
              </a:rPr>
              <a:t> </a:t>
            </a:r>
            <a:r>
              <a:rPr lang="en-US" sz="2400" dirty="0" err="1">
                <a:latin typeface="CBS NEW" panose="02000506080000020004" pitchFamily="2" charset="0"/>
                <a:ea typeface="Verdana" panose="020B0604030504040204" pitchFamily="34" charset="0"/>
              </a:rPr>
              <a:t>eksamensgruppe</a:t>
            </a:r>
            <a:endParaRPr lang="da-DK" sz="2400" dirty="0">
              <a:latin typeface="CBS NEW" panose="02000506080000020004" pitchFamily="2" charset="0"/>
              <a:ea typeface="Verdana" panose="020B0604030504040204" pitchFamily="34" charset="0"/>
            </a:endParaRPr>
          </a:p>
          <a:p>
            <a:pPr marL="931500" lvl="2" indent="-571500">
              <a:buFont typeface="+mj-lt"/>
              <a:buAutoNum type="romanUcPeriod"/>
            </a:pPr>
            <a:r>
              <a:rPr lang="da-DK" sz="2400" dirty="0">
                <a:latin typeface="CBS NEW" panose="02000506080000020004" pitchFamily="2" charset="0"/>
                <a:ea typeface="Verdana" panose="020B0604030504040204" pitchFamily="34" charset="0"/>
              </a:rPr>
              <a:t>Rettet: I skriver hvem jeres studiegruppe får viden fra</a:t>
            </a:r>
          </a:p>
          <a:p>
            <a:pPr marL="931500" lvl="2" indent="-571500">
              <a:buFont typeface="+mj-lt"/>
              <a:buAutoNum type="romanUcPeriod"/>
            </a:pPr>
            <a:r>
              <a:rPr lang="en-US" sz="2400" dirty="0">
                <a:latin typeface="CBS NEW" panose="02000506080000020004" pitchFamily="2" charset="0"/>
                <a:ea typeface="Verdana" panose="020B0604030504040204" pitchFamily="34" charset="0"/>
              </a:rPr>
              <a:t>Vi </a:t>
            </a:r>
            <a:r>
              <a:rPr lang="en-US" sz="2400" dirty="0" err="1">
                <a:latin typeface="CBS NEW" panose="02000506080000020004" pitchFamily="2" charset="0"/>
                <a:ea typeface="Verdana" panose="020B0604030504040204" pitchFamily="34" charset="0"/>
              </a:rPr>
              <a:t>taler</a:t>
            </a:r>
            <a:r>
              <a:rPr lang="en-US" sz="2400" dirty="0">
                <a:latin typeface="CBS NEW" panose="02000506080000020004" pitchFamily="2" charset="0"/>
                <a:ea typeface="Verdana" panose="020B0604030504040204" pitchFamily="34" charset="0"/>
              </a:rPr>
              <a:t> kun om </a:t>
            </a:r>
            <a:r>
              <a:rPr lang="en-US" sz="2400" dirty="0" err="1">
                <a:latin typeface="CBS NEW" panose="02000506080000020004" pitchFamily="2" charset="0"/>
                <a:ea typeface="Verdana" panose="020B0604030504040204" pitchFamily="34" charset="0"/>
              </a:rPr>
              <a:t>en</a:t>
            </a:r>
            <a:r>
              <a:rPr lang="en-US" sz="2400" dirty="0">
                <a:latin typeface="CBS NEW" panose="02000506080000020004" pitchFamily="2" charset="0"/>
                <a:ea typeface="Verdana" panose="020B0604030504040204" pitchFamily="34" charset="0"/>
              </a:rPr>
              <a:t> type (</a:t>
            </a:r>
            <a:r>
              <a:rPr lang="en-US" sz="2400" dirty="0" err="1">
                <a:latin typeface="CBS NEW" panose="02000506080000020004" pitchFamily="2" charset="0"/>
                <a:ea typeface="Verdana" panose="020B0604030504040204" pitchFamily="34" charset="0"/>
              </a:rPr>
              <a:t>samarbejde</a:t>
            </a:r>
            <a:r>
              <a:rPr lang="en-US" sz="2400" dirty="0">
                <a:latin typeface="CBS NEW" panose="02000506080000020004" pitchFamily="2" charset="0"/>
                <a:ea typeface="Verdana" panose="020B0604030504040204" pitchFamily="34" charset="0"/>
              </a:rPr>
              <a:t>). </a:t>
            </a:r>
            <a:r>
              <a:rPr lang="en-US" sz="2400" dirty="0" err="1">
                <a:latin typeface="CBS NEW" panose="02000506080000020004" pitchFamily="2" charset="0"/>
                <a:ea typeface="Verdana" panose="020B0604030504040204" pitchFamily="34" charset="0"/>
              </a:rPr>
              <a:t>Dette</a:t>
            </a:r>
            <a:r>
              <a:rPr lang="en-US" sz="2400" dirty="0">
                <a:latin typeface="CBS NEW" panose="02000506080000020004" pitchFamily="2" charset="0"/>
                <a:ea typeface="Verdana" panose="020B0604030504040204" pitchFamily="34" charset="0"/>
              </a:rPr>
              <a:t> </a:t>
            </a:r>
            <a:r>
              <a:rPr lang="en-US" sz="2400" dirty="0" err="1">
                <a:latin typeface="CBS NEW" panose="02000506080000020004" pitchFamily="2" charset="0"/>
                <a:ea typeface="Verdana" panose="020B0604030504040204" pitchFamily="34" charset="0"/>
              </a:rPr>
              <a:t>vægtes</a:t>
            </a:r>
            <a:r>
              <a:rPr lang="en-US" sz="2400" dirty="0">
                <a:latin typeface="CBS NEW" panose="02000506080000020004" pitchFamily="2" charset="0"/>
                <a:ea typeface="Verdana" panose="020B0604030504040204" pitchFamily="34" charset="0"/>
              </a:rPr>
              <a:t>: 0: </a:t>
            </a:r>
            <a:r>
              <a:rPr lang="en-US" sz="2400" dirty="0" err="1">
                <a:latin typeface="CBS NEW" panose="02000506080000020004" pitchFamily="2" charset="0"/>
                <a:ea typeface="Verdana" panose="020B0604030504040204" pitchFamily="34" charset="0"/>
              </a:rPr>
              <a:t>Intet</a:t>
            </a:r>
            <a:r>
              <a:rPr lang="en-US" sz="2400" dirty="0">
                <a:latin typeface="CBS NEW" panose="02000506080000020004" pitchFamily="2" charset="0"/>
                <a:ea typeface="Verdana" panose="020B0604030504040204" pitchFamily="34" charset="0"/>
              </a:rPr>
              <a:t> </a:t>
            </a:r>
            <a:r>
              <a:rPr lang="en-US" sz="2400" dirty="0" err="1">
                <a:latin typeface="CBS NEW" panose="02000506080000020004" pitchFamily="2" charset="0"/>
                <a:ea typeface="Verdana" panose="020B0604030504040204" pitchFamily="34" charset="0"/>
              </a:rPr>
              <a:t>samarbejde</a:t>
            </a:r>
            <a:r>
              <a:rPr lang="en-US" sz="2400" dirty="0">
                <a:latin typeface="CBS NEW" panose="02000506080000020004" pitchFamily="2" charset="0"/>
                <a:ea typeface="Verdana" panose="020B0604030504040204" pitchFamily="34" charset="0"/>
              </a:rPr>
              <a:t>, 1: </a:t>
            </a:r>
            <a:r>
              <a:rPr lang="en-US" sz="2400" dirty="0" err="1">
                <a:latin typeface="CBS NEW" panose="02000506080000020004" pitchFamily="2" charset="0"/>
                <a:ea typeface="Verdana" panose="020B0604030504040204" pitchFamily="34" charset="0"/>
              </a:rPr>
              <a:t>Perifært</a:t>
            </a:r>
            <a:r>
              <a:rPr lang="en-US" sz="2400" dirty="0">
                <a:latin typeface="CBS NEW" panose="02000506080000020004" pitchFamily="2" charset="0"/>
                <a:ea typeface="Verdana" panose="020B0604030504040204" pitchFamily="34" charset="0"/>
              </a:rPr>
              <a:t> </a:t>
            </a:r>
            <a:r>
              <a:rPr lang="en-US" sz="2400" dirty="0" err="1">
                <a:latin typeface="CBS NEW" panose="02000506080000020004" pitchFamily="2" charset="0"/>
                <a:ea typeface="Verdana" panose="020B0604030504040204" pitchFamily="34" charset="0"/>
              </a:rPr>
              <a:t>samarbejde</a:t>
            </a:r>
            <a:r>
              <a:rPr lang="en-US" sz="2400" dirty="0">
                <a:latin typeface="CBS NEW" panose="02000506080000020004" pitchFamily="2" charset="0"/>
                <a:ea typeface="Verdana" panose="020B0604030504040204" pitchFamily="34" charset="0"/>
              </a:rPr>
              <a:t>; 2: </a:t>
            </a:r>
            <a:r>
              <a:rPr lang="en-US" sz="2400" dirty="0" err="1">
                <a:latin typeface="CBS NEW" panose="02000506080000020004" pitchFamily="2" charset="0"/>
                <a:ea typeface="Verdana" panose="020B0604030504040204" pitchFamily="34" charset="0"/>
              </a:rPr>
              <a:t>Tæt</a:t>
            </a:r>
            <a:r>
              <a:rPr lang="en-US" sz="2400" dirty="0">
                <a:latin typeface="CBS NEW" panose="02000506080000020004" pitchFamily="2" charset="0"/>
                <a:ea typeface="Verdana" panose="020B0604030504040204" pitchFamily="34" charset="0"/>
              </a:rPr>
              <a:t> </a:t>
            </a:r>
            <a:r>
              <a:rPr lang="en-US" sz="2400" dirty="0" err="1">
                <a:latin typeface="CBS NEW" panose="02000506080000020004" pitchFamily="2" charset="0"/>
                <a:ea typeface="Verdana" panose="020B0604030504040204" pitchFamily="34" charset="0"/>
              </a:rPr>
              <a:t>samarbejde</a:t>
            </a:r>
            <a:r>
              <a:rPr lang="en-US" sz="2400" dirty="0">
                <a:latin typeface="CBS NEW" panose="02000506080000020004" pitchFamily="2" charset="0"/>
                <a:ea typeface="Verdana" panose="020B0604030504040204" pitchFamily="34" charset="0"/>
              </a:rPr>
              <a:t>; 3: </a:t>
            </a:r>
            <a:r>
              <a:rPr lang="en-US" sz="2400" dirty="0" err="1">
                <a:latin typeface="CBS NEW" panose="02000506080000020004" pitchFamily="2" charset="0"/>
                <a:ea typeface="Verdana" panose="020B0604030504040204" pitchFamily="34" charset="0"/>
              </a:rPr>
              <a:t>Meget</a:t>
            </a:r>
            <a:r>
              <a:rPr lang="en-US" sz="2400" dirty="0">
                <a:latin typeface="CBS NEW" panose="02000506080000020004" pitchFamily="2" charset="0"/>
                <a:ea typeface="Verdana" panose="020B0604030504040204" pitchFamily="34" charset="0"/>
              </a:rPr>
              <a:t> </a:t>
            </a:r>
            <a:r>
              <a:rPr lang="en-US" sz="2400" dirty="0" err="1">
                <a:latin typeface="CBS NEW" panose="02000506080000020004" pitchFamily="2" charset="0"/>
                <a:ea typeface="Verdana" panose="020B0604030504040204" pitchFamily="34" charset="0"/>
              </a:rPr>
              <a:t>tæt</a:t>
            </a:r>
            <a:r>
              <a:rPr lang="en-US" sz="2400" dirty="0">
                <a:latin typeface="CBS NEW" panose="02000506080000020004" pitchFamily="2" charset="0"/>
                <a:ea typeface="Verdana" panose="020B0604030504040204" pitchFamily="34" charset="0"/>
              </a:rPr>
              <a:t> </a:t>
            </a:r>
            <a:r>
              <a:rPr lang="en-US" sz="2400" dirty="0" err="1">
                <a:latin typeface="CBS NEW" panose="02000506080000020004" pitchFamily="2" charset="0"/>
                <a:ea typeface="Verdana" panose="020B0604030504040204" pitchFamily="34" charset="0"/>
              </a:rPr>
              <a:t>samarbejde</a:t>
            </a:r>
            <a:r>
              <a:rPr lang="en-US" sz="2400" dirty="0">
                <a:latin typeface="CBS NEW" panose="02000506080000020004" pitchFamily="2" charset="0"/>
                <a:ea typeface="Verdana" panose="020B0604030504040204" pitchFamily="34" charset="0"/>
              </a:rPr>
              <a:t> </a:t>
            </a:r>
            <a:endParaRPr lang="da-DK" sz="2400" dirty="0">
              <a:latin typeface="CBS NEW" panose="02000506080000020004" pitchFamily="2" charset="0"/>
              <a:ea typeface="Verdana" panose="020B0604030504040204" pitchFamily="34" charset="0"/>
            </a:endParaRPr>
          </a:p>
          <a:p>
            <a:pPr marL="514350" indent="-514350">
              <a:buFont typeface="+mj-lt"/>
              <a:buAutoNum type="arabicPeriod"/>
            </a:pPr>
            <a:r>
              <a:rPr lang="da-DK" sz="2600" dirty="0">
                <a:latin typeface="CBS NEW" panose="02000506080000020004" pitchFamily="2" charset="0"/>
                <a:ea typeface="Verdana" panose="020B0604030504040204" pitchFamily="34" charset="0"/>
              </a:rPr>
              <a:t>Registrere netværket: Jer i google </a:t>
            </a:r>
            <a:r>
              <a:rPr lang="da-DK" sz="2600" dirty="0" err="1">
                <a:latin typeface="CBS NEW" panose="02000506080000020004" pitchFamily="2" charset="0"/>
                <a:ea typeface="Verdana" panose="020B0604030504040204" pitchFamily="34" charset="0"/>
              </a:rPr>
              <a:t>sheets</a:t>
            </a:r>
            <a:r>
              <a:rPr lang="da-DK" sz="2600" dirty="0">
                <a:latin typeface="CBS NEW" panose="02000506080000020004" pitchFamily="2" charset="0"/>
                <a:ea typeface="Verdana" panose="020B0604030504040204" pitchFamily="34" charset="0"/>
              </a:rPr>
              <a:t>: </a:t>
            </a:r>
            <a:r>
              <a:rPr lang="da-DK" sz="2600" dirty="0">
                <a:latin typeface="CBS NEW" panose="02000506080000020004" pitchFamily="2" charset="0"/>
                <a:ea typeface="Verdana" panose="020B0604030504040204" pitchFamily="34" charset="0"/>
                <a:hlinkClick r:id="rId2"/>
              </a:rPr>
              <a:t>https://docs.google.com/spreadsheets/d/12ewDPQkQqDUAywUAYFhzviwGgHxvxOqUs_36Rj8H2mo/edit?usp=sharing</a:t>
            </a:r>
            <a:endParaRPr lang="da-DK" sz="2600" dirty="0">
              <a:latin typeface="CBS NEW" panose="02000506080000020004" pitchFamily="2" charset="0"/>
              <a:ea typeface="Verdana" panose="020B0604030504040204" pitchFamily="34" charset="0"/>
            </a:endParaRPr>
          </a:p>
          <a:p>
            <a:pPr marL="928944" lvl="2" indent="-571500">
              <a:buFont typeface="+mj-lt"/>
              <a:buAutoNum type="romanUcPeriod"/>
            </a:pPr>
            <a:r>
              <a:rPr lang="en-US" sz="2600" dirty="0" err="1">
                <a:latin typeface="CBS NEW" panose="02000506080000020004" pitchFamily="2" charset="0"/>
                <a:ea typeface="Verdana" panose="020B0604030504040204" pitchFamily="34" charset="0"/>
              </a:rPr>
              <a:t>Vandret</a:t>
            </a:r>
            <a:r>
              <a:rPr lang="en-US" sz="2600" dirty="0">
                <a:latin typeface="CBS NEW" panose="02000506080000020004" pitchFamily="2" charset="0"/>
                <a:ea typeface="Verdana" panose="020B0604030504040204" pitchFamily="34" charset="0"/>
              </a:rPr>
              <a:t>, </a:t>
            </a:r>
            <a:r>
              <a:rPr lang="en-US" sz="2600" dirty="0" err="1">
                <a:latin typeface="CBS NEW" panose="02000506080000020004" pitchFamily="2" charset="0"/>
                <a:ea typeface="Verdana" panose="020B0604030504040204" pitchFamily="34" charset="0"/>
              </a:rPr>
              <a:t>Markér</a:t>
            </a:r>
            <a:r>
              <a:rPr lang="en-US" sz="2600" dirty="0">
                <a:latin typeface="CBS NEW" panose="02000506080000020004" pitchFamily="2" charset="0"/>
                <a:ea typeface="Verdana" panose="020B0604030504040204" pitchFamily="34" charset="0"/>
              </a:rPr>
              <a:t> </a:t>
            </a:r>
            <a:r>
              <a:rPr lang="en-US" sz="2600" dirty="0" err="1">
                <a:latin typeface="CBS NEW" panose="02000506080000020004" pitchFamily="2" charset="0"/>
                <a:ea typeface="Verdana" panose="020B0604030504040204" pitchFamily="34" charset="0"/>
              </a:rPr>
              <a:t>gruppenavn</a:t>
            </a:r>
            <a:r>
              <a:rPr lang="en-US" sz="2600" dirty="0">
                <a:latin typeface="CBS NEW" panose="02000506080000020004" pitchFamily="2" charset="0"/>
                <a:ea typeface="Verdana" panose="020B0604030504040204" pitchFamily="34" charset="0"/>
              </a:rPr>
              <a:t> med </a:t>
            </a:r>
            <a:r>
              <a:rPr lang="en-US" sz="2600" dirty="0" err="1">
                <a:latin typeface="CBS NEW" panose="02000506080000020004" pitchFamily="2" charset="0"/>
                <a:ea typeface="Verdana" panose="020B0604030504040204" pitchFamily="34" charset="0"/>
              </a:rPr>
              <a:t>grønt</a:t>
            </a:r>
            <a:r>
              <a:rPr lang="en-US" sz="2600" dirty="0">
                <a:latin typeface="CBS NEW" panose="02000506080000020004" pitchFamily="2" charset="0"/>
                <a:ea typeface="Verdana" panose="020B0604030504040204" pitchFamily="34" charset="0"/>
              </a:rPr>
              <a:t>, </a:t>
            </a:r>
            <a:r>
              <a:rPr lang="en-US" sz="2600" dirty="0" err="1">
                <a:latin typeface="CBS NEW" panose="02000506080000020004" pitchFamily="2" charset="0"/>
                <a:ea typeface="Verdana" panose="020B0604030504040204" pitchFamily="34" charset="0"/>
              </a:rPr>
              <a:t>når</a:t>
            </a:r>
            <a:r>
              <a:rPr lang="en-US" sz="2600" dirty="0">
                <a:latin typeface="CBS NEW" panose="02000506080000020004" pitchFamily="2" charset="0"/>
                <a:ea typeface="Verdana" panose="020B0604030504040204" pitchFamily="34" charset="0"/>
              </a:rPr>
              <a:t> I </a:t>
            </a:r>
            <a:r>
              <a:rPr lang="en-US" sz="2600" dirty="0" err="1">
                <a:latin typeface="CBS NEW" panose="02000506080000020004" pitchFamily="2" charset="0"/>
                <a:ea typeface="Verdana" panose="020B0604030504040204" pitchFamily="34" charset="0"/>
              </a:rPr>
              <a:t>er</a:t>
            </a:r>
            <a:r>
              <a:rPr lang="en-US" sz="2600" dirty="0">
                <a:latin typeface="CBS NEW" panose="02000506080000020004" pitchFamily="2" charset="0"/>
                <a:ea typeface="Verdana" panose="020B0604030504040204" pitchFamily="34" charset="0"/>
              </a:rPr>
              <a:t> </a:t>
            </a:r>
            <a:r>
              <a:rPr lang="en-US" sz="2600" dirty="0" err="1">
                <a:latin typeface="CBS NEW" panose="02000506080000020004" pitchFamily="2" charset="0"/>
                <a:ea typeface="Verdana" panose="020B0604030504040204" pitchFamily="34" charset="0"/>
              </a:rPr>
              <a:t>færdige</a:t>
            </a:r>
            <a:endParaRPr lang="da-DK" sz="2600" dirty="0">
              <a:latin typeface="CBS NEW" panose="02000506080000020004" pitchFamily="2" charset="0"/>
              <a:ea typeface="Verdana" panose="020B0604030504040204" pitchFamily="34" charset="0"/>
            </a:endParaRPr>
          </a:p>
          <a:p>
            <a:pPr marL="514350" indent="-514350">
              <a:buFont typeface="+mj-lt"/>
              <a:buAutoNum type="arabicPeriod"/>
            </a:pPr>
            <a:r>
              <a:rPr lang="da-DK" sz="2600" dirty="0">
                <a:latin typeface="CBS NEW" panose="02000506080000020004" pitchFamily="2" charset="0"/>
                <a:ea typeface="Verdana" panose="020B0604030504040204" pitchFamily="34" charset="0"/>
              </a:rPr>
              <a:t>Transformere netværket (kommer vi til)</a:t>
            </a:r>
          </a:p>
          <a:p>
            <a:endParaRPr lang="da-DK" sz="2800" dirty="0">
              <a:latin typeface="CBS NEW" panose="02000506080000020004" pitchFamily="2" charset="0"/>
              <a:ea typeface="Verdana" panose="020B0604030504040204" pitchFamily="34" charset="0"/>
            </a:endParaRPr>
          </a:p>
        </p:txBody>
      </p:sp>
    </p:spTree>
    <p:extLst>
      <p:ext uri="{BB962C8B-B14F-4D97-AF65-F5344CB8AC3E}">
        <p14:creationId xmlns:p14="http://schemas.microsoft.com/office/powerpoint/2010/main" val="373804197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5288" y="764704"/>
            <a:ext cx="8353425" cy="288032"/>
          </a:xfrm>
        </p:spPr>
        <p:txBody>
          <a:bodyPr/>
          <a:lstStyle/>
          <a:p>
            <a:r>
              <a:rPr lang="da-DK" dirty="0">
                <a:latin typeface="CBS NEW" panose="02000506080000020004" pitchFamily="2" charset="0"/>
              </a:rPr>
              <a:t>Virksomhedsstrategi i et netværksperspektiv, Forelæsning #4, 10. februar 2025</a:t>
            </a:r>
          </a:p>
        </p:txBody>
      </p:sp>
      <p:sp>
        <p:nvSpPr>
          <p:cNvPr id="3" name="Text Placeholder 2"/>
          <p:cNvSpPr>
            <a:spLocks noGrp="1"/>
          </p:cNvSpPr>
          <p:nvPr>
            <p:ph type="body" sz="quarter" idx="11"/>
          </p:nvPr>
        </p:nvSpPr>
        <p:spPr>
          <a:xfrm>
            <a:off x="395288" y="4365104"/>
            <a:ext cx="8353425" cy="648072"/>
          </a:xfrm>
        </p:spPr>
        <p:txBody>
          <a:bodyPr/>
          <a:lstStyle/>
          <a:p>
            <a:r>
              <a:rPr lang="en-US" sz="8000" noProof="0" dirty="0">
                <a:latin typeface="CBS NEW" panose="02000506080000020004" pitchFamily="2" charset="0"/>
              </a:rPr>
              <a:t>4. </a:t>
            </a:r>
            <a:r>
              <a:rPr lang="en-US" sz="8000" noProof="0" dirty="0" err="1">
                <a:latin typeface="CBS NEW" panose="02000506080000020004" pitchFamily="2" charset="0"/>
              </a:rPr>
              <a:t>Eksamen</a:t>
            </a:r>
            <a:endParaRPr lang="da-DK" sz="8000" noProof="0" dirty="0">
              <a:latin typeface="CBS NEW" panose="02000506080000020004" pitchFamily="2" charset="0"/>
            </a:endParaRPr>
          </a:p>
        </p:txBody>
      </p:sp>
      <p:cxnSp>
        <p:nvCxnSpPr>
          <p:cNvPr id="7" name="Straight Connector 6"/>
          <p:cNvCxnSpPr/>
          <p:nvPr/>
        </p:nvCxnSpPr>
        <p:spPr>
          <a:xfrm>
            <a:off x="395288" y="1052736"/>
            <a:ext cx="7993136"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8" name="Text Placeholder 2"/>
          <p:cNvSpPr txBox="1">
            <a:spLocks/>
          </p:cNvSpPr>
          <p:nvPr/>
        </p:nvSpPr>
        <p:spPr bwMode="auto">
          <a:xfrm>
            <a:off x="395536" y="4725145"/>
            <a:ext cx="8353425" cy="5760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defTabSz="914258" rtl="0" eaLnBrk="1" fontAlgn="base" hangingPunct="1">
              <a:lnSpc>
                <a:spcPct val="80000"/>
              </a:lnSpc>
              <a:spcBef>
                <a:spcPct val="0"/>
              </a:spcBef>
              <a:spcAft>
                <a:spcPts val="300"/>
              </a:spcAft>
              <a:buFont typeface="Arial" charset="0"/>
              <a:defRPr lang="en-US" sz="3600" b="1" kern="1200">
                <a:solidFill>
                  <a:srgbClr val="4967AA"/>
                </a:solidFill>
                <a:latin typeface="+mn-lt"/>
                <a:ea typeface="+mn-ea"/>
                <a:cs typeface="+mn-cs"/>
              </a:defRPr>
            </a:lvl1pPr>
            <a:lvl2pPr marL="182281" indent="-182281"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2pPr>
            <a:lvl3pPr marL="357444" indent="-175162"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3pPr>
            <a:lvl4pPr marL="539725" indent="-182281" algn="l" defTabSz="914258" rtl="0" eaLnBrk="1" fontAlgn="base" hangingPunct="1">
              <a:spcBef>
                <a:spcPct val="0"/>
              </a:spcBef>
              <a:spcAft>
                <a:spcPts val="600"/>
              </a:spcAft>
              <a:buFont typeface="Arial" charset="0"/>
              <a:buChar char="•"/>
              <a:defRPr lang="en-US" kern="1200" dirty="0">
                <a:solidFill>
                  <a:schemeClr val="tx1"/>
                </a:solidFill>
                <a:latin typeface="+mn-lt"/>
                <a:ea typeface="+mj-ea"/>
                <a:cs typeface="+mj-cs"/>
              </a:defRPr>
            </a:lvl4pPr>
            <a:lvl5pPr marL="712039" indent="-172314" algn="l" defTabSz="914258" rtl="0" eaLnBrk="1" fontAlgn="base" hangingPunct="1">
              <a:spcBef>
                <a:spcPct val="0"/>
              </a:spcBef>
              <a:spcAft>
                <a:spcPts val="600"/>
              </a:spcAft>
              <a:buFont typeface="Arial" charset="0"/>
              <a:buChar char="‒"/>
              <a:defRPr lang="en-GB" kern="1200" dirty="0">
                <a:solidFill>
                  <a:schemeClr val="tx1"/>
                </a:solidFill>
                <a:latin typeface="+mn-lt"/>
                <a:ea typeface="+mj-ea"/>
                <a:cs typeface="+mj-cs"/>
              </a:defRPr>
            </a:lvl5pPr>
            <a:lvl6pPr marL="803179" indent="-163770" algn="l" defTabSz="820269" rtl="0" eaLnBrk="1" latinLnBrk="0" hangingPunct="1">
              <a:spcBef>
                <a:spcPts val="0"/>
              </a:spcBef>
              <a:spcAft>
                <a:spcPts val="269"/>
              </a:spcAft>
              <a:buFont typeface="Arial" pitchFamily="34" charset="0"/>
              <a:buChar char="•"/>
              <a:defRPr sz="1400" kern="1200" baseline="0">
                <a:solidFill>
                  <a:schemeClr val="accent1"/>
                </a:solidFill>
                <a:latin typeface="+mn-lt"/>
                <a:ea typeface="+mn-ea"/>
                <a:cs typeface="+mn-cs"/>
              </a:defRPr>
            </a:lvl6pPr>
            <a:lvl7pPr marL="968371" indent="-165192"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7pPr>
            <a:lvl8pPr marL="1123597" indent="-155225"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8pPr>
            <a:lvl9pPr marL="1287365" indent="-163770"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9pPr>
          </a:lstStyle>
          <a:p>
            <a:endParaRPr lang="en-US" sz="2800" dirty="0">
              <a:latin typeface="CBS NEW" panose="02000506080000020004" pitchFamily="2" charset="0"/>
            </a:endParaRPr>
          </a:p>
        </p:txBody>
      </p:sp>
    </p:spTree>
    <p:extLst>
      <p:ext uri="{BB962C8B-B14F-4D97-AF65-F5344CB8AC3E}">
        <p14:creationId xmlns:p14="http://schemas.microsoft.com/office/powerpoint/2010/main" val="2381304100"/>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a:latin typeface="CBS NEW" panose="02000506080000020004" pitchFamily="2" charset="0"/>
              </a:rPr>
              <a:t>Læringsmål</a:t>
            </a:r>
          </a:p>
        </p:txBody>
      </p:sp>
      <p:sp>
        <p:nvSpPr>
          <p:cNvPr id="3" name="Content Placeholder 2"/>
          <p:cNvSpPr>
            <a:spLocks noGrp="1"/>
          </p:cNvSpPr>
          <p:nvPr>
            <p:ph sz="quarter" idx="11"/>
          </p:nvPr>
        </p:nvSpPr>
        <p:spPr/>
        <p:txBody>
          <a:bodyPr>
            <a:normAutofit fontScale="92500" lnSpcReduction="10000"/>
          </a:bodyPr>
          <a:lstStyle/>
          <a:p>
            <a:pPr marL="514350" indent="-514350">
              <a:buFont typeface="Wingdings" panose="05000000000000000000" pitchFamily="2" charset="2"/>
              <a:buChar char="q"/>
            </a:pPr>
            <a:r>
              <a:rPr lang="da-DK" sz="3200" dirty="0">
                <a:latin typeface="CBS NEW" panose="02000506080000020004" pitchFamily="2" charset="0"/>
              </a:rPr>
              <a:t>Redegøre for forskellige forståelser af virksomhedsstrategi i netværksperspektiv</a:t>
            </a:r>
          </a:p>
          <a:p>
            <a:pPr marL="514350" indent="-514350">
              <a:buFont typeface="Wingdings" panose="05000000000000000000" pitchFamily="2" charset="2"/>
              <a:buChar char="q"/>
            </a:pPr>
            <a:r>
              <a:rPr lang="da-DK" sz="3200" dirty="0">
                <a:latin typeface="CBS NEW" panose="02000506080000020004" pitchFamily="2" charset="0"/>
              </a:rPr>
              <a:t>Analysere </a:t>
            </a:r>
            <a:r>
              <a:rPr lang="da-DK" sz="3200" dirty="0" err="1">
                <a:latin typeface="CBS NEW" panose="02000506080000020004" pitchFamily="2" charset="0"/>
              </a:rPr>
              <a:t>intra</a:t>
            </a:r>
            <a:r>
              <a:rPr lang="da-DK" sz="3200" dirty="0">
                <a:latin typeface="CBS NEW" panose="02000506080000020004" pitchFamily="2" charset="0"/>
              </a:rPr>
              <a:t>- og </a:t>
            </a:r>
            <a:r>
              <a:rPr lang="da-DK" sz="3200" dirty="0" err="1">
                <a:latin typeface="CBS NEW" panose="02000506080000020004" pitchFamily="2" charset="0"/>
              </a:rPr>
              <a:t>interorganisatoriske</a:t>
            </a:r>
            <a:r>
              <a:rPr lang="da-DK" sz="3200" dirty="0">
                <a:latin typeface="CBS NEW" panose="02000506080000020004" pitchFamily="2" charset="0"/>
              </a:rPr>
              <a:t> netværk ved brug af teori og metode fra netværksanalyse</a:t>
            </a:r>
          </a:p>
          <a:p>
            <a:pPr marL="514350" indent="-514350">
              <a:buFont typeface="Wingdings" panose="05000000000000000000" pitchFamily="2" charset="2"/>
              <a:buChar char="q"/>
            </a:pPr>
            <a:r>
              <a:rPr lang="da-DK" sz="3200" dirty="0">
                <a:latin typeface="CBS NEW" panose="02000506080000020004" pitchFamily="2" charset="0"/>
              </a:rPr>
              <a:t>Vurdere og kritisk reflektere over den strategiske betydning af virksomheder og deres medarbejderes placering i sociale, økonomiske og politiske netværk</a:t>
            </a:r>
          </a:p>
          <a:p>
            <a:pPr marL="514350" indent="-514350">
              <a:buFont typeface="Wingdings" panose="05000000000000000000" pitchFamily="2" charset="2"/>
              <a:buChar char="q"/>
            </a:pPr>
            <a:r>
              <a:rPr lang="da-DK" sz="3200" dirty="0">
                <a:latin typeface="CBS NEW" panose="02000506080000020004" pitchFamily="2" charset="0"/>
              </a:rPr>
              <a:t>Anvende teorier og metode fra netværksanalyse til at forstå, hvorfor og hvordan virksomhedsinterne netværk indvirker på medarbejdernes og virksomhedens strategiske handlerum</a:t>
            </a:r>
          </a:p>
          <a:p>
            <a:pPr marL="514350" indent="-514350">
              <a:buFont typeface="Wingdings" panose="05000000000000000000" pitchFamily="2" charset="2"/>
              <a:buChar char="q"/>
            </a:pPr>
            <a:r>
              <a:rPr lang="da-DK" sz="3200" dirty="0">
                <a:latin typeface="CBS NEW" panose="02000506080000020004" pitchFamily="2" charset="0"/>
              </a:rPr>
              <a:t>Præsentere eksempler på succesrige og fejlslagne virksomhedsstrategier ud fra et netværksanalytisk perspektiv</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1542936"/>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Opgaven</a:t>
            </a:r>
            <a:endParaRPr lang="da-DK" sz="4800" noProof="0" dirty="0">
              <a:latin typeface="CBS NEW" panose="02000506080000020004" pitchFamily="2" charset="0"/>
            </a:endParaRPr>
          </a:p>
        </p:txBody>
      </p:sp>
      <p:sp>
        <p:nvSpPr>
          <p:cNvPr id="3" name="Content Placeholder 2"/>
          <p:cNvSpPr>
            <a:spLocks noGrp="1"/>
          </p:cNvSpPr>
          <p:nvPr>
            <p:ph sz="quarter" idx="11"/>
          </p:nvPr>
        </p:nvSpPr>
        <p:spPr/>
        <p:txBody>
          <a:bodyPr>
            <a:normAutofit/>
          </a:bodyPr>
          <a:lstStyle/>
          <a:p>
            <a:pPr marL="514350" indent="-514350">
              <a:buFont typeface="Wingdings" panose="05000000000000000000" pitchFamily="2" charset="2"/>
              <a:buChar char="q"/>
            </a:pPr>
            <a:r>
              <a:rPr lang="da-DK" sz="3200" dirty="0">
                <a:latin typeface="CBS NEW" panose="02000506080000020004" pitchFamily="2" charset="0"/>
              </a:rPr>
              <a:t>Vi forventer, I viser, I kan leve op til følgende læringsmål ved at…</a:t>
            </a:r>
          </a:p>
          <a:p>
            <a:pPr marL="1054075" lvl="3" indent="-514350">
              <a:buFont typeface="Wingdings" panose="05000000000000000000" pitchFamily="2" charset="2"/>
              <a:buChar char="q"/>
            </a:pPr>
            <a:r>
              <a:rPr lang="da-DK" sz="3000" dirty="0">
                <a:latin typeface="CBS NEW" panose="02000506080000020004" pitchFamily="2" charset="0"/>
              </a:rPr>
              <a:t>Lave en problemformulering, der kan besvares ved hjælp af teorier og metoder fra faget</a:t>
            </a:r>
          </a:p>
          <a:p>
            <a:pPr marL="1054075" lvl="3" indent="-514350">
              <a:buFont typeface="Wingdings" panose="05000000000000000000" pitchFamily="2" charset="2"/>
              <a:buChar char="q"/>
            </a:pPr>
            <a:r>
              <a:rPr lang="da-DK" sz="3000" dirty="0">
                <a:latin typeface="CBS NEW" panose="02000506080000020004" pitchFamily="2" charset="0"/>
              </a:rPr>
              <a:t>Viser, I kan konstruere, analysere og fortolke et netværk med henblik på at besvare denne problemformulering</a:t>
            </a:r>
          </a:p>
          <a:p>
            <a:pPr marL="1054075" lvl="3" indent="-514350">
              <a:buFont typeface="Wingdings" panose="05000000000000000000" pitchFamily="2" charset="2"/>
              <a:buChar char="q"/>
            </a:pPr>
            <a:r>
              <a:rPr lang="da-DK" sz="3000" dirty="0">
                <a:latin typeface="CBS NEW" panose="02000506080000020004" pitchFamily="2" charset="0"/>
              </a:rPr>
              <a:t>Relatere teori og metoder til hinanden i opgavebesvarelsen</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302121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Opgaven: 3 muligheder</a:t>
            </a:r>
            <a:endParaRPr lang="da-DK" sz="4800" noProof="0" dirty="0">
              <a:latin typeface="CBS NEW" panose="02000506080000020004" pitchFamily="2" charset="0"/>
            </a:endParaRPr>
          </a:p>
        </p:txBody>
      </p:sp>
      <p:sp>
        <p:nvSpPr>
          <p:cNvPr id="3" name="Content Placeholder 2"/>
          <p:cNvSpPr>
            <a:spLocks noGrp="1"/>
          </p:cNvSpPr>
          <p:nvPr>
            <p:ph sz="quarter" idx="11"/>
          </p:nvPr>
        </p:nvSpPr>
        <p:spPr/>
        <p:txBody>
          <a:bodyPr>
            <a:normAutofit/>
          </a:bodyPr>
          <a:lstStyle/>
          <a:p>
            <a:pPr marL="514350" indent="-514350">
              <a:buFont typeface="+mj-lt"/>
              <a:buAutoNum type="arabicPeriod"/>
            </a:pPr>
            <a:r>
              <a:rPr lang="da-DK" sz="3200" dirty="0">
                <a:latin typeface="CBS NEW" panose="02000506080000020004" pitchFamily="2" charset="0"/>
              </a:rPr>
              <a:t>Konstruer og analyser en form for virksomheds- eller erhvervsnetværk med udgangspunkt i det danske elitenetværk (som vi har arbejdet med i øvelserne)</a:t>
            </a:r>
          </a:p>
          <a:p>
            <a:pPr marL="514350" indent="-514350">
              <a:buFont typeface="+mj-lt"/>
              <a:buAutoNum type="arabicPeriod"/>
            </a:pPr>
            <a:r>
              <a:rPr lang="da-DK" sz="3200" dirty="0">
                <a:latin typeface="CBS NEW" panose="02000506080000020004" pitchFamily="2" charset="0"/>
              </a:rPr>
              <a:t>Analyser netværksdata for virksomheder, I selv har indsamlet eller hentet</a:t>
            </a:r>
          </a:p>
          <a:p>
            <a:pPr marL="514350" indent="-514350">
              <a:buFont typeface="+mj-lt"/>
              <a:buAutoNum type="arabicPeriod"/>
            </a:pPr>
            <a:r>
              <a:rPr lang="da-DK" sz="3200" dirty="0">
                <a:latin typeface="CBS NEW" panose="02000506080000020004" pitchFamily="2" charset="0"/>
              </a:rPr>
              <a:t>Diskuter en netværksanalyse og præsenter et netværk</a:t>
            </a:r>
          </a:p>
          <a:p>
            <a:pPr marL="514350" indent="-514350">
              <a:buFont typeface="+mj-lt"/>
              <a:buAutoNum type="arabicPeriod"/>
            </a:pPr>
            <a:endParaRPr lang="da-DK" sz="3200" dirty="0">
              <a:latin typeface="CBS NEW" panose="02000506080000020004" pitchFamily="2" charset="0"/>
            </a:endParaRPr>
          </a:p>
          <a:p>
            <a:r>
              <a:rPr lang="da-DK" sz="3200" dirty="0">
                <a:latin typeface="CBS NEW" panose="02000506080000020004" pitchFamily="2" charset="0"/>
              </a:rPr>
              <a:t>Læs nærmere i kursusbeskrivelsen</a:t>
            </a: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2854177"/>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1. Analyser erhvervsnetværk</a:t>
            </a:r>
            <a:endParaRPr lang="da-DK" sz="4800" noProof="0" dirty="0">
              <a:latin typeface="CBS NEW" panose="02000506080000020004" pitchFamily="2" charset="0"/>
            </a:endParaRPr>
          </a:p>
        </p:txBody>
      </p:sp>
      <p:sp>
        <p:nvSpPr>
          <p:cNvPr id="3" name="Content Placeholder 2"/>
          <p:cNvSpPr>
            <a:spLocks noGrp="1"/>
          </p:cNvSpPr>
          <p:nvPr>
            <p:ph sz="quarter" idx="11"/>
          </p:nvPr>
        </p:nvSpPr>
        <p:spPr/>
        <p:txBody>
          <a:bodyPr>
            <a:normAutofit fontScale="92500" lnSpcReduction="10000"/>
          </a:bodyPr>
          <a:lstStyle/>
          <a:p>
            <a:pPr marL="514350" indent="-514350">
              <a:buFont typeface="Wingdings" panose="05000000000000000000" pitchFamily="2" charset="2"/>
              <a:buChar char="q"/>
            </a:pPr>
            <a:r>
              <a:rPr lang="da-DK" sz="3200" dirty="0">
                <a:latin typeface="CBS NEW" panose="02000506080000020004" pitchFamily="2" charset="0"/>
              </a:rPr>
              <a:t>Brug </a:t>
            </a:r>
            <a:r>
              <a:rPr lang="da-DK" sz="3200" dirty="0" err="1">
                <a:latin typeface="CBS NEW" panose="02000506080000020004" pitchFamily="2" charset="0"/>
              </a:rPr>
              <a:t>eliteDB</a:t>
            </a:r>
            <a:endParaRPr lang="da-DK" sz="3200" dirty="0">
              <a:latin typeface="CBS NEW" panose="02000506080000020004" pitchFamily="2" charset="0"/>
            </a:endParaRPr>
          </a:p>
          <a:p>
            <a:pPr marL="514350" indent="-514350">
              <a:buFont typeface="Wingdings" panose="05000000000000000000" pitchFamily="2" charset="2"/>
              <a:buChar char="q"/>
            </a:pPr>
            <a:r>
              <a:rPr lang="da-DK" sz="3200" dirty="0">
                <a:latin typeface="CBS NEW" panose="02000506080000020004" pitchFamily="2" charset="0"/>
              </a:rPr>
              <a:t>Afgræns et </a:t>
            </a:r>
            <a:r>
              <a:rPr lang="da-DK" sz="3200" dirty="0" err="1">
                <a:latin typeface="CBS NEW" panose="02000506080000020004" pitchFamily="2" charset="0"/>
              </a:rPr>
              <a:t>subset</a:t>
            </a:r>
            <a:endParaRPr lang="da-DK" sz="3200" dirty="0">
              <a:latin typeface="CBS NEW" panose="02000506080000020004" pitchFamily="2" charset="0"/>
            </a:endParaRPr>
          </a:p>
          <a:p>
            <a:pPr marL="871794" lvl="2" indent="-514350">
              <a:buFont typeface="Wingdings" panose="05000000000000000000" pitchFamily="2" charset="2"/>
              <a:buChar char="q"/>
            </a:pPr>
            <a:r>
              <a:rPr lang="da-DK" sz="3200" dirty="0">
                <a:latin typeface="CBS NEW" panose="02000506080000020004" pitchFamily="2" charset="0"/>
              </a:rPr>
              <a:t>Brug fx tags til at se på brancher og brug kilde eller </a:t>
            </a:r>
            <a:r>
              <a:rPr lang="da-DK" sz="3200" dirty="0" err="1">
                <a:latin typeface="CBS NEW" panose="02000506080000020004" pitchFamily="2" charset="0"/>
              </a:rPr>
              <a:t>sector</a:t>
            </a:r>
            <a:r>
              <a:rPr lang="da-DK" sz="3200" dirty="0">
                <a:latin typeface="CBS NEW" panose="02000506080000020004" pitchFamily="2" charset="0"/>
              </a:rPr>
              <a:t> til at beslutte, hvilke type organisationer I vil have med</a:t>
            </a:r>
          </a:p>
          <a:p>
            <a:pPr marL="871794" lvl="2" indent="-514350">
              <a:buFont typeface="Wingdings" panose="05000000000000000000" pitchFamily="2" charset="2"/>
              <a:buChar char="q"/>
            </a:pPr>
            <a:r>
              <a:rPr lang="da-DK" sz="3200" dirty="0">
                <a:latin typeface="CBS NEW" panose="02000506080000020004" pitchFamily="2" charset="0"/>
              </a:rPr>
              <a:t>Overvej at fokusere særligt på en enkelt virksomhed</a:t>
            </a:r>
          </a:p>
          <a:p>
            <a:pPr marL="871794" lvl="2" indent="-514350">
              <a:buFont typeface="Wingdings" panose="05000000000000000000" pitchFamily="2" charset="2"/>
              <a:buChar char="q"/>
            </a:pPr>
            <a:r>
              <a:rPr lang="da-DK" sz="3200" dirty="0">
                <a:latin typeface="CBS NEW" panose="02000506080000020004" pitchFamily="2" charset="0"/>
              </a:rPr>
              <a:t>Overvej om I vil fokusere på person eller bestyrelser som henholdsvis det er forbinder og det, der forbindes</a:t>
            </a:r>
          </a:p>
          <a:p>
            <a:pPr marL="1226389" lvl="4" indent="-514350">
              <a:buFont typeface="Wingdings" panose="05000000000000000000" pitchFamily="2" charset="2"/>
              <a:buChar char="q"/>
            </a:pPr>
            <a:r>
              <a:rPr lang="da-DK" sz="3000" b="1" dirty="0">
                <a:latin typeface="CBS NEW" panose="02000506080000020004" pitchFamily="2" charset="0"/>
              </a:rPr>
              <a:t>Argumenter</a:t>
            </a:r>
            <a:r>
              <a:rPr lang="da-DK" sz="3000" dirty="0">
                <a:latin typeface="CBS NEW" panose="02000506080000020004" pitchFamily="2" charset="0"/>
              </a:rPr>
              <a:t> </a:t>
            </a:r>
            <a:r>
              <a:rPr lang="da-DK" sz="3000" u="sng" dirty="0">
                <a:latin typeface="CBS NEW" panose="02000506080000020004" pitchFamily="2" charset="0"/>
              </a:rPr>
              <a:t>altid</a:t>
            </a:r>
            <a:r>
              <a:rPr lang="da-DK" sz="3000" dirty="0">
                <a:latin typeface="CBS NEW" panose="02000506080000020004" pitchFamily="2" charset="0"/>
              </a:rPr>
              <a:t> for jeres valg</a:t>
            </a:r>
          </a:p>
          <a:p>
            <a:pPr marL="514350" indent="-514350">
              <a:buFont typeface="Wingdings" panose="05000000000000000000" pitchFamily="2" charset="2"/>
              <a:buChar char="q"/>
            </a:pPr>
            <a:r>
              <a:rPr lang="da-DK" sz="3200" dirty="0">
                <a:latin typeface="CBS NEW" panose="02000506080000020004" pitchFamily="2" charset="0"/>
              </a:rPr>
              <a:t>Brug teorien til at afgøre, hvilke typer mål, der er særligt relevante i forhold til jeres problemformulering</a:t>
            </a:r>
          </a:p>
          <a:p>
            <a:pPr marL="514350" indent="-514350">
              <a:buFont typeface="Wingdings" panose="05000000000000000000" pitchFamily="2" charset="2"/>
              <a:buChar char="q"/>
            </a:pPr>
            <a:r>
              <a:rPr lang="da-DK" sz="3200" dirty="0">
                <a:latin typeface="CBS NEW" panose="02000506080000020004" pitchFamily="2" charset="0"/>
              </a:rPr>
              <a:t>Analyser, visualiser og fortolk netværket og de relevante mål</a:t>
            </a:r>
          </a:p>
          <a:p>
            <a:pPr marL="514350" indent="-514350">
              <a:buFont typeface="Wingdings" panose="05000000000000000000" pitchFamily="2" charset="2"/>
              <a:buChar char="q"/>
            </a:pPr>
            <a:endParaRPr lang="da-DK" sz="3200" dirty="0">
              <a:latin typeface="CBS NEW" panose="02000506080000020004" pitchFamily="2" charset="0"/>
            </a:endParaRPr>
          </a:p>
          <a:p>
            <a:pPr marL="514350" indent="-514350">
              <a:buFont typeface="Wingdings" panose="05000000000000000000" pitchFamily="2" charset="2"/>
              <a:buChar char="q"/>
            </a:pPr>
            <a:endParaRPr lang="da-DK" sz="320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1729529"/>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dirty="0">
                <a:latin typeface="CBS NEW" panose="02000506080000020004" pitchFamily="2" charset="0"/>
              </a:rPr>
              <a:t>2. Konstruer et netværk</a:t>
            </a:r>
            <a:endParaRPr lang="da-DK" sz="4800" noProof="0" dirty="0">
              <a:latin typeface="CBS NEW" panose="02000506080000020004" pitchFamily="2" charset="0"/>
            </a:endParaRPr>
          </a:p>
        </p:txBody>
      </p:sp>
      <p:sp>
        <p:nvSpPr>
          <p:cNvPr id="3" name="Content Placeholder 2"/>
          <p:cNvSpPr>
            <a:spLocks noGrp="1"/>
          </p:cNvSpPr>
          <p:nvPr>
            <p:ph sz="quarter" idx="11"/>
          </p:nvPr>
        </p:nvSpPr>
        <p:spPr/>
        <p:txBody>
          <a:bodyPr>
            <a:normAutofit lnSpcReduction="10000"/>
          </a:bodyPr>
          <a:lstStyle/>
          <a:p>
            <a:pPr marL="514350" indent="-514350">
              <a:buFont typeface="Wingdings" panose="05000000000000000000" pitchFamily="2" charset="2"/>
              <a:buChar char="q"/>
            </a:pPr>
            <a:r>
              <a:rPr lang="da-DK" sz="3200" dirty="0">
                <a:latin typeface="CBS NEW" panose="02000506080000020004" pitchFamily="2" charset="0"/>
              </a:rPr>
              <a:t>Lav selv netværksdata, eller</a:t>
            </a:r>
          </a:p>
          <a:p>
            <a:pPr marL="514350" indent="-514350">
              <a:buFont typeface="Wingdings" panose="05000000000000000000" pitchFamily="2" charset="2"/>
              <a:buChar char="q"/>
            </a:pPr>
            <a:r>
              <a:rPr lang="da-DK" sz="3200" dirty="0">
                <a:latin typeface="CBS NEW" panose="02000506080000020004" pitchFamily="2" charset="0"/>
              </a:rPr>
              <a:t>Brug en anden kilde, fx ORBIS, CVR eller data fra en virksomhed</a:t>
            </a:r>
          </a:p>
          <a:p>
            <a:pPr marL="514350" indent="-514350">
              <a:buFont typeface="Wingdings" panose="05000000000000000000" pitchFamily="2" charset="2"/>
              <a:buChar char="q"/>
            </a:pPr>
            <a:r>
              <a:rPr lang="da-DK" sz="3200" dirty="0">
                <a:latin typeface="CBS NEW" panose="02000506080000020004" pitchFamily="2" charset="0"/>
              </a:rPr>
              <a:t>Definer hvad er en forbindelse og hvordan netværket er afgrænset</a:t>
            </a:r>
          </a:p>
          <a:p>
            <a:pPr marL="1226389" lvl="4" indent="-514350">
              <a:buFont typeface="Wingdings" panose="05000000000000000000" pitchFamily="2" charset="2"/>
              <a:buChar char="q"/>
            </a:pPr>
            <a:r>
              <a:rPr lang="da-DK" sz="3000" b="1" dirty="0">
                <a:latin typeface="CBS NEW" panose="02000506080000020004" pitchFamily="2" charset="0"/>
              </a:rPr>
              <a:t>Argumenter</a:t>
            </a:r>
            <a:r>
              <a:rPr lang="da-DK" sz="3000" dirty="0">
                <a:latin typeface="CBS NEW" panose="02000506080000020004" pitchFamily="2" charset="0"/>
              </a:rPr>
              <a:t> </a:t>
            </a:r>
            <a:r>
              <a:rPr lang="da-DK" sz="3000" u="sng" dirty="0">
                <a:latin typeface="CBS NEW" panose="02000506080000020004" pitchFamily="2" charset="0"/>
              </a:rPr>
              <a:t>altid</a:t>
            </a:r>
            <a:r>
              <a:rPr lang="da-DK" sz="3000" dirty="0">
                <a:latin typeface="CBS NEW" panose="02000506080000020004" pitchFamily="2" charset="0"/>
              </a:rPr>
              <a:t> for jeres valg</a:t>
            </a:r>
          </a:p>
          <a:p>
            <a:pPr marL="514350" indent="-514350">
              <a:buFont typeface="Wingdings" panose="05000000000000000000" pitchFamily="2" charset="2"/>
              <a:buChar char="q"/>
            </a:pPr>
            <a:r>
              <a:rPr lang="da-DK" sz="3200" dirty="0">
                <a:latin typeface="CBS NEW" panose="02000506080000020004" pitchFamily="2" charset="0"/>
              </a:rPr>
              <a:t>Brug teorien til at afgøre, hvilke typer mål, der er særligt relevante i forhold til jeres problemformulering</a:t>
            </a:r>
          </a:p>
          <a:p>
            <a:pPr marL="514350" indent="-514350">
              <a:buFont typeface="Wingdings" panose="05000000000000000000" pitchFamily="2" charset="2"/>
              <a:buChar char="q"/>
            </a:pPr>
            <a:r>
              <a:rPr lang="da-DK" sz="3200" dirty="0">
                <a:latin typeface="CBS NEW" panose="02000506080000020004" pitchFamily="2" charset="0"/>
              </a:rPr>
              <a:t>Analyser, visualiser og fortolk netværket og de relevante mål</a:t>
            </a:r>
          </a:p>
          <a:p>
            <a:pPr marL="514350" indent="-514350">
              <a:buFont typeface="Wingdings" panose="05000000000000000000" pitchFamily="2" charset="2"/>
              <a:buChar char="q"/>
            </a:pPr>
            <a:r>
              <a:rPr lang="da-DK" sz="3200" dirty="0">
                <a:latin typeface="CBS NEW" panose="02000506080000020004" pitchFamily="2" charset="0"/>
              </a:rPr>
              <a:t>Netværket skal være en form for virksomheds- eller erhvervsnetværket, men indenfor denne ramme er der fri leg</a:t>
            </a:r>
          </a:p>
          <a:p>
            <a:pPr marL="514350" indent="-514350">
              <a:buFont typeface="Wingdings" panose="05000000000000000000" pitchFamily="2" charset="2"/>
              <a:buChar char="q"/>
            </a:pPr>
            <a:endParaRPr lang="da-DK" sz="3200" dirty="0">
              <a:latin typeface="CBS NEW" panose="02000506080000020004" pitchFamily="2" charset="0"/>
            </a:endParaRPr>
          </a:p>
          <a:p>
            <a:pPr marL="514350" indent="-514350">
              <a:buFont typeface="Wingdings" panose="05000000000000000000" pitchFamily="2" charset="2"/>
              <a:buChar char="q"/>
            </a:pPr>
            <a:endParaRPr lang="da-DK" sz="320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581538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000" dirty="0">
                <a:latin typeface="CBS NEW" panose="02000506080000020004" pitchFamily="2" charset="0"/>
              </a:rPr>
              <a:t>3. Diskuter en netværksanalyse</a:t>
            </a:r>
            <a:endParaRPr lang="da-DK" sz="4000" noProof="0" dirty="0">
              <a:latin typeface="CBS NEW" panose="02000506080000020004" pitchFamily="2" charset="0"/>
            </a:endParaRPr>
          </a:p>
        </p:txBody>
      </p:sp>
      <p:sp>
        <p:nvSpPr>
          <p:cNvPr id="3" name="Content Placeholder 2"/>
          <p:cNvSpPr>
            <a:spLocks noGrp="1"/>
          </p:cNvSpPr>
          <p:nvPr>
            <p:ph sz="quarter" idx="11"/>
          </p:nvPr>
        </p:nvSpPr>
        <p:spPr/>
        <p:txBody>
          <a:bodyPr>
            <a:normAutofit fontScale="92500" lnSpcReduction="20000"/>
          </a:bodyPr>
          <a:lstStyle/>
          <a:p>
            <a:r>
              <a:rPr lang="da-DK" sz="3200" dirty="0">
                <a:latin typeface="CBS NEW" panose="02000506080000020004" pitchFamily="2" charset="0"/>
              </a:rPr>
              <a:t>To dele</a:t>
            </a:r>
          </a:p>
          <a:p>
            <a:pPr marL="514350" indent="-514350">
              <a:buFont typeface="+mj-lt"/>
              <a:buAutoNum type="arabicPeriod"/>
            </a:pPr>
            <a:r>
              <a:rPr lang="da-DK" sz="3200" dirty="0">
                <a:latin typeface="CBS NEW" panose="02000506080000020004" pitchFamily="2" charset="0"/>
              </a:rPr>
              <a:t>Teoretisk del</a:t>
            </a:r>
          </a:p>
          <a:p>
            <a:pPr marL="514350" indent="-514350">
              <a:buFont typeface="Wingdings" panose="05000000000000000000" pitchFamily="2" charset="2"/>
              <a:buChar char="q"/>
            </a:pPr>
            <a:r>
              <a:rPr lang="da-DK" sz="3200" dirty="0">
                <a:latin typeface="CBS NEW" panose="02000506080000020004" pitchFamily="2" charset="0"/>
              </a:rPr>
              <a:t>Vælg en eller flere tekster fra pensum</a:t>
            </a:r>
          </a:p>
          <a:p>
            <a:pPr marL="1054075" lvl="3" indent="-514350">
              <a:buFont typeface="Wingdings" panose="05000000000000000000" pitchFamily="2" charset="2"/>
              <a:buChar char="q"/>
            </a:pPr>
            <a:r>
              <a:rPr lang="da-DK" sz="3000" dirty="0">
                <a:latin typeface="CBS NEW" panose="02000506080000020004" pitchFamily="2" charset="0"/>
              </a:rPr>
              <a:t>Fx teksten af </a:t>
            </a:r>
            <a:r>
              <a:rPr lang="da-DK" sz="3000" dirty="0" err="1">
                <a:latin typeface="CBS NEW" panose="02000506080000020004" pitchFamily="2" charset="0"/>
              </a:rPr>
              <a:t>Cárdenes</a:t>
            </a:r>
            <a:r>
              <a:rPr lang="da-DK" sz="3000" dirty="0">
                <a:latin typeface="CBS NEW" panose="02000506080000020004" pitchFamily="2" charset="0"/>
              </a:rPr>
              <a:t> eller Heemskerk</a:t>
            </a:r>
          </a:p>
          <a:p>
            <a:pPr marL="514350" indent="-514350">
              <a:buFont typeface="Wingdings" panose="05000000000000000000" pitchFamily="2" charset="2"/>
              <a:buChar char="q"/>
            </a:pPr>
            <a:r>
              <a:rPr lang="da-DK" sz="3200" dirty="0">
                <a:latin typeface="CBS NEW" panose="02000506080000020004" pitchFamily="2" charset="0"/>
              </a:rPr>
              <a:t>Diskuter teori og brug af netværksanalyse i teksterne</a:t>
            </a:r>
          </a:p>
          <a:p>
            <a:pPr marL="1054075" lvl="3" indent="-514350">
              <a:buFont typeface="Wingdings" panose="05000000000000000000" pitchFamily="2" charset="2"/>
              <a:buChar char="q"/>
            </a:pPr>
            <a:r>
              <a:rPr lang="da-DK" sz="3000" dirty="0">
                <a:latin typeface="CBS NEW" panose="02000506080000020004" pitchFamily="2" charset="0"/>
              </a:rPr>
              <a:t>Diskuter hvilke netværksteoretiske antagelser, der trækkes på i teksterne (fx </a:t>
            </a:r>
            <a:r>
              <a:rPr lang="da-DK" sz="3000" dirty="0" err="1">
                <a:latin typeface="CBS NEW" panose="02000506080000020004" pitchFamily="2" charset="0"/>
              </a:rPr>
              <a:t>Granovetter</a:t>
            </a:r>
            <a:r>
              <a:rPr lang="da-DK" sz="3000" dirty="0">
                <a:latin typeface="CBS NEW" panose="02000506080000020004" pitchFamily="2" charset="0"/>
              </a:rPr>
              <a:t> eller Burt)</a:t>
            </a:r>
          </a:p>
          <a:p>
            <a:pPr marL="1054075" lvl="3" indent="-514350">
              <a:buFont typeface="Wingdings" panose="05000000000000000000" pitchFamily="2" charset="2"/>
              <a:buChar char="q"/>
            </a:pPr>
            <a:r>
              <a:rPr lang="da-DK" sz="3000" dirty="0">
                <a:latin typeface="CBS NEW" panose="02000506080000020004" pitchFamily="2" charset="0"/>
              </a:rPr>
              <a:t>Diskutér brug af netværksmål og styrker og svagheder ved den metodiske tilgang i teksterne</a:t>
            </a:r>
          </a:p>
          <a:p>
            <a:pPr marL="514350" indent="-514350">
              <a:buFont typeface="+mj-lt"/>
              <a:buAutoNum type="arabicPeriod" startAt="2"/>
            </a:pPr>
            <a:r>
              <a:rPr lang="da-DK" sz="3200" dirty="0">
                <a:latin typeface="CBS NEW" panose="02000506080000020004" pitchFamily="2" charset="0"/>
              </a:rPr>
              <a:t>Empirisk del</a:t>
            </a:r>
          </a:p>
          <a:p>
            <a:pPr marL="514350" indent="-514350">
              <a:buFont typeface="Wingdings" panose="05000000000000000000" pitchFamily="2" charset="2"/>
              <a:buChar char="q"/>
            </a:pPr>
            <a:r>
              <a:rPr lang="da-DK" sz="3200" dirty="0">
                <a:latin typeface="CBS NEW" panose="02000506080000020004" pitchFamily="2" charset="0"/>
              </a:rPr>
              <a:t>Udvælg et </a:t>
            </a:r>
            <a:r>
              <a:rPr lang="da-DK" sz="3200" dirty="0" err="1">
                <a:latin typeface="CBS NEW" panose="02000506080000020004" pitchFamily="2" charset="0"/>
              </a:rPr>
              <a:t>subset</a:t>
            </a:r>
            <a:r>
              <a:rPr lang="da-DK" sz="3200" dirty="0">
                <a:latin typeface="CBS NEW" panose="02000506080000020004" pitchFamily="2" charset="0"/>
              </a:rPr>
              <a:t> fra </a:t>
            </a:r>
            <a:r>
              <a:rPr lang="da-DK" sz="3200" dirty="0" err="1">
                <a:latin typeface="CBS NEW" panose="02000506080000020004" pitchFamily="2" charset="0"/>
              </a:rPr>
              <a:t>EliteDB</a:t>
            </a:r>
            <a:r>
              <a:rPr lang="da-DK" sz="3200" dirty="0">
                <a:latin typeface="CBS NEW" panose="02000506080000020004" pitchFamily="2" charset="0"/>
              </a:rPr>
              <a:t>, visualiser netværket og afrapporter samt fortolk de vigtigste egenskaber ved dette netværk</a:t>
            </a:r>
          </a:p>
          <a:p>
            <a:pPr marL="514350" indent="-514350">
              <a:buFont typeface="Wingdings" panose="05000000000000000000" pitchFamily="2" charset="2"/>
              <a:buChar char="q"/>
            </a:pPr>
            <a:endParaRPr lang="da-DK" sz="320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4564941"/>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a:latin typeface="CBS NEW" panose="02000506080000020004" pitchFamily="2" charset="0"/>
              </a:rPr>
              <a:t>Generelle råd</a:t>
            </a:r>
          </a:p>
        </p:txBody>
      </p:sp>
      <p:sp>
        <p:nvSpPr>
          <p:cNvPr id="3" name="Content Placeholder 2"/>
          <p:cNvSpPr>
            <a:spLocks noGrp="1"/>
          </p:cNvSpPr>
          <p:nvPr>
            <p:ph sz="quarter" idx="11"/>
          </p:nvPr>
        </p:nvSpPr>
        <p:spPr/>
        <p:txBody>
          <a:bodyPr>
            <a:normAutofit fontScale="85000" lnSpcReduction="20000"/>
          </a:bodyPr>
          <a:lstStyle/>
          <a:p>
            <a:pPr marL="514350" indent="-514350">
              <a:buFont typeface="Wingdings" panose="05000000000000000000" pitchFamily="2" charset="2"/>
              <a:buChar char="q"/>
            </a:pPr>
            <a:r>
              <a:rPr lang="da-DK" sz="3200" dirty="0">
                <a:latin typeface="CBS NEW" panose="02000506080000020004" pitchFamily="2" charset="0"/>
              </a:rPr>
              <a:t>Skriv det som en rapport. Målgruppe kunne være en medstuderende, der ikke har taget faget</a:t>
            </a:r>
          </a:p>
          <a:p>
            <a:pPr marL="871794" lvl="2" indent="-514350">
              <a:buFont typeface="Wingdings" panose="05000000000000000000" pitchFamily="2" charset="2"/>
              <a:buChar char="q"/>
            </a:pPr>
            <a:r>
              <a:rPr lang="da-DK" sz="3200" dirty="0">
                <a:latin typeface="CBS NEW" panose="02000506080000020004" pitchFamily="2" charset="0"/>
              </a:rPr>
              <a:t>Altså, forklar begreber, men læg formler og teknik i bilag</a:t>
            </a:r>
          </a:p>
          <a:p>
            <a:pPr marL="871794" lvl="2" indent="-514350">
              <a:buFont typeface="Wingdings" panose="05000000000000000000" pitchFamily="2" charset="2"/>
              <a:buChar char="q"/>
            </a:pPr>
            <a:r>
              <a:rPr lang="da-DK" sz="3200" dirty="0">
                <a:latin typeface="CBS NEW" panose="02000506080000020004" pitchFamily="2" charset="0"/>
              </a:rPr>
              <a:t>Ingen indforståethed</a:t>
            </a:r>
          </a:p>
          <a:p>
            <a:pPr marL="1317529" lvl="5" indent="-514350">
              <a:buFont typeface="Wingdings" panose="05000000000000000000" pitchFamily="2" charset="2"/>
              <a:buChar char="q"/>
            </a:pPr>
            <a:r>
              <a:rPr lang="da-DK" sz="2600" dirty="0">
                <a:solidFill>
                  <a:schemeClr val="tx1"/>
                </a:solidFill>
                <a:latin typeface="CBS NEW" panose="02000506080000020004" pitchFamily="2" charset="0"/>
              </a:rPr>
              <a:t>Skriv hellere: ”Vi trækker på databasen det danske elitenetværk (Ellersgaard og Larsen 2015), der indeholder mere end 5,000 fora… Her ser vi på netværk, der kodet som værende relateret til ‘infrastruktur’” end ”vi bruger </a:t>
            </a:r>
            <a:r>
              <a:rPr lang="da-DK" sz="2600" dirty="0" err="1">
                <a:solidFill>
                  <a:schemeClr val="tx1"/>
                </a:solidFill>
                <a:latin typeface="CBS NEW" panose="02000506080000020004" pitchFamily="2" charset="0"/>
              </a:rPr>
              <a:t>eliteDB</a:t>
            </a:r>
            <a:r>
              <a:rPr lang="da-DK" sz="2600" dirty="0">
                <a:solidFill>
                  <a:schemeClr val="tx1"/>
                </a:solidFill>
                <a:latin typeface="CBS NEW" panose="02000506080000020004" pitchFamily="2" charset="0"/>
              </a:rPr>
              <a:t> og subsetter på ‘</a:t>
            </a:r>
            <a:r>
              <a:rPr lang="da-DK" sz="2600" dirty="0" err="1">
                <a:solidFill>
                  <a:schemeClr val="tx1"/>
                </a:solidFill>
                <a:latin typeface="CBS NEW" panose="02000506080000020004" pitchFamily="2" charset="0"/>
              </a:rPr>
              <a:t>infrastructure</a:t>
            </a:r>
            <a:r>
              <a:rPr lang="da-DK" sz="2600" dirty="0">
                <a:solidFill>
                  <a:schemeClr val="tx1"/>
                </a:solidFill>
                <a:latin typeface="CBS NEW" panose="02000506080000020004" pitchFamily="2" charset="0"/>
              </a:rPr>
              <a:t>’”</a:t>
            </a:r>
          </a:p>
          <a:p>
            <a:pPr marL="514350" indent="-514350">
              <a:buFont typeface="Wingdings" panose="05000000000000000000" pitchFamily="2" charset="2"/>
              <a:buChar char="q"/>
            </a:pPr>
            <a:r>
              <a:rPr lang="da-DK" sz="3200" dirty="0">
                <a:latin typeface="CBS NEW" panose="02000506080000020004" pitchFamily="2" charset="0"/>
              </a:rPr>
              <a:t>Vi ved, at det er svært at arbejde selvstændigt med netværk. Men vi belønner ambitiøse opgaver, selvom de måske ikke bliver så helstøbte</a:t>
            </a:r>
          </a:p>
          <a:p>
            <a:pPr marL="514350" indent="-514350">
              <a:buFont typeface="Wingdings" panose="05000000000000000000" pitchFamily="2" charset="2"/>
              <a:buChar char="q"/>
            </a:pPr>
            <a:r>
              <a:rPr lang="da-DK" sz="3200" dirty="0">
                <a:latin typeface="CBS NEW" panose="02000506080000020004" pitchFamily="2" charset="0"/>
              </a:rPr>
              <a:t>Hav styr på, hvad jeres netværk er, hvordan det er afgrænset og hvorfor I bruger forskellige mål. Det handler om at kunne vise, I kan bruge netværk til at forstå virksomhedsstrategi…</a:t>
            </a:r>
          </a:p>
          <a:p>
            <a:pPr marL="514350" indent="-514350">
              <a:buFont typeface="Wingdings" panose="05000000000000000000" pitchFamily="2" charset="2"/>
              <a:buChar char="q"/>
            </a:pPr>
            <a:r>
              <a:rPr lang="da-DK" sz="3200" dirty="0">
                <a:latin typeface="CBS NEW" panose="02000506080000020004" pitchFamily="2" charset="0"/>
              </a:rPr>
              <a:t>Brug posterseminar (#18)</a:t>
            </a:r>
          </a:p>
          <a:p>
            <a:endParaRPr lang="da-DK" sz="300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602424"/>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r>
              <a:rPr lang="da-DK" sz="4800" noProof="0" dirty="0">
                <a:latin typeface="CBS NEW" panose="02000506080000020004" pitchFamily="2" charset="0"/>
              </a:rPr>
              <a:t>Formalia</a:t>
            </a:r>
          </a:p>
        </p:txBody>
      </p:sp>
      <p:sp>
        <p:nvSpPr>
          <p:cNvPr id="3" name="Content Placeholder 2"/>
          <p:cNvSpPr>
            <a:spLocks noGrp="1"/>
          </p:cNvSpPr>
          <p:nvPr>
            <p:ph sz="quarter" idx="11"/>
          </p:nvPr>
        </p:nvSpPr>
        <p:spPr/>
        <p:txBody>
          <a:bodyPr>
            <a:normAutofit/>
          </a:bodyPr>
          <a:lstStyle/>
          <a:p>
            <a:pPr marL="514350" indent="-514350">
              <a:buFont typeface="Wingdings" panose="05000000000000000000" pitchFamily="2" charset="2"/>
              <a:buChar char="q"/>
            </a:pPr>
            <a:r>
              <a:rPr lang="da-DK" sz="3200" dirty="0">
                <a:latin typeface="CBS NEW" panose="02000506080000020004" pitchFamily="2" charset="0"/>
              </a:rPr>
              <a:t>10 sider inklusive tabeller og figurer</a:t>
            </a:r>
          </a:p>
          <a:p>
            <a:pPr marL="514350" indent="-514350">
              <a:buFont typeface="Wingdings" panose="05000000000000000000" pitchFamily="2" charset="2"/>
              <a:buChar char="q"/>
            </a:pPr>
            <a:r>
              <a:rPr lang="en-US" sz="3200" dirty="0" err="1">
                <a:latin typeface="CBS NEW" panose="02000506080000020004" pitchFamily="2" charset="0"/>
              </a:rPr>
              <a:t>Vælg</a:t>
            </a:r>
            <a:r>
              <a:rPr lang="en-US" sz="3200" dirty="0">
                <a:latin typeface="CBS NEW" panose="02000506080000020004" pitchFamily="2" charset="0"/>
              </a:rPr>
              <a:t> </a:t>
            </a:r>
            <a:r>
              <a:rPr lang="en-US" sz="3200" dirty="0" err="1">
                <a:latin typeface="CBS NEW" panose="02000506080000020004" pitchFamily="2" charset="0"/>
              </a:rPr>
              <a:t>illustrationer</a:t>
            </a:r>
            <a:r>
              <a:rPr lang="en-US" sz="3200" dirty="0">
                <a:latin typeface="CBS NEW" panose="02000506080000020004" pitchFamily="2" charset="0"/>
              </a:rPr>
              <a:t> med </a:t>
            </a:r>
            <a:r>
              <a:rPr lang="en-US" sz="3200" dirty="0" err="1">
                <a:latin typeface="CBS NEW" panose="02000506080000020004" pitchFamily="2" charset="0"/>
              </a:rPr>
              <a:t>omhu</a:t>
            </a:r>
            <a:endParaRPr lang="en-US" sz="3200" dirty="0">
              <a:latin typeface="CBS NEW" panose="02000506080000020004" pitchFamily="2" charset="0"/>
            </a:endParaRPr>
          </a:p>
          <a:p>
            <a:pPr marL="696631" lvl="1" indent="-514350">
              <a:buFont typeface="Wingdings" panose="05000000000000000000" pitchFamily="2" charset="2"/>
              <a:buChar char="q"/>
            </a:pPr>
            <a:r>
              <a:rPr lang="en-US" sz="3000" dirty="0" err="1">
                <a:latin typeface="CBS NEW" panose="02000506080000020004" pitchFamily="2" charset="0"/>
              </a:rPr>
              <a:t>Brug</a:t>
            </a:r>
            <a:r>
              <a:rPr lang="en-US" sz="3000" dirty="0">
                <a:latin typeface="CBS NEW" panose="02000506080000020004" pitchFamily="2" charset="0"/>
              </a:rPr>
              <a:t> </a:t>
            </a:r>
            <a:r>
              <a:rPr lang="en-US" sz="3000" dirty="0" err="1">
                <a:latin typeface="CBS NEW" panose="02000506080000020004" pitchFamily="2" charset="0"/>
              </a:rPr>
              <a:t>bilag</a:t>
            </a:r>
            <a:r>
              <a:rPr lang="en-US" sz="3000" dirty="0">
                <a:latin typeface="CBS NEW" panose="02000506080000020004" pitchFamily="2" charset="0"/>
              </a:rPr>
              <a:t>, men </a:t>
            </a:r>
            <a:r>
              <a:rPr lang="en-US" sz="3000" dirty="0" err="1">
                <a:latin typeface="CBS NEW" panose="02000506080000020004" pitchFamily="2" charset="0"/>
              </a:rPr>
              <a:t>ikke</a:t>
            </a:r>
            <a:r>
              <a:rPr lang="en-US" sz="3000" dirty="0">
                <a:latin typeface="CBS NEW" panose="02000506080000020004" pitchFamily="2" charset="0"/>
              </a:rPr>
              <a:t> </a:t>
            </a:r>
            <a:r>
              <a:rPr lang="en-US" sz="3000" dirty="0" err="1">
                <a:latin typeface="CBS NEW" panose="02000506080000020004" pitchFamily="2" charset="0"/>
              </a:rPr>
              <a:t>til</a:t>
            </a:r>
            <a:r>
              <a:rPr lang="en-US" sz="3000" dirty="0">
                <a:latin typeface="CBS NEW" panose="02000506080000020004" pitchFamily="2" charset="0"/>
              </a:rPr>
              <a:t> </a:t>
            </a:r>
            <a:r>
              <a:rPr lang="en-US" sz="3000" dirty="0" err="1">
                <a:latin typeface="CBS NEW" panose="02000506080000020004" pitchFamily="2" charset="0"/>
              </a:rPr>
              <a:t>det</a:t>
            </a:r>
            <a:r>
              <a:rPr lang="en-US" sz="3000" dirty="0">
                <a:latin typeface="CBS NEW" panose="02000506080000020004" pitchFamily="2" charset="0"/>
              </a:rPr>
              <a:t>, I </a:t>
            </a:r>
            <a:r>
              <a:rPr lang="en-US" sz="3000" dirty="0" err="1">
                <a:latin typeface="CBS NEW" panose="02000506080000020004" pitchFamily="2" charset="0"/>
              </a:rPr>
              <a:t>vil</a:t>
            </a:r>
            <a:r>
              <a:rPr lang="en-US" sz="3000" dirty="0">
                <a:latin typeface="CBS NEW" panose="02000506080000020004" pitchFamily="2" charset="0"/>
              </a:rPr>
              <a:t> </a:t>
            </a:r>
            <a:r>
              <a:rPr lang="en-US" sz="3000" dirty="0" err="1">
                <a:latin typeface="CBS NEW" panose="02000506080000020004" pitchFamily="2" charset="0"/>
              </a:rPr>
              <a:t>formidle</a:t>
            </a:r>
            <a:r>
              <a:rPr lang="en-US" sz="3000" dirty="0">
                <a:latin typeface="CBS NEW" panose="02000506080000020004" pitchFamily="2" charset="0"/>
              </a:rPr>
              <a:t>!</a:t>
            </a:r>
          </a:p>
          <a:p>
            <a:pPr marL="514350" indent="-514350">
              <a:buFont typeface="Wingdings" panose="05000000000000000000" pitchFamily="2" charset="2"/>
              <a:buChar char="q"/>
            </a:pPr>
            <a:r>
              <a:rPr lang="en-US" sz="3000" dirty="0">
                <a:latin typeface="CBS NEW" panose="02000506080000020004" pitchFamily="2" charset="0"/>
              </a:rPr>
              <a:t>R-scripts</a:t>
            </a:r>
          </a:p>
          <a:p>
            <a:pPr marL="696631" lvl="1" indent="-514350">
              <a:buFont typeface="Wingdings" panose="05000000000000000000" pitchFamily="2" charset="2"/>
              <a:buChar char="q"/>
            </a:pPr>
            <a:r>
              <a:rPr lang="en-US" sz="3000" dirty="0">
                <a:latin typeface="CBS NEW" panose="02000506080000020004" pitchFamily="2" charset="0"/>
              </a:rPr>
              <a:t>Gem </a:t>
            </a:r>
            <a:r>
              <a:rPr lang="en-US" sz="3000" dirty="0" err="1">
                <a:latin typeface="CBS NEW" panose="02000506080000020004" pitchFamily="2" charset="0"/>
              </a:rPr>
              <a:t>som</a:t>
            </a:r>
            <a:r>
              <a:rPr lang="en-US" sz="3000" dirty="0">
                <a:latin typeface="CBS NEW" panose="02000506080000020004" pitchFamily="2" charset="0"/>
              </a:rPr>
              <a:t> .txt og placer </a:t>
            </a:r>
            <a:r>
              <a:rPr lang="en-US" sz="3000" dirty="0" err="1">
                <a:latin typeface="CBS NEW" panose="02000506080000020004" pitchFamily="2" charset="0"/>
              </a:rPr>
              <a:t>i</a:t>
            </a:r>
            <a:r>
              <a:rPr lang="en-US" sz="3000" dirty="0">
                <a:latin typeface="CBS NEW" panose="02000506080000020004" pitchFamily="2" charset="0"/>
              </a:rPr>
              <a:t> </a:t>
            </a:r>
            <a:r>
              <a:rPr lang="en-US" sz="3000" dirty="0" err="1">
                <a:latin typeface="CBS NEW" panose="02000506080000020004" pitchFamily="2" charset="0"/>
              </a:rPr>
              <a:t>bilag</a:t>
            </a:r>
            <a:endParaRPr lang="da-DK" sz="3000" dirty="0">
              <a:latin typeface="CBS NEW" panose="02000506080000020004" pitchFamily="2" charset="0"/>
            </a:endParaRPr>
          </a:p>
        </p:txBody>
      </p:sp>
      <p:cxnSp>
        <p:nvCxnSpPr>
          <p:cNvPr id="5" name="Straight Connector 4"/>
          <p:cNvCxnSpPr/>
          <p:nvPr/>
        </p:nvCxnSpPr>
        <p:spPr>
          <a:xfrm>
            <a:off x="395288" y="1052513"/>
            <a:ext cx="5761037"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2573507"/>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5288" y="764704"/>
            <a:ext cx="8353425" cy="288032"/>
          </a:xfrm>
        </p:spPr>
        <p:txBody>
          <a:bodyPr/>
          <a:lstStyle/>
          <a:p>
            <a:r>
              <a:rPr lang="da-DK" dirty="0">
                <a:latin typeface="CBS NEW" panose="02000506080000020004" pitchFamily="2" charset="0"/>
              </a:rPr>
              <a:t>Virksomhedsstrategi i et netværksperspektiv, Forelæsning #4, 10. februar 2025</a:t>
            </a:r>
          </a:p>
        </p:txBody>
      </p:sp>
      <p:sp>
        <p:nvSpPr>
          <p:cNvPr id="3" name="Text Placeholder 2"/>
          <p:cNvSpPr>
            <a:spLocks noGrp="1"/>
          </p:cNvSpPr>
          <p:nvPr>
            <p:ph type="body" sz="quarter" idx="11"/>
          </p:nvPr>
        </p:nvSpPr>
        <p:spPr>
          <a:xfrm>
            <a:off x="395288" y="4365104"/>
            <a:ext cx="8353425" cy="648072"/>
          </a:xfrm>
        </p:spPr>
        <p:txBody>
          <a:bodyPr/>
          <a:lstStyle/>
          <a:p>
            <a:r>
              <a:rPr lang="da-DK" sz="5400" noProof="0" dirty="0">
                <a:latin typeface="CBS NEW" panose="02000506080000020004" pitchFamily="2" charset="0"/>
              </a:rPr>
              <a:t>Spørgsmål?</a:t>
            </a:r>
          </a:p>
        </p:txBody>
      </p:sp>
      <p:cxnSp>
        <p:nvCxnSpPr>
          <p:cNvPr id="7" name="Straight Connector 6"/>
          <p:cNvCxnSpPr/>
          <p:nvPr/>
        </p:nvCxnSpPr>
        <p:spPr>
          <a:xfrm>
            <a:off x="395288" y="1052736"/>
            <a:ext cx="7993136" cy="0"/>
          </a:xfrm>
          <a:prstGeom prst="line">
            <a:avLst/>
          </a:prstGeom>
          <a:ln w="38100">
            <a:solidFill>
              <a:srgbClr val="4967AA"/>
            </a:solidFill>
          </a:ln>
        </p:spPr>
        <p:style>
          <a:lnRef idx="1">
            <a:schemeClr val="accent1"/>
          </a:lnRef>
          <a:fillRef idx="0">
            <a:schemeClr val="accent1"/>
          </a:fillRef>
          <a:effectRef idx="0">
            <a:schemeClr val="accent1"/>
          </a:effectRef>
          <a:fontRef idx="minor">
            <a:schemeClr val="tx1"/>
          </a:fontRef>
        </p:style>
      </p:cxnSp>
      <p:sp>
        <p:nvSpPr>
          <p:cNvPr id="8" name="Text Placeholder 2"/>
          <p:cNvSpPr txBox="1">
            <a:spLocks/>
          </p:cNvSpPr>
          <p:nvPr/>
        </p:nvSpPr>
        <p:spPr bwMode="auto">
          <a:xfrm>
            <a:off x="395536" y="4725145"/>
            <a:ext cx="8353425" cy="5760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defTabSz="914258" rtl="0" eaLnBrk="1" fontAlgn="base" hangingPunct="1">
              <a:lnSpc>
                <a:spcPct val="80000"/>
              </a:lnSpc>
              <a:spcBef>
                <a:spcPct val="0"/>
              </a:spcBef>
              <a:spcAft>
                <a:spcPts val="300"/>
              </a:spcAft>
              <a:buFont typeface="Arial" charset="0"/>
              <a:defRPr lang="en-US" sz="3600" b="1" kern="1200">
                <a:solidFill>
                  <a:srgbClr val="4967AA"/>
                </a:solidFill>
                <a:latin typeface="+mn-lt"/>
                <a:ea typeface="+mn-ea"/>
                <a:cs typeface="+mn-cs"/>
              </a:defRPr>
            </a:lvl1pPr>
            <a:lvl2pPr marL="182281" indent="-182281"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2pPr>
            <a:lvl3pPr marL="357444" indent="-175162" algn="l" defTabSz="914258" rtl="0" eaLnBrk="1" fontAlgn="base" hangingPunct="1">
              <a:spcBef>
                <a:spcPct val="0"/>
              </a:spcBef>
              <a:spcAft>
                <a:spcPts val="300"/>
              </a:spcAft>
              <a:buFont typeface="Arial" charset="0"/>
              <a:buChar char="‒"/>
              <a:defRPr lang="en-US" sz="2000" kern="1200" dirty="0">
                <a:solidFill>
                  <a:schemeClr val="tx1"/>
                </a:solidFill>
                <a:latin typeface="+mn-lt"/>
                <a:ea typeface="+mj-ea"/>
                <a:cs typeface="+mj-cs"/>
              </a:defRPr>
            </a:lvl3pPr>
            <a:lvl4pPr marL="539725" indent="-182281" algn="l" defTabSz="914258" rtl="0" eaLnBrk="1" fontAlgn="base" hangingPunct="1">
              <a:spcBef>
                <a:spcPct val="0"/>
              </a:spcBef>
              <a:spcAft>
                <a:spcPts val="600"/>
              </a:spcAft>
              <a:buFont typeface="Arial" charset="0"/>
              <a:buChar char="•"/>
              <a:defRPr lang="en-US" kern="1200" dirty="0">
                <a:solidFill>
                  <a:schemeClr val="tx1"/>
                </a:solidFill>
                <a:latin typeface="+mn-lt"/>
                <a:ea typeface="+mj-ea"/>
                <a:cs typeface="+mj-cs"/>
              </a:defRPr>
            </a:lvl4pPr>
            <a:lvl5pPr marL="712039" indent="-172314" algn="l" defTabSz="914258" rtl="0" eaLnBrk="1" fontAlgn="base" hangingPunct="1">
              <a:spcBef>
                <a:spcPct val="0"/>
              </a:spcBef>
              <a:spcAft>
                <a:spcPts val="600"/>
              </a:spcAft>
              <a:buFont typeface="Arial" charset="0"/>
              <a:buChar char="‒"/>
              <a:defRPr lang="en-GB" kern="1200" dirty="0">
                <a:solidFill>
                  <a:schemeClr val="tx1"/>
                </a:solidFill>
                <a:latin typeface="+mn-lt"/>
                <a:ea typeface="+mj-ea"/>
                <a:cs typeface="+mj-cs"/>
              </a:defRPr>
            </a:lvl5pPr>
            <a:lvl6pPr marL="803179" indent="-163770" algn="l" defTabSz="820269" rtl="0" eaLnBrk="1" latinLnBrk="0" hangingPunct="1">
              <a:spcBef>
                <a:spcPts val="0"/>
              </a:spcBef>
              <a:spcAft>
                <a:spcPts val="269"/>
              </a:spcAft>
              <a:buFont typeface="Arial" pitchFamily="34" charset="0"/>
              <a:buChar char="•"/>
              <a:defRPr sz="1400" kern="1200" baseline="0">
                <a:solidFill>
                  <a:schemeClr val="accent1"/>
                </a:solidFill>
                <a:latin typeface="+mn-lt"/>
                <a:ea typeface="+mn-ea"/>
                <a:cs typeface="+mn-cs"/>
              </a:defRPr>
            </a:lvl6pPr>
            <a:lvl7pPr marL="968371" indent="-165192"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7pPr>
            <a:lvl8pPr marL="1123597" indent="-155225"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8pPr>
            <a:lvl9pPr marL="1287365" indent="-163770" algn="l" defTabSz="820269" rtl="0" eaLnBrk="1" latinLnBrk="0" hangingPunct="1">
              <a:spcBef>
                <a:spcPts val="0"/>
              </a:spcBef>
              <a:spcAft>
                <a:spcPts val="269"/>
              </a:spcAft>
              <a:buFont typeface="Arial" pitchFamily="34" charset="0"/>
              <a:buChar char="‒"/>
              <a:defRPr sz="1300" kern="1200">
                <a:solidFill>
                  <a:schemeClr val="accent1"/>
                </a:solidFill>
                <a:latin typeface="+mn-lt"/>
                <a:ea typeface="+mn-ea"/>
                <a:cs typeface="+mn-cs"/>
              </a:defRPr>
            </a:lvl9pPr>
          </a:lstStyle>
          <a:p>
            <a:endParaRPr lang="en-US" sz="2800" dirty="0">
              <a:latin typeface="CBS NEW" panose="02000506080000020004" pitchFamily="2" charset="0"/>
            </a:endParaRPr>
          </a:p>
        </p:txBody>
      </p:sp>
    </p:spTree>
    <p:extLst>
      <p:ext uri="{BB962C8B-B14F-4D97-AF65-F5344CB8AC3E}">
        <p14:creationId xmlns:p14="http://schemas.microsoft.com/office/powerpoint/2010/main" val="1946840533"/>
      </p:ext>
    </p:extLst>
  </p:cSld>
  <p:clrMapOvr>
    <a:masterClrMapping/>
  </p:clrMapOvr>
  <p:transition/>
</p:sld>
</file>

<file path=ppt/theme/theme1.xml><?xml version="1.0" encoding="utf-8"?>
<a:theme xmlns:a="http://schemas.openxmlformats.org/drawingml/2006/main" name="CBS PowerPoint">
  <a:themeElements>
    <a:clrScheme name="Deloitte">
      <a:dk1>
        <a:srgbClr val="000000"/>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fontScheme name="19_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lIns="0" tIns="0" rIns="0" bIns="0" rtlCol="0">
        <a:spAutoFit/>
      </a:bodyPr>
      <a:lstStyle>
        <a:defPPr>
          <a:defRPr sz="2000" dirty="0" err="1" smtClean="0">
            <a:solidFill>
              <a:schemeClr val="tx2"/>
            </a:solidFill>
          </a:defRPr>
        </a:defPPr>
      </a:lstStyle>
    </a:txDef>
  </a:objectDefaults>
  <a:extraClrSchemeLst/>
</a:theme>
</file>

<file path=ppt/theme/theme2.xml><?xml version="1.0" encoding="utf-8"?>
<a:theme xmlns:a="http://schemas.openxmlformats.org/drawingml/2006/main" name="Kontortema">
  <a:themeElements>
    <a:clrScheme name="Kont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ont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17164</TotalTime>
  <Words>2210</Words>
  <Application>Microsoft Office PowerPoint</Application>
  <PresentationFormat>On-screen Show (4:3)</PresentationFormat>
  <Paragraphs>311</Paragraphs>
  <Slides>41</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Calibri</vt:lpstr>
      <vt:lpstr>CBS NEW</vt:lpstr>
      <vt:lpstr>Corbel Light</vt:lpstr>
      <vt:lpstr>Wingdings</vt:lpstr>
      <vt:lpstr>CBS PowerPoint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Christoph Houman Ellersgaard</dc:creator>
  <cp:lastModifiedBy>Christoph Houman Ellersgaard</cp:lastModifiedBy>
  <cp:revision>345</cp:revision>
  <dcterms:created xsi:type="dcterms:W3CDTF">2012-04-20T06:34:53Z</dcterms:created>
  <dcterms:modified xsi:type="dcterms:W3CDTF">2025-02-10T08:49:46Z</dcterms:modified>
</cp:coreProperties>
</file>