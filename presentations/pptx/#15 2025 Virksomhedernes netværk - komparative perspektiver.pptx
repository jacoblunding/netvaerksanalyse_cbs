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72" r:id="rId4"/>
    <p:sldId id="258" r:id="rId5"/>
    <p:sldId id="315" r:id="rId6"/>
    <p:sldId id="317" r:id="rId7"/>
    <p:sldId id="316" r:id="rId8"/>
    <p:sldId id="311" r:id="rId9"/>
    <p:sldId id="310" r:id="rId10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6494" autoAdjust="0"/>
  </p:normalViewPr>
  <p:slideViewPr>
    <p:cSldViewPr>
      <p:cViewPr varScale="1">
        <p:scale>
          <a:sx n="68" d="100"/>
          <a:sy n="68" d="100"/>
        </p:scale>
        <p:origin x="404" y="52"/>
      </p:cViewPr>
      <p:guideLst>
        <p:guide orient="horz" pos="210"/>
        <p:guide pos="249"/>
        <p:guide pos="5511"/>
        <p:guide orient="horz" pos="41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9C7E1-F2A3-49A9-A82E-B5FF5E15DA00}" type="datetimeFigureOut">
              <a:rPr lang="da-DK" smtClean="0"/>
              <a:t>12-03-2025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F6A9A-10CF-4AA0-BD89-7DB412DA925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1617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8353425" cy="719361"/>
          </a:xfrm>
        </p:spPr>
        <p:txBody>
          <a:bodyPr/>
          <a:lstStyle>
            <a:lvl1pPr>
              <a:lnSpc>
                <a:spcPct val="90000"/>
              </a:lnSpc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date, time and </a:t>
            </a:r>
            <a:r>
              <a:rPr lang="da-DK" dirty="0" err="1"/>
              <a:t>optional</a:t>
            </a:r>
            <a:r>
              <a:rPr lang="da-DK" dirty="0"/>
              <a:t> notes</a:t>
            </a:r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1052736"/>
            <a:ext cx="8353425" cy="2520279"/>
          </a:xfrm>
        </p:spPr>
        <p:txBody>
          <a:bodyPr anchor="b" anchorCtr="0"/>
          <a:lstStyle>
            <a:lvl1pPr>
              <a:lnSpc>
                <a:spcPct val="80000"/>
              </a:lnSpc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3" name="Pladsholder til tekst 12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3573016"/>
            <a:ext cx="8353425" cy="2303909"/>
          </a:xfrm>
        </p:spPr>
        <p:txBody>
          <a:bodyPr/>
          <a:lstStyle>
            <a:lvl1pPr>
              <a:lnSpc>
                <a:spcPct val="90000"/>
              </a:lnSpc>
              <a:defRPr sz="160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pic>
        <p:nvPicPr>
          <p:cNvPr id="102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18" y="6251942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B8DB67-AFFD-4A84-9282-C1A564A7964E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4008" y="6155992"/>
            <a:ext cx="4258310" cy="471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337675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5511" userDrawn="1">
          <p15:clr>
            <a:srgbClr val="FBAE40"/>
          </p15:clr>
        </p15:guide>
        <p15:guide id="3" pos="249" userDrawn="1">
          <p15:clr>
            <a:srgbClr val="FBAE40"/>
          </p15:clr>
        </p15:guide>
        <p15:guide id="4" orient="horz" pos="41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395289" y="1124743"/>
            <a:ext cx="8353424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25258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395289" y="1124743"/>
            <a:ext cx="3960687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7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788024" y="1124743"/>
            <a:ext cx="3960689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9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25911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395288" y="1124743"/>
            <a:ext cx="2520000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9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3312000" y="1124471"/>
            <a:ext cx="2520000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6215585" y="1124471"/>
            <a:ext cx="2520000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2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91254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7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395288" y="1124743"/>
            <a:ext cx="8353425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395288" y="3816002"/>
            <a:ext cx="8344783" cy="244800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6932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395289" y="1124743"/>
            <a:ext cx="3960687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7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788024" y="1124743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786367" y="3816002"/>
            <a:ext cx="3953704" cy="244800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40561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4788026" y="1124743"/>
            <a:ext cx="3960687" cy="5139531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396945" y="1124743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395288" y="3816002"/>
            <a:ext cx="3953704" cy="244800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3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73028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 hasCustomPrompt="1"/>
          </p:nvPr>
        </p:nvSpPr>
        <p:spPr>
          <a:xfrm>
            <a:off x="395288" y="3816002"/>
            <a:ext cx="8344783" cy="244800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788024" y="1124743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6" hasCustomPrompt="1"/>
          </p:nvPr>
        </p:nvSpPr>
        <p:spPr>
          <a:xfrm>
            <a:off x="395288" y="1124744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82957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 userDrawn="1"/>
        </p:nvSpPr>
        <p:spPr>
          <a:xfrm>
            <a:off x="4963528" y="6264002"/>
            <a:ext cx="3785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1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1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333375"/>
            <a:ext cx="5761037" cy="719138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title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788024" y="3815729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6" hasCustomPrompt="1"/>
          </p:nvPr>
        </p:nvSpPr>
        <p:spPr>
          <a:xfrm>
            <a:off x="395288" y="3815730"/>
            <a:ext cx="3960689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 hasCustomPrompt="1"/>
          </p:nvPr>
        </p:nvSpPr>
        <p:spPr>
          <a:xfrm>
            <a:off x="395288" y="1124743"/>
            <a:ext cx="8353425" cy="2448273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– or click an icon to add content</a:t>
            </a:r>
            <a:endParaRPr lang="da-DK" dirty="0"/>
          </a:p>
        </p:txBody>
      </p:sp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13" y="330743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6309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pos="5511">
          <p15:clr>
            <a:srgbClr val="FBAE40"/>
          </p15:clr>
        </p15:guide>
        <p15:guide id="3" pos="249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5288" y="333375"/>
            <a:ext cx="8353425" cy="6191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2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6" r:id="rId4"/>
    <p:sldLayoutId id="2147483672" r:id="rId5"/>
    <p:sldLayoutId id="2147483671" r:id="rId6"/>
    <p:sldLayoutId id="2147483675" r:id="rId7"/>
    <p:sldLayoutId id="2147483673" r:id="rId8"/>
    <p:sldLayoutId id="2147483674" r:id="rId9"/>
  </p:sldLayoutIdLst>
  <p:hf sldNum="0" hdr="0" dt="0"/>
  <p:txStyles>
    <p:titleStyle>
      <a:lvl1pPr algn="l" defTabSz="914258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200" b="1" kern="1200">
          <a:solidFill>
            <a:srgbClr val="4967AA"/>
          </a:solidFill>
          <a:latin typeface="+mj-lt"/>
          <a:ea typeface="+mj-ea"/>
          <a:cs typeface="+mj-cs"/>
        </a:defRPr>
      </a:lvl1pPr>
      <a:lvl2pPr algn="l" defTabSz="914258" rtl="0" eaLnBrk="1" fontAlgn="base" hangingPunct="1">
        <a:lnSpc>
          <a:spcPts val="305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defTabSz="914258" rtl="0" eaLnBrk="1" fontAlgn="base" hangingPunct="1">
        <a:lnSpc>
          <a:spcPts val="305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defTabSz="914258" rtl="0" eaLnBrk="1" fontAlgn="base" hangingPunct="1">
        <a:lnSpc>
          <a:spcPts val="305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defTabSz="914258" rtl="0" eaLnBrk="1" fontAlgn="base" hangingPunct="1">
        <a:lnSpc>
          <a:spcPts val="3050"/>
        </a:lnSpc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10134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</a:defRPr>
      </a:lvl6pPr>
      <a:lvl7pPr marL="820269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</a:defRPr>
      </a:lvl7pPr>
      <a:lvl8pPr marL="1230403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</a:defRPr>
      </a:lvl8pPr>
      <a:lvl9pPr marL="1640536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</a:defRPr>
      </a:lvl9pPr>
    </p:titleStyle>
    <p:bodyStyle>
      <a:lvl1pPr marL="0" indent="0" algn="l" defTabSz="914258" rtl="0" eaLnBrk="1" fontAlgn="base" hangingPunct="1">
        <a:spcBef>
          <a:spcPct val="0"/>
        </a:spcBef>
        <a:spcAft>
          <a:spcPts val="300"/>
        </a:spcAft>
        <a:buFont typeface="Arial" charset="0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82281" indent="-182281" algn="l" defTabSz="914258" rtl="0" eaLnBrk="1" fontAlgn="base" hangingPunct="1">
        <a:spcBef>
          <a:spcPct val="0"/>
        </a:spcBef>
        <a:spcAft>
          <a:spcPts val="300"/>
        </a:spcAft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+mj-ea"/>
          <a:cs typeface="+mj-cs"/>
        </a:defRPr>
      </a:lvl2pPr>
      <a:lvl3pPr marL="357444" indent="-175162" algn="l" defTabSz="914258" rtl="0" eaLnBrk="1" fontAlgn="base" hangingPunct="1">
        <a:spcBef>
          <a:spcPct val="0"/>
        </a:spcBef>
        <a:spcAft>
          <a:spcPts val="300"/>
        </a:spcAft>
        <a:buFont typeface="Arial" charset="0"/>
        <a:buChar char="‒"/>
        <a:defRPr lang="en-US" sz="2000" kern="1200" dirty="0">
          <a:solidFill>
            <a:schemeClr val="tx1"/>
          </a:solidFill>
          <a:latin typeface="+mn-lt"/>
          <a:ea typeface="+mj-ea"/>
          <a:cs typeface="+mj-cs"/>
        </a:defRPr>
      </a:lvl3pPr>
      <a:lvl4pPr marL="539725" indent="-182281" algn="l" defTabSz="914258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lang="en-US" kern="1200" dirty="0">
          <a:solidFill>
            <a:schemeClr val="tx1"/>
          </a:solidFill>
          <a:latin typeface="+mn-lt"/>
          <a:ea typeface="+mj-ea"/>
          <a:cs typeface="+mj-cs"/>
        </a:defRPr>
      </a:lvl4pPr>
      <a:lvl5pPr marL="712039" indent="-172314" algn="l" defTabSz="914258" rtl="0" eaLnBrk="1" fontAlgn="base" hangingPunct="1">
        <a:spcBef>
          <a:spcPct val="0"/>
        </a:spcBef>
        <a:spcAft>
          <a:spcPts val="600"/>
        </a:spcAft>
        <a:buFont typeface="Arial" charset="0"/>
        <a:buChar char="‒"/>
        <a:defRPr lang="en-GB" kern="1200" dirty="0">
          <a:solidFill>
            <a:schemeClr val="tx1"/>
          </a:solidFill>
          <a:latin typeface="+mn-lt"/>
          <a:ea typeface="+mj-ea"/>
          <a:cs typeface="+mj-cs"/>
        </a:defRPr>
      </a:lvl5pPr>
      <a:lvl6pPr marL="803179" indent="-163770" algn="l" defTabSz="820269" rtl="0" eaLnBrk="1" latinLnBrk="0" hangingPunct="1">
        <a:spcBef>
          <a:spcPts val="0"/>
        </a:spcBef>
        <a:spcAft>
          <a:spcPts val="269"/>
        </a:spcAft>
        <a:buFont typeface="Arial" pitchFamily="34" charset="0"/>
        <a:buChar char="•"/>
        <a:defRPr sz="1400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968371" indent="-165192" algn="l" defTabSz="820269" rtl="0" eaLnBrk="1" latinLnBrk="0" hangingPunct="1">
        <a:spcBef>
          <a:spcPts val="0"/>
        </a:spcBef>
        <a:spcAft>
          <a:spcPts val="269"/>
        </a:spcAft>
        <a:buFont typeface="Arial" pitchFamily="34" charset="0"/>
        <a:buChar char="‒"/>
        <a:defRPr sz="13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123597" indent="-155225" algn="l" defTabSz="820269" rtl="0" eaLnBrk="1" latinLnBrk="0" hangingPunct="1">
        <a:spcBef>
          <a:spcPts val="0"/>
        </a:spcBef>
        <a:spcAft>
          <a:spcPts val="269"/>
        </a:spcAft>
        <a:buFont typeface="Arial" pitchFamily="34" charset="0"/>
        <a:buChar char="•"/>
        <a:defRPr sz="13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287365" indent="-163770" algn="l" defTabSz="820269" rtl="0" eaLnBrk="1" latinLnBrk="0" hangingPunct="1">
        <a:spcBef>
          <a:spcPts val="0"/>
        </a:spcBef>
        <a:spcAft>
          <a:spcPts val="269"/>
        </a:spcAft>
        <a:buFont typeface="Arial" pitchFamily="34" charset="0"/>
        <a:buChar char="‒"/>
        <a:defRPr sz="13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presentation/d/1f1XGBuNaHNjujSxpkER4uzW1g3bS9hXCFTOenW2i9_s/edit?usp=shar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75648"/>
            <a:ext cx="5634626" cy="307343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288" y="764704"/>
            <a:ext cx="8353425" cy="288032"/>
          </a:xfrm>
        </p:spPr>
        <p:txBody>
          <a:bodyPr/>
          <a:lstStyle/>
          <a:p>
            <a:r>
              <a:rPr lang="en-US" dirty="0" err="1">
                <a:latin typeface="CBS NEW" panose="02000506080000020004" pitchFamily="2" charset="0"/>
              </a:rPr>
              <a:t>Virksomhedsstrategi</a:t>
            </a:r>
            <a:r>
              <a:rPr lang="en-US" dirty="0">
                <a:latin typeface="CBS NEW" panose="02000506080000020004" pitchFamily="2" charset="0"/>
              </a:rPr>
              <a:t> </a:t>
            </a:r>
            <a:r>
              <a:rPr lang="en-US" dirty="0" err="1">
                <a:latin typeface="CBS NEW" panose="02000506080000020004" pitchFamily="2" charset="0"/>
              </a:rPr>
              <a:t>i</a:t>
            </a:r>
            <a:r>
              <a:rPr lang="en-US" dirty="0">
                <a:latin typeface="CBS NEW" panose="02000506080000020004" pitchFamily="2" charset="0"/>
              </a:rPr>
              <a:t> et </a:t>
            </a:r>
            <a:r>
              <a:rPr lang="en-US" dirty="0" err="1">
                <a:latin typeface="CBS NEW" panose="02000506080000020004" pitchFamily="2" charset="0"/>
              </a:rPr>
              <a:t>netværksperspektiv</a:t>
            </a:r>
            <a:r>
              <a:rPr lang="en-US" dirty="0">
                <a:latin typeface="CBS NEW" panose="02000506080000020004" pitchFamily="2" charset="0"/>
              </a:rPr>
              <a:t>, </a:t>
            </a:r>
            <a:r>
              <a:rPr lang="en-US" dirty="0" err="1">
                <a:latin typeface="CBS NEW" panose="02000506080000020004" pitchFamily="2" charset="0"/>
              </a:rPr>
              <a:t>Forelæsning</a:t>
            </a:r>
            <a:r>
              <a:rPr lang="en-US" dirty="0">
                <a:latin typeface="CBS NEW" panose="02000506080000020004" pitchFamily="2" charset="0"/>
              </a:rPr>
              <a:t> #15, 12. marts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95288" y="4365104"/>
            <a:ext cx="8353425" cy="648072"/>
          </a:xfrm>
        </p:spPr>
        <p:txBody>
          <a:bodyPr/>
          <a:lstStyle/>
          <a:p>
            <a:r>
              <a:rPr lang="da-DK" sz="6000" dirty="0">
                <a:latin typeface="CBS NEW" panose="02000506080000020004" pitchFamily="2" charset="0"/>
              </a:rPr>
              <a:t>Virksomhedens Netværk II</a:t>
            </a:r>
            <a:endParaRPr lang="en-US" sz="6000" dirty="0">
              <a:latin typeface="CBS NEW" panose="02000506080000020004" pitchFamily="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95288" y="5373216"/>
            <a:ext cx="8353425" cy="503709"/>
          </a:xfrm>
        </p:spPr>
        <p:txBody>
          <a:bodyPr/>
          <a:lstStyle/>
          <a:p>
            <a:r>
              <a:rPr lang="en-US" dirty="0">
                <a:latin typeface="CBS NEW" panose="02000506080000020004" pitchFamily="2" charset="0"/>
              </a:rPr>
              <a:t>Christoph Ellersgaard</a:t>
            </a:r>
          </a:p>
          <a:p>
            <a:r>
              <a:rPr lang="en-US" dirty="0" err="1">
                <a:latin typeface="CBS NEW" panose="02000506080000020004" pitchFamily="2" charset="0"/>
              </a:rPr>
              <a:t>Lektor</a:t>
            </a:r>
            <a:r>
              <a:rPr lang="en-US" dirty="0">
                <a:latin typeface="CBS NEW" panose="02000506080000020004" pitchFamily="2" charset="0"/>
              </a:rPr>
              <a:t> </a:t>
            </a:r>
            <a:r>
              <a:rPr lang="en-US" dirty="0" err="1">
                <a:latin typeface="CBS NEW" panose="02000506080000020004" pitchFamily="2" charset="0"/>
              </a:rPr>
              <a:t>ved</a:t>
            </a:r>
            <a:r>
              <a:rPr lang="en-US" dirty="0">
                <a:latin typeface="CBS NEW" panose="02000506080000020004" pitchFamily="2" charset="0"/>
              </a:rPr>
              <a:t> Department of Organization, Copenhagen Business School</a:t>
            </a:r>
          </a:p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95288" y="1052736"/>
            <a:ext cx="7993136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/>
          <p:cNvSpPr txBox="1">
            <a:spLocks/>
          </p:cNvSpPr>
          <p:nvPr/>
        </p:nvSpPr>
        <p:spPr bwMode="auto">
          <a:xfrm>
            <a:off x="395536" y="4725145"/>
            <a:ext cx="8353425" cy="57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 defTabSz="914258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defRPr lang="en-US" sz="3600" b="1" kern="1200">
                <a:solidFill>
                  <a:srgbClr val="4967AA"/>
                </a:solidFill>
                <a:latin typeface="+mn-lt"/>
                <a:ea typeface="+mn-ea"/>
                <a:cs typeface="+mn-cs"/>
              </a:defRPr>
            </a:lvl1pPr>
            <a:lvl2pPr marL="182281" indent="-182281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2pPr>
            <a:lvl3pPr marL="357444" indent="-175162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‒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3pPr>
            <a:lvl4pPr marL="539725" indent="-182281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•"/>
              <a:defRPr lang="en-US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4pPr>
            <a:lvl5pPr marL="712039" indent="-172314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‒"/>
              <a:defRPr lang="en-GB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5pPr>
            <a:lvl6pPr marL="803179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968371" indent="-165192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23597" indent="-155225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287365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800" dirty="0">
                <a:latin typeface="CBS NEW" panose="02000506080000020004" pitchFamily="2" charset="0"/>
              </a:rPr>
              <a:t>Komparative perspektiver på Corporate interlocks i Europa</a:t>
            </a:r>
          </a:p>
        </p:txBody>
      </p:sp>
    </p:spTree>
    <p:extLst>
      <p:ext uri="{BB962C8B-B14F-4D97-AF65-F5344CB8AC3E}">
        <p14:creationId xmlns:p14="http://schemas.microsoft.com/office/powerpoint/2010/main" val="322925922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a-DK" sz="4800" dirty="0">
                <a:latin typeface="CBS NEW" panose="02000506080000020004" pitchFamily="2" charset="0"/>
              </a:rPr>
              <a:t>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a-DK" sz="3200" dirty="0">
                <a:latin typeface="CBS NEW" panose="02000506080000020004" pitchFamily="2" charset="0"/>
              </a:rPr>
              <a:t>time: Corporate interlocks i Europa</a:t>
            </a:r>
          </a:p>
          <a:p>
            <a:pPr marL="514350" indent="-51435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Corporate interlocks i Europa</a:t>
            </a:r>
          </a:p>
          <a:p>
            <a:pPr marL="514350" indent="-51435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Kort intro til teksterne</a:t>
            </a:r>
          </a:p>
          <a:p>
            <a:pPr marL="514350" indent="-51435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Arbejde med præsentationer</a:t>
            </a:r>
          </a:p>
          <a:p>
            <a:r>
              <a:rPr lang="da-DK" sz="3200" dirty="0">
                <a:latin typeface="CBS NEW" panose="02000506080000020004" pitchFamily="2" charset="0"/>
              </a:rPr>
              <a:t>2. time: Sammenligning af </a:t>
            </a:r>
            <a:r>
              <a:rPr lang="da-DK" sz="3200" dirty="0" err="1">
                <a:latin typeface="CBS NEW" panose="02000506080000020004" pitchFamily="2" charset="0"/>
              </a:rPr>
              <a:t>corporate</a:t>
            </a:r>
            <a:r>
              <a:rPr lang="da-DK" sz="3200" dirty="0">
                <a:latin typeface="CBS NEW" panose="02000506080000020004" pitchFamily="2" charset="0"/>
              </a:rPr>
              <a:t> interlocks mellem forskellige europæiske lande</a:t>
            </a:r>
          </a:p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Fremlæggelser af vigtigste egenskaber ved </a:t>
            </a:r>
            <a:r>
              <a:rPr lang="da-DK" sz="3200" dirty="0" err="1">
                <a:latin typeface="CBS NEW" panose="02000506080000020004" pitchFamily="2" charset="0"/>
              </a:rPr>
              <a:t>corporate</a:t>
            </a:r>
            <a:r>
              <a:rPr lang="da-DK" sz="3200" dirty="0">
                <a:latin typeface="CBS NEW" panose="02000506080000020004" pitchFamily="2" charset="0"/>
              </a:rPr>
              <a:t> interlocks i forskellige lande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0296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288" y="764704"/>
            <a:ext cx="8353425" cy="288032"/>
          </a:xfrm>
        </p:spPr>
        <p:txBody>
          <a:bodyPr/>
          <a:lstStyle/>
          <a:p>
            <a:r>
              <a:rPr lang="en-US" dirty="0" err="1">
                <a:latin typeface="CBS NEW" panose="02000506080000020004" pitchFamily="2" charset="0"/>
              </a:rPr>
              <a:t>Virksomhedsstrategi</a:t>
            </a:r>
            <a:r>
              <a:rPr lang="en-US" dirty="0">
                <a:latin typeface="CBS NEW" panose="02000506080000020004" pitchFamily="2" charset="0"/>
              </a:rPr>
              <a:t> </a:t>
            </a:r>
            <a:r>
              <a:rPr lang="en-US" dirty="0" err="1">
                <a:latin typeface="CBS NEW" panose="02000506080000020004" pitchFamily="2" charset="0"/>
              </a:rPr>
              <a:t>i</a:t>
            </a:r>
            <a:r>
              <a:rPr lang="en-US" dirty="0">
                <a:latin typeface="CBS NEW" panose="02000506080000020004" pitchFamily="2" charset="0"/>
              </a:rPr>
              <a:t> et </a:t>
            </a:r>
            <a:r>
              <a:rPr lang="en-US" dirty="0" err="1">
                <a:latin typeface="CBS NEW" panose="02000506080000020004" pitchFamily="2" charset="0"/>
              </a:rPr>
              <a:t>netværksperspektiv</a:t>
            </a:r>
            <a:r>
              <a:rPr lang="en-US" dirty="0">
                <a:latin typeface="CBS NEW" panose="02000506080000020004" pitchFamily="2" charset="0"/>
              </a:rPr>
              <a:t>, </a:t>
            </a:r>
            <a:r>
              <a:rPr lang="en-US" dirty="0" err="1">
                <a:latin typeface="CBS NEW" panose="02000506080000020004" pitchFamily="2" charset="0"/>
              </a:rPr>
              <a:t>Forelæsning</a:t>
            </a:r>
            <a:r>
              <a:rPr lang="en-US" dirty="0">
                <a:latin typeface="CBS NEW" panose="02000506080000020004" pitchFamily="2" charset="0"/>
              </a:rPr>
              <a:t> #15, 12. marts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95288" y="4365104"/>
            <a:ext cx="8353425" cy="648072"/>
          </a:xfrm>
        </p:spPr>
        <p:txBody>
          <a:bodyPr/>
          <a:lstStyle/>
          <a:p>
            <a:r>
              <a:rPr lang="en-US" sz="5200" dirty="0">
                <a:latin typeface="CBS NEW" panose="02000506080000020004" pitchFamily="2" charset="0"/>
              </a:rPr>
              <a:t>1. time: Corporate interlocks </a:t>
            </a:r>
            <a:r>
              <a:rPr lang="en-US" sz="5200" dirty="0" err="1">
                <a:latin typeface="CBS NEW" panose="02000506080000020004" pitchFamily="2" charset="0"/>
              </a:rPr>
              <a:t>i</a:t>
            </a:r>
            <a:r>
              <a:rPr lang="en-US" sz="5200" dirty="0">
                <a:latin typeface="CBS NEW" panose="02000506080000020004" pitchFamily="2" charset="0"/>
              </a:rPr>
              <a:t> Europa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95288" y="1052736"/>
            <a:ext cx="7993136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/>
          <p:cNvSpPr txBox="1">
            <a:spLocks/>
          </p:cNvSpPr>
          <p:nvPr/>
        </p:nvSpPr>
        <p:spPr bwMode="auto">
          <a:xfrm>
            <a:off x="395536" y="4725145"/>
            <a:ext cx="8353425" cy="57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 defTabSz="914258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defRPr lang="en-US" sz="3600" b="1" kern="1200">
                <a:solidFill>
                  <a:srgbClr val="4967AA"/>
                </a:solidFill>
                <a:latin typeface="+mn-lt"/>
                <a:ea typeface="+mn-ea"/>
                <a:cs typeface="+mn-cs"/>
              </a:defRPr>
            </a:lvl1pPr>
            <a:lvl2pPr marL="182281" indent="-182281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2pPr>
            <a:lvl3pPr marL="357444" indent="-175162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‒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3pPr>
            <a:lvl4pPr marL="539725" indent="-182281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•"/>
              <a:defRPr lang="en-US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4pPr>
            <a:lvl5pPr marL="712039" indent="-172314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‒"/>
              <a:defRPr lang="en-GB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5pPr>
            <a:lvl6pPr marL="803179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968371" indent="-165192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23597" indent="-155225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287365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BS NEW" panose="0200050608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6118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a-DK" sz="4800" dirty="0" err="1">
                <a:latin typeface="CBS NEW" panose="02000506080000020004" pitchFamily="2" charset="0"/>
              </a:rPr>
              <a:t>Stokman</a:t>
            </a:r>
            <a:r>
              <a:rPr lang="da-DK" sz="4800" dirty="0">
                <a:latin typeface="CBS NEW" panose="02000506080000020004" pitchFamily="2" charset="0"/>
              </a:rPr>
              <a:t> &amp; </a:t>
            </a:r>
            <a:r>
              <a:rPr lang="da-DK" sz="4800" dirty="0" err="1">
                <a:latin typeface="CBS NEW" panose="02000506080000020004" pitchFamily="2" charset="0"/>
              </a:rPr>
              <a:t>Wasseur</a:t>
            </a:r>
            <a:endParaRPr lang="da-DK" sz="4800" dirty="0">
              <a:latin typeface="CBS NEW" panose="0200050608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95289" y="1124743"/>
            <a:ext cx="8353424" cy="5139531"/>
          </a:xfrm>
        </p:spPr>
        <p:txBody>
          <a:bodyPr>
            <a:normAutofit/>
          </a:bodyPr>
          <a:lstStyle/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Del af stort sammenlignende projekt af erhvervsnetværk</a:t>
            </a:r>
          </a:p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Data er (meget) gamle (fra 1976), 250 virksomheder fra hvert land</a:t>
            </a:r>
          </a:p>
          <a:p>
            <a:pPr marL="639481" lvl="1" indent="-457200">
              <a:buFont typeface="CBS NEW" panose="02000506080000020004" pitchFamily="2" charset="0"/>
              <a:buChar char="—"/>
            </a:pPr>
            <a:r>
              <a:rPr lang="da-DK" sz="2800" dirty="0">
                <a:latin typeface="CBS NEW" panose="02000506080000020004" pitchFamily="2" charset="0"/>
              </a:rPr>
              <a:t>Men ofte er sådanne strukturer meget stabile. Nogle kan måske have ændret sig, men forskellene kan stadig have betydning</a:t>
            </a:r>
          </a:p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Nøglebegreber i sammenligninger: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Multiple </a:t>
            </a:r>
            <a:r>
              <a:rPr lang="da-DK" sz="2400" dirty="0" err="1">
                <a:latin typeface="CBS NEW" panose="02000506080000020004" pitchFamily="2" charset="0"/>
              </a:rPr>
              <a:t>directors</a:t>
            </a:r>
            <a:r>
              <a:rPr lang="da-DK" sz="2400" dirty="0">
                <a:latin typeface="CBS NEW" panose="02000506080000020004" pitchFamily="2" charset="0"/>
              </a:rPr>
              <a:t>: Dem, som bygger bro mellem større virksomheder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 err="1">
                <a:latin typeface="CBS NEW" panose="02000506080000020004" pitchFamily="2" charset="0"/>
              </a:rPr>
              <a:t>Multiplicity</a:t>
            </a:r>
            <a:r>
              <a:rPr lang="da-DK" sz="2400" dirty="0">
                <a:latin typeface="CBS NEW" panose="02000506080000020004" pitchFamily="2" charset="0"/>
              </a:rPr>
              <a:t> of lines: Forbindelser skabt af mindst to personer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Distance: Om virksomheder er direkte (1) eller indirekte (2) forbundet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 err="1">
                <a:latin typeface="CBS NEW" panose="02000506080000020004" pitchFamily="2" charset="0"/>
              </a:rPr>
              <a:t>Isolated</a:t>
            </a:r>
            <a:r>
              <a:rPr lang="da-DK" sz="2400" dirty="0">
                <a:latin typeface="CBS NEW" panose="02000506080000020004" pitchFamily="2" charset="0"/>
              </a:rPr>
              <a:t> og components: Om man er en del af netværket eller ej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Antal forbindelser skabt af den bedst forbundne virksomhed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538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a-DK" sz="4800" dirty="0" err="1">
                <a:latin typeface="CBS NEW" panose="02000506080000020004" pitchFamily="2" charset="0"/>
              </a:rPr>
              <a:t>Cárdenas</a:t>
            </a:r>
            <a:endParaRPr lang="da-DK" sz="4800" dirty="0">
              <a:latin typeface="CBS NEW" panose="0200050608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95289" y="1124743"/>
            <a:ext cx="8353424" cy="513953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Nyere data (2005), 50 største virksomheder i hvert land</a:t>
            </a:r>
          </a:p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Forsøger at analysere formen af forskellige erhvervsnetværk i en komparativ politisk-økonomisk ramme</a:t>
            </a:r>
          </a:p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Nøglebegreber i sammenligninger: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Densitet: Tæthed af forbindelser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 err="1">
                <a:latin typeface="CBS NEW" panose="02000506080000020004" pitchFamily="2" charset="0"/>
              </a:rPr>
              <a:t>Compactness</a:t>
            </a:r>
            <a:r>
              <a:rPr lang="da-DK" sz="2400" dirty="0">
                <a:latin typeface="CBS NEW" panose="02000506080000020004" pitchFamily="2" charset="0"/>
              </a:rPr>
              <a:t>: Sandsynligheden for, at alle man er forbundet til, er forbundet til hinanden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Centralisering: Hvor centralt den mest centrale virksomhed er i forhold til de øvrige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>
                <a:latin typeface="CBS NEW" panose="02000506080000020004" pitchFamily="2" charset="0"/>
              </a:rPr>
              <a:t>Multiple relations: Flere direktører forbinder de samme firmaer (som </a:t>
            </a:r>
            <a:r>
              <a:rPr lang="da-DK" sz="2400" dirty="0" err="1">
                <a:latin typeface="CBS NEW" panose="02000506080000020004" pitchFamily="2" charset="0"/>
              </a:rPr>
              <a:t>Multiplicity</a:t>
            </a:r>
            <a:r>
              <a:rPr lang="da-DK" sz="2400" dirty="0">
                <a:latin typeface="CBS NEW" panose="02000506080000020004" pitchFamily="2" charset="0"/>
              </a:rPr>
              <a:t> of lines hos </a:t>
            </a:r>
            <a:r>
              <a:rPr lang="da-DK" sz="2400" dirty="0" err="1">
                <a:latin typeface="CBS NEW" panose="02000506080000020004" pitchFamily="2" charset="0"/>
              </a:rPr>
              <a:t>Stokman</a:t>
            </a:r>
            <a:r>
              <a:rPr lang="da-DK" sz="2400" dirty="0">
                <a:latin typeface="CBS NEW" panose="02000506080000020004" pitchFamily="2" charset="0"/>
              </a:rPr>
              <a:t> &amp; </a:t>
            </a:r>
            <a:r>
              <a:rPr lang="da-DK" sz="2400" dirty="0" err="1">
                <a:latin typeface="CBS NEW" panose="02000506080000020004" pitchFamily="2" charset="0"/>
              </a:rPr>
              <a:t>Wasseur</a:t>
            </a:r>
            <a:r>
              <a:rPr lang="da-DK" sz="2400" dirty="0">
                <a:latin typeface="CBS NEW" panose="02000506080000020004" pitchFamily="2" charset="0"/>
              </a:rPr>
              <a:t>)</a:t>
            </a:r>
          </a:p>
          <a:p>
            <a:pPr marL="996925" lvl="3" indent="-457200">
              <a:buFont typeface="CBS NEW" panose="02000506080000020004" pitchFamily="2" charset="0"/>
              <a:buChar char="—"/>
            </a:pPr>
            <a:r>
              <a:rPr lang="da-DK" sz="2400" dirty="0" err="1">
                <a:latin typeface="CBS NEW" panose="02000506080000020004" pitchFamily="2" charset="0"/>
              </a:rPr>
              <a:t>Reachability</a:t>
            </a:r>
            <a:r>
              <a:rPr lang="da-DK" sz="2400" dirty="0">
                <a:latin typeface="CBS NEW" panose="02000506080000020004" pitchFamily="2" charset="0"/>
              </a:rPr>
              <a:t>: Hvor stor en andel af de øvrige firmaer, den mest centrale aktør kan nå ud til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241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71E46-818F-D84A-0DB5-09952D27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4B15B1-92AE-F52A-6FA0-8C0C8DA4F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latin typeface="CBS NEW" panose="02000506080000020004" pitchFamily="2" charset="0"/>
              </a:rPr>
              <a:t>D</a:t>
            </a:r>
            <a:r>
              <a:rPr lang="da-DK" sz="4800" dirty="0" err="1">
                <a:latin typeface="CBS NEW" panose="02000506080000020004" pitchFamily="2" charset="0"/>
              </a:rPr>
              <a:t>avid</a:t>
            </a:r>
            <a:r>
              <a:rPr lang="da-DK" sz="4800" dirty="0">
                <a:latin typeface="CBS NEW" panose="02000506080000020004" pitchFamily="2" charset="0"/>
              </a:rPr>
              <a:t> &amp; </a:t>
            </a:r>
            <a:r>
              <a:rPr lang="da-DK" sz="4800" dirty="0" err="1">
                <a:latin typeface="CBS NEW" panose="02000506080000020004" pitchFamily="2" charset="0"/>
              </a:rPr>
              <a:t>Westerhuis</a:t>
            </a:r>
            <a:endParaRPr lang="da-DK" sz="4800" dirty="0">
              <a:latin typeface="CBS NEW" panose="0200050608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F73A-599D-8ECB-EF33-3678369CC4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5289" y="1124743"/>
            <a:ext cx="8353424" cy="5139531"/>
          </a:xfrm>
        </p:spPr>
        <p:txBody>
          <a:bodyPr>
            <a:normAutofit/>
          </a:bodyPr>
          <a:lstStyle/>
          <a:p>
            <a:pPr marL="457200" indent="-457200">
              <a:buFont typeface="CBS NEW" panose="02000506080000020004" pitchFamily="2" charset="0"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Historiske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BS NEW" panose="02000506080000020004" pitchFamily="2" charset="0"/>
              </a:rPr>
              <a:t>Macro level: the political and economic environment at the national level;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latin typeface="CBS NEW" panose="02000506080000020004" pitchFamily="2" charset="0"/>
              </a:rPr>
              <a:t>Meso</a:t>
            </a:r>
            <a:r>
              <a:rPr lang="en-US" sz="2400" dirty="0">
                <a:latin typeface="CBS NEW" panose="02000506080000020004" pitchFamily="2" charset="0"/>
              </a:rPr>
              <a:t> level: the social structure of the network. Firms and their stakeholders act as economic agents but within the boundaries of the structure of the corporate network;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BS NEW" panose="02000506080000020004" pitchFamily="2" charset="0"/>
              </a:rPr>
              <a:t>Micro level: the stakeholders within firms. Owners, managers and employees each have their own and sometimes conflicting interests.</a:t>
            </a:r>
            <a:endParaRPr lang="da-DK" sz="2400" dirty="0">
              <a:latin typeface="CBS NEW" panose="0200050608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78E2D0-D002-BED8-A4BD-71310272064B}"/>
              </a:ext>
            </a:extLst>
          </p:cNvPr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86E212F-13D2-0585-F5CA-7F698619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023228"/>
            <a:ext cx="4680520" cy="280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020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a-DK" sz="4800" dirty="0" err="1">
                <a:latin typeface="CBS NEW" panose="02000506080000020004" pitchFamily="2" charset="0"/>
              </a:rPr>
              <a:t>Cárdenas</a:t>
            </a:r>
            <a:endParaRPr lang="da-DK" sz="4800" dirty="0">
              <a:latin typeface="CBS NEW" panose="02000506080000020004" pitchFamily="2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lh6.googleusercontent.com/eSj089QdZkmHkYUZ5M9l-Rw6Jfw5CrR0RJMwgrdxsV4p_Db_ZC7hNcjdoxBvbvNNsnS4TPsfUgrdJmsO9H72EPgIhNgBhk8uxrC78XigXd9NUJAsF0AMSSrgSHVRtPIyktSb0F-Fu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223774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6333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a-DK" sz="4800" dirty="0">
                <a:latin typeface="CBS NEW" panose="02000506080000020004" pitchFamily="2" charset="0"/>
              </a:rPr>
              <a:t>Gruppearbejde: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457200" indent="-457200">
              <a:buFontTx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Om et øjeblik fordeler vi et land til hver gruppe</a:t>
            </a:r>
          </a:p>
          <a:p>
            <a:pPr marL="457200" indent="-457200">
              <a:buFontTx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I skal præsentere i anden time. 3 minutter til hver gruppe</a:t>
            </a:r>
          </a:p>
          <a:p>
            <a:pPr marL="457200" indent="-457200">
              <a:buFontTx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Link: </a:t>
            </a:r>
            <a:r>
              <a:rPr lang="da-DK" sz="3200" dirty="0">
                <a:latin typeface="CBS NEW" panose="02000506080000020004" pitchFamily="2" charset="0"/>
                <a:hlinkClick r:id="rId2"/>
              </a:rPr>
              <a:t>https://docs.google.com/presentation/d/1f1XGBuNaHNjujSxpkER4uzW1g3bS9hXCFTOenW2i9_s/edit?usp=sharing</a:t>
            </a:r>
            <a:endParaRPr lang="da-DK" sz="3200" dirty="0">
              <a:latin typeface="CBS NEW" panose="02000506080000020004" pitchFamily="2" charset="0"/>
            </a:endParaRPr>
          </a:p>
          <a:p>
            <a:pPr marL="457200" indent="-457200">
              <a:buFontTx/>
              <a:buChar char="—"/>
            </a:pPr>
            <a:endParaRPr lang="da-DK" sz="3200" dirty="0">
              <a:latin typeface="CBS NEW" panose="02000506080000020004" pitchFamily="2" charset="0"/>
            </a:endParaRPr>
          </a:p>
          <a:p>
            <a:pPr marL="457200" indent="-457200">
              <a:buFontTx/>
              <a:buChar char="—"/>
            </a:pPr>
            <a:r>
              <a:rPr lang="da-DK" sz="3200" dirty="0">
                <a:latin typeface="CBS NEW" panose="02000506080000020004" pitchFamily="2" charset="0"/>
              </a:rPr>
              <a:t>Vi mødes igen kl. 08.50 </a:t>
            </a:r>
            <a:r>
              <a:rPr lang="da-DK" sz="3200" i="1" dirty="0" err="1">
                <a:latin typeface="CBS NEW" panose="02000506080000020004" pitchFamily="2" charset="0"/>
              </a:rPr>
              <a:t>sharp</a:t>
            </a:r>
            <a:r>
              <a:rPr lang="da-DK" sz="3200" i="1" dirty="0">
                <a:latin typeface="CBS NEW" panose="02000506080000020004" pitchFamily="2" charset="0"/>
              </a:rPr>
              <a:t>!</a:t>
            </a:r>
            <a:r>
              <a:rPr lang="da-DK" sz="3200" dirty="0">
                <a:latin typeface="CBS NEW" panose="02000506080000020004" pitchFamily="2" charset="0"/>
              </a:rPr>
              <a:t> </a:t>
            </a:r>
          </a:p>
          <a:p>
            <a:pPr marL="996925" lvl="3" indent="-457200">
              <a:buFontTx/>
              <a:buChar char="—"/>
            </a:pPr>
            <a:r>
              <a:rPr lang="da-DK" sz="3000" dirty="0">
                <a:latin typeface="CBS NEW" panose="02000506080000020004" pitchFamily="2" charset="0"/>
              </a:rPr>
              <a:t>Sørg selv for at holde pause…</a:t>
            </a:r>
          </a:p>
          <a:p>
            <a:endParaRPr lang="da-DK" sz="3200" dirty="0">
              <a:latin typeface="CBS NEW" panose="02000506080000020004" pitchFamily="2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95288" y="1052513"/>
            <a:ext cx="5761037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84685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288" y="764704"/>
            <a:ext cx="8353425" cy="288032"/>
          </a:xfrm>
        </p:spPr>
        <p:txBody>
          <a:bodyPr/>
          <a:lstStyle/>
          <a:p>
            <a:r>
              <a:rPr lang="en-US" dirty="0" err="1">
                <a:latin typeface="CBS NEW" panose="02000506080000020004" pitchFamily="2" charset="0"/>
              </a:rPr>
              <a:t>Virksomhedsstrategi</a:t>
            </a:r>
            <a:r>
              <a:rPr lang="en-US" dirty="0">
                <a:latin typeface="CBS NEW" panose="02000506080000020004" pitchFamily="2" charset="0"/>
              </a:rPr>
              <a:t> </a:t>
            </a:r>
            <a:r>
              <a:rPr lang="en-US" dirty="0" err="1">
                <a:latin typeface="CBS NEW" panose="02000506080000020004" pitchFamily="2" charset="0"/>
              </a:rPr>
              <a:t>i</a:t>
            </a:r>
            <a:r>
              <a:rPr lang="en-US" dirty="0">
                <a:latin typeface="CBS NEW" panose="02000506080000020004" pitchFamily="2" charset="0"/>
              </a:rPr>
              <a:t> et </a:t>
            </a:r>
            <a:r>
              <a:rPr lang="en-US" dirty="0" err="1">
                <a:latin typeface="CBS NEW" panose="02000506080000020004" pitchFamily="2" charset="0"/>
              </a:rPr>
              <a:t>netværksperspektiv</a:t>
            </a:r>
            <a:r>
              <a:rPr lang="en-US" dirty="0">
                <a:latin typeface="CBS NEW" panose="02000506080000020004" pitchFamily="2" charset="0"/>
              </a:rPr>
              <a:t>, </a:t>
            </a:r>
            <a:r>
              <a:rPr lang="en-US" dirty="0" err="1">
                <a:latin typeface="CBS NEW" panose="02000506080000020004" pitchFamily="2" charset="0"/>
              </a:rPr>
              <a:t>Forelæsning</a:t>
            </a:r>
            <a:r>
              <a:rPr lang="en-US" dirty="0">
                <a:latin typeface="CBS NEW" panose="02000506080000020004" pitchFamily="2" charset="0"/>
              </a:rPr>
              <a:t> #15, 12. marts 2025</a:t>
            </a:r>
          </a:p>
          <a:p>
            <a:endParaRPr lang="en-US" dirty="0">
              <a:latin typeface="CBS NEW" panose="02000506080000020004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95288" y="4365104"/>
            <a:ext cx="8353425" cy="648072"/>
          </a:xfrm>
        </p:spPr>
        <p:txBody>
          <a:bodyPr/>
          <a:lstStyle/>
          <a:p>
            <a:r>
              <a:rPr lang="en-US" sz="5400" dirty="0" err="1">
                <a:latin typeface="CBS NEW" panose="02000506080000020004" pitchFamily="2" charset="0"/>
              </a:rPr>
              <a:t>Tak</a:t>
            </a:r>
            <a:r>
              <a:rPr lang="en-US" sz="5400" dirty="0">
                <a:latin typeface="CBS NEW" panose="02000506080000020004" pitchFamily="2" charset="0"/>
              </a:rPr>
              <a:t> for </a:t>
            </a:r>
            <a:r>
              <a:rPr lang="en-US" sz="5400" dirty="0" err="1">
                <a:latin typeface="CBS NEW" panose="02000506080000020004" pitchFamily="2" charset="0"/>
              </a:rPr>
              <a:t>i</a:t>
            </a:r>
            <a:r>
              <a:rPr lang="en-US" sz="5400" dirty="0">
                <a:latin typeface="CBS NEW" panose="02000506080000020004" pitchFamily="2" charset="0"/>
              </a:rPr>
              <a:t> dag!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95288" y="1052736"/>
            <a:ext cx="7993136" cy="0"/>
          </a:xfrm>
          <a:prstGeom prst="line">
            <a:avLst/>
          </a:prstGeom>
          <a:ln w="38100">
            <a:solidFill>
              <a:srgbClr val="4967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/>
          <p:cNvSpPr txBox="1">
            <a:spLocks/>
          </p:cNvSpPr>
          <p:nvPr/>
        </p:nvSpPr>
        <p:spPr bwMode="auto">
          <a:xfrm>
            <a:off x="395536" y="4725145"/>
            <a:ext cx="8353425" cy="57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 defTabSz="914258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defRPr lang="en-US" sz="3600" b="1" kern="1200">
                <a:solidFill>
                  <a:srgbClr val="4967AA"/>
                </a:solidFill>
                <a:latin typeface="+mn-lt"/>
                <a:ea typeface="+mn-ea"/>
                <a:cs typeface="+mn-cs"/>
              </a:defRPr>
            </a:lvl1pPr>
            <a:lvl2pPr marL="182281" indent="-182281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2pPr>
            <a:lvl3pPr marL="357444" indent="-175162" algn="l" defTabSz="914258" rtl="0" eaLnBrk="1" fontAlgn="base" hangingPunct="1">
              <a:spcBef>
                <a:spcPct val="0"/>
              </a:spcBef>
              <a:spcAft>
                <a:spcPts val="300"/>
              </a:spcAft>
              <a:buFont typeface="Arial" charset="0"/>
              <a:buChar char="‒"/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3pPr>
            <a:lvl4pPr marL="539725" indent="-182281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•"/>
              <a:defRPr lang="en-US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4pPr>
            <a:lvl5pPr marL="712039" indent="-172314" algn="l" defTabSz="914258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Char char="‒"/>
              <a:defRPr lang="en-GB" kern="120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5pPr>
            <a:lvl6pPr marL="803179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968371" indent="-165192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23597" indent="-155225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287365" indent="-163770" algn="l" defTabSz="820269" rtl="0" eaLnBrk="1" latinLnBrk="0" hangingPunct="1">
              <a:spcBef>
                <a:spcPts val="0"/>
              </a:spcBef>
              <a:spcAft>
                <a:spcPts val="269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BS NEW" panose="0200050608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4516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BS PowerPoint">
  <a:themeElements>
    <a:clrScheme name="Deloitte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9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8474</TotalTime>
  <Words>455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CBS NEW</vt:lpstr>
      <vt:lpstr>CBS 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Christoph Houman Ellersgaard</dc:creator>
  <cp:lastModifiedBy>Christoph Houman Ellersgaard</cp:lastModifiedBy>
  <cp:revision>267</cp:revision>
  <dcterms:created xsi:type="dcterms:W3CDTF">2012-04-20T06:34:53Z</dcterms:created>
  <dcterms:modified xsi:type="dcterms:W3CDTF">2025-03-12T10:40:55Z</dcterms:modified>
</cp:coreProperties>
</file>