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433" r:id="rId3"/>
    <p:sldId id="421" r:id="rId4"/>
    <p:sldId id="532" r:id="rId5"/>
    <p:sldId id="425" r:id="rId6"/>
    <p:sldId id="534" r:id="rId7"/>
    <p:sldId id="533" r:id="rId8"/>
    <p:sldId id="423" r:id="rId9"/>
    <p:sldId id="525" r:id="rId10"/>
    <p:sldId id="552" r:id="rId11"/>
    <p:sldId id="553" r:id="rId12"/>
    <p:sldId id="428" r:id="rId13"/>
    <p:sldId id="549" r:id="rId14"/>
    <p:sldId id="548" r:id="rId15"/>
    <p:sldId id="551" r:id="rId16"/>
    <p:sldId id="536" r:id="rId17"/>
    <p:sldId id="429" r:id="rId18"/>
    <p:sldId id="430" r:id="rId19"/>
    <p:sldId id="431" r:id="rId20"/>
    <p:sldId id="432" r:id="rId21"/>
    <p:sldId id="434" r:id="rId22"/>
    <p:sldId id="258" r:id="rId23"/>
    <p:sldId id="259" r:id="rId24"/>
    <p:sldId id="265" r:id="rId25"/>
    <p:sldId id="273" r:id="rId26"/>
    <p:sldId id="528" r:id="rId27"/>
    <p:sldId id="417" r:id="rId28"/>
    <p:sldId id="317" r:id="rId29"/>
    <p:sldId id="316" r:id="rId30"/>
    <p:sldId id="318" r:id="rId31"/>
    <p:sldId id="394" r:id="rId32"/>
    <p:sldId id="524" r:id="rId33"/>
    <p:sldId id="547" r:id="rId34"/>
    <p:sldId id="554" r:id="rId35"/>
    <p:sldId id="401" r:id="rId36"/>
    <p:sldId id="411" r:id="rId37"/>
    <p:sldId id="419" r:id="rId38"/>
    <p:sldId id="522" r:id="rId39"/>
    <p:sldId id="402" r:id="rId40"/>
    <p:sldId id="523" r:id="rId41"/>
    <p:sldId id="379" r:id="rId42"/>
    <p:sldId id="542" r:id="rId43"/>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04"/>
    <p:restoredTop sz="94643"/>
  </p:normalViewPr>
  <p:slideViewPr>
    <p:cSldViewPr snapToGrid="0" snapToObjects="1">
      <p:cViewPr varScale="1">
        <p:scale>
          <a:sx n="83" d="100"/>
          <a:sy n="83" d="100"/>
        </p:scale>
        <p:origin x="232"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1E75F-39F9-4441-9951-7BE97C3F273A}" type="datetimeFigureOut">
              <a:rPr lang="da-DK" smtClean="0"/>
              <a:t>05.02.2025</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8F12B-FBB0-014B-9EFD-C8651758F11A}" type="slidenum">
              <a:rPr lang="da-DK" smtClean="0"/>
              <a:t>‹#›</a:t>
            </a:fld>
            <a:endParaRPr lang="da-DK"/>
          </a:p>
        </p:txBody>
      </p:sp>
    </p:spTree>
    <p:extLst>
      <p:ext uri="{BB962C8B-B14F-4D97-AF65-F5344CB8AC3E}">
        <p14:creationId xmlns:p14="http://schemas.microsoft.com/office/powerpoint/2010/main" val="1881551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28</a:t>
            </a:fld>
            <a:endParaRPr lang="en-US"/>
          </a:p>
        </p:txBody>
      </p:sp>
    </p:spTree>
    <p:extLst>
      <p:ext uri="{BB962C8B-B14F-4D97-AF65-F5344CB8AC3E}">
        <p14:creationId xmlns:p14="http://schemas.microsoft.com/office/powerpoint/2010/main" val="2286902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29</a:t>
            </a:fld>
            <a:endParaRPr lang="en-US"/>
          </a:p>
        </p:txBody>
      </p:sp>
    </p:spTree>
    <p:extLst>
      <p:ext uri="{BB962C8B-B14F-4D97-AF65-F5344CB8AC3E}">
        <p14:creationId xmlns:p14="http://schemas.microsoft.com/office/powerpoint/2010/main" val="114941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30</a:t>
            </a:fld>
            <a:endParaRPr lang="en-US"/>
          </a:p>
        </p:txBody>
      </p:sp>
    </p:spTree>
    <p:extLst>
      <p:ext uri="{BB962C8B-B14F-4D97-AF65-F5344CB8AC3E}">
        <p14:creationId xmlns:p14="http://schemas.microsoft.com/office/powerpoint/2010/main" val="1318682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31</a:t>
            </a:fld>
            <a:endParaRPr lang="en-US"/>
          </a:p>
        </p:txBody>
      </p:sp>
    </p:spTree>
    <p:extLst>
      <p:ext uri="{BB962C8B-B14F-4D97-AF65-F5344CB8AC3E}">
        <p14:creationId xmlns:p14="http://schemas.microsoft.com/office/powerpoint/2010/main" val="182094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32</a:t>
            </a:fld>
            <a:endParaRPr lang="en-US"/>
          </a:p>
        </p:txBody>
      </p:sp>
    </p:spTree>
    <p:extLst>
      <p:ext uri="{BB962C8B-B14F-4D97-AF65-F5344CB8AC3E}">
        <p14:creationId xmlns:p14="http://schemas.microsoft.com/office/powerpoint/2010/main" val="4277976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38</a:t>
            </a:fld>
            <a:endParaRPr lang="en-US"/>
          </a:p>
        </p:txBody>
      </p:sp>
    </p:spTree>
    <p:extLst>
      <p:ext uri="{BB962C8B-B14F-4D97-AF65-F5344CB8AC3E}">
        <p14:creationId xmlns:p14="http://schemas.microsoft.com/office/powerpoint/2010/main" val="600855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44E16CAF-D8E6-E34E-AF5A-3EDDF0E10AD2}" type="slidenum">
              <a:rPr lang="en-US" smtClean="0"/>
              <a:pPr/>
              <a:t>41</a:t>
            </a:fld>
            <a:endParaRPr lang="en-US"/>
          </a:p>
        </p:txBody>
      </p:sp>
    </p:spTree>
    <p:extLst>
      <p:ext uri="{BB962C8B-B14F-4D97-AF65-F5344CB8AC3E}">
        <p14:creationId xmlns:p14="http://schemas.microsoft.com/office/powerpoint/2010/main" val="831381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2D5D-EDDC-C741-AD22-6B89626EB7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0867392B-E1D2-694A-83C7-C77823B9F5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976D33A7-54AA-804B-A07D-B1FB026CB4AA}"/>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5" name="Footer Placeholder 4">
            <a:extLst>
              <a:ext uri="{FF2B5EF4-FFF2-40B4-BE49-F238E27FC236}">
                <a16:creationId xmlns:a16="http://schemas.microsoft.com/office/drawing/2014/main" id="{FF1ED22C-3B98-1F46-B3DC-D3F93F26B397}"/>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9CBA78E-8600-EE45-A853-C6E324182B4E}"/>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1459821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A6987-5B20-B246-B0E7-D7D280626CD8}"/>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02314AC3-A59D-C64E-8348-F51346B3B87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F5788D51-417F-FD4E-B565-E90BB19ACF64}"/>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5" name="Footer Placeholder 4">
            <a:extLst>
              <a:ext uri="{FF2B5EF4-FFF2-40B4-BE49-F238E27FC236}">
                <a16:creationId xmlns:a16="http://schemas.microsoft.com/office/drawing/2014/main" id="{16B09D54-FAB9-0F4F-B386-8825547B702A}"/>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1A088BA6-9DA9-1140-9587-9B3DCD6BDC99}"/>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382577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6F46-1C0E-CB45-BEFC-1CD7515D06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459804A7-9D23-BF49-9148-1953EEF39C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2D8FB29-CF3F-7B4C-BE08-BC9F75D4AFD4}"/>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5" name="Footer Placeholder 4">
            <a:extLst>
              <a:ext uri="{FF2B5EF4-FFF2-40B4-BE49-F238E27FC236}">
                <a16:creationId xmlns:a16="http://schemas.microsoft.com/office/drawing/2014/main" id="{7DAA55ED-809F-2641-820D-D3C4C4D71179}"/>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9D2B23D5-7679-4942-BFD2-DFA9B8BA5203}"/>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1454138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A70C-E2C1-1049-BBC1-4DA93F1E9B4E}"/>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5BDF10D7-6603-6442-BD1E-55701A58676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E8758388-68F5-A84B-B2D5-ED8C90D51BF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D5F91537-6635-F945-B819-C728A7FB9EC1}"/>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6" name="Footer Placeholder 5">
            <a:extLst>
              <a:ext uri="{FF2B5EF4-FFF2-40B4-BE49-F238E27FC236}">
                <a16:creationId xmlns:a16="http://schemas.microsoft.com/office/drawing/2014/main" id="{A61950BE-18AA-D044-8B42-79AA7F33B689}"/>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7583F953-083D-9B4B-9738-21B17526FC3A}"/>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432368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89969-49D6-3D4E-B511-5A6695FBDA7C}"/>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8F0268B9-506B-9146-B162-8B9618F350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E83E780-B14E-1F40-9595-FD995EB325C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99DB65BA-2401-2F46-9BD8-0E95FA9B0E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3EF635E-328E-7745-9C03-A8A526F3F20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9F21A8A5-A53B-7C48-A390-184E9067FD22}"/>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8" name="Footer Placeholder 7">
            <a:extLst>
              <a:ext uri="{FF2B5EF4-FFF2-40B4-BE49-F238E27FC236}">
                <a16:creationId xmlns:a16="http://schemas.microsoft.com/office/drawing/2014/main" id="{7450FC9C-FD99-234E-8336-54E4207B42C1}"/>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A4A1349E-BCC5-8C46-977C-9BC6FE96512D}"/>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380376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60C56-A5F3-5E4F-A9AA-5EDC0C3CBD0D}"/>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9A5D0900-8907-0C45-8298-351C5B5C7F29}"/>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4" name="Footer Placeholder 3">
            <a:extLst>
              <a:ext uri="{FF2B5EF4-FFF2-40B4-BE49-F238E27FC236}">
                <a16:creationId xmlns:a16="http://schemas.microsoft.com/office/drawing/2014/main" id="{596B7850-18F0-D94F-88A3-BD6DBB690FD2}"/>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7E01CDA8-3748-2148-8775-31F7C0C35667}"/>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982003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C39EC-CEB0-BC4A-8FDA-5FCE6C439294}"/>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3" name="Footer Placeholder 2">
            <a:extLst>
              <a:ext uri="{FF2B5EF4-FFF2-40B4-BE49-F238E27FC236}">
                <a16:creationId xmlns:a16="http://schemas.microsoft.com/office/drawing/2014/main" id="{8BBC21CE-6C37-EB44-A016-AB2E34A017BC}"/>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49EFFA83-9F40-824A-BBDC-D0EB13DEB5F0}"/>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3505270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14088-4329-894B-9BD4-37EE6C1C18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E9666D1E-40FA-494D-ACC0-DACB253A99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A7817F04-7DEB-C64A-9149-2964B6027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BCADC4C-2C7C-6A43-9C55-B418600E4D67}"/>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6" name="Footer Placeholder 5">
            <a:extLst>
              <a:ext uri="{FF2B5EF4-FFF2-40B4-BE49-F238E27FC236}">
                <a16:creationId xmlns:a16="http://schemas.microsoft.com/office/drawing/2014/main" id="{8213ADF1-3517-C941-BE18-E38174494F75}"/>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7CD6A275-557A-E44C-92B3-2A447F4F944A}"/>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3105850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47914-863F-FC44-8E15-C574BF7086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8ACB1169-CCD3-4447-9467-35F3148AF2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C1F9D31E-9A71-604C-BD21-6C8399D52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AF997DC-D6D0-C84F-A2D8-EE9FDC668C10}"/>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6" name="Footer Placeholder 5">
            <a:extLst>
              <a:ext uri="{FF2B5EF4-FFF2-40B4-BE49-F238E27FC236}">
                <a16:creationId xmlns:a16="http://schemas.microsoft.com/office/drawing/2014/main" id="{0E5406FC-D2F3-E44A-8AC6-AD30EF600935}"/>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DF590127-6F28-194E-B66E-7E65F0375A52}"/>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506381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CCD9-0254-3C44-B074-B0FADF667F6B}"/>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16BE0A0F-2463-E64B-AC32-78251B9311F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02DBE896-529D-A140-94E8-6FE8CD98146D}"/>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5" name="Footer Placeholder 4">
            <a:extLst>
              <a:ext uri="{FF2B5EF4-FFF2-40B4-BE49-F238E27FC236}">
                <a16:creationId xmlns:a16="http://schemas.microsoft.com/office/drawing/2014/main" id="{1A6BA7E3-1572-5B4A-BDB8-8F7CBF43ECBE}"/>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9413CF2F-7B0D-4544-8B81-F4BCE6142D55}"/>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2182361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53E004-1AD1-2F4D-B86C-6F5FA76138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9AF1BB31-2336-A647-9086-6692765D8C6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D6B15F28-A4DD-E644-AA92-A263436AC9FB}"/>
              </a:ext>
            </a:extLst>
          </p:cNvPr>
          <p:cNvSpPr>
            <a:spLocks noGrp="1"/>
          </p:cNvSpPr>
          <p:nvPr>
            <p:ph type="dt" sz="half" idx="10"/>
          </p:nvPr>
        </p:nvSpPr>
        <p:spPr/>
        <p:txBody>
          <a:bodyPr/>
          <a:lstStyle/>
          <a:p>
            <a:fld id="{EB1C5D77-FD0B-DC42-8B4F-8B2F1A4361AC}" type="datetimeFigureOut">
              <a:rPr lang="da-DK" smtClean="0"/>
              <a:t>05.02.2025</a:t>
            </a:fld>
            <a:endParaRPr lang="da-DK"/>
          </a:p>
        </p:txBody>
      </p:sp>
      <p:sp>
        <p:nvSpPr>
          <p:cNvPr id="5" name="Footer Placeholder 4">
            <a:extLst>
              <a:ext uri="{FF2B5EF4-FFF2-40B4-BE49-F238E27FC236}">
                <a16:creationId xmlns:a16="http://schemas.microsoft.com/office/drawing/2014/main" id="{0261A0F3-1DD9-5A4D-8E64-45285B1FC0F8}"/>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E2AF6AA3-00DC-8644-B50F-FE68E881E59F}"/>
              </a:ext>
            </a:extLst>
          </p:cNvPr>
          <p:cNvSpPr>
            <a:spLocks noGrp="1"/>
          </p:cNvSpPr>
          <p:nvPr>
            <p:ph type="sldNum" sz="quarter" idx="12"/>
          </p:nvPr>
        </p:nvSpPr>
        <p:spPr/>
        <p:txBody>
          <a:bodyPr/>
          <a:lstStyle/>
          <a:p>
            <a:fld id="{E4266289-81B4-104C-9158-3FAA54F99922}" type="slidenum">
              <a:rPr lang="da-DK" smtClean="0"/>
              <a:t>‹#›</a:t>
            </a:fld>
            <a:endParaRPr lang="da-DK"/>
          </a:p>
        </p:txBody>
      </p:sp>
    </p:spTree>
    <p:extLst>
      <p:ext uri="{BB962C8B-B14F-4D97-AF65-F5344CB8AC3E}">
        <p14:creationId xmlns:p14="http://schemas.microsoft.com/office/powerpoint/2010/main" val="121904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A">
    <p:bg>
      <p:bgPr>
        <a:solidFill>
          <a:schemeClr val="bg1"/>
        </a:solidFill>
        <a:effectLst/>
      </p:bgPr>
    </p:bg>
    <p:spTree>
      <p:nvGrpSpPr>
        <p:cNvPr id="1" name=""/>
        <p:cNvGrpSpPr/>
        <p:nvPr/>
      </p:nvGrpSpPr>
      <p:grpSpPr>
        <a:xfrm>
          <a:off x="0" y="0"/>
          <a:ext cx="0" cy="0"/>
          <a:chOff x="0" y="0"/>
          <a:chExt cx="0" cy="0"/>
        </a:xfrm>
      </p:grpSpPr>
      <p:sp>
        <p:nvSpPr>
          <p:cNvPr id="6" name="TextBox 2"/>
          <p:cNvSpPr txBox="1"/>
          <p:nvPr userDrawn="1"/>
        </p:nvSpPr>
        <p:spPr>
          <a:xfrm>
            <a:off x="6618038" y="6264002"/>
            <a:ext cx="5046913" cy="261610"/>
          </a:xfrm>
          <a:prstGeom prst="rect">
            <a:avLst/>
          </a:prstGeom>
          <a:noFill/>
        </p:spPr>
        <p:txBody>
          <a:bodyPr wrap="square" rtlCol="0">
            <a:spAutoFit/>
          </a:bodyPr>
          <a:lstStyle/>
          <a:p>
            <a:pPr algn="r"/>
            <a:fld id="{6B3992C5-A306-ED46-9DB6-FC571D36BE7A}" type="slidenum">
              <a:rPr lang="en-US" sz="1100" b="1" smtClean="0">
                <a:solidFill>
                  <a:srgbClr val="4967AA"/>
                </a:solidFill>
                <a:latin typeface="Arial"/>
                <a:cs typeface="Arial"/>
              </a:rPr>
              <a:pPr algn="r"/>
              <a:t>‹#›</a:t>
            </a:fld>
            <a:endParaRPr lang="en-US" sz="1100" b="1" dirty="0">
              <a:solidFill>
                <a:srgbClr val="4967AA"/>
              </a:solidFill>
              <a:latin typeface="Arial"/>
              <a:cs typeface="Arial"/>
            </a:endParaRPr>
          </a:p>
        </p:txBody>
      </p:sp>
      <p:sp>
        <p:nvSpPr>
          <p:cNvPr id="3" name="Text Placeholder 2"/>
          <p:cNvSpPr>
            <a:spLocks noGrp="1"/>
          </p:cNvSpPr>
          <p:nvPr>
            <p:ph type="body" sz="quarter" idx="10" hasCustomPrompt="1"/>
          </p:nvPr>
        </p:nvSpPr>
        <p:spPr>
          <a:xfrm>
            <a:off x="527051" y="333375"/>
            <a:ext cx="7681383" cy="719138"/>
          </a:xfrm>
        </p:spPr>
        <p:txBody>
          <a:bodyPr>
            <a:normAutofit/>
          </a:bodyPr>
          <a:lstStyle>
            <a:lvl1pPr>
              <a:defRPr sz="3200" b="1">
                <a:solidFill>
                  <a:srgbClr val="4967AA"/>
                </a:solidFill>
              </a:defRPr>
            </a:lvl1pPr>
          </a:lstStyle>
          <a:p>
            <a:pPr lvl="0"/>
            <a:r>
              <a:rPr lang="da-DK" dirty="0"/>
              <a:t>Click to add title</a:t>
            </a:r>
          </a:p>
        </p:txBody>
      </p:sp>
      <p:sp>
        <p:nvSpPr>
          <p:cNvPr id="10" name="Content Placeholder 9"/>
          <p:cNvSpPr>
            <a:spLocks noGrp="1"/>
          </p:cNvSpPr>
          <p:nvPr>
            <p:ph sz="quarter" idx="11" hasCustomPrompt="1"/>
          </p:nvPr>
        </p:nvSpPr>
        <p:spPr>
          <a:xfrm>
            <a:off x="527052" y="1124744"/>
            <a:ext cx="11137899" cy="5139531"/>
          </a:xfrm>
        </p:spPr>
        <p:txBody>
          <a:bodyPr>
            <a:normAutofit/>
          </a:bodyPr>
          <a:lstStyle>
            <a:lvl1pPr>
              <a:defRPr baseline="0"/>
            </a:lvl1pPr>
          </a:lstStyle>
          <a:p>
            <a:pPr lvl="0"/>
            <a:r>
              <a:rPr lang="en-US" dirty="0"/>
              <a:t>Click to add text – or click an icon to add content</a:t>
            </a:r>
            <a:endParaRPr lang="da-DK" dirty="0"/>
          </a:p>
        </p:txBody>
      </p:sp>
      <p:pic>
        <p:nvPicPr>
          <p:cNvPr id="7" name="Picture 4" descr="C:\Users\aw.it\Desktop\logo.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48951" y="330743"/>
            <a:ext cx="3216000" cy="2680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916303786"/>
      </p:ext>
    </p:extLst>
  </p:cSld>
  <p:clrMapOvr>
    <a:masterClrMapping/>
  </p:clrMapOvr>
  <p:transition/>
  <p:extLst>
    <p:ext uri="{DCECCB84-F9BA-43D5-87BE-67443E8EF086}">
      <p15:sldGuideLst xmlns:p15="http://schemas.microsoft.com/office/powerpoint/2012/main">
        <p15:guide id="1" orient="horz" pos="210">
          <p15:clr>
            <a:srgbClr val="FBAE40"/>
          </p15:clr>
        </p15:guide>
        <p15:guide id="2" pos="5511">
          <p15:clr>
            <a:srgbClr val="FBAE40"/>
          </p15:clr>
        </p15:guide>
        <p15:guide id="3" pos="249">
          <p15:clr>
            <a:srgbClr val="FBAE40"/>
          </p15:clr>
        </p15:guide>
        <p15:guide id="4" orient="horz" pos="411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6DF565-2E6E-8B43-A372-A06CD7809E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D412481D-780A-D349-BDA0-4DEE865C0C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D9993A51-61E7-044F-AF2C-CCD48F4E14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1C5D77-FD0B-DC42-8B4F-8B2F1A4361AC}" type="datetimeFigureOut">
              <a:rPr lang="da-DK" smtClean="0"/>
              <a:t>05.02.2025</a:t>
            </a:fld>
            <a:endParaRPr lang="da-DK"/>
          </a:p>
        </p:txBody>
      </p:sp>
      <p:sp>
        <p:nvSpPr>
          <p:cNvPr id="5" name="Footer Placeholder 4">
            <a:extLst>
              <a:ext uri="{FF2B5EF4-FFF2-40B4-BE49-F238E27FC236}">
                <a16:creationId xmlns:a16="http://schemas.microsoft.com/office/drawing/2014/main" id="{1FEE44A6-6B01-1343-85D3-F85258AD34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sp>
        <p:nvSpPr>
          <p:cNvPr id="6" name="Slide Number Placeholder 5">
            <a:extLst>
              <a:ext uri="{FF2B5EF4-FFF2-40B4-BE49-F238E27FC236}">
                <a16:creationId xmlns:a16="http://schemas.microsoft.com/office/drawing/2014/main" id="{633D06A3-6A58-DA49-AFAC-780D701208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266289-81B4-104C-9158-3FAA54F99922}" type="slidenum">
              <a:rPr lang="da-DK" smtClean="0"/>
              <a:t>‹#›</a:t>
            </a:fld>
            <a:endParaRPr lang="da-DK"/>
          </a:p>
        </p:txBody>
      </p:sp>
    </p:spTree>
    <p:extLst>
      <p:ext uri="{BB962C8B-B14F-4D97-AF65-F5344CB8AC3E}">
        <p14:creationId xmlns:p14="http://schemas.microsoft.com/office/powerpoint/2010/main" val="2878752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tiff"/></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oracleofbacon.or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C7268-1949-1041-A64A-94B1E0F7BC58}"/>
              </a:ext>
            </a:extLst>
          </p:cNvPr>
          <p:cNvSpPr>
            <a:spLocks noGrp="1"/>
          </p:cNvSpPr>
          <p:nvPr>
            <p:ph type="ctrTitle"/>
          </p:nvPr>
        </p:nvSpPr>
        <p:spPr>
          <a:xfrm>
            <a:off x="1212166" y="1041400"/>
            <a:ext cx="9767668" cy="2387600"/>
          </a:xfrm>
        </p:spPr>
        <p:txBody>
          <a:bodyPr>
            <a:normAutofit fontScale="90000"/>
          </a:bodyPr>
          <a:lstStyle/>
          <a:p>
            <a:r>
              <a:rPr lang="da-DK" dirty="0">
                <a:latin typeface="Calisto MT" panose="02040603050505030304" pitchFamily="18" charset="77"/>
              </a:rPr>
              <a:t>Netværk som</a:t>
            </a:r>
            <a:br>
              <a:rPr lang="da-DK" dirty="0">
                <a:latin typeface="Calisto MT" panose="02040603050505030304" pitchFamily="18" charset="77"/>
              </a:rPr>
            </a:br>
            <a:r>
              <a:rPr lang="da-DK" dirty="0">
                <a:latin typeface="Calisto MT" panose="02040603050505030304" pitchFamily="18" charset="77"/>
              </a:rPr>
              <a:t>organisationsprincip og metode</a:t>
            </a:r>
          </a:p>
        </p:txBody>
      </p:sp>
      <p:sp>
        <p:nvSpPr>
          <p:cNvPr id="3" name="Subtitle 2">
            <a:extLst>
              <a:ext uri="{FF2B5EF4-FFF2-40B4-BE49-F238E27FC236}">
                <a16:creationId xmlns:a16="http://schemas.microsoft.com/office/drawing/2014/main" id="{A56C6258-5CB5-B442-9709-ADB4084012AB}"/>
              </a:ext>
            </a:extLst>
          </p:cNvPr>
          <p:cNvSpPr>
            <a:spLocks noGrp="1"/>
          </p:cNvSpPr>
          <p:nvPr>
            <p:ph type="subTitle" idx="1"/>
          </p:nvPr>
        </p:nvSpPr>
        <p:spPr/>
        <p:txBody>
          <a:bodyPr/>
          <a:lstStyle/>
          <a:p>
            <a:r>
              <a:rPr lang="da-DK" dirty="0" err="1">
                <a:latin typeface="Calisto MT" panose="02040603050505030304" pitchFamily="18" charset="77"/>
              </a:rPr>
              <a:t>Virksomhedstrategi</a:t>
            </a:r>
            <a:r>
              <a:rPr lang="da-DK" dirty="0">
                <a:latin typeface="Calisto MT" panose="02040603050505030304" pitchFamily="18" charset="77"/>
              </a:rPr>
              <a:t> i netværksperspektiv 2025</a:t>
            </a:r>
          </a:p>
          <a:p>
            <a:endParaRPr lang="da-DK" dirty="0">
              <a:latin typeface="Calisto MT" panose="02040603050505030304" pitchFamily="18" charset="77"/>
            </a:endParaRPr>
          </a:p>
          <a:p>
            <a:r>
              <a:rPr lang="da-DK" dirty="0">
                <a:latin typeface="Calisto MT" panose="02040603050505030304" pitchFamily="18" charset="77"/>
              </a:rPr>
              <a:t>Lasse Folke Henriksen, </a:t>
            </a:r>
            <a:r>
              <a:rPr lang="da-DK" dirty="0" err="1">
                <a:latin typeface="Calisto MT" panose="02040603050505030304" pitchFamily="18" charset="77"/>
              </a:rPr>
              <a:t>lfh.ioa@cbs.dk</a:t>
            </a:r>
            <a:endParaRPr lang="da-DK" dirty="0">
              <a:latin typeface="Calisto MT" panose="02040603050505030304" pitchFamily="18" charset="77"/>
            </a:endParaRPr>
          </a:p>
          <a:p>
            <a:endParaRPr lang="da-DK" dirty="0"/>
          </a:p>
        </p:txBody>
      </p:sp>
    </p:spTree>
    <p:extLst>
      <p:ext uri="{BB962C8B-B14F-4D97-AF65-F5344CB8AC3E}">
        <p14:creationId xmlns:p14="http://schemas.microsoft.com/office/powerpoint/2010/main" val="2494908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DD99-3F1E-494E-88CC-468D929E7E6F}"/>
              </a:ext>
            </a:extLst>
          </p:cNvPr>
          <p:cNvSpPr>
            <a:spLocks noGrp="1"/>
          </p:cNvSpPr>
          <p:nvPr>
            <p:ph type="title"/>
          </p:nvPr>
        </p:nvSpPr>
        <p:spPr/>
        <p:txBody>
          <a:bodyPr/>
          <a:lstStyle/>
          <a:p>
            <a:r>
              <a:rPr lang="da-DK" dirty="0">
                <a:latin typeface="Calisto MT" panose="02040603050505030304" pitchFamily="18" charset="77"/>
              </a:rPr>
              <a:t>Dagsorden</a:t>
            </a:r>
          </a:p>
        </p:txBody>
      </p:sp>
      <p:sp>
        <p:nvSpPr>
          <p:cNvPr id="3" name="Content Placeholder 2">
            <a:extLst>
              <a:ext uri="{FF2B5EF4-FFF2-40B4-BE49-F238E27FC236}">
                <a16:creationId xmlns:a16="http://schemas.microsoft.com/office/drawing/2014/main" id="{A1D508FA-F294-9F43-B0E8-C8837D8EDAD6}"/>
              </a:ext>
            </a:extLst>
          </p:cNvPr>
          <p:cNvSpPr>
            <a:spLocks noGrp="1"/>
          </p:cNvSpPr>
          <p:nvPr>
            <p:ph idx="1"/>
          </p:nvPr>
        </p:nvSpPr>
        <p:spPr/>
        <p:txBody>
          <a:bodyPr/>
          <a:lstStyle/>
          <a:p>
            <a:r>
              <a:rPr lang="da-DK" dirty="0">
                <a:latin typeface="Calisto MT" panose="02040603050505030304" pitchFamily="18" charset="77"/>
              </a:rPr>
              <a:t>Kursus intro</a:t>
            </a:r>
          </a:p>
          <a:p>
            <a:r>
              <a:rPr lang="da-DK" dirty="0">
                <a:latin typeface="Calisto MT" panose="02040603050505030304" pitchFamily="18" charset="77"/>
              </a:rPr>
              <a:t>Baggrund </a:t>
            </a:r>
          </a:p>
          <a:p>
            <a:r>
              <a:rPr lang="da-DK" dirty="0">
                <a:latin typeface="Calisto MT" panose="02040603050505030304" pitchFamily="18" charset="77"/>
              </a:rPr>
              <a:t>Netværket som organisationsform </a:t>
            </a:r>
          </a:p>
          <a:p>
            <a:r>
              <a:rPr lang="da-DK" dirty="0">
                <a:latin typeface="Calisto MT" panose="02040603050505030304" pitchFamily="18" charset="77"/>
              </a:rPr>
              <a:t>Netværket som analysestrategi- og metode</a:t>
            </a:r>
          </a:p>
        </p:txBody>
      </p:sp>
    </p:spTree>
    <p:extLst>
      <p:ext uri="{BB962C8B-B14F-4D97-AF65-F5344CB8AC3E}">
        <p14:creationId xmlns:p14="http://schemas.microsoft.com/office/powerpoint/2010/main" val="382709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53D17-FFB2-3545-BF5E-BD00F60D3708}"/>
              </a:ext>
            </a:extLst>
          </p:cNvPr>
          <p:cNvSpPr>
            <a:spLocks noGrp="1"/>
          </p:cNvSpPr>
          <p:nvPr>
            <p:ph type="title"/>
          </p:nvPr>
        </p:nvSpPr>
        <p:spPr/>
        <p:txBody>
          <a:bodyPr/>
          <a:lstStyle/>
          <a:p>
            <a:r>
              <a:rPr lang="da-DK" dirty="0">
                <a:latin typeface="Calisto MT" panose="02040603050505030304" pitchFamily="18" charset="77"/>
              </a:rPr>
              <a:t>Formål I</a:t>
            </a:r>
          </a:p>
        </p:txBody>
      </p:sp>
      <p:sp>
        <p:nvSpPr>
          <p:cNvPr id="3" name="Content Placeholder 2">
            <a:extLst>
              <a:ext uri="{FF2B5EF4-FFF2-40B4-BE49-F238E27FC236}">
                <a16:creationId xmlns:a16="http://schemas.microsoft.com/office/drawing/2014/main" id="{1E61DA03-D0BA-E746-B5F1-D0480A46A1AD}"/>
              </a:ext>
            </a:extLst>
          </p:cNvPr>
          <p:cNvSpPr>
            <a:spLocks noGrp="1"/>
          </p:cNvSpPr>
          <p:nvPr>
            <p:ph idx="1"/>
          </p:nvPr>
        </p:nvSpPr>
        <p:spPr>
          <a:xfrm>
            <a:off x="838199" y="1825625"/>
            <a:ext cx="10739511" cy="4351338"/>
          </a:xfrm>
        </p:spPr>
        <p:txBody>
          <a:bodyPr>
            <a:normAutofit fontScale="92500"/>
          </a:bodyPr>
          <a:lstStyle/>
          <a:p>
            <a:pPr>
              <a:lnSpc>
                <a:spcPct val="120000"/>
              </a:lnSpc>
            </a:pPr>
            <a:r>
              <a:rPr lang="da-DK" sz="2400" dirty="0">
                <a:latin typeface="Calisto MT" panose="02040603050505030304" pitchFamily="18" charset="77"/>
              </a:rPr>
              <a:t>Virksomheder og deres medarbejdere er afhængige af hinanden og deres omverden og en central måde at knytte an til omverdenen er gennem sociale relationer af forskellig art </a:t>
            </a:r>
          </a:p>
          <a:p>
            <a:pPr>
              <a:lnSpc>
                <a:spcPct val="120000"/>
              </a:lnSpc>
            </a:pPr>
            <a:r>
              <a:rPr lang="da-DK" sz="2400" dirty="0">
                <a:latin typeface="Calisto MT" panose="02040603050505030304" pitchFamily="18" charset="77"/>
              </a:rPr>
              <a:t>Virksomheder konkurrerer og samarbejder med andre organisationer via sociale relationer, som bl.a. giver dem adgang til ressourcer, de er afhængige af. Det at forstå strategisk ledelse, kræver refleksion over betydning af disse sociale relationer</a:t>
            </a:r>
          </a:p>
          <a:p>
            <a:pPr>
              <a:lnSpc>
                <a:spcPct val="120000"/>
              </a:lnSpc>
            </a:pPr>
            <a:r>
              <a:rPr lang="da-DK" sz="2400" dirty="0">
                <a:latin typeface="Calisto MT" panose="02040603050505030304" pitchFamily="18" charset="77"/>
              </a:rPr>
              <a:t>Kurset udstyrer jer med begreber og redskaber fra økonomisk sociologi, organisationssociologi og netværksanalyse til at forstå hvordan sociale relationer påvirker virksomheders strategiske processer. </a:t>
            </a:r>
            <a:endParaRPr lang="da-DK" sz="2400" dirty="0">
              <a:effectLst/>
              <a:latin typeface="Calisto MT" panose="02040603050505030304" pitchFamily="18" charset="77"/>
            </a:endParaRPr>
          </a:p>
          <a:p>
            <a:pPr>
              <a:lnSpc>
                <a:spcPct val="120000"/>
              </a:lnSpc>
            </a:pPr>
            <a:endParaRPr lang="da-DK" sz="2400" dirty="0">
              <a:latin typeface="Calisto MT" panose="02040603050505030304" pitchFamily="18" charset="77"/>
            </a:endParaRPr>
          </a:p>
        </p:txBody>
      </p:sp>
    </p:spTree>
    <p:extLst>
      <p:ext uri="{BB962C8B-B14F-4D97-AF65-F5344CB8AC3E}">
        <p14:creationId xmlns:p14="http://schemas.microsoft.com/office/powerpoint/2010/main" val="1758964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53D17-FFB2-3545-BF5E-BD00F60D3708}"/>
              </a:ext>
            </a:extLst>
          </p:cNvPr>
          <p:cNvSpPr>
            <a:spLocks noGrp="1"/>
          </p:cNvSpPr>
          <p:nvPr>
            <p:ph type="title"/>
          </p:nvPr>
        </p:nvSpPr>
        <p:spPr/>
        <p:txBody>
          <a:bodyPr/>
          <a:lstStyle/>
          <a:p>
            <a:r>
              <a:rPr lang="da-DK" dirty="0">
                <a:latin typeface="Calisto MT" panose="02040603050505030304" pitchFamily="18" charset="77"/>
              </a:rPr>
              <a:t>Formål II</a:t>
            </a:r>
          </a:p>
        </p:txBody>
      </p:sp>
      <p:sp>
        <p:nvSpPr>
          <p:cNvPr id="3" name="Content Placeholder 2">
            <a:extLst>
              <a:ext uri="{FF2B5EF4-FFF2-40B4-BE49-F238E27FC236}">
                <a16:creationId xmlns:a16="http://schemas.microsoft.com/office/drawing/2014/main" id="{1E61DA03-D0BA-E746-B5F1-D0480A46A1AD}"/>
              </a:ext>
            </a:extLst>
          </p:cNvPr>
          <p:cNvSpPr>
            <a:spLocks noGrp="1"/>
          </p:cNvSpPr>
          <p:nvPr>
            <p:ph idx="1"/>
          </p:nvPr>
        </p:nvSpPr>
        <p:spPr>
          <a:xfrm>
            <a:off x="838199" y="1825625"/>
            <a:ext cx="10739511" cy="4351338"/>
          </a:xfrm>
        </p:spPr>
        <p:txBody>
          <a:bodyPr>
            <a:normAutofit/>
          </a:bodyPr>
          <a:lstStyle/>
          <a:p>
            <a:pPr>
              <a:lnSpc>
                <a:spcPct val="120000"/>
              </a:lnSpc>
            </a:pPr>
            <a:r>
              <a:rPr lang="da-DK" sz="2400" dirty="0">
                <a:latin typeface="Calisto MT" panose="02040603050505030304" pitchFamily="18" charset="77"/>
              </a:rPr>
              <a:t>Første del introducerer teorier om ’virksomhedsstrategi i netværksperspektiv’ og eksemplificerer teorierne gennem brug af cases.</a:t>
            </a:r>
          </a:p>
          <a:p>
            <a:pPr>
              <a:lnSpc>
                <a:spcPct val="120000"/>
              </a:lnSpc>
            </a:pPr>
            <a:r>
              <a:rPr lang="da-DK" sz="2400" dirty="0">
                <a:latin typeface="Calisto MT" panose="02040603050505030304" pitchFamily="18" charset="77"/>
              </a:rPr>
              <a:t>Anden del er en indførelse i metodiske redskaber fra netværksanalysen.</a:t>
            </a:r>
          </a:p>
          <a:p>
            <a:pPr>
              <a:lnSpc>
                <a:spcPct val="120000"/>
              </a:lnSpc>
            </a:pPr>
            <a:r>
              <a:rPr lang="da-DK" sz="2400" dirty="0">
                <a:latin typeface="Calisto MT" panose="02040603050505030304" pitchFamily="18" charset="77"/>
              </a:rPr>
              <a:t>Tredje del har fokus på anvendelse af netværksanalyse på konkrete cases og består i et gruppeprojekt, hvor I skal lave en konkret netværksanalyse, der også udgør eksamen.</a:t>
            </a:r>
          </a:p>
          <a:p>
            <a:pPr>
              <a:lnSpc>
                <a:spcPct val="120000"/>
              </a:lnSpc>
            </a:pPr>
            <a:endParaRPr lang="da-DK" sz="2400" dirty="0">
              <a:effectLst/>
              <a:latin typeface="Calisto MT" panose="02040603050505030304" pitchFamily="18" charset="77"/>
            </a:endParaRPr>
          </a:p>
          <a:p>
            <a:pPr>
              <a:lnSpc>
                <a:spcPct val="120000"/>
              </a:lnSpc>
            </a:pPr>
            <a:endParaRPr lang="da-DK" sz="2400" dirty="0">
              <a:latin typeface="Calisto MT" panose="02040603050505030304" pitchFamily="18" charset="77"/>
            </a:endParaRPr>
          </a:p>
        </p:txBody>
      </p:sp>
    </p:spTree>
    <p:extLst>
      <p:ext uri="{BB962C8B-B14F-4D97-AF65-F5344CB8AC3E}">
        <p14:creationId xmlns:p14="http://schemas.microsoft.com/office/powerpoint/2010/main" val="3419741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E290D-0A2B-8B49-81F3-9149E0B01600}"/>
              </a:ext>
            </a:extLst>
          </p:cNvPr>
          <p:cNvSpPr>
            <a:spLocks noGrp="1"/>
          </p:cNvSpPr>
          <p:nvPr>
            <p:ph type="title"/>
          </p:nvPr>
        </p:nvSpPr>
        <p:spPr/>
        <p:txBody>
          <a:bodyPr/>
          <a:lstStyle/>
          <a:p>
            <a:r>
              <a:rPr lang="da-DK" dirty="0">
                <a:latin typeface="Calisto MT" panose="02040603050505030304" pitchFamily="18" charset="77"/>
              </a:rPr>
              <a:t>Læringsmål</a:t>
            </a:r>
          </a:p>
        </p:txBody>
      </p:sp>
      <p:sp>
        <p:nvSpPr>
          <p:cNvPr id="3" name="Content Placeholder 2">
            <a:extLst>
              <a:ext uri="{FF2B5EF4-FFF2-40B4-BE49-F238E27FC236}">
                <a16:creationId xmlns:a16="http://schemas.microsoft.com/office/drawing/2014/main" id="{CEE45AEA-E23B-A54F-920A-28FEEB331BAD}"/>
              </a:ext>
            </a:extLst>
          </p:cNvPr>
          <p:cNvSpPr>
            <a:spLocks noGrp="1"/>
          </p:cNvSpPr>
          <p:nvPr>
            <p:ph idx="1"/>
          </p:nvPr>
        </p:nvSpPr>
        <p:spPr/>
        <p:txBody>
          <a:bodyPr>
            <a:normAutofit fontScale="70000" lnSpcReduction="20000"/>
          </a:bodyPr>
          <a:lstStyle/>
          <a:p>
            <a:pPr>
              <a:lnSpc>
                <a:spcPct val="140000"/>
              </a:lnSpc>
            </a:pPr>
            <a:r>
              <a:rPr lang="da-DK" dirty="0">
                <a:latin typeface="Calisto MT" panose="02040603050505030304" pitchFamily="18" charset="77"/>
              </a:rPr>
              <a:t>Redegøre for forskellige forståelser af virksomhedsstrategi i netværksperspektiv</a:t>
            </a:r>
          </a:p>
          <a:p>
            <a:pPr>
              <a:lnSpc>
                <a:spcPct val="140000"/>
              </a:lnSpc>
            </a:pPr>
            <a:r>
              <a:rPr lang="da-DK" dirty="0">
                <a:latin typeface="Calisto MT" panose="02040603050505030304" pitchFamily="18" charset="77"/>
              </a:rPr>
              <a:t>Analysere </a:t>
            </a:r>
            <a:r>
              <a:rPr lang="da-DK" dirty="0" err="1">
                <a:latin typeface="Calisto MT" panose="02040603050505030304" pitchFamily="18" charset="77"/>
              </a:rPr>
              <a:t>intra</a:t>
            </a:r>
            <a:r>
              <a:rPr lang="da-DK" dirty="0">
                <a:latin typeface="Calisto MT" panose="02040603050505030304" pitchFamily="18" charset="77"/>
              </a:rPr>
              <a:t>- og </a:t>
            </a:r>
            <a:r>
              <a:rPr lang="da-DK" dirty="0" err="1">
                <a:latin typeface="Calisto MT" panose="02040603050505030304" pitchFamily="18" charset="77"/>
              </a:rPr>
              <a:t>interorganisatoriske</a:t>
            </a:r>
            <a:r>
              <a:rPr lang="da-DK" dirty="0">
                <a:latin typeface="Calisto MT" panose="02040603050505030304" pitchFamily="18" charset="77"/>
              </a:rPr>
              <a:t> netværk ved brug af teori og metode fra netværksanalyse</a:t>
            </a:r>
          </a:p>
          <a:p>
            <a:pPr>
              <a:lnSpc>
                <a:spcPct val="140000"/>
              </a:lnSpc>
            </a:pPr>
            <a:r>
              <a:rPr lang="da-DK" dirty="0">
                <a:latin typeface="Calisto MT" panose="02040603050505030304" pitchFamily="18" charset="77"/>
              </a:rPr>
              <a:t>Vurdere og kritisk reflektere over den strategiske betydning af virksomheder og deres medarbejderes placering i sociale, økonomiske og politiske netværk</a:t>
            </a:r>
          </a:p>
          <a:p>
            <a:pPr>
              <a:lnSpc>
                <a:spcPct val="140000"/>
              </a:lnSpc>
            </a:pPr>
            <a:r>
              <a:rPr lang="da-DK" dirty="0">
                <a:latin typeface="Calisto MT" panose="02040603050505030304" pitchFamily="18" charset="77"/>
              </a:rPr>
              <a:t>Anvende teorier og metode fra netværksanalyse til at forstå, hvorfor og hvordan virksomhedsinterne netværk indvirker på medarbejdernes og virksomhedens strategiske handlerum</a:t>
            </a:r>
          </a:p>
          <a:p>
            <a:pPr>
              <a:lnSpc>
                <a:spcPct val="140000"/>
              </a:lnSpc>
            </a:pPr>
            <a:r>
              <a:rPr lang="da-DK" dirty="0">
                <a:latin typeface="Calisto MT" panose="02040603050505030304" pitchFamily="18" charset="77"/>
              </a:rPr>
              <a:t>Præsentere eksempler på succesrige og fejlslagne virksomhedsstrategier ud fra et netværksanalytisk perspektiv</a:t>
            </a:r>
          </a:p>
        </p:txBody>
      </p:sp>
    </p:spTree>
    <p:extLst>
      <p:ext uri="{BB962C8B-B14F-4D97-AF65-F5344CB8AC3E}">
        <p14:creationId xmlns:p14="http://schemas.microsoft.com/office/powerpoint/2010/main" val="2332749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F24E-849C-605F-21F3-ACDA91A61FFB}"/>
              </a:ext>
            </a:extLst>
          </p:cNvPr>
          <p:cNvSpPr>
            <a:spLocks noGrp="1"/>
          </p:cNvSpPr>
          <p:nvPr>
            <p:ph type="title"/>
          </p:nvPr>
        </p:nvSpPr>
        <p:spPr/>
        <p:txBody>
          <a:bodyPr/>
          <a:lstStyle/>
          <a:p>
            <a:r>
              <a:rPr lang="en-GB" dirty="0" err="1">
                <a:latin typeface="Calisto MT" panose="02040603050505030304" pitchFamily="18" charset="77"/>
              </a:rPr>
              <a:t>Undervisningsmetoder</a:t>
            </a:r>
            <a:endParaRPr lang="en-US" dirty="0">
              <a:latin typeface="Calisto MT" panose="02040603050505030304" pitchFamily="18" charset="77"/>
            </a:endParaRPr>
          </a:p>
        </p:txBody>
      </p:sp>
      <p:sp>
        <p:nvSpPr>
          <p:cNvPr id="3" name="Content Placeholder 2">
            <a:extLst>
              <a:ext uri="{FF2B5EF4-FFF2-40B4-BE49-F238E27FC236}">
                <a16:creationId xmlns:a16="http://schemas.microsoft.com/office/drawing/2014/main" id="{35038A5C-0D4D-4F7F-6519-C1666167873A}"/>
              </a:ext>
            </a:extLst>
          </p:cNvPr>
          <p:cNvSpPr>
            <a:spLocks noGrp="1"/>
          </p:cNvSpPr>
          <p:nvPr>
            <p:ph idx="1"/>
          </p:nvPr>
        </p:nvSpPr>
        <p:spPr/>
        <p:txBody>
          <a:bodyPr>
            <a:normAutofit/>
          </a:bodyPr>
          <a:lstStyle/>
          <a:p>
            <a:r>
              <a:rPr lang="en-GB" dirty="0" err="1">
                <a:latin typeface="Calisto MT" panose="02040603050505030304" pitchFamily="18" charset="77"/>
              </a:rPr>
              <a:t>Forelæsninger</a:t>
            </a:r>
            <a:r>
              <a:rPr lang="en-GB" dirty="0">
                <a:latin typeface="Calisto MT" panose="02040603050505030304" pitchFamily="18" charset="77"/>
              </a:rPr>
              <a:t> </a:t>
            </a:r>
            <a:r>
              <a:rPr lang="en-GB" dirty="0" err="1">
                <a:latin typeface="Calisto MT" panose="02040603050505030304" pitchFamily="18" charset="77"/>
              </a:rPr>
              <a:t>og</a:t>
            </a:r>
            <a:r>
              <a:rPr lang="en-GB" dirty="0">
                <a:latin typeface="Calisto MT" panose="02040603050505030304" pitchFamily="18" charset="77"/>
              </a:rPr>
              <a:t> </a:t>
            </a:r>
            <a:r>
              <a:rPr lang="en-GB" dirty="0" err="1">
                <a:latin typeface="Calisto MT" panose="02040603050505030304" pitchFamily="18" charset="77"/>
              </a:rPr>
              <a:t>praktiske</a:t>
            </a:r>
            <a:r>
              <a:rPr lang="en-GB" dirty="0">
                <a:latin typeface="Calisto MT" panose="02040603050505030304" pitchFamily="18" charset="77"/>
              </a:rPr>
              <a:t> </a:t>
            </a:r>
            <a:r>
              <a:rPr lang="en-GB" dirty="0" err="1">
                <a:latin typeface="Calisto MT" panose="02040603050505030304" pitchFamily="18" charset="77"/>
              </a:rPr>
              <a:t>øvelser</a:t>
            </a:r>
            <a:r>
              <a:rPr lang="en-GB" dirty="0">
                <a:latin typeface="Calisto MT" panose="02040603050505030304" pitchFamily="18" charset="77"/>
              </a:rPr>
              <a:t>.</a:t>
            </a:r>
          </a:p>
          <a:p>
            <a:r>
              <a:rPr lang="en-GB" dirty="0" err="1">
                <a:latin typeface="Calisto MT" panose="02040603050505030304" pitchFamily="18" charset="77"/>
              </a:rPr>
              <a:t>Øvelser</a:t>
            </a:r>
            <a:r>
              <a:rPr lang="en-GB" dirty="0">
                <a:latin typeface="Calisto MT" panose="02040603050505030304" pitchFamily="18" charset="77"/>
              </a:rPr>
              <a:t>: </a:t>
            </a:r>
            <a:r>
              <a:rPr lang="en-GB" dirty="0" err="1">
                <a:latin typeface="Calisto MT" panose="02040603050505030304" pitchFamily="18" charset="77"/>
              </a:rPr>
              <a:t>primært</a:t>
            </a:r>
            <a:r>
              <a:rPr lang="en-GB" dirty="0">
                <a:latin typeface="Calisto MT" panose="02040603050505030304" pitchFamily="18" charset="77"/>
              </a:rPr>
              <a:t> data </a:t>
            </a:r>
            <a:r>
              <a:rPr lang="en-GB" dirty="0" err="1">
                <a:latin typeface="Calisto MT" panose="02040603050505030304" pitchFamily="18" charset="77"/>
              </a:rPr>
              <a:t>på</a:t>
            </a:r>
            <a:r>
              <a:rPr lang="en-GB" dirty="0">
                <a:latin typeface="Calisto MT" panose="02040603050505030304" pitchFamily="18" charset="77"/>
              </a:rPr>
              <a:t> </a:t>
            </a:r>
            <a:r>
              <a:rPr lang="en-GB" dirty="0" err="1">
                <a:latin typeface="Calisto MT" panose="02040603050505030304" pitchFamily="18" charset="77"/>
              </a:rPr>
              <a:t>danske</a:t>
            </a:r>
            <a:r>
              <a:rPr lang="en-GB" dirty="0">
                <a:latin typeface="Calisto MT" panose="02040603050505030304" pitchFamily="18" charset="77"/>
              </a:rPr>
              <a:t> </a:t>
            </a:r>
            <a:r>
              <a:rPr lang="en-GB" dirty="0" err="1">
                <a:latin typeface="Calisto MT" panose="02040603050505030304" pitchFamily="18" charset="77"/>
              </a:rPr>
              <a:t>erhvervsnetværk</a:t>
            </a:r>
            <a:r>
              <a:rPr lang="en-GB" dirty="0">
                <a:latin typeface="Calisto MT" panose="02040603050505030304" pitchFamily="18" charset="77"/>
              </a:rPr>
              <a:t> men med </a:t>
            </a:r>
            <a:r>
              <a:rPr lang="en-GB" dirty="0" err="1">
                <a:latin typeface="Calisto MT" panose="02040603050505030304" pitchFamily="18" charset="77"/>
              </a:rPr>
              <a:t>mulighed</a:t>
            </a:r>
            <a:r>
              <a:rPr lang="en-GB" dirty="0">
                <a:latin typeface="Calisto MT" panose="02040603050505030304" pitchFamily="18" charset="77"/>
              </a:rPr>
              <a:t> for </a:t>
            </a:r>
            <a:r>
              <a:rPr lang="en-GB" dirty="0" err="1">
                <a:latin typeface="Calisto MT" panose="02040603050505030304" pitchFamily="18" charset="77"/>
              </a:rPr>
              <a:t>europæisk</a:t>
            </a:r>
            <a:r>
              <a:rPr lang="en-GB" dirty="0">
                <a:latin typeface="Calisto MT" panose="02040603050505030304" pitchFamily="18" charset="77"/>
              </a:rPr>
              <a:t> </a:t>
            </a:r>
            <a:r>
              <a:rPr lang="en-GB" dirty="0" err="1">
                <a:latin typeface="Calisto MT" panose="02040603050505030304" pitchFamily="18" charset="77"/>
              </a:rPr>
              <a:t>og</a:t>
            </a:r>
            <a:r>
              <a:rPr lang="en-GB" dirty="0">
                <a:latin typeface="Calisto MT" panose="02040603050505030304" pitchFamily="18" charset="77"/>
              </a:rPr>
              <a:t> </a:t>
            </a:r>
            <a:r>
              <a:rPr lang="en-GB" dirty="0" err="1">
                <a:latin typeface="Calisto MT" panose="02040603050505030304" pitchFamily="18" charset="77"/>
              </a:rPr>
              <a:t>globale</a:t>
            </a:r>
            <a:r>
              <a:rPr lang="en-GB" dirty="0">
                <a:latin typeface="Calisto MT" panose="02040603050505030304" pitchFamily="18" charset="77"/>
              </a:rPr>
              <a:t> data </a:t>
            </a:r>
            <a:r>
              <a:rPr lang="en-GB" dirty="0" err="1">
                <a:latin typeface="Calisto MT" panose="02040603050505030304" pitchFamily="18" charset="77"/>
              </a:rPr>
              <a:t>fra</a:t>
            </a:r>
            <a:r>
              <a:rPr lang="en-GB" dirty="0">
                <a:latin typeface="Calisto MT" panose="02040603050505030304" pitchFamily="18" charset="77"/>
              </a:rPr>
              <a:t> Orbis</a:t>
            </a:r>
          </a:p>
          <a:p>
            <a:r>
              <a:rPr lang="en-GB" dirty="0" err="1">
                <a:latin typeface="Calisto MT" panose="02040603050505030304" pitchFamily="18" charset="77"/>
              </a:rPr>
              <a:t>Øvelserne</a:t>
            </a:r>
            <a:r>
              <a:rPr lang="en-GB" dirty="0">
                <a:latin typeface="Calisto MT" panose="02040603050505030304" pitchFamily="18" charset="77"/>
              </a:rPr>
              <a:t> </a:t>
            </a:r>
            <a:r>
              <a:rPr lang="en-GB" dirty="0" err="1">
                <a:latin typeface="Calisto MT" panose="02040603050505030304" pitchFamily="18" charset="77"/>
              </a:rPr>
              <a:t>introducerer</a:t>
            </a:r>
            <a:r>
              <a:rPr lang="en-GB" dirty="0">
                <a:latin typeface="Calisto MT" panose="02040603050505030304" pitchFamily="18" charset="77"/>
              </a:rPr>
              <a:t> </a:t>
            </a:r>
            <a:r>
              <a:rPr lang="en-GB" dirty="0" err="1">
                <a:latin typeface="Calisto MT" panose="02040603050505030304" pitchFamily="18" charset="77"/>
              </a:rPr>
              <a:t>til</a:t>
            </a:r>
            <a:r>
              <a:rPr lang="en-GB" dirty="0">
                <a:latin typeface="Calisto MT" panose="02040603050505030304" pitchFamily="18" charset="77"/>
              </a:rPr>
              <a:t> </a:t>
            </a:r>
            <a:r>
              <a:rPr lang="en-GB" dirty="0" err="1">
                <a:latin typeface="Calisto MT" panose="02040603050505030304" pitchFamily="18" charset="77"/>
              </a:rPr>
              <a:t>databehandling</a:t>
            </a:r>
            <a:r>
              <a:rPr lang="en-GB" dirty="0">
                <a:latin typeface="Calisto MT" panose="02040603050505030304" pitchFamily="18" charset="77"/>
              </a:rPr>
              <a:t> </a:t>
            </a:r>
            <a:r>
              <a:rPr lang="en-GB" dirty="0" err="1">
                <a:latin typeface="Calisto MT" panose="02040603050505030304" pitchFamily="18" charset="77"/>
              </a:rPr>
              <a:t>og</a:t>
            </a:r>
            <a:r>
              <a:rPr lang="en-GB" dirty="0">
                <a:latin typeface="Calisto MT" panose="02040603050505030304" pitchFamily="18" charset="77"/>
              </a:rPr>
              <a:t> </a:t>
            </a:r>
            <a:r>
              <a:rPr lang="en-GB" dirty="0" err="1">
                <a:latin typeface="Calisto MT" panose="02040603050505030304" pitchFamily="18" charset="77"/>
              </a:rPr>
              <a:t>netværksanalyse</a:t>
            </a:r>
            <a:r>
              <a:rPr lang="en-GB" dirty="0">
                <a:latin typeface="Calisto MT" panose="02040603050505030304" pitchFamily="18" charset="77"/>
              </a:rPr>
              <a:t> </a:t>
            </a:r>
            <a:r>
              <a:rPr lang="en-GB" dirty="0" err="1">
                <a:latin typeface="Calisto MT" panose="02040603050505030304" pitchFamily="18" charset="77"/>
              </a:rPr>
              <a:t>i</a:t>
            </a:r>
            <a:r>
              <a:rPr lang="en-GB" dirty="0">
                <a:latin typeface="Calisto MT" panose="02040603050505030304" pitchFamily="18" charset="77"/>
              </a:rPr>
              <a:t> R.</a:t>
            </a:r>
          </a:p>
          <a:p>
            <a:r>
              <a:rPr lang="en-GB" dirty="0">
                <a:latin typeface="Calisto MT" panose="02040603050505030304" pitchFamily="18" charset="77"/>
              </a:rPr>
              <a:t>Pensum: </a:t>
            </a:r>
            <a:r>
              <a:rPr lang="en-GB" dirty="0" err="1">
                <a:latin typeface="Calisto MT" panose="02040603050505030304" pitchFamily="18" charset="77"/>
              </a:rPr>
              <a:t>Forskningsartikler</a:t>
            </a:r>
            <a:r>
              <a:rPr lang="en-GB" dirty="0">
                <a:latin typeface="Calisto MT" panose="02040603050505030304" pitchFamily="18" charset="77"/>
              </a:rPr>
              <a:t> + </a:t>
            </a:r>
            <a:r>
              <a:rPr lang="en-GB" dirty="0" err="1">
                <a:latin typeface="Calisto MT" panose="02040603050505030304" pitchFamily="18" charset="77"/>
              </a:rPr>
              <a:t>Grundbogen</a:t>
            </a:r>
            <a:r>
              <a:rPr lang="en-GB" dirty="0">
                <a:latin typeface="Calisto MT" panose="02040603050505030304" pitchFamily="18" charset="77"/>
              </a:rPr>
              <a:t> </a:t>
            </a:r>
            <a:r>
              <a:rPr lang="en-GB" dirty="0" err="1">
                <a:latin typeface="Calisto MT" panose="02040603050505030304" pitchFamily="18" charset="77"/>
              </a:rPr>
              <a:t>Netværksanalyse</a:t>
            </a:r>
            <a:r>
              <a:rPr lang="en-GB" dirty="0">
                <a:latin typeface="Calisto MT" panose="02040603050505030304" pitchFamily="18" charset="77"/>
              </a:rPr>
              <a:t> - </a:t>
            </a:r>
            <a:r>
              <a:rPr lang="en-GB" dirty="0" err="1">
                <a:latin typeface="Calisto MT" panose="02040603050505030304" pitchFamily="18" charset="77"/>
              </a:rPr>
              <a:t>en</a:t>
            </a:r>
            <a:r>
              <a:rPr lang="en-GB" dirty="0">
                <a:latin typeface="Calisto MT" panose="02040603050505030304" pitchFamily="18" charset="77"/>
              </a:rPr>
              <a:t> </a:t>
            </a:r>
            <a:r>
              <a:rPr lang="en-GB" dirty="0" err="1">
                <a:latin typeface="Calisto MT" panose="02040603050505030304" pitchFamily="18" charset="77"/>
              </a:rPr>
              <a:t>introduktion</a:t>
            </a:r>
            <a:r>
              <a:rPr lang="en-GB" dirty="0">
                <a:latin typeface="Calisto MT" panose="02040603050505030304" pitchFamily="18" charset="77"/>
              </a:rPr>
              <a:t> </a:t>
            </a:r>
            <a:r>
              <a:rPr lang="en-GB" dirty="0" err="1">
                <a:latin typeface="Calisto MT" panose="02040603050505030304" pitchFamily="18" charset="77"/>
              </a:rPr>
              <a:t>af</a:t>
            </a:r>
            <a:r>
              <a:rPr lang="en-GB" dirty="0">
                <a:latin typeface="Calisto MT" panose="02040603050505030304" pitchFamily="18" charset="77"/>
              </a:rPr>
              <a:t> Henriksen, L. and C. </a:t>
            </a:r>
            <a:r>
              <a:rPr lang="en-GB" dirty="0" err="1">
                <a:latin typeface="Calisto MT" panose="02040603050505030304" pitchFamily="18" charset="77"/>
              </a:rPr>
              <a:t>Waldstrøm</a:t>
            </a:r>
            <a:r>
              <a:rPr lang="en-GB" dirty="0">
                <a:latin typeface="Calisto MT" panose="02040603050505030304" pitchFamily="18" charset="77"/>
              </a:rPr>
              <a:t> (2016, </a:t>
            </a:r>
            <a:r>
              <a:rPr lang="en-GB" dirty="0" err="1">
                <a:latin typeface="Calisto MT" panose="02040603050505030304" pitchFamily="18" charset="77"/>
              </a:rPr>
              <a:t>København</a:t>
            </a:r>
            <a:r>
              <a:rPr lang="en-GB" dirty="0">
                <a:latin typeface="Calisto MT" panose="02040603050505030304" pitchFamily="18" charset="77"/>
              </a:rPr>
              <a:t>: </a:t>
            </a:r>
            <a:r>
              <a:rPr lang="en-GB" dirty="0" err="1">
                <a:latin typeface="Calisto MT" panose="02040603050505030304" pitchFamily="18" charset="77"/>
              </a:rPr>
              <a:t>Samfundslitteratur</a:t>
            </a:r>
            <a:r>
              <a:rPr lang="en-GB" dirty="0">
                <a:latin typeface="Calisto MT" panose="02040603050505030304" pitchFamily="18" charset="77"/>
              </a:rPr>
              <a:t>).</a:t>
            </a:r>
          </a:p>
          <a:p>
            <a:r>
              <a:rPr lang="en-GB" dirty="0">
                <a:latin typeface="Calisto MT" panose="02040603050505030304" pitchFamily="18" charset="77"/>
              </a:rPr>
              <a:t>Feedback: </a:t>
            </a:r>
            <a:r>
              <a:rPr lang="en-GB" dirty="0" err="1">
                <a:latin typeface="Calisto MT" panose="02040603050505030304" pitchFamily="18" charset="77"/>
              </a:rPr>
              <a:t>Spørgsmål</a:t>
            </a:r>
            <a:r>
              <a:rPr lang="en-GB" dirty="0">
                <a:latin typeface="Calisto MT" panose="02040603050505030304" pitchFamily="18" charset="77"/>
              </a:rPr>
              <a:t> </a:t>
            </a:r>
            <a:r>
              <a:rPr lang="en-GB" dirty="0" err="1">
                <a:latin typeface="Calisto MT" panose="02040603050505030304" pitchFamily="18" charset="77"/>
              </a:rPr>
              <a:t>og</a:t>
            </a:r>
            <a:r>
              <a:rPr lang="en-GB" dirty="0">
                <a:latin typeface="Calisto MT" panose="02040603050505030304" pitchFamily="18" charset="77"/>
              </a:rPr>
              <a:t> </a:t>
            </a:r>
            <a:r>
              <a:rPr lang="en-GB" dirty="0" err="1">
                <a:latin typeface="Calisto MT" panose="02040603050505030304" pitchFamily="18" charset="77"/>
              </a:rPr>
              <a:t>diskussion</a:t>
            </a:r>
            <a:r>
              <a:rPr lang="en-GB" dirty="0">
                <a:latin typeface="Calisto MT" panose="02040603050505030304" pitchFamily="18" charset="77"/>
              </a:rPr>
              <a:t> </a:t>
            </a:r>
            <a:r>
              <a:rPr lang="en-GB" dirty="0" err="1">
                <a:latin typeface="Calisto MT" panose="02040603050505030304" pitchFamily="18" charset="77"/>
              </a:rPr>
              <a:t>af</a:t>
            </a:r>
            <a:r>
              <a:rPr lang="en-GB" dirty="0">
                <a:latin typeface="Calisto MT" panose="02040603050505030304" pitchFamily="18" charset="77"/>
              </a:rPr>
              <a:t> pensum </a:t>
            </a:r>
            <a:r>
              <a:rPr lang="en-GB" dirty="0" err="1">
                <a:latin typeface="Calisto MT" panose="02040603050505030304" pitchFamily="18" charset="77"/>
              </a:rPr>
              <a:t>til</a:t>
            </a:r>
            <a:r>
              <a:rPr lang="en-GB" dirty="0">
                <a:latin typeface="Calisto MT" panose="02040603050505030304" pitchFamily="18" charset="77"/>
              </a:rPr>
              <a:t> </a:t>
            </a:r>
            <a:r>
              <a:rPr lang="en-GB" dirty="0" err="1">
                <a:latin typeface="Calisto MT" panose="02040603050505030304" pitchFamily="18" charset="77"/>
              </a:rPr>
              <a:t>forelæsninger</a:t>
            </a:r>
            <a:r>
              <a:rPr lang="en-GB" dirty="0">
                <a:latin typeface="Calisto MT" panose="02040603050505030304" pitchFamily="18" charset="77"/>
              </a:rPr>
              <a:t>; Office hours; </a:t>
            </a:r>
            <a:r>
              <a:rPr lang="en-GB" dirty="0" err="1">
                <a:latin typeface="Calisto MT" panose="02040603050505030304" pitchFamily="18" charset="77"/>
              </a:rPr>
              <a:t>øvelser</a:t>
            </a:r>
            <a:r>
              <a:rPr lang="en-GB" dirty="0">
                <a:latin typeface="Calisto MT" panose="02040603050505030304" pitchFamily="18" charset="77"/>
              </a:rPr>
              <a:t> – </a:t>
            </a:r>
            <a:r>
              <a:rPr lang="en-GB" dirty="0" err="1">
                <a:latin typeface="Calisto MT" panose="02040603050505030304" pitchFamily="18" charset="77"/>
              </a:rPr>
              <a:t>brug</a:t>
            </a:r>
            <a:r>
              <a:rPr lang="en-GB" dirty="0">
                <a:latin typeface="Calisto MT" panose="02040603050505030304" pitchFamily="18" charset="77"/>
              </a:rPr>
              <a:t> </a:t>
            </a:r>
            <a:r>
              <a:rPr lang="en-GB" dirty="0" err="1">
                <a:latin typeface="Calisto MT" panose="02040603050505030304" pitchFamily="18" charset="77"/>
              </a:rPr>
              <a:t>dem</a:t>
            </a:r>
            <a:r>
              <a:rPr lang="en-GB" dirty="0">
                <a:latin typeface="Calisto MT" panose="02040603050505030304" pitchFamily="18" charset="77"/>
              </a:rPr>
              <a:t>!</a:t>
            </a:r>
          </a:p>
        </p:txBody>
      </p:sp>
    </p:spTree>
    <p:extLst>
      <p:ext uri="{BB962C8B-B14F-4D97-AF65-F5344CB8AC3E}">
        <p14:creationId xmlns:p14="http://schemas.microsoft.com/office/powerpoint/2010/main" val="3767306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D01AB-2C40-AF4C-69DD-44B5CF5FEB09}"/>
              </a:ext>
            </a:extLst>
          </p:cNvPr>
          <p:cNvSpPr>
            <a:spLocks noGrp="1"/>
          </p:cNvSpPr>
          <p:nvPr>
            <p:ph type="title"/>
          </p:nvPr>
        </p:nvSpPr>
        <p:spPr/>
        <p:txBody>
          <a:bodyPr/>
          <a:lstStyle/>
          <a:p>
            <a:r>
              <a:rPr lang="en-US" dirty="0" err="1">
                <a:latin typeface="Calisto MT" panose="02040603050505030304" pitchFamily="18" charset="77"/>
              </a:rPr>
              <a:t>Eksamen</a:t>
            </a:r>
            <a:endParaRPr lang="en-US" dirty="0">
              <a:latin typeface="Calisto MT" panose="02040603050505030304" pitchFamily="18" charset="77"/>
            </a:endParaRPr>
          </a:p>
        </p:txBody>
      </p:sp>
      <p:sp>
        <p:nvSpPr>
          <p:cNvPr id="3" name="Content Placeholder 2">
            <a:extLst>
              <a:ext uri="{FF2B5EF4-FFF2-40B4-BE49-F238E27FC236}">
                <a16:creationId xmlns:a16="http://schemas.microsoft.com/office/drawing/2014/main" id="{3CCA60C9-9C70-4EFA-090B-157B345B3C45}"/>
              </a:ext>
            </a:extLst>
          </p:cNvPr>
          <p:cNvSpPr>
            <a:spLocks noGrp="1"/>
          </p:cNvSpPr>
          <p:nvPr>
            <p:ph idx="1"/>
          </p:nvPr>
        </p:nvSpPr>
        <p:spPr/>
        <p:txBody>
          <a:bodyPr/>
          <a:lstStyle/>
          <a:p>
            <a:r>
              <a:rPr lang="en-GB" dirty="0" err="1">
                <a:latin typeface="Calisto MT" panose="02040603050505030304" pitchFamily="18" charset="77"/>
                <a:cs typeface="Calibri" panose="020F0502020204030204" pitchFamily="34" charset="0"/>
              </a:rPr>
              <a:t>Gruppeprojekt</a:t>
            </a:r>
            <a:r>
              <a:rPr lang="en-GB" dirty="0">
                <a:latin typeface="Calisto MT" panose="02040603050505030304" pitchFamily="18" charset="77"/>
                <a:cs typeface="Calibri" panose="020F0502020204030204" pitchFamily="34" charset="0"/>
              </a:rPr>
              <a:t>, der </a:t>
            </a:r>
            <a:r>
              <a:rPr lang="en-GB" dirty="0" err="1">
                <a:latin typeface="Calisto MT" panose="02040603050505030304" pitchFamily="18" charset="77"/>
                <a:cs typeface="Calibri" panose="020F0502020204030204" pitchFamily="34" charset="0"/>
              </a:rPr>
              <a:t>besvarer</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ét</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af</a:t>
            </a:r>
            <a:r>
              <a:rPr lang="en-GB" dirty="0">
                <a:latin typeface="Calisto MT" panose="02040603050505030304" pitchFamily="18" charset="77"/>
                <a:cs typeface="Calibri" panose="020F0502020204030204" pitchFamily="34" charset="0"/>
              </a:rPr>
              <a:t> de </a:t>
            </a:r>
            <a:r>
              <a:rPr lang="en-GB" dirty="0" err="1">
                <a:latin typeface="Calisto MT" panose="02040603050505030304" pitchFamily="18" charset="77"/>
                <a:cs typeface="Calibri" panose="020F0502020204030204" pitchFamily="34" charset="0"/>
              </a:rPr>
              <a:t>tre</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nedenstående</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spørgsmål</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Fælles</a:t>
            </a:r>
            <a:r>
              <a:rPr lang="en-GB" dirty="0">
                <a:latin typeface="Calisto MT" panose="02040603050505030304" pitchFamily="18" charset="77"/>
                <a:cs typeface="Calibri" panose="020F0502020204030204" pitchFamily="34" charset="0"/>
              </a:rPr>
              <a:t> for alle </a:t>
            </a:r>
            <a:r>
              <a:rPr lang="en-GB" dirty="0" err="1">
                <a:latin typeface="Calisto MT" panose="02040603050505030304" pitchFamily="18" charset="77"/>
                <a:cs typeface="Calibri" panose="020F0502020204030204" pitchFamily="34" charset="0"/>
              </a:rPr>
              <a:t>spørgsmål</a:t>
            </a:r>
            <a:r>
              <a:rPr lang="en-GB" dirty="0">
                <a:latin typeface="Calisto MT" panose="02040603050505030304" pitchFamily="18" charset="77"/>
                <a:cs typeface="Calibri" panose="020F0502020204030204" pitchFamily="34" charset="0"/>
              </a:rPr>
              <a:t> er, at de </a:t>
            </a:r>
            <a:r>
              <a:rPr lang="en-GB" dirty="0" err="1">
                <a:latin typeface="Calisto MT" panose="02040603050505030304" pitchFamily="18" charset="77"/>
                <a:cs typeface="Calibri" panose="020F0502020204030204" pitchFamily="34" charset="0"/>
              </a:rPr>
              <a:t>kræver</a:t>
            </a:r>
            <a:r>
              <a:rPr lang="en-GB" dirty="0">
                <a:latin typeface="Calisto MT" panose="02040603050505030304" pitchFamily="18" charset="77"/>
                <a:cs typeface="Calibri" panose="020F0502020204030204" pitchFamily="34" charset="0"/>
              </a:rPr>
              <a:t>, I laver </a:t>
            </a:r>
            <a:r>
              <a:rPr lang="en-GB" dirty="0" err="1">
                <a:latin typeface="Calisto MT" panose="02040603050505030304" pitchFamily="18" charset="77"/>
                <a:cs typeface="Calibri" panose="020F0502020204030204" pitchFamily="34" charset="0"/>
              </a:rPr>
              <a:t>en</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problemformulering</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som</a:t>
            </a:r>
            <a:r>
              <a:rPr lang="en-GB" dirty="0">
                <a:latin typeface="Calisto MT" panose="02040603050505030304" pitchFamily="18" charset="77"/>
                <a:cs typeface="Calibri" panose="020F0502020204030204" pitchFamily="34" charset="0"/>
              </a:rPr>
              <a:t> I </a:t>
            </a:r>
            <a:r>
              <a:rPr lang="en-GB" dirty="0" err="1">
                <a:latin typeface="Calisto MT" panose="02040603050505030304" pitchFamily="18" charset="77"/>
                <a:cs typeface="Calibri" panose="020F0502020204030204" pitchFamily="34" charset="0"/>
              </a:rPr>
              <a:t>retter</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jeres</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besvarelse</a:t>
            </a:r>
            <a:r>
              <a:rPr lang="en-GB" dirty="0">
                <a:latin typeface="Calisto MT" panose="02040603050505030304" pitchFamily="18" charset="77"/>
                <a:cs typeface="Calibri" panose="020F0502020204030204" pitchFamily="34" charset="0"/>
              </a:rPr>
              <a:t> mod.</a:t>
            </a:r>
          </a:p>
          <a:p>
            <a:pPr lvl="1"/>
            <a:r>
              <a:rPr lang="en-GB" dirty="0">
                <a:latin typeface="Calisto MT" panose="02040603050505030304" pitchFamily="18" charset="77"/>
                <a:cs typeface="Calibri" panose="020F0502020204030204" pitchFamily="34" charset="0"/>
              </a:rPr>
              <a:t>Analyser </a:t>
            </a:r>
            <a:r>
              <a:rPr lang="en-GB" dirty="0" err="1">
                <a:latin typeface="Calisto MT" panose="02040603050505030304" pitchFamily="18" charset="77"/>
                <a:cs typeface="Calibri" panose="020F0502020204030204" pitchFamily="34" charset="0"/>
              </a:rPr>
              <a:t>og</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forklar</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virksomheders</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strategiske</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brug</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af</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netværk</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i</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Danmark</a:t>
            </a:r>
            <a:r>
              <a:rPr lang="en-GB" dirty="0">
                <a:latin typeface="Calisto MT" panose="02040603050505030304" pitchFamily="18" charset="77"/>
                <a:cs typeface="Calibri" panose="020F0502020204030204" pitchFamily="34" charset="0"/>
              </a:rPr>
              <a:t> med </a:t>
            </a:r>
            <a:r>
              <a:rPr lang="en-GB" dirty="0" err="1">
                <a:latin typeface="Calisto MT" panose="02040603050505030304" pitchFamily="18" charset="77"/>
                <a:cs typeface="Calibri" panose="020F0502020204030204" pitchFamily="34" charset="0"/>
              </a:rPr>
              <a:t>fokus</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på</a:t>
            </a:r>
            <a:r>
              <a:rPr lang="en-GB" dirty="0">
                <a:latin typeface="Calisto MT" panose="02040603050505030304" pitchFamily="18" charset="77"/>
                <a:cs typeface="Calibri" panose="020F0502020204030204" pitchFamily="34" charset="0"/>
              </a:rPr>
              <a:t> et </a:t>
            </a:r>
            <a:r>
              <a:rPr lang="en-GB" dirty="0" err="1">
                <a:latin typeface="Calisto MT" panose="02040603050505030304" pitchFamily="18" charset="77"/>
                <a:cs typeface="Calibri" panose="020F0502020204030204" pitchFamily="34" charset="0"/>
              </a:rPr>
              <a:t>specifikt</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afgrænset</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netværk</a:t>
            </a:r>
            <a:endParaRPr lang="en-GB" dirty="0">
              <a:latin typeface="Calisto MT" panose="02040603050505030304" pitchFamily="18" charset="77"/>
              <a:cs typeface="Calibri" panose="020F0502020204030204" pitchFamily="34" charset="0"/>
            </a:endParaRPr>
          </a:p>
          <a:p>
            <a:pPr lvl="1"/>
            <a:r>
              <a:rPr lang="en-GB" dirty="0">
                <a:latin typeface="Calisto MT" panose="02040603050505030304" pitchFamily="18" charset="77"/>
                <a:cs typeface="Calibri" panose="020F0502020204030204" pitchFamily="34" charset="0"/>
              </a:rPr>
              <a:t>Analyser </a:t>
            </a:r>
            <a:r>
              <a:rPr lang="en-GB" dirty="0" err="1">
                <a:latin typeface="Calisto MT" panose="02040603050505030304" pitchFamily="18" charset="77"/>
                <a:cs typeface="Calibri" panose="020F0502020204030204" pitchFamily="34" charset="0"/>
              </a:rPr>
              <a:t>netværksdata</a:t>
            </a:r>
            <a:r>
              <a:rPr lang="en-GB" dirty="0">
                <a:latin typeface="Calisto MT" panose="02040603050505030304" pitchFamily="18" charset="77"/>
                <a:cs typeface="Calibri" panose="020F0502020204030204" pitchFamily="34" charset="0"/>
              </a:rPr>
              <a:t>, I </a:t>
            </a:r>
            <a:r>
              <a:rPr lang="en-GB" dirty="0" err="1">
                <a:latin typeface="Calisto MT" panose="02040603050505030304" pitchFamily="18" charset="77"/>
                <a:cs typeface="Calibri" panose="020F0502020204030204" pitchFamily="34" charset="0"/>
              </a:rPr>
              <a:t>selv</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har</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indsamlet</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eller</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udvalgt</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fra</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en</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anden</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datakilde</a:t>
            </a:r>
            <a:r>
              <a:rPr lang="en-GB" dirty="0">
                <a:latin typeface="Calisto MT" panose="02040603050505030304" pitchFamily="18" charset="77"/>
                <a:cs typeface="Calibri" panose="020F0502020204030204" pitchFamily="34" charset="0"/>
              </a:rPr>
              <a:t>.</a:t>
            </a:r>
          </a:p>
          <a:p>
            <a:pPr lvl="1"/>
            <a:r>
              <a:rPr lang="en-GB" dirty="0" err="1">
                <a:latin typeface="Calisto MT" panose="02040603050505030304" pitchFamily="18" charset="77"/>
                <a:cs typeface="Calibri" panose="020F0502020204030204" pitchFamily="34" charset="0"/>
              </a:rPr>
              <a:t>Diskuter</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en</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netværksanalyse</a:t>
            </a:r>
            <a:r>
              <a:rPr lang="en-GB" dirty="0">
                <a:latin typeface="Calisto MT" panose="02040603050505030304" pitchFamily="18" charset="77"/>
                <a:cs typeface="Calibri" panose="020F0502020204030204" pitchFamily="34" charset="0"/>
              </a:rPr>
              <a:t> </a:t>
            </a:r>
            <a:r>
              <a:rPr lang="en-GB" dirty="0" err="1">
                <a:latin typeface="Calisto MT" panose="02040603050505030304" pitchFamily="18" charset="77"/>
                <a:cs typeface="Calibri" panose="020F0502020204030204" pitchFamily="34" charset="0"/>
              </a:rPr>
              <a:t>og</a:t>
            </a:r>
            <a:r>
              <a:rPr lang="en-GB" dirty="0">
                <a:latin typeface="Calisto MT" panose="02040603050505030304" pitchFamily="18" charset="77"/>
                <a:cs typeface="Calibri" panose="020F0502020204030204" pitchFamily="34" charset="0"/>
              </a:rPr>
              <a:t> vis et </a:t>
            </a:r>
            <a:r>
              <a:rPr lang="en-GB" dirty="0" err="1">
                <a:latin typeface="Calisto MT" panose="02040603050505030304" pitchFamily="18" charset="77"/>
                <a:cs typeface="Calibri" panose="020F0502020204030204" pitchFamily="34" charset="0"/>
              </a:rPr>
              <a:t>netværk</a:t>
            </a:r>
            <a:r>
              <a:rPr lang="en-GB" dirty="0">
                <a:latin typeface="Calisto MT" panose="02040603050505030304" pitchFamily="18" charset="77"/>
                <a:cs typeface="Calibri" panose="020F0502020204030204" pitchFamily="34" charset="0"/>
              </a:rPr>
              <a:t>.</a:t>
            </a:r>
          </a:p>
        </p:txBody>
      </p:sp>
    </p:spTree>
    <p:extLst>
      <p:ext uri="{BB962C8B-B14F-4D97-AF65-F5344CB8AC3E}">
        <p14:creationId xmlns:p14="http://schemas.microsoft.com/office/powerpoint/2010/main" val="709851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8540CE-C7A2-6340-9A9E-0AAADED7131C}"/>
              </a:ext>
            </a:extLst>
          </p:cNvPr>
          <p:cNvSpPr>
            <a:spLocks noGrp="1"/>
          </p:cNvSpPr>
          <p:nvPr>
            <p:ph idx="1"/>
          </p:nvPr>
        </p:nvSpPr>
        <p:spPr>
          <a:xfrm>
            <a:off x="838200" y="798990"/>
            <a:ext cx="10515600" cy="5377973"/>
          </a:xfrm>
        </p:spPr>
        <p:txBody>
          <a:bodyPr/>
          <a:lstStyle/>
          <a:p>
            <a:pPr marL="0" indent="0">
              <a:buNone/>
            </a:pPr>
            <a:r>
              <a:rPr lang="da-DK" dirty="0"/>
              <a:t>Metodegrundbogen:</a:t>
            </a:r>
          </a:p>
          <a:p>
            <a:pPr marL="0" indent="0">
              <a:buNone/>
            </a:pPr>
            <a:endParaRPr lang="da-DK" dirty="0"/>
          </a:p>
          <a:p>
            <a:pPr marL="0" indent="0">
              <a:buNone/>
            </a:pPr>
            <a:endParaRPr lang="da-DK" dirty="0"/>
          </a:p>
          <a:p>
            <a:pPr marL="0" indent="0">
              <a:buNone/>
            </a:pPr>
            <a:r>
              <a:rPr lang="da-DK" dirty="0"/>
              <a:t>Fokus på relativ aktuel faglitteratur – artikler og bogkapitler – faglitteraturen introducerer til teori, anvendt metode og casestudier</a:t>
            </a:r>
          </a:p>
          <a:p>
            <a:pPr marL="0" indent="0">
              <a:buNone/>
            </a:pPr>
            <a:endParaRPr lang="da-DK" dirty="0"/>
          </a:p>
          <a:p>
            <a:pPr marL="0" indent="0">
              <a:buNone/>
            </a:pPr>
            <a:endParaRPr lang="da-DK" dirty="0"/>
          </a:p>
          <a:p>
            <a:pPr marL="0" indent="0">
              <a:buNone/>
            </a:pPr>
            <a:endParaRPr lang="da-DK" dirty="0"/>
          </a:p>
          <a:p>
            <a:pPr marL="0" indent="0">
              <a:buNone/>
            </a:pPr>
            <a:r>
              <a:rPr lang="da-DK" dirty="0"/>
              <a:t>Teamet: </a:t>
            </a:r>
          </a:p>
        </p:txBody>
      </p:sp>
      <p:pic>
        <p:nvPicPr>
          <p:cNvPr id="4" name="Picture 3">
            <a:extLst>
              <a:ext uri="{FF2B5EF4-FFF2-40B4-BE49-F238E27FC236}">
                <a16:creationId xmlns:a16="http://schemas.microsoft.com/office/drawing/2014/main" id="{16AACC4A-DE25-8F42-B552-35BB4078BA56}"/>
              </a:ext>
            </a:extLst>
          </p:cNvPr>
          <p:cNvPicPr>
            <a:picLocks noChangeAspect="1"/>
          </p:cNvPicPr>
          <p:nvPr/>
        </p:nvPicPr>
        <p:blipFill>
          <a:blip r:embed="rId2"/>
          <a:stretch>
            <a:fillRect/>
          </a:stretch>
        </p:blipFill>
        <p:spPr>
          <a:xfrm>
            <a:off x="4273570" y="140312"/>
            <a:ext cx="1128697" cy="1668508"/>
          </a:xfrm>
          <a:prstGeom prst="rect">
            <a:avLst/>
          </a:prstGeom>
        </p:spPr>
      </p:pic>
      <p:pic>
        <p:nvPicPr>
          <p:cNvPr id="5" name="Picture 4">
            <a:extLst>
              <a:ext uri="{FF2B5EF4-FFF2-40B4-BE49-F238E27FC236}">
                <a16:creationId xmlns:a16="http://schemas.microsoft.com/office/drawing/2014/main" id="{55A37BF6-9219-5A40-976D-4960ECC4BB39}"/>
              </a:ext>
            </a:extLst>
          </p:cNvPr>
          <p:cNvPicPr>
            <a:picLocks noChangeAspect="1"/>
          </p:cNvPicPr>
          <p:nvPr/>
        </p:nvPicPr>
        <p:blipFill>
          <a:blip r:embed="rId3"/>
          <a:stretch>
            <a:fillRect/>
          </a:stretch>
        </p:blipFill>
        <p:spPr>
          <a:xfrm>
            <a:off x="2447872" y="3954631"/>
            <a:ext cx="1447800" cy="1397000"/>
          </a:xfrm>
          <a:prstGeom prst="rect">
            <a:avLst/>
          </a:prstGeom>
        </p:spPr>
      </p:pic>
      <p:pic>
        <p:nvPicPr>
          <p:cNvPr id="6" name="Picture 5">
            <a:extLst>
              <a:ext uri="{FF2B5EF4-FFF2-40B4-BE49-F238E27FC236}">
                <a16:creationId xmlns:a16="http://schemas.microsoft.com/office/drawing/2014/main" id="{9D847CDD-9061-F543-8F1C-1F9D80248D18}"/>
              </a:ext>
            </a:extLst>
          </p:cNvPr>
          <p:cNvPicPr>
            <a:picLocks noChangeAspect="1"/>
          </p:cNvPicPr>
          <p:nvPr/>
        </p:nvPicPr>
        <p:blipFill>
          <a:blip r:embed="rId4"/>
          <a:stretch>
            <a:fillRect/>
          </a:stretch>
        </p:blipFill>
        <p:spPr>
          <a:xfrm>
            <a:off x="5505343" y="3954631"/>
            <a:ext cx="1728960" cy="1397000"/>
          </a:xfrm>
          <a:prstGeom prst="rect">
            <a:avLst/>
          </a:prstGeom>
        </p:spPr>
      </p:pic>
      <p:sp>
        <p:nvSpPr>
          <p:cNvPr id="2" name="TextBox 1">
            <a:extLst>
              <a:ext uri="{FF2B5EF4-FFF2-40B4-BE49-F238E27FC236}">
                <a16:creationId xmlns:a16="http://schemas.microsoft.com/office/drawing/2014/main" id="{5E1E5F76-EDB5-B248-A0DF-7477CF257C05}"/>
              </a:ext>
            </a:extLst>
          </p:cNvPr>
          <p:cNvSpPr txBox="1"/>
          <p:nvPr/>
        </p:nvSpPr>
        <p:spPr>
          <a:xfrm>
            <a:off x="2355186" y="5501172"/>
            <a:ext cx="2549096" cy="553998"/>
          </a:xfrm>
          <a:prstGeom prst="rect">
            <a:avLst/>
          </a:prstGeom>
          <a:noFill/>
        </p:spPr>
        <p:txBody>
          <a:bodyPr wrap="none" rtlCol="0">
            <a:spAutoFit/>
          </a:bodyPr>
          <a:lstStyle/>
          <a:p>
            <a:r>
              <a:rPr lang="en-DK" sz="1500" dirty="0"/>
              <a:t>Christoph Houman Ellersgaard</a:t>
            </a:r>
          </a:p>
          <a:p>
            <a:r>
              <a:rPr lang="en-DK" sz="1500" dirty="0"/>
              <a:t>Lektor, IOA</a:t>
            </a:r>
          </a:p>
        </p:txBody>
      </p:sp>
      <p:sp>
        <p:nvSpPr>
          <p:cNvPr id="8" name="TextBox 7">
            <a:extLst>
              <a:ext uri="{FF2B5EF4-FFF2-40B4-BE49-F238E27FC236}">
                <a16:creationId xmlns:a16="http://schemas.microsoft.com/office/drawing/2014/main" id="{CC4EF77B-CC38-6E44-805F-80ED7C7D24E0}"/>
              </a:ext>
            </a:extLst>
          </p:cNvPr>
          <p:cNvSpPr txBox="1"/>
          <p:nvPr/>
        </p:nvSpPr>
        <p:spPr>
          <a:xfrm>
            <a:off x="5402267" y="5501172"/>
            <a:ext cx="1885453" cy="553998"/>
          </a:xfrm>
          <a:prstGeom prst="rect">
            <a:avLst/>
          </a:prstGeom>
          <a:noFill/>
        </p:spPr>
        <p:txBody>
          <a:bodyPr wrap="none" rtlCol="0">
            <a:spAutoFit/>
          </a:bodyPr>
          <a:lstStyle/>
          <a:p>
            <a:r>
              <a:rPr lang="en-DK" sz="1500" dirty="0"/>
              <a:t>Lasse Folke Henriksen</a:t>
            </a:r>
          </a:p>
          <a:p>
            <a:r>
              <a:rPr lang="en-DK" sz="1500" dirty="0"/>
              <a:t>Lektor, IOA</a:t>
            </a:r>
          </a:p>
        </p:txBody>
      </p:sp>
      <p:sp>
        <p:nvSpPr>
          <p:cNvPr id="9" name="TextBox 8">
            <a:extLst>
              <a:ext uri="{FF2B5EF4-FFF2-40B4-BE49-F238E27FC236}">
                <a16:creationId xmlns:a16="http://schemas.microsoft.com/office/drawing/2014/main" id="{7F4CB083-C8B2-9A4D-A445-A5A0F883AD2C}"/>
              </a:ext>
            </a:extLst>
          </p:cNvPr>
          <p:cNvSpPr txBox="1"/>
          <p:nvPr/>
        </p:nvSpPr>
        <p:spPr>
          <a:xfrm>
            <a:off x="8685759" y="5501172"/>
            <a:ext cx="1625766" cy="553998"/>
          </a:xfrm>
          <a:prstGeom prst="rect">
            <a:avLst/>
          </a:prstGeom>
          <a:noFill/>
        </p:spPr>
        <p:txBody>
          <a:bodyPr wrap="none" rtlCol="0">
            <a:spAutoFit/>
          </a:bodyPr>
          <a:lstStyle/>
          <a:p>
            <a:r>
              <a:rPr lang="en-DK" sz="1500" dirty="0"/>
              <a:t>Jakoc Lunding</a:t>
            </a:r>
          </a:p>
          <a:p>
            <a:r>
              <a:rPr lang="en-GB" sz="1500" dirty="0"/>
              <a:t>E</a:t>
            </a:r>
            <a:r>
              <a:rPr lang="en-DK" sz="1500" dirty="0"/>
              <a:t>kstern lektor, IOA</a:t>
            </a:r>
          </a:p>
        </p:txBody>
      </p:sp>
      <p:pic>
        <p:nvPicPr>
          <p:cNvPr id="7" name="Picture 6">
            <a:extLst>
              <a:ext uri="{FF2B5EF4-FFF2-40B4-BE49-F238E27FC236}">
                <a16:creationId xmlns:a16="http://schemas.microsoft.com/office/drawing/2014/main" id="{6D0D078C-2CD3-D0FB-4BEF-FDE33C910B10}"/>
              </a:ext>
            </a:extLst>
          </p:cNvPr>
          <p:cNvPicPr>
            <a:picLocks noChangeAspect="1"/>
          </p:cNvPicPr>
          <p:nvPr/>
        </p:nvPicPr>
        <p:blipFill>
          <a:blip r:embed="rId2"/>
          <a:stretch>
            <a:fillRect/>
          </a:stretch>
        </p:blipFill>
        <p:spPr>
          <a:xfrm>
            <a:off x="4171970" y="580579"/>
            <a:ext cx="1128697" cy="1668508"/>
          </a:xfrm>
          <a:prstGeom prst="rect">
            <a:avLst/>
          </a:prstGeom>
        </p:spPr>
      </p:pic>
      <p:pic>
        <p:nvPicPr>
          <p:cNvPr id="11" name="Picture 10" descr="A person with a beard and glasses in the snow&#10;&#10;Description automatically generated">
            <a:extLst>
              <a:ext uri="{FF2B5EF4-FFF2-40B4-BE49-F238E27FC236}">
                <a16:creationId xmlns:a16="http://schemas.microsoft.com/office/drawing/2014/main" id="{D71E95D7-BFBB-50E5-9423-47F7C9B299D0}"/>
              </a:ext>
            </a:extLst>
          </p:cNvPr>
          <p:cNvPicPr>
            <a:picLocks noChangeAspect="1"/>
          </p:cNvPicPr>
          <p:nvPr/>
        </p:nvPicPr>
        <p:blipFill>
          <a:blip r:embed="rId5"/>
          <a:stretch>
            <a:fillRect/>
          </a:stretch>
        </p:blipFill>
        <p:spPr>
          <a:xfrm>
            <a:off x="8792340" y="3742324"/>
            <a:ext cx="1447800" cy="1637055"/>
          </a:xfrm>
          <a:prstGeom prst="rect">
            <a:avLst/>
          </a:prstGeom>
        </p:spPr>
      </p:pic>
    </p:spTree>
    <p:extLst>
      <p:ext uri="{BB962C8B-B14F-4D97-AF65-F5344CB8AC3E}">
        <p14:creationId xmlns:p14="http://schemas.microsoft.com/office/powerpoint/2010/main" val="354894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F5C9245E-76D3-8F98-FBA3-6C399A965F67}"/>
              </a:ext>
            </a:extLst>
          </p:cNvPr>
          <p:cNvPicPr>
            <a:picLocks noChangeAspect="1"/>
          </p:cNvPicPr>
          <p:nvPr/>
        </p:nvPicPr>
        <p:blipFill>
          <a:blip r:embed="rId2"/>
          <a:stretch>
            <a:fillRect/>
          </a:stretch>
        </p:blipFill>
        <p:spPr>
          <a:xfrm>
            <a:off x="3539836" y="0"/>
            <a:ext cx="5112327" cy="6858000"/>
          </a:xfrm>
          <a:prstGeom prst="rect">
            <a:avLst/>
          </a:prstGeom>
        </p:spPr>
      </p:pic>
    </p:spTree>
    <p:extLst>
      <p:ext uri="{BB962C8B-B14F-4D97-AF65-F5344CB8AC3E}">
        <p14:creationId xmlns:p14="http://schemas.microsoft.com/office/powerpoint/2010/main" val="4016323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CD6C-24E4-A05E-6A83-01E49414F3DA}"/>
            </a:ext>
          </a:extLst>
        </p:cNvPr>
        <p:cNvGrpSpPr/>
        <p:nvPr/>
      </p:nvGrpSpPr>
      <p:grpSpPr>
        <a:xfrm>
          <a:off x="0" y="0"/>
          <a:ext cx="0" cy="0"/>
          <a:chOff x="0" y="0"/>
          <a:chExt cx="0" cy="0"/>
        </a:xfrm>
      </p:grpSpPr>
      <p:pic>
        <p:nvPicPr>
          <p:cNvPr id="3" name="Picture 2" descr="A white rectangular box with black text&#10;&#10;AI-generated content may be incorrect.">
            <a:extLst>
              <a:ext uri="{FF2B5EF4-FFF2-40B4-BE49-F238E27FC236}">
                <a16:creationId xmlns:a16="http://schemas.microsoft.com/office/drawing/2014/main" id="{00DC7494-94F4-6FA5-0E74-7E80E9B8A732}"/>
              </a:ext>
            </a:extLst>
          </p:cNvPr>
          <p:cNvPicPr>
            <a:picLocks noChangeAspect="1"/>
          </p:cNvPicPr>
          <p:nvPr/>
        </p:nvPicPr>
        <p:blipFill>
          <a:blip r:embed="rId2"/>
          <a:stretch>
            <a:fillRect/>
          </a:stretch>
        </p:blipFill>
        <p:spPr>
          <a:xfrm>
            <a:off x="2788403" y="1780520"/>
            <a:ext cx="6615193" cy="1919222"/>
          </a:xfrm>
          <a:prstGeom prst="rect">
            <a:avLst/>
          </a:prstGeom>
        </p:spPr>
      </p:pic>
    </p:spTree>
    <p:extLst>
      <p:ext uri="{BB962C8B-B14F-4D97-AF65-F5344CB8AC3E}">
        <p14:creationId xmlns:p14="http://schemas.microsoft.com/office/powerpoint/2010/main" val="3749455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9044B-8D3F-3FA7-94AB-08D505405AF2}"/>
              </a:ext>
            </a:extLst>
          </p:cNvPr>
          <p:cNvSpPr>
            <a:spLocks noGrp="1"/>
          </p:cNvSpPr>
          <p:nvPr>
            <p:ph type="title"/>
          </p:nvPr>
        </p:nvSpPr>
        <p:spPr/>
        <p:txBody>
          <a:bodyPr/>
          <a:lstStyle/>
          <a:p>
            <a:pPr algn="ctr"/>
            <a:r>
              <a:rPr lang="da-DK" dirty="0"/>
              <a:t>Baggrund</a:t>
            </a:r>
          </a:p>
        </p:txBody>
      </p:sp>
      <p:sp>
        <p:nvSpPr>
          <p:cNvPr id="3" name="Content Placeholder 2">
            <a:extLst>
              <a:ext uri="{FF2B5EF4-FFF2-40B4-BE49-F238E27FC236}">
                <a16:creationId xmlns:a16="http://schemas.microsoft.com/office/drawing/2014/main" id="{A1E57B52-F441-65CB-5ECC-B16D4346920F}"/>
              </a:ext>
            </a:extLst>
          </p:cNvPr>
          <p:cNvSpPr>
            <a:spLocks noGrp="1"/>
          </p:cNvSpPr>
          <p:nvPr>
            <p:ph idx="1"/>
          </p:nvPr>
        </p:nvSpPr>
        <p:spPr/>
        <p:txBody>
          <a:bodyPr/>
          <a:lstStyle/>
          <a:p>
            <a:endParaRPr lang="da-DK"/>
          </a:p>
        </p:txBody>
      </p:sp>
    </p:spTree>
    <p:extLst>
      <p:ext uri="{BB962C8B-B14F-4D97-AF65-F5344CB8AC3E}">
        <p14:creationId xmlns:p14="http://schemas.microsoft.com/office/powerpoint/2010/main" val="363881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DCDB9-1AE2-6449-9617-FD9B78761190}"/>
              </a:ext>
            </a:extLst>
          </p:cNvPr>
          <p:cNvSpPr>
            <a:spLocks noGrp="1"/>
          </p:cNvSpPr>
          <p:nvPr>
            <p:ph type="title"/>
          </p:nvPr>
        </p:nvSpPr>
        <p:spPr>
          <a:xfrm>
            <a:off x="3699933" y="0"/>
            <a:ext cx="5223934" cy="1101192"/>
          </a:xfrm>
        </p:spPr>
        <p:txBody>
          <a:bodyPr>
            <a:normAutofit/>
          </a:bodyPr>
          <a:lstStyle/>
          <a:p>
            <a:r>
              <a:rPr lang="da-DK" sz="3600" dirty="0">
                <a:latin typeface="Calisto MT" panose="02040603050505030304" pitchFamily="18" charset="77"/>
              </a:rPr>
              <a:t>Virksomhedsstrategi 1.0</a:t>
            </a:r>
          </a:p>
        </p:txBody>
      </p:sp>
      <p:sp>
        <p:nvSpPr>
          <p:cNvPr id="5" name="Slide Number Placeholder 4">
            <a:extLst>
              <a:ext uri="{FF2B5EF4-FFF2-40B4-BE49-F238E27FC236}">
                <a16:creationId xmlns:a16="http://schemas.microsoft.com/office/drawing/2014/main" id="{AAF5E985-FAF8-D943-BDDF-E88C5E30BFE4}"/>
              </a:ext>
            </a:extLst>
          </p:cNvPr>
          <p:cNvSpPr>
            <a:spLocks noGrp="1"/>
          </p:cNvSpPr>
          <p:nvPr>
            <p:ph type="sldNum" sz="quarter" idx="12"/>
          </p:nvPr>
        </p:nvSpPr>
        <p:spPr/>
        <p:txBody>
          <a:bodyPr/>
          <a:lstStyle/>
          <a:p>
            <a:fld id="{0FB56013-B943-42BA-886F-6F9D4EB85E9D}" type="slidenum">
              <a:rPr lang="en-US" smtClean="0"/>
              <a:pPr/>
              <a:t>12</a:t>
            </a:fld>
            <a:endParaRPr lang="en-US"/>
          </a:p>
        </p:txBody>
      </p:sp>
      <p:sp>
        <p:nvSpPr>
          <p:cNvPr id="3" name="TextBox 2">
            <a:extLst>
              <a:ext uri="{FF2B5EF4-FFF2-40B4-BE49-F238E27FC236}">
                <a16:creationId xmlns:a16="http://schemas.microsoft.com/office/drawing/2014/main" id="{FA446966-0C60-CF48-A0DE-8FC274B7C91D}"/>
              </a:ext>
            </a:extLst>
          </p:cNvPr>
          <p:cNvSpPr txBox="1"/>
          <p:nvPr/>
        </p:nvSpPr>
        <p:spPr>
          <a:xfrm>
            <a:off x="1100137" y="1101192"/>
            <a:ext cx="9638494" cy="5586145"/>
          </a:xfrm>
          <a:prstGeom prst="rect">
            <a:avLst/>
          </a:prstGeom>
          <a:solidFill>
            <a:schemeClr val="bg1"/>
          </a:solidFill>
        </p:spPr>
        <p:txBody>
          <a:bodyPr wrap="square" rtlCol="0">
            <a:spAutoFit/>
          </a:bodyPr>
          <a:lstStyle/>
          <a:p>
            <a:r>
              <a:rPr lang="da-DK" sz="1700" dirty="0">
                <a:latin typeface="Calisto MT" panose="02040603050505030304" pitchFamily="18" charset="77"/>
              </a:rPr>
              <a:t>Dominerende teori og dets kontekst:</a:t>
            </a:r>
          </a:p>
          <a:p>
            <a:pPr marL="285750" indent="-285750">
              <a:buFontTx/>
              <a:buChar char="-"/>
            </a:pPr>
            <a:r>
              <a:rPr lang="da-DK" sz="1700" dirty="0">
                <a:latin typeface="Calisto MT" panose="02040603050505030304" pitchFamily="18" charset="77"/>
              </a:rPr>
              <a:t>Agency </a:t>
            </a:r>
            <a:r>
              <a:rPr lang="da-DK" sz="1700" dirty="0" err="1">
                <a:latin typeface="Calisto MT" panose="02040603050505030304" pitchFamily="18" charset="77"/>
              </a:rPr>
              <a:t>theory</a:t>
            </a:r>
            <a:r>
              <a:rPr lang="da-DK" sz="1700" dirty="0">
                <a:latin typeface="Calisto MT" panose="02040603050505030304" pitchFamily="18" charset="77"/>
              </a:rPr>
              <a:t>: strategisk selskabsledelse er at designe virksomheders </a:t>
            </a:r>
            <a:r>
              <a:rPr lang="da-DK" sz="1700" dirty="0" err="1">
                <a:latin typeface="Calisto MT" panose="02040603050505030304" pitchFamily="18" charset="77"/>
              </a:rPr>
              <a:t>incitamentstruktur</a:t>
            </a:r>
            <a:r>
              <a:rPr lang="da-DK" sz="1700" dirty="0">
                <a:latin typeface="Calisto MT" panose="02040603050505030304" pitchFamily="18" charset="77"/>
              </a:rPr>
              <a:t> således at afkastet til aktionærer maksimeres  (Jensen &amp; </a:t>
            </a:r>
            <a:r>
              <a:rPr lang="da-DK" sz="1700" dirty="0" err="1">
                <a:latin typeface="Calisto MT" panose="02040603050505030304" pitchFamily="18" charset="77"/>
              </a:rPr>
              <a:t>Meckling</a:t>
            </a:r>
            <a:r>
              <a:rPr lang="da-DK" sz="1700" dirty="0">
                <a:latin typeface="Calisto MT" panose="02040603050505030304" pitchFamily="18" charset="77"/>
              </a:rPr>
              <a:t> 1976)	</a:t>
            </a:r>
          </a:p>
          <a:p>
            <a:pPr marL="285750" indent="-285750">
              <a:buFontTx/>
              <a:buChar char="-"/>
            </a:pPr>
            <a:r>
              <a:rPr lang="da-DK" sz="1700" dirty="0">
                <a:latin typeface="Calisto MT" panose="02040603050505030304" pitchFamily="18" charset="77"/>
              </a:rPr>
              <a:t>Teorien vandt udbredelse i USA i kølvandet på 1970ernes oliekrise, hvor væksten blandt de store Amerikanske lederkontrollerede konglomerater stagnerede.</a:t>
            </a:r>
          </a:p>
          <a:p>
            <a:pPr marL="285750" indent="-285750">
              <a:buFontTx/>
              <a:buChar char="-"/>
            </a:pPr>
            <a:r>
              <a:rPr lang="da-DK" sz="1700" dirty="0">
                <a:latin typeface="Calisto MT" panose="02040603050505030304" pitchFamily="18" charset="77"/>
              </a:rPr>
              <a:t>Efter flere årtier med øget koncentration af økonomisk aktivitet omkring de største Amerikanske selskaber, hvor de have udbredt deres aktiviteter på tværs af brancher og sektorer gennem vækst og opkøb af mindre virksomheder.</a:t>
            </a:r>
          </a:p>
          <a:p>
            <a:pPr marL="285750" indent="-285750">
              <a:buFontTx/>
              <a:buChar char="-"/>
            </a:pPr>
            <a:r>
              <a:rPr lang="da-DK" sz="1700" dirty="0">
                <a:latin typeface="Calisto MT" panose="02040603050505030304" pitchFamily="18" charset="77"/>
              </a:rPr>
              <a:t>De blev nu kritiseret for at være dinosaurer, der ikke kunne følge med markedsudviklingen. Disse selskaber, som i vid udstrækning var kontrolleret af professionelle ledelser, arbejdede primært i ledelsens – og ikke ejernes interesser – fordi størrelse snarere end afkast var blevet det primære succeskriterium</a:t>
            </a:r>
          </a:p>
          <a:p>
            <a:pPr marL="285750" indent="-285750">
              <a:buFontTx/>
              <a:buChar char="-"/>
            </a:pPr>
            <a:r>
              <a:rPr lang="da-DK" sz="1700" dirty="0">
                <a:latin typeface="Calisto MT" panose="02040603050505030304" pitchFamily="18" charset="77"/>
              </a:rPr>
              <a:t>Løsningen var ifølge agency-teorien at harmonisere den professionelle ledelse og ejernes incitamenter – at få ledelsen primære styringsmål til at være at ”maksimering af aktionærafkast”.</a:t>
            </a:r>
          </a:p>
          <a:p>
            <a:endParaRPr lang="da-DK" sz="1700" dirty="0">
              <a:latin typeface="Calisto MT" panose="02040603050505030304" pitchFamily="18" charset="77"/>
            </a:endParaRPr>
          </a:p>
          <a:p>
            <a:r>
              <a:rPr lang="da-DK" sz="1700" dirty="0">
                <a:latin typeface="Calisto MT" panose="02040603050505030304" pitchFamily="18" charset="77"/>
              </a:rPr>
              <a:t>Dette betød blandt andet indførelse af nye </a:t>
            </a:r>
            <a:r>
              <a:rPr lang="da-DK" sz="1700" b="1" dirty="0">
                <a:latin typeface="Calisto MT" panose="02040603050505030304" pitchFamily="18" charset="77"/>
              </a:rPr>
              <a:t>strategier for selskabsledelse</a:t>
            </a:r>
            <a:r>
              <a:rPr lang="da-DK" sz="1700" dirty="0">
                <a:latin typeface="Calisto MT" panose="02040603050505030304" pitchFamily="18" charset="77"/>
              </a:rPr>
              <a:t>, der skulle: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da-DK" sz="1700" b="0" i="0" u="none" strike="noStrike" kern="1200" cap="none" spc="0" normalizeH="0" baseline="0" noProof="0" dirty="0">
                <a:ln>
                  <a:noFill/>
                </a:ln>
                <a:solidFill>
                  <a:prstClr val="black"/>
                </a:solidFill>
                <a:effectLst/>
                <a:uLnTx/>
                <a:uFillTx/>
                <a:latin typeface="Calisto MT" panose="02040603050505030304" pitchFamily="18" charset="77"/>
                <a:ea typeface="+mn-ea"/>
                <a:cs typeface="+mn-cs"/>
              </a:rPr>
              <a:t>Ændre incitamenter for den professionelle ledelse</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da-DK" sz="1700" dirty="0">
                <a:solidFill>
                  <a:prstClr val="black"/>
                </a:solidFill>
                <a:latin typeface="Calisto MT" panose="02040603050505030304" pitchFamily="18" charset="77"/>
              </a:rPr>
              <a:t>Fokusere den økonomiske aktivitet branchemæssigt og ændre finansieringsprofilen</a:t>
            </a:r>
          </a:p>
          <a:p>
            <a:pPr marR="0" lvl="0" algn="l" defTabSz="914400" rtl="0" eaLnBrk="1" fontAlgn="auto" latinLnBrk="0" hangingPunct="1">
              <a:lnSpc>
                <a:spcPct val="100000"/>
              </a:lnSpc>
              <a:spcBef>
                <a:spcPts val="0"/>
              </a:spcBef>
              <a:spcAft>
                <a:spcPts val="0"/>
              </a:spcAft>
              <a:buClrTx/>
              <a:buSzTx/>
              <a:tabLst/>
              <a:defRPr/>
            </a:pPr>
            <a:endParaRPr lang="da-DK" sz="1700" dirty="0">
              <a:solidFill>
                <a:prstClr val="black"/>
              </a:solidFill>
              <a:latin typeface="Calisto MT" panose="02040603050505030304" pitchFamily="18" charset="77"/>
            </a:endParaRPr>
          </a:p>
          <a:p>
            <a:pPr marR="0" lvl="0" algn="l" defTabSz="914400" rtl="0" eaLnBrk="1" fontAlgn="auto" latinLnBrk="0" hangingPunct="1">
              <a:lnSpc>
                <a:spcPct val="100000"/>
              </a:lnSpc>
              <a:spcBef>
                <a:spcPts val="0"/>
              </a:spcBef>
              <a:spcAft>
                <a:spcPts val="0"/>
              </a:spcAft>
              <a:buClrTx/>
              <a:buSzTx/>
              <a:tabLst/>
              <a:defRPr/>
            </a:pPr>
            <a:r>
              <a:rPr lang="da-DK" sz="1700" dirty="0">
                <a:solidFill>
                  <a:prstClr val="black"/>
                </a:solidFill>
                <a:latin typeface="Calisto MT" panose="02040603050505030304" pitchFamily="18" charset="77"/>
              </a:rPr>
              <a:t>Alt dette er grundprincipper i </a:t>
            </a:r>
            <a:r>
              <a:rPr lang="da-DK" sz="1700" dirty="0" err="1">
                <a:solidFill>
                  <a:prstClr val="black"/>
                </a:solidFill>
                <a:latin typeface="Calisto MT" panose="02040603050505030304" pitchFamily="18" charset="77"/>
              </a:rPr>
              <a:t>corporate</a:t>
            </a:r>
            <a:r>
              <a:rPr lang="da-DK" sz="1700" dirty="0">
                <a:solidFill>
                  <a:prstClr val="black"/>
                </a:solidFill>
                <a:latin typeface="Calisto MT" panose="02040603050505030304" pitchFamily="18" charset="77"/>
              </a:rPr>
              <a:t> </a:t>
            </a:r>
            <a:r>
              <a:rPr lang="da-DK" sz="1700" dirty="0" err="1">
                <a:solidFill>
                  <a:prstClr val="black"/>
                </a:solidFill>
                <a:latin typeface="Calisto MT" panose="02040603050505030304" pitchFamily="18" charset="77"/>
              </a:rPr>
              <a:t>governance</a:t>
            </a:r>
            <a:r>
              <a:rPr lang="da-DK" sz="1700" dirty="0">
                <a:solidFill>
                  <a:prstClr val="black"/>
                </a:solidFill>
                <a:latin typeface="Calisto MT" panose="02040603050505030304" pitchFamily="18" charset="77"/>
              </a:rPr>
              <a:t> og </a:t>
            </a:r>
            <a:r>
              <a:rPr lang="da-DK" sz="1700" dirty="0" err="1">
                <a:solidFill>
                  <a:prstClr val="black"/>
                </a:solidFill>
                <a:latin typeface="Calisto MT" panose="02040603050505030304" pitchFamily="18" charset="77"/>
              </a:rPr>
              <a:t>finance</a:t>
            </a:r>
            <a:r>
              <a:rPr lang="da-DK" sz="1700" dirty="0">
                <a:solidFill>
                  <a:prstClr val="black"/>
                </a:solidFill>
                <a:latin typeface="Calisto MT" panose="02040603050505030304" pitchFamily="18" charset="77"/>
              </a:rPr>
              <a:t>, som undervises på handelshøjskoler verden over…</a:t>
            </a:r>
            <a:endParaRPr lang="da-DK" sz="1700" dirty="0">
              <a:latin typeface="Calisto MT" panose="02040603050505030304" pitchFamily="18" charset="77"/>
            </a:endParaRPr>
          </a:p>
        </p:txBody>
      </p:sp>
    </p:spTree>
    <p:extLst>
      <p:ext uri="{BB962C8B-B14F-4D97-AF65-F5344CB8AC3E}">
        <p14:creationId xmlns:p14="http://schemas.microsoft.com/office/powerpoint/2010/main" val="3517318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9FDE2-0044-58D9-3737-CD0CE0800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1745-FC02-1646-F69C-A655B4EA8BFB}"/>
              </a:ext>
            </a:extLst>
          </p:cNvPr>
          <p:cNvSpPr>
            <a:spLocks noGrp="1"/>
          </p:cNvSpPr>
          <p:nvPr>
            <p:ph type="title"/>
          </p:nvPr>
        </p:nvSpPr>
        <p:spPr>
          <a:xfrm>
            <a:off x="3699933" y="0"/>
            <a:ext cx="5223934" cy="1101192"/>
          </a:xfrm>
        </p:spPr>
        <p:txBody>
          <a:bodyPr>
            <a:normAutofit/>
          </a:bodyPr>
          <a:lstStyle/>
          <a:p>
            <a:r>
              <a:rPr lang="da-DK" sz="3600" dirty="0">
                <a:latin typeface="Calisto MT" panose="02040603050505030304" pitchFamily="18" charset="77"/>
              </a:rPr>
              <a:t>Virksomhedsstrategi 1.0</a:t>
            </a:r>
          </a:p>
        </p:txBody>
      </p:sp>
      <p:sp>
        <p:nvSpPr>
          <p:cNvPr id="5" name="Slide Number Placeholder 4">
            <a:extLst>
              <a:ext uri="{FF2B5EF4-FFF2-40B4-BE49-F238E27FC236}">
                <a16:creationId xmlns:a16="http://schemas.microsoft.com/office/drawing/2014/main" id="{2A54F091-0822-BA39-CF41-0536C0E9085D}"/>
              </a:ext>
            </a:extLst>
          </p:cNvPr>
          <p:cNvSpPr>
            <a:spLocks noGrp="1"/>
          </p:cNvSpPr>
          <p:nvPr>
            <p:ph type="sldNum" sz="quarter" idx="12"/>
          </p:nvPr>
        </p:nvSpPr>
        <p:spPr/>
        <p:txBody>
          <a:bodyPr/>
          <a:lstStyle/>
          <a:p>
            <a:fld id="{0FB56013-B943-42BA-886F-6F9D4EB85E9D}" type="slidenum">
              <a:rPr lang="en-US" smtClean="0"/>
              <a:pPr/>
              <a:t>13</a:t>
            </a:fld>
            <a:endParaRPr lang="en-US"/>
          </a:p>
        </p:txBody>
      </p:sp>
      <p:sp>
        <p:nvSpPr>
          <p:cNvPr id="3" name="TextBox 2">
            <a:extLst>
              <a:ext uri="{FF2B5EF4-FFF2-40B4-BE49-F238E27FC236}">
                <a16:creationId xmlns:a16="http://schemas.microsoft.com/office/drawing/2014/main" id="{EBC81E05-6B5B-EEB6-62B6-47613F0DA207}"/>
              </a:ext>
            </a:extLst>
          </p:cNvPr>
          <p:cNvSpPr txBox="1"/>
          <p:nvPr/>
        </p:nvSpPr>
        <p:spPr>
          <a:xfrm>
            <a:off x="1100137" y="1101192"/>
            <a:ext cx="9638494" cy="4832092"/>
          </a:xfrm>
          <a:prstGeom prst="rect">
            <a:avLst/>
          </a:prstGeom>
          <a:solidFill>
            <a:schemeClr val="bg1"/>
          </a:solidFill>
        </p:spPr>
        <p:txBody>
          <a:bodyPr wrap="square" rtlCol="0">
            <a:spAutoFit/>
          </a:bodyPr>
          <a:lstStyle/>
          <a:p>
            <a:pPr marL="285750" indent="-285750">
              <a:spcBef>
                <a:spcPts val="1200"/>
              </a:spcBef>
              <a:buFont typeface="Arial" panose="020B0604020202020204" pitchFamily="34" charset="0"/>
              <a:buChar char="•"/>
            </a:pPr>
            <a:r>
              <a:rPr lang="da-DK" sz="1700" dirty="0">
                <a:latin typeface="Calisto MT" panose="02040603050505030304" pitchFamily="18" charset="77"/>
              </a:rPr>
              <a:t>Nye </a:t>
            </a:r>
            <a:r>
              <a:rPr lang="da-DK" sz="1700" dirty="0" err="1">
                <a:latin typeface="Calisto MT" panose="02040603050505030304" pitchFamily="18" charset="77"/>
              </a:rPr>
              <a:t>incitamentstrukturer</a:t>
            </a:r>
            <a:r>
              <a:rPr lang="da-DK" sz="1700" dirty="0">
                <a:latin typeface="Calisto MT" panose="02040603050505030304" pitchFamily="18" charset="77"/>
              </a:rPr>
              <a:t> for ledelsen: </a:t>
            </a:r>
          </a:p>
          <a:p>
            <a:pPr>
              <a:spcBef>
                <a:spcPts val="1200"/>
              </a:spcBef>
            </a:pPr>
            <a:r>
              <a:rPr lang="da-DK" sz="1700" i="1" dirty="0" err="1">
                <a:latin typeface="Calisto MT" panose="02040603050505030304" pitchFamily="18" charset="77"/>
              </a:rPr>
              <a:t>Ejerliggørelse</a:t>
            </a:r>
            <a:r>
              <a:rPr lang="da-DK" sz="1700" i="1" dirty="0">
                <a:latin typeface="Calisto MT" panose="02040603050505030304" pitchFamily="18" charset="77"/>
              </a:rPr>
              <a:t> af </a:t>
            </a:r>
            <a:r>
              <a:rPr lang="da-DK" sz="1700" i="1" dirty="0" err="1">
                <a:latin typeface="Calisto MT" panose="02040603050505030304" pitchFamily="18" charset="77"/>
              </a:rPr>
              <a:t>ledelselen</a:t>
            </a:r>
            <a:r>
              <a:rPr lang="da-DK" sz="1700" i="1" dirty="0">
                <a:latin typeface="Calisto MT" panose="02040603050505030304" pitchFamily="18" charset="77"/>
              </a:rPr>
              <a:t>: </a:t>
            </a:r>
            <a:r>
              <a:rPr lang="da-DK" sz="1700" dirty="0">
                <a:latin typeface="Calisto MT" panose="02040603050505030304" pitchFamily="18" charset="77"/>
              </a:rPr>
              <a:t>Indførelse af nye lønstrukturer delvist baseret på aktie(optioner), for at knytte ledelsens interesser tættere til ejernes	</a:t>
            </a:r>
          </a:p>
          <a:p>
            <a:pPr>
              <a:spcBef>
                <a:spcPts val="1200"/>
              </a:spcBef>
            </a:pPr>
            <a:r>
              <a:rPr lang="da-DK" sz="1700" dirty="0">
                <a:latin typeface="Calisto MT" panose="02040603050505030304" pitchFamily="18" charset="77"/>
              </a:rPr>
              <a:t>Tilskynde ledelsen til at udvikle kompetencer og ekspertise inden for et mere specialiseret område fx ved at fokusere produktiv aktivitet og udvikling inden for særlige brancher</a:t>
            </a:r>
          </a:p>
          <a:p>
            <a:pPr>
              <a:spcBef>
                <a:spcPts val="1200"/>
              </a:spcBef>
            </a:pPr>
            <a:r>
              <a:rPr lang="da-DK" sz="1700" dirty="0" err="1">
                <a:latin typeface="Calisto MT" panose="02040603050505030304" pitchFamily="18" charset="77"/>
              </a:rPr>
              <a:t>Finansialiering</a:t>
            </a:r>
            <a:r>
              <a:rPr lang="da-DK" sz="1700" dirty="0">
                <a:latin typeface="Calisto MT" panose="02040603050505030304" pitchFamily="18" charset="77"/>
              </a:rPr>
              <a:t>:</a:t>
            </a:r>
          </a:p>
          <a:p>
            <a:pPr marL="742950" lvl="1" indent="-285750">
              <a:spcBef>
                <a:spcPts val="1200"/>
              </a:spcBef>
              <a:buFontTx/>
              <a:buChar char="-"/>
            </a:pPr>
            <a:r>
              <a:rPr lang="da-DK" sz="1700" dirty="0">
                <a:latin typeface="Calisto MT" panose="02040603050505030304" pitchFamily="18" charset="77"/>
              </a:rPr>
              <a:t>”Uddelegere” risikostyring til de finansielle markeder (aktieportefølje diversificering)</a:t>
            </a:r>
          </a:p>
          <a:p>
            <a:pPr marL="742950" lvl="1" indent="-285750">
              <a:spcBef>
                <a:spcPts val="1200"/>
              </a:spcBef>
              <a:buFontTx/>
              <a:buChar char="-"/>
            </a:pPr>
            <a:r>
              <a:rPr lang="da-DK" sz="1700" dirty="0">
                <a:latin typeface="Calisto MT" panose="02040603050505030304" pitchFamily="18" charset="77"/>
              </a:rPr>
              <a:t>Knytte de finansielle markeder tættere til selskabet ved at finansiere nye initiativer med gæld optaget i egenkapitalen (</a:t>
            </a:r>
            <a:r>
              <a:rPr lang="da-DK" sz="1700" dirty="0" err="1">
                <a:latin typeface="Calisto MT" panose="02040603050505030304" pitchFamily="18" charset="77"/>
              </a:rPr>
              <a:t>leverage</a:t>
            </a:r>
            <a:r>
              <a:rPr lang="da-DK" sz="1700" dirty="0">
                <a:latin typeface="Calisto MT" panose="02040603050505030304" pitchFamily="18" charset="77"/>
              </a:rPr>
              <a:t>)</a:t>
            </a:r>
          </a:p>
          <a:p>
            <a:pPr>
              <a:spcBef>
                <a:spcPts val="1200"/>
              </a:spcBef>
            </a:pPr>
            <a:r>
              <a:rPr lang="da-DK" sz="1700" dirty="0">
                <a:latin typeface="Calisto MT" panose="02040603050505030304" pitchFamily="18" charset="77"/>
              </a:rPr>
              <a:t>Alt dette skulle føre til en stærkere bundlinje, hvilket til dels også skete, men flere af risikostyringstiltagene blev aldrig til noget og selskaberne blev for optaget af kortsigtet bundlinjeorientering uden blik for selskabernes længere linjer og konsekvenserne for det øvrige samfund (Benton og Cobb 2019). </a:t>
            </a:r>
          </a:p>
          <a:p>
            <a:pPr>
              <a:spcBef>
                <a:spcPts val="1200"/>
              </a:spcBef>
            </a:pPr>
            <a:r>
              <a:rPr lang="da-DK" sz="1700" dirty="0" err="1">
                <a:latin typeface="Calisto MT" panose="02040603050505030304" pitchFamily="18" charset="77"/>
              </a:rPr>
              <a:t>Dot.com</a:t>
            </a:r>
            <a:r>
              <a:rPr lang="da-DK" sz="1700" dirty="0">
                <a:latin typeface="Calisto MT" panose="02040603050505030304" pitchFamily="18" charset="77"/>
              </a:rPr>
              <a:t> boblen i 1999 og finanskrisen i 2009 var begge eksempler på konsekvenserne af denne strategi</a:t>
            </a:r>
          </a:p>
        </p:txBody>
      </p:sp>
    </p:spTree>
    <p:extLst>
      <p:ext uri="{BB962C8B-B14F-4D97-AF65-F5344CB8AC3E}">
        <p14:creationId xmlns:p14="http://schemas.microsoft.com/office/powerpoint/2010/main" val="1898680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7A3499-C219-2421-DC59-0DE8A833BB0D}"/>
              </a:ext>
            </a:extLst>
          </p:cNvPr>
          <p:cNvSpPr>
            <a:spLocks noGrp="1"/>
          </p:cNvSpPr>
          <p:nvPr>
            <p:ph idx="1"/>
          </p:nvPr>
        </p:nvSpPr>
        <p:spPr/>
        <p:txBody>
          <a:bodyPr>
            <a:normAutofit fontScale="70000" lnSpcReduction="20000"/>
          </a:bodyPr>
          <a:lstStyle/>
          <a:p>
            <a:pPr>
              <a:spcBef>
                <a:spcPts val="1600"/>
              </a:spcBef>
            </a:pPr>
            <a:r>
              <a:rPr lang="da-DK" sz="2800" dirty="0" err="1">
                <a:latin typeface="Calisto MT" panose="02040603050505030304" pitchFamily="18" charset="77"/>
              </a:rPr>
              <a:t>Organisationteori</a:t>
            </a:r>
            <a:r>
              <a:rPr lang="da-DK" sz="2800" dirty="0">
                <a:latin typeface="Calisto MT" panose="02040603050505030304" pitchFamily="18" charset="77"/>
              </a:rPr>
              <a:t> som kontrast til </a:t>
            </a:r>
            <a:r>
              <a:rPr lang="da-DK" sz="2800" dirty="0" err="1">
                <a:latin typeface="Calisto MT" panose="02040603050505030304" pitchFamily="18" charset="77"/>
              </a:rPr>
              <a:t>agency</a:t>
            </a:r>
            <a:r>
              <a:rPr lang="da-DK" sz="2800" dirty="0">
                <a:latin typeface="Calisto MT" panose="02040603050505030304" pitchFamily="18" charset="77"/>
              </a:rPr>
              <a:t> </a:t>
            </a:r>
            <a:r>
              <a:rPr lang="da-DK" sz="2800" dirty="0" err="1">
                <a:latin typeface="Calisto MT" panose="02040603050505030304" pitchFamily="18" charset="77"/>
              </a:rPr>
              <a:t>theory</a:t>
            </a:r>
            <a:r>
              <a:rPr lang="da-DK" sz="2800" dirty="0">
                <a:latin typeface="Calisto MT" panose="02040603050505030304" pitchFamily="18" charset="77"/>
              </a:rPr>
              <a:t>:</a:t>
            </a:r>
          </a:p>
          <a:p>
            <a:pPr marL="0" indent="0">
              <a:spcBef>
                <a:spcPts val="1600"/>
              </a:spcBef>
              <a:buNone/>
            </a:pPr>
            <a:r>
              <a:rPr lang="da-DK" sz="2800" dirty="0">
                <a:latin typeface="Calisto MT" panose="02040603050505030304" pitchFamily="18" charset="77"/>
              </a:rPr>
              <a:t>Selskabsledelse handler ikke først og fremmest om rationelt design mhp. Maksimering af ejerafkast. </a:t>
            </a:r>
          </a:p>
          <a:p>
            <a:pPr marL="0" indent="0">
              <a:spcBef>
                <a:spcPts val="1600"/>
              </a:spcBef>
              <a:buNone/>
            </a:pPr>
            <a:r>
              <a:rPr lang="da-DK" sz="2800" dirty="0">
                <a:latin typeface="Calisto MT" panose="02040603050505030304" pitchFamily="18" charset="77"/>
              </a:rPr>
              <a:t>I stedet skal man se på forholdet mellem selskabet og dets omverden:</a:t>
            </a:r>
          </a:p>
          <a:p>
            <a:pPr>
              <a:spcBef>
                <a:spcPts val="1600"/>
              </a:spcBef>
            </a:pPr>
            <a:endParaRPr lang="da-DK" sz="2800" dirty="0">
              <a:latin typeface="Calisto MT" panose="02040603050505030304" pitchFamily="18" charset="77"/>
            </a:endParaRPr>
          </a:p>
          <a:p>
            <a:pPr>
              <a:spcBef>
                <a:spcPts val="1600"/>
              </a:spcBef>
            </a:pPr>
            <a:r>
              <a:rPr lang="da-DK" sz="2800" dirty="0">
                <a:latin typeface="Calisto MT" panose="02040603050505030304" pitchFamily="18" charset="77"/>
              </a:rPr>
              <a:t>Klassisk forståelse af hvor organisationsstruktur og strategi kommer fra:</a:t>
            </a:r>
          </a:p>
          <a:p>
            <a:pPr marL="0" indent="0">
              <a:spcBef>
                <a:spcPts val="1600"/>
              </a:spcBef>
              <a:buNone/>
            </a:pPr>
            <a:r>
              <a:rPr lang="da-DK" sz="2800" dirty="0">
                <a:latin typeface="Calisto MT" panose="02040603050505030304" pitchFamily="18" charset="77"/>
              </a:rPr>
              <a:t>Ledelses-autoritet og strategiske kompetencer er velafgrænsede og flyder gennem klare kommando-kæder</a:t>
            </a:r>
          </a:p>
          <a:p>
            <a:pPr marL="0" indent="0">
              <a:spcBef>
                <a:spcPts val="1600"/>
              </a:spcBef>
              <a:buNone/>
            </a:pPr>
            <a:r>
              <a:rPr lang="da-DK" sz="2800" dirty="0">
                <a:latin typeface="Calisto MT" panose="02040603050505030304" pitchFamily="18" charset="77"/>
              </a:rPr>
              <a:t>Organisationers funktionelle arbejdsdeling: Specialiserede enheder, hvis omfang og relation til hinanden svarer på organisationens </a:t>
            </a:r>
            <a:r>
              <a:rPr lang="da-DK" sz="2800" dirty="0" err="1">
                <a:latin typeface="Calisto MT" panose="02040603050505030304" pitchFamily="18" charset="77"/>
              </a:rPr>
              <a:t>omverdenspres</a:t>
            </a:r>
            <a:r>
              <a:rPr lang="da-DK" sz="2800" dirty="0">
                <a:latin typeface="Calisto MT" panose="02040603050505030304" pitchFamily="18" charset="77"/>
              </a:rPr>
              <a:t> (‘</a:t>
            </a:r>
            <a:r>
              <a:rPr lang="da-DK" sz="2800" dirty="0" err="1">
                <a:latin typeface="Calisto MT" panose="02040603050505030304" pitchFamily="18" charset="77"/>
              </a:rPr>
              <a:t>Contingency</a:t>
            </a:r>
            <a:r>
              <a:rPr lang="da-DK" sz="2800" dirty="0">
                <a:latin typeface="Calisto MT" panose="02040603050505030304" pitchFamily="18" charset="77"/>
              </a:rPr>
              <a:t> </a:t>
            </a:r>
            <a:r>
              <a:rPr lang="da-DK" sz="2800" dirty="0" err="1">
                <a:latin typeface="Calisto MT" panose="02040603050505030304" pitchFamily="18" charset="77"/>
              </a:rPr>
              <a:t>theory</a:t>
            </a:r>
            <a:r>
              <a:rPr lang="da-DK" sz="2800" dirty="0">
                <a:latin typeface="Calisto MT" panose="02040603050505030304" pitchFamily="18" charset="77"/>
              </a:rPr>
              <a:t>’, Mintzberg 1993)</a:t>
            </a:r>
          </a:p>
          <a:p>
            <a:pPr marL="0" indent="0">
              <a:spcBef>
                <a:spcPts val="1600"/>
              </a:spcBef>
              <a:buNone/>
            </a:pPr>
            <a:r>
              <a:rPr lang="da-DK" sz="2800" dirty="0">
                <a:latin typeface="Calisto MT" panose="02040603050505030304" pitchFamily="18" charset="77"/>
              </a:rPr>
              <a:t>Antagelse: Kontrol og magt-strukturer stemmer godt overens med den formelle organisationsstruktur</a:t>
            </a:r>
          </a:p>
          <a:p>
            <a:pPr marL="0" indent="0">
              <a:buNone/>
            </a:pPr>
            <a:endParaRPr lang="da-DK" dirty="0"/>
          </a:p>
        </p:txBody>
      </p:sp>
      <p:sp>
        <p:nvSpPr>
          <p:cNvPr id="4" name="Title 1">
            <a:extLst>
              <a:ext uri="{FF2B5EF4-FFF2-40B4-BE49-F238E27FC236}">
                <a16:creationId xmlns:a16="http://schemas.microsoft.com/office/drawing/2014/main" id="{ABD64F67-0EBC-90FE-6399-48B1D166477B}"/>
              </a:ext>
            </a:extLst>
          </p:cNvPr>
          <p:cNvSpPr txBox="1">
            <a:spLocks/>
          </p:cNvSpPr>
          <p:nvPr/>
        </p:nvSpPr>
        <p:spPr>
          <a:xfrm>
            <a:off x="3484033" y="508000"/>
            <a:ext cx="5223934" cy="11011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sz="3600" dirty="0">
                <a:latin typeface="Calisto MT" panose="02040603050505030304" pitchFamily="18" charset="77"/>
              </a:rPr>
              <a:t>Organisationsteori 1.0</a:t>
            </a:r>
          </a:p>
        </p:txBody>
      </p:sp>
    </p:spTree>
    <p:extLst>
      <p:ext uri="{BB962C8B-B14F-4D97-AF65-F5344CB8AC3E}">
        <p14:creationId xmlns:p14="http://schemas.microsoft.com/office/powerpoint/2010/main" val="3589367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56F32-F5A3-FBE2-4DB7-C1D8A3EF27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E481D3-1189-0882-A025-788083225020}"/>
              </a:ext>
            </a:extLst>
          </p:cNvPr>
          <p:cNvSpPr>
            <a:spLocks noGrp="1"/>
          </p:cNvSpPr>
          <p:nvPr>
            <p:ph idx="1"/>
          </p:nvPr>
        </p:nvSpPr>
        <p:spPr/>
        <p:txBody>
          <a:bodyPr>
            <a:normAutofit fontScale="70000" lnSpcReduction="20000"/>
          </a:bodyPr>
          <a:lstStyle/>
          <a:p>
            <a:pPr marL="0" indent="0">
              <a:buNone/>
            </a:pPr>
            <a:r>
              <a:rPr lang="da-DK" sz="2800" dirty="0">
                <a:latin typeface="Calisto MT" panose="02040603050505030304" pitchFamily="18" charset="77"/>
              </a:rPr>
              <a:t>Dette kursus: Kontrast går videre end </a:t>
            </a:r>
            <a:r>
              <a:rPr lang="da-DK" sz="2800" dirty="0" err="1">
                <a:latin typeface="Calisto MT" panose="02040603050505030304" pitchFamily="18" charset="77"/>
              </a:rPr>
              <a:t>agency</a:t>
            </a:r>
            <a:r>
              <a:rPr lang="da-DK" sz="2800" dirty="0">
                <a:latin typeface="Calisto MT" panose="02040603050505030304" pitchFamily="18" charset="77"/>
              </a:rPr>
              <a:t> teori og klassisk </a:t>
            </a:r>
            <a:r>
              <a:rPr lang="da-DK" sz="2800" dirty="0" err="1">
                <a:latin typeface="Calisto MT" panose="02040603050505030304" pitchFamily="18" charset="77"/>
              </a:rPr>
              <a:t>organsationsteori</a:t>
            </a:r>
            <a:r>
              <a:rPr lang="da-DK" sz="2800" dirty="0">
                <a:latin typeface="Calisto MT" panose="02040603050505030304" pitchFamily="18" charset="77"/>
              </a:rPr>
              <a:t>:</a:t>
            </a:r>
          </a:p>
          <a:p>
            <a:pPr marL="285750" indent="-285750">
              <a:buFontTx/>
              <a:buChar char="-"/>
            </a:pPr>
            <a:r>
              <a:rPr lang="da-DK" sz="2800" dirty="0">
                <a:latin typeface="Calisto MT" panose="02040603050505030304" pitchFamily="18" charset="77"/>
              </a:rPr>
              <a:t>Virksomhede</a:t>
            </a:r>
            <a:r>
              <a:rPr lang="da-DK" dirty="0">
                <a:latin typeface="Calisto MT" panose="02040603050505030304" pitchFamily="18" charset="77"/>
              </a:rPr>
              <a:t>n er en ”politisk koalition” (March 1962) men en koalition, der er indlejret i en samfundsøkonomiske og politisk kontekst (</a:t>
            </a:r>
            <a:r>
              <a:rPr lang="da-DK" dirty="0" err="1">
                <a:latin typeface="Calisto MT" panose="02040603050505030304" pitchFamily="18" charset="77"/>
              </a:rPr>
              <a:t>Fligstein</a:t>
            </a:r>
            <a:r>
              <a:rPr lang="da-DK" dirty="0">
                <a:latin typeface="Calisto MT" panose="02040603050505030304" pitchFamily="18" charset="77"/>
              </a:rPr>
              <a:t> 1989)</a:t>
            </a:r>
            <a:endParaRPr lang="da-DK" sz="2800" dirty="0">
              <a:latin typeface="Calisto MT" panose="02040603050505030304" pitchFamily="18" charset="77"/>
            </a:endParaRPr>
          </a:p>
          <a:p>
            <a:pPr marL="285750" indent="-285750">
              <a:buFontTx/>
              <a:buChar char="-"/>
            </a:pPr>
            <a:r>
              <a:rPr lang="da-DK" sz="2800" dirty="0">
                <a:latin typeface="Calisto MT" panose="02040603050505030304" pitchFamily="18" charset="77"/>
              </a:rPr>
              <a:t>For at forstå hvordan og hvorfor markedsaktørers forskellige styringsstrategier opstår og udvikler sig, må man dels se på de </a:t>
            </a:r>
            <a:r>
              <a:rPr lang="da-DK" sz="2800" i="1" dirty="0">
                <a:latin typeface="Calisto MT" panose="02040603050505030304" pitchFamily="18" charset="77"/>
              </a:rPr>
              <a:t>forbundne</a:t>
            </a:r>
            <a:r>
              <a:rPr lang="da-DK" sz="2800" dirty="0">
                <a:latin typeface="Calisto MT" panose="02040603050505030304" pitchFamily="18" charset="77"/>
              </a:rPr>
              <a:t> magt- og kontrolstrukturer som virksomheder internt udgør og den eksterne kontekst de er </a:t>
            </a:r>
            <a:r>
              <a:rPr lang="da-DK" sz="2800" i="1" dirty="0">
                <a:latin typeface="Calisto MT" panose="02040603050505030304" pitchFamily="18" charset="77"/>
              </a:rPr>
              <a:t>indlejret </a:t>
            </a:r>
            <a:r>
              <a:rPr lang="da-DK" sz="2800" dirty="0">
                <a:latin typeface="Calisto MT" panose="02040603050505030304" pitchFamily="18" charset="77"/>
              </a:rPr>
              <a:t>i (</a:t>
            </a:r>
            <a:r>
              <a:rPr lang="da-DK" sz="2800" dirty="0" err="1">
                <a:latin typeface="Calisto MT" panose="02040603050505030304" pitchFamily="18" charset="77"/>
              </a:rPr>
              <a:t>Granovetter</a:t>
            </a:r>
            <a:r>
              <a:rPr lang="da-DK" sz="2800" dirty="0">
                <a:latin typeface="Calisto MT" panose="02040603050505030304" pitchFamily="18" charset="77"/>
              </a:rPr>
              <a:t> 1985) – sociologi og politisk økonomi som tilgang til forståelse af strategi</a:t>
            </a:r>
          </a:p>
          <a:p>
            <a:pPr marL="285750" indent="-285750">
              <a:buFontTx/>
              <a:buChar char="-"/>
            </a:pPr>
            <a:r>
              <a:rPr lang="da-DK" dirty="0">
                <a:latin typeface="Calisto MT" panose="02040603050505030304" pitchFamily="18" charset="77"/>
              </a:rPr>
              <a:t>Denne forbundethed udgør et (eller en række af) NETVÆRK – et samlet hele hvis struktur kan studeres og og give vigtige fingerpeg om virksomhederne position og strategiske handlemuligheder inden for en given kontekst</a:t>
            </a:r>
          </a:p>
          <a:p>
            <a:pPr marL="285750" indent="-285750">
              <a:buFontTx/>
              <a:buChar char="-"/>
            </a:pPr>
            <a:r>
              <a:rPr lang="da-DK" sz="2800" dirty="0">
                <a:latin typeface="Calisto MT" panose="02040603050505030304" pitchFamily="18" charset="77"/>
              </a:rPr>
              <a:t>Internt: Aktører inden for virksomheder kæmper om positioner, ressourcer og ideer og de skaber alliancer og grupper for at fremme specifikke formål</a:t>
            </a:r>
          </a:p>
          <a:p>
            <a:pPr marL="285750" indent="-285750">
              <a:buFontTx/>
              <a:buChar char="-"/>
            </a:pPr>
            <a:r>
              <a:rPr lang="da-DK" sz="2800" dirty="0">
                <a:latin typeface="Calisto MT" panose="02040603050505030304" pitchFamily="18" charset="77"/>
              </a:rPr>
              <a:t>Eksternt: Virksomheder, ledere, ejere og andre samfundsaktører positionerer sig i netværk for at fremme deres interesser – og hvor dette kursus sigter mod at udstyre jer med at blik for betydningen af dette</a:t>
            </a:r>
          </a:p>
          <a:p>
            <a:pPr marL="285750" indent="-285750">
              <a:buFontTx/>
              <a:buChar char="-"/>
            </a:pPr>
            <a:r>
              <a:rPr lang="da-DK" dirty="0">
                <a:latin typeface="Calisto MT" panose="02040603050505030304" pitchFamily="18" charset="77"/>
              </a:rPr>
              <a:t>Netværk som begrebsmæssig og metodisk bro til at forklare og forstå virksomheders strategi</a:t>
            </a:r>
            <a:endParaRPr lang="da-DK" dirty="0"/>
          </a:p>
        </p:txBody>
      </p:sp>
      <p:sp>
        <p:nvSpPr>
          <p:cNvPr id="4" name="Title 1">
            <a:extLst>
              <a:ext uri="{FF2B5EF4-FFF2-40B4-BE49-F238E27FC236}">
                <a16:creationId xmlns:a16="http://schemas.microsoft.com/office/drawing/2014/main" id="{AD2FBDA3-9C13-2A33-4D05-506EA74C2495}"/>
              </a:ext>
            </a:extLst>
          </p:cNvPr>
          <p:cNvSpPr txBox="1">
            <a:spLocks/>
          </p:cNvSpPr>
          <p:nvPr/>
        </p:nvSpPr>
        <p:spPr>
          <a:xfrm>
            <a:off x="2446866" y="220133"/>
            <a:ext cx="8123767" cy="11011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a-DK" sz="3600" dirty="0" err="1">
                <a:latin typeface="Calisto MT" panose="02040603050505030304" pitchFamily="18" charset="77"/>
              </a:rPr>
              <a:t>Virksomhedstrategi</a:t>
            </a:r>
            <a:r>
              <a:rPr lang="da-DK" sz="3600" dirty="0">
                <a:latin typeface="Calisto MT" panose="02040603050505030304" pitchFamily="18" charset="77"/>
              </a:rPr>
              <a:t> og organisation 2.0</a:t>
            </a:r>
          </a:p>
          <a:p>
            <a:pPr algn="ctr"/>
            <a:r>
              <a:rPr lang="da-DK" sz="3600" dirty="0">
                <a:latin typeface="Calisto MT" panose="02040603050505030304" pitchFamily="18" charset="77"/>
              </a:rPr>
              <a:t>NETVÆRK</a:t>
            </a:r>
          </a:p>
        </p:txBody>
      </p:sp>
    </p:spTree>
    <p:extLst>
      <p:ext uri="{BB962C8B-B14F-4D97-AF65-F5344CB8AC3E}">
        <p14:creationId xmlns:p14="http://schemas.microsoft.com/office/powerpoint/2010/main" val="3391990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ACDD6-8972-81FA-D4C4-0877EF321CC7}"/>
              </a:ext>
            </a:extLst>
          </p:cNvPr>
          <p:cNvSpPr>
            <a:spLocks noGrp="1"/>
          </p:cNvSpPr>
          <p:nvPr>
            <p:ph type="title"/>
          </p:nvPr>
        </p:nvSpPr>
        <p:spPr/>
        <p:txBody>
          <a:bodyPr/>
          <a:lstStyle/>
          <a:p>
            <a:r>
              <a:rPr lang="da-DK" sz="4400" dirty="0">
                <a:latin typeface="Calisto MT" panose="02040603050505030304" pitchFamily="18" charset="77"/>
              </a:rPr>
              <a:t>Virksomheden </a:t>
            </a:r>
            <a:r>
              <a:rPr lang="da-DK" sz="4400" i="1" dirty="0">
                <a:latin typeface="Calisto MT" panose="02040603050505030304" pitchFamily="18" charset="77"/>
              </a:rPr>
              <a:t>som</a:t>
            </a:r>
            <a:r>
              <a:rPr lang="da-DK" sz="4400" dirty="0">
                <a:latin typeface="Calisto MT" panose="02040603050505030304" pitchFamily="18" charset="77"/>
              </a:rPr>
              <a:t> netværk</a:t>
            </a:r>
          </a:p>
        </p:txBody>
      </p:sp>
      <p:sp>
        <p:nvSpPr>
          <p:cNvPr id="3" name="Content Placeholder 2">
            <a:extLst>
              <a:ext uri="{FF2B5EF4-FFF2-40B4-BE49-F238E27FC236}">
                <a16:creationId xmlns:a16="http://schemas.microsoft.com/office/drawing/2014/main" id="{E87226E2-2A62-6AED-AAD4-37253BA1CC9F}"/>
              </a:ext>
            </a:extLst>
          </p:cNvPr>
          <p:cNvSpPr>
            <a:spLocks noGrp="1"/>
          </p:cNvSpPr>
          <p:nvPr>
            <p:ph idx="1"/>
          </p:nvPr>
        </p:nvSpPr>
        <p:spPr/>
        <p:txBody>
          <a:bodyPr>
            <a:normAutofit/>
          </a:bodyPr>
          <a:lstStyle/>
          <a:p>
            <a:pPr lvl="1"/>
            <a:r>
              <a:rPr lang="da-DK" dirty="0">
                <a:latin typeface="Calisto MT" panose="02040603050505030304" pitchFamily="18" charset="77"/>
              </a:rPr>
              <a:t>Autoritetskæder og arbejdsdeling i organisationer skaber segregerede klynger af interaktion, hvor informations- og </a:t>
            </a:r>
            <a:r>
              <a:rPr lang="da-DK" dirty="0" err="1">
                <a:latin typeface="Calisto MT" panose="02040603050505030304" pitchFamily="18" charset="77"/>
              </a:rPr>
              <a:t>vidensflowet</a:t>
            </a:r>
            <a:r>
              <a:rPr lang="da-DK" dirty="0">
                <a:latin typeface="Calisto MT" panose="02040603050505030304" pitchFamily="18" charset="77"/>
              </a:rPr>
              <a:t> bliver homogent.</a:t>
            </a:r>
          </a:p>
          <a:p>
            <a:pPr lvl="1"/>
            <a:r>
              <a:rPr lang="da-DK" dirty="0">
                <a:latin typeface="Calisto MT" panose="02040603050505030304" pitchFamily="18" charset="77"/>
              </a:rPr>
              <a:t>Men organisationer er menneskelige </a:t>
            </a:r>
            <a:r>
              <a:rPr lang="da-DK" dirty="0" err="1">
                <a:latin typeface="Calisto MT" panose="02040603050505030304" pitchFamily="18" charset="77"/>
              </a:rPr>
              <a:t>konstrukter</a:t>
            </a:r>
            <a:r>
              <a:rPr lang="da-DK" dirty="0">
                <a:latin typeface="Calisto MT" panose="02040603050505030304" pitchFamily="18" charset="77"/>
              </a:rPr>
              <a:t> og medarbejdere i en organisation interagerer uformelt (og formelt) på tværs af organisationen, hvilket skaber tværgående forbindelser, der bringer aktører fra forskellige dele af organisationen tættere sammen (Burt &amp; </a:t>
            </a:r>
            <a:r>
              <a:rPr lang="da-DK" dirty="0" err="1">
                <a:latin typeface="Calisto MT" panose="02040603050505030304" pitchFamily="18" charset="77"/>
              </a:rPr>
              <a:t>Merluzzi</a:t>
            </a:r>
            <a:r>
              <a:rPr lang="da-DK" dirty="0">
                <a:latin typeface="Calisto MT" panose="02040603050505030304" pitchFamily="18" charset="77"/>
              </a:rPr>
              <a:t> 2016, </a:t>
            </a:r>
            <a:r>
              <a:rPr lang="da-DK" dirty="0" err="1">
                <a:latin typeface="Calisto MT" panose="02040603050505030304" pitchFamily="18" charset="77"/>
              </a:rPr>
              <a:t>Krackhardt</a:t>
            </a:r>
            <a:r>
              <a:rPr lang="da-DK" dirty="0">
                <a:latin typeface="Calisto MT" panose="02040603050505030304" pitchFamily="18" charset="77"/>
              </a:rPr>
              <a:t> 1900)</a:t>
            </a:r>
          </a:p>
          <a:p>
            <a:pPr lvl="1"/>
            <a:r>
              <a:rPr lang="da-DK" sz="2400" dirty="0">
                <a:latin typeface="Calisto MT" panose="02040603050505030304" pitchFamily="18" charset="77"/>
              </a:rPr>
              <a:t>Netværksteori muliggør en forståelse af organisationen som et netværk af interaktioner, transaktioner og alliancer (formelle som uformelle)</a:t>
            </a:r>
            <a:endParaRPr lang="da-DK" dirty="0">
              <a:latin typeface="Calisto MT" panose="02040603050505030304" pitchFamily="18" charset="77"/>
            </a:endParaRPr>
          </a:p>
          <a:p>
            <a:pPr lvl="1"/>
            <a:endParaRPr lang="da-DK" dirty="0">
              <a:latin typeface="Calisto MT" panose="02040603050505030304" pitchFamily="18" charset="77"/>
            </a:endParaRPr>
          </a:p>
          <a:p>
            <a:endParaRPr lang="en-US" dirty="0"/>
          </a:p>
        </p:txBody>
      </p:sp>
    </p:spTree>
    <p:extLst>
      <p:ext uri="{BB962C8B-B14F-4D97-AF65-F5344CB8AC3E}">
        <p14:creationId xmlns:p14="http://schemas.microsoft.com/office/powerpoint/2010/main" val="3454211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C981754-6A04-364C-9973-618B39143D35}"/>
              </a:ext>
            </a:extLst>
          </p:cNvPr>
          <p:cNvPicPr>
            <a:picLocks noGrp="1" noChangeAspect="1"/>
          </p:cNvPicPr>
          <p:nvPr>
            <p:ph idx="1"/>
          </p:nvPr>
        </p:nvPicPr>
        <p:blipFill rotWithShape="1">
          <a:blip r:embed="rId2"/>
          <a:srcRect t="1716"/>
          <a:stretch/>
        </p:blipFill>
        <p:spPr>
          <a:xfrm>
            <a:off x="1521280" y="1643064"/>
            <a:ext cx="9175304" cy="4501612"/>
          </a:xfrm>
        </p:spPr>
      </p:pic>
      <p:sp>
        <p:nvSpPr>
          <p:cNvPr id="5" name="Slide Number Placeholder 4">
            <a:extLst>
              <a:ext uri="{FF2B5EF4-FFF2-40B4-BE49-F238E27FC236}">
                <a16:creationId xmlns:a16="http://schemas.microsoft.com/office/drawing/2014/main" id="{AAF5E985-FAF8-D943-BDDF-E88C5E30BFE4}"/>
              </a:ext>
            </a:extLst>
          </p:cNvPr>
          <p:cNvSpPr>
            <a:spLocks noGrp="1"/>
          </p:cNvSpPr>
          <p:nvPr>
            <p:ph type="sldNum" sz="quarter" idx="12"/>
          </p:nvPr>
        </p:nvSpPr>
        <p:spPr/>
        <p:txBody>
          <a:bodyPr/>
          <a:lstStyle/>
          <a:p>
            <a:fld id="{0FB56013-B943-42BA-886F-6F9D4EB85E9D}" type="slidenum">
              <a:rPr lang="en-US" smtClean="0"/>
              <a:pPr/>
              <a:t>17</a:t>
            </a:fld>
            <a:endParaRPr lang="en-US"/>
          </a:p>
        </p:txBody>
      </p:sp>
      <p:sp>
        <p:nvSpPr>
          <p:cNvPr id="9" name="TextBox 8">
            <a:extLst>
              <a:ext uri="{FF2B5EF4-FFF2-40B4-BE49-F238E27FC236}">
                <a16:creationId xmlns:a16="http://schemas.microsoft.com/office/drawing/2014/main" id="{1E43A626-78E6-2C44-91C4-EB57EF855231}"/>
              </a:ext>
            </a:extLst>
          </p:cNvPr>
          <p:cNvSpPr txBox="1"/>
          <p:nvPr/>
        </p:nvSpPr>
        <p:spPr>
          <a:xfrm>
            <a:off x="1681164" y="6534836"/>
            <a:ext cx="6352701" cy="323165"/>
          </a:xfrm>
          <a:prstGeom prst="rect">
            <a:avLst/>
          </a:prstGeom>
          <a:noFill/>
        </p:spPr>
        <p:txBody>
          <a:bodyPr wrap="none" rtlCol="0">
            <a:spAutoFit/>
          </a:bodyPr>
          <a:lstStyle/>
          <a:p>
            <a:r>
              <a:rPr lang="da-DK" sz="1500" dirty="0"/>
              <a:t>Kilde: The </a:t>
            </a:r>
            <a:r>
              <a:rPr lang="da-DK" sz="1500" dirty="0" err="1"/>
              <a:t>Organizational</a:t>
            </a:r>
            <a:r>
              <a:rPr lang="da-DK" sz="1500" dirty="0"/>
              <a:t> Network </a:t>
            </a:r>
            <a:r>
              <a:rPr lang="da-DK" sz="1500" dirty="0" err="1"/>
              <a:t>Fieldbook</a:t>
            </a:r>
            <a:r>
              <a:rPr lang="da-DK" sz="1500" dirty="0"/>
              <a:t>, Rob Cross et al, </a:t>
            </a:r>
            <a:r>
              <a:rPr lang="da-DK" sz="1500" dirty="0" err="1"/>
              <a:t>Jossey</a:t>
            </a:r>
            <a:r>
              <a:rPr lang="da-DK" sz="1500" dirty="0"/>
              <a:t>-Bass 2010 </a:t>
            </a:r>
          </a:p>
        </p:txBody>
      </p:sp>
      <p:sp>
        <p:nvSpPr>
          <p:cNvPr id="2" name="Right Arrow 1">
            <a:extLst>
              <a:ext uri="{FF2B5EF4-FFF2-40B4-BE49-F238E27FC236}">
                <a16:creationId xmlns:a16="http://schemas.microsoft.com/office/drawing/2014/main" id="{B8C7B192-8F0C-BD42-B117-F05C68204BD5}"/>
              </a:ext>
            </a:extLst>
          </p:cNvPr>
          <p:cNvSpPr/>
          <p:nvPr/>
        </p:nvSpPr>
        <p:spPr>
          <a:xfrm>
            <a:off x="5500808" y="1897796"/>
            <a:ext cx="1644383" cy="353466"/>
          </a:xfrm>
          <a:prstGeom prst="rightArrow">
            <a:avLst/>
          </a:prstGeom>
          <a:solidFill>
            <a:schemeClr val="bg1"/>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3371732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C981754-6A04-364C-9973-618B39143D35}"/>
              </a:ext>
            </a:extLst>
          </p:cNvPr>
          <p:cNvPicPr>
            <a:picLocks noGrp="1" noChangeAspect="1"/>
          </p:cNvPicPr>
          <p:nvPr>
            <p:ph idx="1"/>
          </p:nvPr>
        </p:nvPicPr>
        <p:blipFill rotWithShape="1">
          <a:blip r:embed="rId2"/>
          <a:srcRect t="1716"/>
          <a:stretch/>
        </p:blipFill>
        <p:spPr>
          <a:xfrm>
            <a:off x="1521280" y="2100264"/>
            <a:ext cx="9175304" cy="4501612"/>
          </a:xfrm>
        </p:spPr>
      </p:pic>
      <p:sp>
        <p:nvSpPr>
          <p:cNvPr id="5" name="Slide Number Placeholder 4">
            <a:extLst>
              <a:ext uri="{FF2B5EF4-FFF2-40B4-BE49-F238E27FC236}">
                <a16:creationId xmlns:a16="http://schemas.microsoft.com/office/drawing/2014/main" id="{AAF5E985-FAF8-D943-BDDF-E88C5E30BFE4}"/>
              </a:ext>
            </a:extLst>
          </p:cNvPr>
          <p:cNvSpPr>
            <a:spLocks noGrp="1"/>
          </p:cNvSpPr>
          <p:nvPr>
            <p:ph type="sldNum" sz="quarter" idx="12"/>
          </p:nvPr>
        </p:nvSpPr>
        <p:spPr/>
        <p:txBody>
          <a:bodyPr/>
          <a:lstStyle/>
          <a:p>
            <a:fld id="{0FB56013-B943-42BA-886F-6F9D4EB85E9D}" type="slidenum">
              <a:rPr lang="en-US" smtClean="0"/>
              <a:pPr/>
              <a:t>18</a:t>
            </a:fld>
            <a:endParaRPr lang="en-US"/>
          </a:p>
        </p:txBody>
      </p:sp>
      <p:sp>
        <p:nvSpPr>
          <p:cNvPr id="3" name="Oval 2">
            <a:extLst>
              <a:ext uri="{FF2B5EF4-FFF2-40B4-BE49-F238E27FC236}">
                <a16:creationId xmlns:a16="http://schemas.microsoft.com/office/drawing/2014/main" id="{CA119DDB-CCD4-C745-8F3A-4DA17B582300}"/>
              </a:ext>
            </a:extLst>
          </p:cNvPr>
          <p:cNvSpPr/>
          <p:nvPr/>
        </p:nvSpPr>
        <p:spPr>
          <a:xfrm>
            <a:off x="8139114" y="3814764"/>
            <a:ext cx="871537" cy="642937"/>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6" name="Oval 5">
            <a:extLst>
              <a:ext uri="{FF2B5EF4-FFF2-40B4-BE49-F238E27FC236}">
                <a16:creationId xmlns:a16="http://schemas.microsoft.com/office/drawing/2014/main" id="{5EBA74E6-B73E-EC43-B141-9D81A8C83200}"/>
              </a:ext>
            </a:extLst>
          </p:cNvPr>
          <p:cNvSpPr/>
          <p:nvPr/>
        </p:nvSpPr>
        <p:spPr>
          <a:xfrm>
            <a:off x="1524001" y="5053014"/>
            <a:ext cx="871537" cy="642937"/>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itle 8">
            <a:extLst>
              <a:ext uri="{FF2B5EF4-FFF2-40B4-BE49-F238E27FC236}">
                <a16:creationId xmlns:a16="http://schemas.microsoft.com/office/drawing/2014/main" id="{93CF9B1E-A050-E34A-9454-A553C5F74572}"/>
              </a:ext>
            </a:extLst>
          </p:cNvPr>
          <p:cNvSpPr>
            <a:spLocks noGrp="1"/>
          </p:cNvSpPr>
          <p:nvPr>
            <p:ph type="title"/>
          </p:nvPr>
        </p:nvSpPr>
        <p:spPr/>
        <p:txBody>
          <a:bodyPr>
            <a:normAutofit/>
          </a:bodyPr>
          <a:lstStyle/>
          <a:p>
            <a:r>
              <a:rPr lang="en-DK" sz="4000" dirty="0">
                <a:latin typeface="Calisto MT" panose="02040603050505030304" pitchFamily="18" charset="77"/>
              </a:rPr>
              <a:t>Magt, kontrol og centralitet</a:t>
            </a:r>
          </a:p>
        </p:txBody>
      </p:sp>
    </p:spTree>
    <p:extLst>
      <p:ext uri="{BB962C8B-B14F-4D97-AF65-F5344CB8AC3E}">
        <p14:creationId xmlns:p14="http://schemas.microsoft.com/office/powerpoint/2010/main" val="221808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C981754-6A04-364C-9973-618B39143D35}"/>
              </a:ext>
            </a:extLst>
          </p:cNvPr>
          <p:cNvPicPr>
            <a:picLocks noGrp="1" noChangeAspect="1"/>
          </p:cNvPicPr>
          <p:nvPr>
            <p:ph idx="1"/>
          </p:nvPr>
        </p:nvPicPr>
        <p:blipFill rotWithShape="1">
          <a:blip r:embed="rId2"/>
          <a:srcRect t="1716"/>
          <a:stretch/>
        </p:blipFill>
        <p:spPr>
          <a:xfrm>
            <a:off x="1521280" y="2100264"/>
            <a:ext cx="9175304" cy="4501612"/>
          </a:xfrm>
        </p:spPr>
      </p:pic>
      <p:sp>
        <p:nvSpPr>
          <p:cNvPr id="5" name="Slide Number Placeholder 4">
            <a:extLst>
              <a:ext uri="{FF2B5EF4-FFF2-40B4-BE49-F238E27FC236}">
                <a16:creationId xmlns:a16="http://schemas.microsoft.com/office/drawing/2014/main" id="{AAF5E985-FAF8-D943-BDDF-E88C5E30BFE4}"/>
              </a:ext>
            </a:extLst>
          </p:cNvPr>
          <p:cNvSpPr>
            <a:spLocks noGrp="1"/>
          </p:cNvSpPr>
          <p:nvPr>
            <p:ph type="sldNum" sz="quarter" idx="12"/>
          </p:nvPr>
        </p:nvSpPr>
        <p:spPr/>
        <p:txBody>
          <a:bodyPr/>
          <a:lstStyle/>
          <a:p>
            <a:fld id="{0FB56013-B943-42BA-886F-6F9D4EB85E9D}" type="slidenum">
              <a:rPr lang="en-US" smtClean="0"/>
              <a:pPr/>
              <a:t>19</a:t>
            </a:fld>
            <a:endParaRPr lang="en-US"/>
          </a:p>
        </p:txBody>
      </p:sp>
      <p:sp>
        <p:nvSpPr>
          <p:cNvPr id="3" name="Oval 2">
            <a:extLst>
              <a:ext uri="{FF2B5EF4-FFF2-40B4-BE49-F238E27FC236}">
                <a16:creationId xmlns:a16="http://schemas.microsoft.com/office/drawing/2014/main" id="{CA119DDB-CCD4-C745-8F3A-4DA17B582300}"/>
              </a:ext>
            </a:extLst>
          </p:cNvPr>
          <p:cNvSpPr/>
          <p:nvPr/>
        </p:nvSpPr>
        <p:spPr>
          <a:xfrm>
            <a:off x="9367839" y="3786189"/>
            <a:ext cx="871537" cy="642937"/>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6" name="Oval 5">
            <a:extLst>
              <a:ext uri="{FF2B5EF4-FFF2-40B4-BE49-F238E27FC236}">
                <a16:creationId xmlns:a16="http://schemas.microsoft.com/office/drawing/2014/main" id="{5EBA74E6-B73E-EC43-B141-9D81A8C83200}"/>
              </a:ext>
            </a:extLst>
          </p:cNvPr>
          <p:cNvSpPr/>
          <p:nvPr/>
        </p:nvSpPr>
        <p:spPr>
          <a:xfrm>
            <a:off x="3081338" y="2424114"/>
            <a:ext cx="871537" cy="642937"/>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9" name="TextBox 8">
            <a:extLst>
              <a:ext uri="{FF2B5EF4-FFF2-40B4-BE49-F238E27FC236}">
                <a16:creationId xmlns:a16="http://schemas.microsoft.com/office/drawing/2014/main" id="{EDC9AD47-39D2-4B46-9DCC-21B2104067C2}"/>
              </a:ext>
            </a:extLst>
          </p:cNvPr>
          <p:cNvSpPr txBox="1"/>
          <p:nvPr/>
        </p:nvSpPr>
        <p:spPr>
          <a:xfrm>
            <a:off x="1681164" y="6534836"/>
            <a:ext cx="6352701" cy="323165"/>
          </a:xfrm>
          <a:prstGeom prst="rect">
            <a:avLst/>
          </a:prstGeom>
          <a:noFill/>
        </p:spPr>
        <p:txBody>
          <a:bodyPr wrap="none" rtlCol="0">
            <a:spAutoFit/>
          </a:bodyPr>
          <a:lstStyle/>
          <a:p>
            <a:r>
              <a:rPr lang="da-DK" sz="1500" dirty="0"/>
              <a:t>Kilde: The </a:t>
            </a:r>
            <a:r>
              <a:rPr lang="da-DK" sz="1500" dirty="0" err="1"/>
              <a:t>Organizational</a:t>
            </a:r>
            <a:r>
              <a:rPr lang="da-DK" sz="1500" dirty="0"/>
              <a:t> Network </a:t>
            </a:r>
            <a:r>
              <a:rPr lang="da-DK" sz="1500" dirty="0" err="1"/>
              <a:t>Fieldbook</a:t>
            </a:r>
            <a:r>
              <a:rPr lang="da-DK" sz="1500" dirty="0"/>
              <a:t>, Rob Cross et al, </a:t>
            </a:r>
            <a:r>
              <a:rPr lang="da-DK" sz="1500" dirty="0" err="1"/>
              <a:t>Jossey</a:t>
            </a:r>
            <a:r>
              <a:rPr lang="da-DK" sz="1500" dirty="0"/>
              <a:t>-Bass 2010 </a:t>
            </a:r>
          </a:p>
        </p:txBody>
      </p:sp>
      <p:sp>
        <p:nvSpPr>
          <p:cNvPr id="8" name="Title 8">
            <a:extLst>
              <a:ext uri="{FF2B5EF4-FFF2-40B4-BE49-F238E27FC236}">
                <a16:creationId xmlns:a16="http://schemas.microsoft.com/office/drawing/2014/main" id="{354412CE-C581-A041-9B9D-C9FEF9A6A68D}"/>
              </a:ext>
            </a:extLst>
          </p:cNvPr>
          <p:cNvSpPr>
            <a:spLocks noGrp="1"/>
          </p:cNvSpPr>
          <p:nvPr>
            <p:ph type="title"/>
          </p:nvPr>
        </p:nvSpPr>
        <p:spPr>
          <a:xfrm>
            <a:off x="838200" y="365125"/>
            <a:ext cx="10515600" cy="1325563"/>
          </a:xfrm>
        </p:spPr>
        <p:txBody>
          <a:bodyPr>
            <a:normAutofit/>
          </a:bodyPr>
          <a:lstStyle/>
          <a:p>
            <a:r>
              <a:rPr lang="en-DK" sz="4000" dirty="0">
                <a:latin typeface="Calisto MT" panose="02040603050505030304" pitchFamily="18" charset="77"/>
              </a:rPr>
              <a:t>Forhold mellem formel og uformel struktur</a:t>
            </a:r>
          </a:p>
        </p:txBody>
      </p:sp>
    </p:spTree>
    <p:extLst>
      <p:ext uri="{BB962C8B-B14F-4D97-AF65-F5344CB8AC3E}">
        <p14:creationId xmlns:p14="http://schemas.microsoft.com/office/powerpoint/2010/main" val="407592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C981754-6A04-364C-9973-618B39143D35}"/>
              </a:ext>
            </a:extLst>
          </p:cNvPr>
          <p:cNvPicPr>
            <a:picLocks noGrp="1" noChangeAspect="1"/>
          </p:cNvPicPr>
          <p:nvPr>
            <p:ph idx="1"/>
          </p:nvPr>
        </p:nvPicPr>
        <p:blipFill rotWithShape="1">
          <a:blip r:embed="rId2"/>
          <a:srcRect t="1716"/>
          <a:stretch/>
        </p:blipFill>
        <p:spPr>
          <a:xfrm>
            <a:off x="1521280" y="2100264"/>
            <a:ext cx="9175304" cy="4501612"/>
          </a:xfrm>
        </p:spPr>
      </p:pic>
      <p:sp>
        <p:nvSpPr>
          <p:cNvPr id="3" name="Oval 2">
            <a:extLst>
              <a:ext uri="{FF2B5EF4-FFF2-40B4-BE49-F238E27FC236}">
                <a16:creationId xmlns:a16="http://schemas.microsoft.com/office/drawing/2014/main" id="{CA119DDB-CCD4-C745-8F3A-4DA17B582300}"/>
              </a:ext>
            </a:extLst>
          </p:cNvPr>
          <p:cNvSpPr/>
          <p:nvPr/>
        </p:nvSpPr>
        <p:spPr>
          <a:xfrm>
            <a:off x="7610475" y="1957385"/>
            <a:ext cx="1971676" cy="1785938"/>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
        <p:nvSpPr>
          <p:cNvPr id="4" name="TextBox 3">
            <a:extLst>
              <a:ext uri="{FF2B5EF4-FFF2-40B4-BE49-F238E27FC236}">
                <a16:creationId xmlns:a16="http://schemas.microsoft.com/office/drawing/2014/main" id="{DE90BA9C-F3F9-384F-BE98-843E0D15AA04}"/>
              </a:ext>
            </a:extLst>
          </p:cNvPr>
          <p:cNvSpPr txBox="1"/>
          <p:nvPr/>
        </p:nvSpPr>
        <p:spPr>
          <a:xfrm>
            <a:off x="1681164" y="6534836"/>
            <a:ext cx="6352701" cy="323165"/>
          </a:xfrm>
          <a:prstGeom prst="rect">
            <a:avLst/>
          </a:prstGeom>
          <a:noFill/>
        </p:spPr>
        <p:txBody>
          <a:bodyPr wrap="none" rtlCol="0">
            <a:spAutoFit/>
          </a:bodyPr>
          <a:lstStyle/>
          <a:p>
            <a:r>
              <a:rPr lang="da-DK" sz="1500" dirty="0"/>
              <a:t>Kilde: The </a:t>
            </a:r>
            <a:r>
              <a:rPr lang="da-DK" sz="1500" dirty="0" err="1"/>
              <a:t>Organizational</a:t>
            </a:r>
            <a:r>
              <a:rPr lang="da-DK" sz="1500" dirty="0"/>
              <a:t> Network </a:t>
            </a:r>
            <a:r>
              <a:rPr lang="da-DK" sz="1500" dirty="0" err="1"/>
              <a:t>Fieldbook</a:t>
            </a:r>
            <a:r>
              <a:rPr lang="da-DK" sz="1500" dirty="0"/>
              <a:t>, Rob Cross et al, </a:t>
            </a:r>
            <a:r>
              <a:rPr lang="da-DK" sz="1500" dirty="0" err="1"/>
              <a:t>Jossey</a:t>
            </a:r>
            <a:r>
              <a:rPr lang="da-DK" sz="1500" dirty="0"/>
              <a:t>-Bass 2010 </a:t>
            </a:r>
          </a:p>
        </p:txBody>
      </p:sp>
      <p:sp>
        <p:nvSpPr>
          <p:cNvPr id="5" name="Title 8">
            <a:extLst>
              <a:ext uri="{FF2B5EF4-FFF2-40B4-BE49-F238E27FC236}">
                <a16:creationId xmlns:a16="http://schemas.microsoft.com/office/drawing/2014/main" id="{413966D3-06AA-844A-9E52-7E8C421E509F}"/>
              </a:ext>
            </a:extLst>
          </p:cNvPr>
          <p:cNvSpPr>
            <a:spLocks noGrp="1"/>
          </p:cNvSpPr>
          <p:nvPr>
            <p:ph type="title"/>
          </p:nvPr>
        </p:nvSpPr>
        <p:spPr>
          <a:xfrm>
            <a:off x="838200" y="365125"/>
            <a:ext cx="10515600" cy="1325563"/>
          </a:xfrm>
        </p:spPr>
        <p:txBody>
          <a:bodyPr>
            <a:normAutofit/>
          </a:bodyPr>
          <a:lstStyle/>
          <a:p>
            <a:r>
              <a:rPr lang="en-DK" sz="4000" dirty="0">
                <a:latin typeface="Calisto MT" panose="02040603050505030304" pitchFamily="18" charset="77"/>
              </a:rPr>
              <a:t>Gruppedannelser, alliancer og konflikter</a:t>
            </a:r>
          </a:p>
        </p:txBody>
      </p:sp>
      <p:sp>
        <p:nvSpPr>
          <p:cNvPr id="2" name="Oval 1">
            <a:extLst>
              <a:ext uri="{FF2B5EF4-FFF2-40B4-BE49-F238E27FC236}">
                <a16:creationId xmlns:a16="http://schemas.microsoft.com/office/drawing/2014/main" id="{F81186A1-A9C5-DB54-011A-85E864167350}"/>
              </a:ext>
            </a:extLst>
          </p:cNvPr>
          <p:cNvSpPr/>
          <p:nvPr/>
        </p:nvSpPr>
        <p:spPr>
          <a:xfrm>
            <a:off x="3843101" y="2624827"/>
            <a:ext cx="1700449" cy="1642373"/>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912787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5D73C-E7C4-3343-8A38-76D7E5790BA8}"/>
              </a:ext>
            </a:extLst>
          </p:cNvPr>
          <p:cNvSpPr>
            <a:spLocks noGrp="1"/>
          </p:cNvSpPr>
          <p:nvPr>
            <p:ph type="title"/>
          </p:nvPr>
        </p:nvSpPr>
        <p:spPr/>
        <p:txBody>
          <a:bodyPr>
            <a:normAutofit/>
          </a:bodyPr>
          <a:lstStyle/>
          <a:p>
            <a:r>
              <a:rPr lang="en-DK" sz="3600" dirty="0">
                <a:latin typeface="Calisto MT" panose="02040603050505030304" pitchFamily="18" charset="77"/>
              </a:rPr>
              <a:t>Virksomheden </a:t>
            </a:r>
            <a:r>
              <a:rPr lang="en-GB" sz="3600" i="1" dirty="0">
                <a:latin typeface="Calisto MT" panose="02040603050505030304" pitchFamily="18" charset="77"/>
              </a:rPr>
              <a:t>i</a:t>
            </a:r>
            <a:r>
              <a:rPr lang="en-DK" sz="3600" dirty="0">
                <a:latin typeface="Calisto MT" panose="02040603050505030304" pitchFamily="18" charset="77"/>
              </a:rPr>
              <a:t> netværk</a:t>
            </a:r>
          </a:p>
        </p:txBody>
      </p:sp>
      <p:sp>
        <p:nvSpPr>
          <p:cNvPr id="3" name="Content Placeholder 2">
            <a:extLst>
              <a:ext uri="{FF2B5EF4-FFF2-40B4-BE49-F238E27FC236}">
                <a16:creationId xmlns:a16="http://schemas.microsoft.com/office/drawing/2014/main" id="{9C8DD868-1C05-3344-AF60-9A6757D0F4D9}"/>
              </a:ext>
            </a:extLst>
          </p:cNvPr>
          <p:cNvSpPr>
            <a:spLocks noGrp="1"/>
          </p:cNvSpPr>
          <p:nvPr>
            <p:ph idx="1"/>
          </p:nvPr>
        </p:nvSpPr>
        <p:spPr/>
        <p:txBody>
          <a:bodyPr>
            <a:normAutofit fontScale="92500" lnSpcReduction="10000"/>
          </a:bodyPr>
          <a:lstStyle/>
          <a:p>
            <a:pPr marL="0" indent="0">
              <a:buNone/>
            </a:pPr>
            <a:r>
              <a:rPr lang="en-DK" sz="2400" dirty="0">
                <a:latin typeface="Calisto MT" panose="02040603050505030304" pitchFamily="18" charset="77"/>
              </a:rPr>
              <a:t>Netværksperspektivet på organisationer: </a:t>
            </a:r>
            <a:r>
              <a:rPr lang="da-DK" sz="2400" dirty="0">
                <a:latin typeface="Calisto MT" panose="02040603050505030304" pitchFamily="18" charset="77"/>
              </a:rPr>
              <a:t>Opstod i amerikansk økonomisk sociologi 1980erne, med linjer tilbage til </a:t>
            </a:r>
            <a:r>
              <a:rPr lang="da-DK" sz="2400" dirty="0" err="1">
                <a:latin typeface="Calisto MT" panose="02040603050505030304" pitchFamily="18" charset="77"/>
              </a:rPr>
              <a:t>netværksnalyse</a:t>
            </a:r>
            <a:r>
              <a:rPr lang="da-DK" sz="2400" dirty="0">
                <a:latin typeface="Calisto MT" panose="02040603050505030304" pitchFamily="18" charset="77"/>
              </a:rPr>
              <a:t>/teori, </a:t>
            </a:r>
            <a:r>
              <a:rPr lang="da-DK" sz="2400" dirty="0" err="1">
                <a:latin typeface="Calisto MT" panose="02040603050505030304" pitchFamily="18" charset="77"/>
              </a:rPr>
              <a:t>sociometri</a:t>
            </a:r>
            <a:r>
              <a:rPr lang="da-DK" sz="2400" dirty="0">
                <a:latin typeface="Calisto MT" panose="02040603050505030304" pitchFamily="18" charset="77"/>
              </a:rPr>
              <a:t> og matematisk grafteori</a:t>
            </a:r>
          </a:p>
          <a:p>
            <a:pPr marL="0" indent="0">
              <a:buNone/>
            </a:pPr>
            <a:endParaRPr lang="da-DK" sz="2400" dirty="0">
              <a:latin typeface="Calisto MT" panose="02040603050505030304" pitchFamily="18" charset="77"/>
            </a:endParaRPr>
          </a:p>
          <a:p>
            <a:pPr marL="0" indent="0">
              <a:buNone/>
            </a:pPr>
            <a:r>
              <a:rPr lang="da-DK" sz="2400" b="1" dirty="0">
                <a:latin typeface="Calisto MT" panose="02040603050505030304" pitchFamily="18" charset="77"/>
              </a:rPr>
              <a:t>Empirisk </a:t>
            </a:r>
            <a:r>
              <a:rPr lang="da-DK" sz="2400" dirty="0">
                <a:latin typeface="Calisto MT" panose="02040603050505030304" pitchFamily="18" charset="77"/>
              </a:rPr>
              <a:t>baggrund: stadig større betydning af “netværksorganisationer” i økonomien</a:t>
            </a:r>
          </a:p>
          <a:p>
            <a:pPr marL="0" indent="0">
              <a:buNone/>
            </a:pPr>
            <a:endParaRPr lang="da-DK" sz="2400" dirty="0">
              <a:latin typeface="Calisto MT" panose="02040603050505030304" pitchFamily="18" charset="77"/>
            </a:endParaRPr>
          </a:p>
          <a:p>
            <a:pPr marL="0" indent="0">
              <a:buNone/>
            </a:pPr>
            <a:r>
              <a:rPr lang="da-DK" sz="2400" dirty="0">
                <a:latin typeface="Calisto MT" panose="02040603050505030304" pitchFamily="18" charset="77"/>
              </a:rPr>
              <a:t>Forandringer i den politisk-institutionelle styringskontekst i USA og andre lande i 1980erne, faciliterede en proces hvor virksomheder i stigende grad begyndte at samarbejde i partnerskaber og alliance.  </a:t>
            </a:r>
          </a:p>
          <a:p>
            <a:pPr marL="0" indent="0">
              <a:buNone/>
            </a:pPr>
            <a:endParaRPr lang="da-DK" sz="2400" dirty="0">
              <a:latin typeface="Calisto MT" panose="02040603050505030304" pitchFamily="18" charset="77"/>
            </a:endParaRPr>
          </a:p>
          <a:p>
            <a:pPr marL="0" indent="0">
              <a:buNone/>
            </a:pPr>
            <a:r>
              <a:rPr lang="da-DK" sz="2400" dirty="0">
                <a:latin typeface="Calisto MT" panose="02040603050505030304" pitchFamily="18" charset="77"/>
              </a:rPr>
              <a:t>Stor bevågenhed om Japanske virksomheders globale succes i 1980erne – hvad gjorde dem konkurrencedygtige? (stærke familienetværk og alliancer mellem familier)</a:t>
            </a:r>
          </a:p>
          <a:p>
            <a:pPr marL="0" indent="0">
              <a:buNone/>
            </a:pPr>
            <a:endParaRPr lang="da-DK" sz="2400" dirty="0"/>
          </a:p>
        </p:txBody>
      </p:sp>
    </p:spTree>
    <p:extLst>
      <p:ext uri="{BB962C8B-B14F-4D97-AF65-F5344CB8AC3E}">
        <p14:creationId xmlns:p14="http://schemas.microsoft.com/office/powerpoint/2010/main" val="4146122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CE602-CE2D-0044-8B69-6D7C9C203061}"/>
              </a:ext>
            </a:extLst>
          </p:cNvPr>
          <p:cNvSpPr>
            <a:spLocks noGrp="1"/>
          </p:cNvSpPr>
          <p:nvPr>
            <p:ph type="title"/>
          </p:nvPr>
        </p:nvSpPr>
        <p:spPr/>
        <p:txBody>
          <a:bodyPr>
            <a:normAutofit/>
          </a:bodyPr>
          <a:lstStyle/>
          <a:p>
            <a:r>
              <a:rPr lang="en-US" sz="3600" b="1" dirty="0" err="1">
                <a:latin typeface="Calisto MT" panose="02040603050505030304" pitchFamily="18" charset="77"/>
              </a:rPr>
              <a:t>Teoretisk</a:t>
            </a:r>
            <a:r>
              <a:rPr lang="en-US" sz="3600" b="1" dirty="0">
                <a:latin typeface="Calisto MT" panose="02040603050505030304" pitchFamily="18" charset="77"/>
              </a:rPr>
              <a:t> </a:t>
            </a:r>
            <a:r>
              <a:rPr lang="en-US" sz="3600" dirty="0" err="1">
                <a:latin typeface="Calisto MT" panose="02040603050505030304" pitchFamily="18" charset="77"/>
              </a:rPr>
              <a:t>baggrund</a:t>
            </a:r>
            <a:endParaRPr lang="en-DK" sz="3600" dirty="0">
              <a:latin typeface="Calisto MT" panose="02040603050505030304" pitchFamily="18" charset="77"/>
            </a:endParaRPr>
          </a:p>
        </p:txBody>
      </p:sp>
      <p:sp>
        <p:nvSpPr>
          <p:cNvPr id="3" name="Content Placeholder 2">
            <a:extLst>
              <a:ext uri="{FF2B5EF4-FFF2-40B4-BE49-F238E27FC236}">
                <a16:creationId xmlns:a16="http://schemas.microsoft.com/office/drawing/2014/main" id="{F1155225-BE98-7244-A181-7ABBA4889B95}"/>
              </a:ext>
            </a:extLst>
          </p:cNvPr>
          <p:cNvSpPr>
            <a:spLocks noGrp="1"/>
          </p:cNvSpPr>
          <p:nvPr>
            <p:ph idx="1"/>
          </p:nvPr>
        </p:nvSpPr>
        <p:spPr>
          <a:xfrm>
            <a:off x="838200" y="1825625"/>
            <a:ext cx="10515600" cy="4537468"/>
          </a:xfrm>
        </p:spPr>
        <p:txBody>
          <a:bodyPr>
            <a:noAutofit/>
          </a:bodyPr>
          <a:lstStyle/>
          <a:p>
            <a:pPr marL="0" indent="0">
              <a:lnSpc>
                <a:spcPts val="2860"/>
              </a:lnSpc>
              <a:buNone/>
            </a:pPr>
            <a:r>
              <a:rPr lang="en-US" sz="2600" dirty="0" err="1">
                <a:latin typeface="Calisto MT" panose="02040603050505030304" pitchFamily="18" charset="77"/>
              </a:rPr>
              <a:t>Økonomers</a:t>
            </a:r>
            <a:r>
              <a:rPr lang="en-US" sz="2600" dirty="0">
                <a:latin typeface="Calisto MT" panose="02040603050505030304" pitchFamily="18" charset="77"/>
              </a:rPr>
              <a:t> </a:t>
            </a:r>
            <a:r>
              <a:rPr lang="en-US" sz="2600" dirty="0" err="1">
                <a:latin typeface="Calisto MT" panose="02040603050505030304" pitchFamily="18" charset="77"/>
              </a:rPr>
              <a:t>forklaringsproblem</a:t>
            </a:r>
            <a:r>
              <a:rPr lang="en-US" sz="2600" dirty="0">
                <a:latin typeface="Calisto MT" panose="02040603050505030304" pitchFamily="18" charset="77"/>
              </a:rPr>
              <a:t> </a:t>
            </a:r>
            <a:r>
              <a:rPr lang="en-US" sz="2600" dirty="0" err="1">
                <a:latin typeface="Calisto MT" panose="02040603050505030304" pitchFamily="18" charset="77"/>
              </a:rPr>
              <a:t>på</a:t>
            </a:r>
            <a:r>
              <a:rPr lang="en-US" sz="2600" dirty="0">
                <a:latin typeface="Calisto MT" panose="02040603050505030304" pitchFamily="18" charset="77"/>
              </a:rPr>
              <a:t> </a:t>
            </a:r>
            <a:r>
              <a:rPr lang="en-US" sz="2600" dirty="0" err="1">
                <a:latin typeface="Calisto MT" panose="02040603050505030304" pitchFamily="18" charset="77"/>
              </a:rPr>
              <a:t>hvorfor</a:t>
            </a:r>
            <a:r>
              <a:rPr lang="en-US" sz="2600" dirty="0">
                <a:latin typeface="Calisto MT" panose="02040603050505030304" pitchFamily="18" charset="77"/>
              </a:rPr>
              <a:t> </a:t>
            </a:r>
            <a:r>
              <a:rPr lang="en-US" sz="2600" dirty="0" err="1">
                <a:latin typeface="Calisto MT" panose="02040603050505030304" pitchFamily="18" charset="77"/>
              </a:rPr>
              <a:t>særlige</a:t>
            </a:r>
            <a:r>
              <a:rPr lang="en-US" sz="2600" dirty="0">
                <a:latin typeface="Calisto MT" panose="02040603050505030304" pitchFamily="18" charset="77"/>
              </a:rPr>
              <a:t> </a:t>
            </a:r>
            <a:r>
              <a:rPr lang="en-US" sz="2600" dirty="0" err="1">
                <a:latin typeface="Calisto MT" panose="02040603050505030304" pitchFamily="18" charset="77"/>
              </a:rPr>
              <a:t>organisationsstrukturer</a:t>
            </a:r>
            <a:r>
              <a:rPr lang="en-US" sz="2600" dirty="0">
                <a:latin typeface="Calisto MT" panose="02040603050505030304" pitchFamily="18" charset="77"/>
              </a:rPr>
              <a:t> </a:t>
            </a:r>
            <a:r>
              <a:rPr lang="en-US" sz="2600" dirty="0" err="1">
                <a:latin typeface="Calisto MT" panose="02040603050505030304" pitchFamily="18" charset="77"/>
              </a:rPr>
              <a:t>bliver</a:t>
            </a:r>
            <a:r>
              <a:rPr lang="en-US" sz="2600" dirty="0">
                <a:latin typeface="Calisto MT" panose="02040603050505030304" pitchFamily="18" charset="77"/>
              </a:rPr>
              <a:t> </a:t>
            </a:r>
            <a:r>
              <a:rPr lang="en-US" sz="2600" dirty="0" err="1">
                <a:latin typeface="Calisto MT" panose="02040603050505030304" pitchFamily="18" charset="77"/>
              </a:rPr>
              <a:t>fremherskende</a:t>
            </a:r>
            <a:r>
              <a:rPr lang="en-US" sz="2600" dirty="0">
                <a:latin typeface="Calisto MT" panose="02040603050505030304" pitchFamily="18" charset="77"/>
              </a:rPr>
              <a:t> -- </a:t>
            </a:r>
            <a:r>
              <a:rPr lang="en-US" sz="2600" dirty="0" err="1">
                <a:latin typeface="Calisto MT" panose="02040603050505030304" pitchFamily="18" charset="77"/>
              </a:rPr>
              <a:t>effektivitet</a:t>
            </a:r>
            <a:r>
              <a:rPr lang="en-US" sz="2600" dirty="0">
                <a:latin typeface="Calisto MT" panose="02040603050505030304" pitchFamily="18" charset="77"/>
              </a:rPr>
              <a:t>:</a:t>
            </a:r>
            <a:endParaRPr lang="en-US" sz="2600" b="1" dirty="0">
              <a:latin typeface="Calisto MT" panose="02040603050505030304" pitchFamily="18" charset="77"/>
            </a:endParaRPr>
          </a:p>
          <a:p>
            <a:pPr marL="0" indent="0">
              <a:lnSpc>
                <a:spcPts val="2860"/>
              </a:lnSpc>
              <a:buNone/>
            </a:pPr>
            <a:r>
              <a:rPr lang="en-US" sz="2600" b="1" dirty="0" err="1">
                <a:latin typeface="Calisto MT" panose="02040603050505030304" pitchFamily="18" charset="77"/>
              </a:rPr>
              <a:t>enten</a:t>
            </a:r>
            <a:r>
              <a:rPr lang="en-US" sz="2600" dirty="0">
                <a:latin typeface="Calisto MT" panose="02040603050505030304" pitchFamily="18" charset="77"/>
              </a:rPr>
              <a:t> a) principal-agent-</a:t>
            </a:r>
            <a:r>
              <a:rPr lang="en-US" sz="2600" dirty="0" err="1">
                <a:latin typeface="Calisto MT" panose="02040603050505030304" pitchFamily="18" charset="77"/>
              </a:rPr>
              <a:t>teori</a:t>
            </a:r>
            <a:r>
              <a:rPr lang="en-US" sz="2600" dirty="0">
                <a:latin typeface="Calisto MT" panose="02040603050505030304" pitchFamily="18" charset="77"/>
              </a:rPr>
              <a:t> </a:t>
            </a:r>
            <a:r>
              <a:rPr lang="en-US" sz="2600" dirty="0" err="1">
                <a:latin typeface="Calisto MT" panose="02040603050505030304" pitchFamily="18" charset="77"/>
              </a:rPr>
              <a:t>som</a:t>
            </a:r>
            <a:r>
              <a:rPr lang="en-US" sz="2600" dirty="0">
                <a:latin typeface="Calisto MT" panose="02040603050505030304" pitchFamily="18" charset="77"/>
              </a:rPr>
              <a:t> </a:t>
            </a:r>
            <a:r>
              <a:rPr lang="en-US" sz="2600" dirty="0" err="1">
                <a:latin typeface="Calisto MT" panose="02040603050505030304" pitchFamily="18" charset="77"/>
              </a:rPr>
              <a:t>forklaring</a:t>
            </a:r>
            <a:r>
              <a:rPr lang="en-US" sz="2600" dirty="0">
                <a:latin typeface="Calisto MT" panose="02040603050505030304" pitchFamily="18" charset="77"/>
              </a:rPr>
              <a:t> </a:t>
            </a:r>
            <a:r>
              <a:rPr lang="en-US" sz="2600" dirty="0" err="1">
                <a:latin typeface="Calisto MT" panose="02040603050505030304" pitchFamily="18" charset="77"/>
              </a:rPr>
              <a:t>på</a:t>
            </a:r>
            <a:r>
              <a:rPr lang="en-US" sz="2600" dirty="0">
                <a:latin typeface="Calisto MT" panose="02040603050505030304" pitchFamily="18" charset="77"/>
              </a:rPr>
              <a:t> </a:t>
            </a:r>
            <a:r>
              <a:rPr lang="en-US" sz="2600" dirty="0" err="1">
                <a:latin typeface="Calisto MT" panose="02040603050505030304" pitchFamily="18" charset="77"/>
              </a:rPr>
              <a:t>markedsorganisering</a:t>
            </a:r>
            <a:r>
              <a:rPr lang="en-US" sz="2600" dirty="0">
                <a:latin typeface="Calisto MT" panose="02040603050505030304" pitchFamily="18" charset="77"/>
              </a:rPr>
              <a:t> </a:t>
            </a:r>
            <a:r>
              <a:rPr lang="en-US" sz="2600" dirty="0" err="1">
                <a:latin typeface="Calisto MT" panose="02040603050505030304" pitchFamily="18" charset="77"/>
              </a:rPr>
              <a:t>som</a:t>
            </a:r>
            <a:r>
              <a:rPr lang="en-US" sz="2600" dirty="0">
                <a:latin typeface="Calisto MT" panose="02040603050505030304" pitchFamily="18" charset="77"/>
              </a:rPr>
              <a:t> </a:t>
            </a:r>
            <a:r>
              <a:rPr lang="en-US" sz="2600" dirty="0" err="1">
                <a:latin typeface="Calisto MT" panose="02040603050505030304" pitchFamily="18" charset="77"/>
              </a:rPr>
              <a:t>fremherskende</a:t>
            </a:r>
            <a:endParaRPr lang="en-US" sz="2600" b="1" dirty="0">
              <a:latin typeface="Calisto MT" panose="02040603050505030304" pitchFamily="18" charset="77"/>
            </a:endParaRPr>
          </a:p>
          <a:p>
            <a:pPr marL="0" indent="0">
              <a:lnSpc>
                <a:spcPts val="2860"/>
              </a:lnSpc>
              <a:buNone/>
            </a:pPr>
            <a:r>
              <a:rPr lang="en-US" sz="2600" b="1" dirty="0" err="1">
                <a:latin typeface="Calisto MT" panose="02040603050505030304" pitchFamily="18" charset="77"/>
              </a:rPr>
              <a:t>eller</a:t>
            </a:r>
            <a:r>
              <a:rPr lang="en-US" sz="2600" dirty="0">
                <a:latin typeface="Calisto MT" panose="02040603050505030304" pitchFamily="18" charset="77"/>
              </a:rPr>
              <a:t> b) “transaction cost economics”, </a:t>
            </a:r>
            <a:r>
              <a:rPr lang="en-US" sz="2600" dirty="0" err="1">
                <a:latin typeface="Calisto MT" panose="02040603050505030304" pitchFamily="18" charset="77"/>
              </a:rPr>
              <a:t>som</a:t>
            </a:r>
            <a:r>
              <a:rPr lang="en-US" sz="2600" dirty="0">
                <a:latin typeface="Calisto MT" panose="02040603050505030304" pitchFamily="18" charset="77"/>
              </a:rPr>
              <a:t> </a:t>
            </a:r>
            <a:r>
              <a:rPr lang="en-US" sz="2600" dirty="0" err="1">
                <a:latin typeface="Calisto MT" panose="02040603050505030304" pitchFamily="18" charset="77"/>
              </a:rPr>
              <a:t>peger</a:t>
            </a:r>
            <a:r>
              <a:rPr lang="en-US" sz="2600" dirty="0">
                <a:latin typeface="Calisto MT" panose="02040603050505030304" pitchFamily="18" charset="77"/>
              </a:rPr>
              <a:t> </a:t>
            </a:r>
            <a:r>
              <a:rPr lang="en-US" sz="2600" dirty="0" err="1">
                <a:latin typeface="Calisto MT" panose="02040603050505030304" pitchFamily="18" charset="77"/>
              </a:rPr>
              <a:t>på</a:t>
            </a:r>
            <a:r>
              <a:rPr lang="en-US" sz="2600" dirty="0">
                <a:latin typeface="Calisto MT" panose="02040603050505030304" pitchFamily="18" charset="77"/>
              </a:rPr>
              <a:t> to </a:t>
            </a:r>
            <a:r>
              <a:rPr lang="en-US" sz="2600" dirty="0" err="1">
                <a:latin typeface="Calisto MT" panose="02040603050505030304" pitchFamily="18" charset="77"/>
              </a:rPr>
              <a:t>konkurrerende</a:t>
            </a:r>
            <a:r>
              <a:rPr lang="en-US" sz="2600" dirty="0">
                <a:latin typeface="Calisto MT" panose="02040603050505030304" pitchFamily="18" charset="77"/>
              </a:rPr>
              <a:t> </a:t>
            </a:r>
            <a:r>
              <a:rPr lang="en-US" sz="2600" dirty="0" err="1">
                <a:latin typeface="Calisto MT" panose="02040603050505030304" pitchFamily="18" charset="77"/>
              </a:rPr>
              <a:t>måder</a:t>
            </a:r>
            <a:r>
              <a:rPr lang="en-US" sz="2600" dirty="0">
                <a:latin typeface="Calisto MT" panose="02040603050505030304" pitchFamily="18" charset="77"/>
              </a:rPr>
              <a:t>, at </a:t>
            </a:r>
            <a:r>
              <a:rPr lang="en-US" sz="2600" dirty="0" err="1">
                <a:latin typeface="Calisto MT" panose="02040603050505030304" pitchFamily="18" charset="77"/>
              </a:rPr>
              <a:t>organisere</a:t>
            </a:r>
            <a:r>
              <a:rPr lang="en-US" sz="2600" dirty="0">
                <a:latin typeface="Calisto MT" panose="02040603050505030304" pitchFamily="18" charset="77"/>
              </a:rPr>
              <a:t> </a:t>
            </a:r>
            <a:r>
              <a:rPr lang="en-US" sz="2600" dirty="0" err="1">
                <a:latin typeface="Calisto MT" panose="02040603050505030304" pitchFamily="18" charset="77"/>
              </a:rPr>
              <a:t>virksomheder</a:t>
            </a:r>
            <a:r>
              <a:rPr lang="en-US" sz="2600" dirty="0">
                <a:latin typeface="Calisto MT" panose="02040603050505030304" pitchFamily="18" charset="77"/>
              </a:rPr>
              <a:t> </a:t>
            </a:r>
            <a:r>
              <a:rPr lang="en-US" sz="2600" dirty="0" err="1">
                <a:latin typeface="Calisto MT" panose="02040603050505030304" pitchFamily="18" charset="77"/>
              </a:rPr>
              <a:t>på</a:t>
            </a:r>
            <a:r>
              <a:rPr lang="en-US" sz="2600" dirty="0">
                <a:latin typeface="Calisto MT" panose="02040603050505030304" pitchFamily="18" charset="77"/>
              </a:rPr>
              <a:t>:</a:t>
            </a:r>
          </a:p>
          <a:p>
            <a:pPr marL="0" indent="0">
              <a:lnSpc>
                <a:spcPts val="2860"/>
              </a:lnSpc>
              <a:buNone/>
            </a:pPr>
            <a:r>
              <a:rPr lang="en-US" sz="2600" b="1" dirty="0" err="1">
                <a:latin typeface="Calisto MT" panose="02040603050505030304" pitchFamily="18" charset="77"/>
              </a:rPr>
              <a:t>Markeder</a:t>
            </a:r>
            <a:r>
              <a:rPr lang="en-US" sz="2600" dirty="0">
                <a:latin typeface="Calisto MT" panose="02040603050505030304" pitchFamily="18" charset="77"/>
              </a:rPr>
              <a:t> </a:t>
            </a:r>
            <a:r>
              <a:rPr lang="en-US" sz="2600" dirty="0" err="1">
                <a:latin typeface="Calisto MT" panose="02040603050505030304" pitchFamily="18" charset="77"/>
              </a:rPr>
              <a:t>eller</a:t>
            </a:r>
            <a:r>
              <a:rPr lang="en-US" sz="2600" dirty="0">
                <a:latin typeface="Calisto MT" panose="02040603050505030304" pitchFamily="18" charset="77"/>
              </a:rPr>
              <a:t> </a:t>
            </a:r>
            <a:r>
              <a:rPr lang="en-US" sz="2600" b="1" dirty="0" err="1">
                <a:latin typeface="Calisto MT" panose="02040603050505030304" pitchFamily="18" charset="77"/>
              </a:rPr>
              <a:t>hierarkier</a:t>
            </a:r>
            <a:r>
              <a:rPr lang="en-US" sz="2600" dirty="0">
                <a:latin typeface="Calisto MT" panose="02040603050505030304" pitchFamily="18" charset="77"/>
              </a:rPr>
              <a:t> </a:t>
            </a:r>
            <a:r>
              <a:rPr lang="en-US" sz="2600" dirty="0" err="1">
                <a:latin typeface="Calisto MT" panose="02040603050505030304" pitchFamily="18" charset="77"/>
              </a:rPr>
              <a:t>løser</a:t>
            </a:r>
            <a:r>
              <a:rPr lang="en-US" sz="2600" dirty="0">
                <a:latin typeface="Calisto MT" panose="02040603050505030304" pitchFamily="18" charset="77"/>
              </a:rPr>
              <a:t> </a:t>
            </a:r>
            <a:r>
              <a:rPr lang="en-US" sz="2600" dirty="0" err="1">
                <a:latin typeface="Calisto MT" panose="02040603050505030304" pitchFamily="18" charset="77"/>
              </a:rPr>
              <a:t>transaktionesproblemer</a:t>
            </a:r>
            <a:r>
              <a:rPr lang="en-US" sz="2600" dirty="0">
                <a:latin typeface="Calisto MT" panose="02040603050505030304" pitchFamily="18" charset="77"/>
              </a:rPr>
              <a:t> </a:t>
            </a:r>
            <a:r>
              <a:rPr lang="en-US" sz="2600" dirty="0" err="1">
                <a:latin typeface="Calisto MT" panose="02040603050505030304" pitchFamily="18" charset="77"/>
              </a:rPr>
              <a:t>på</a:t>
            </a:r>
            <a:r>
              <a:rPr lang="en-US" sz="2600" dirty="0">
                <a:latin typeface="Calisto MT" panose="02040603050505030304" pitchFamily="18" charset="77"/>
              </a:rPr>
              <a:t> </a:t>
            </a:r>
            <a:r>
              <a:rPr lang="en-US" sz="2600" dirty="0" err="1">
                <a:latin typeface="Calisto MT" panose="02040603050505030304" pitchFamily="18" charset="77"/>
              </a:rPr>
              <a:t>forskellig</a:t>
            </a:r>
            <a:r>
              <a:rPr lang="en-US" sz="2600" dirty="0">
                <a:latin typeface="Calisto MT" panose="02040603050505030304" pitchFamily="18" charset="77"/>
              </a:rPr>
              <a:t> vis (Williamson 1985), men </a:t>
            </a:r>
            <a:r>
              <a:rPr lang="en-US" sz="2600" dirty="0" err="1">
                <a:latin typeface="Calisto MT" panose="02040603050505030304" pitchFamily="18" charset="77"/>
              </a:rPr>
              <a:t>introducerer</a:t>
            </a:r>
            <a:r>
              <a:rPr lang="en-US" sz="2600" dirty="0">
                <a:latin typeface="Calisto MT" panose="02040603050505030304" pitchFamily="18" charset="77"/>
              </a:rPr>
              <a:t> tradeoffs </a:t>
            </a:r>
            <a:r>
              <a:rPr lang="en-US" sz="2600" dirty="0" err="1">
                <a:latin typeface="Calisto MT" panose="02040603050505030304" pitchFamily="18" charset="77"/>
              </a:rPr>
              <a:t>mellem</a:t>
            </a:r>
            <a:r>
              <a:rPr lang="en-US" sz="2600" dirty="0">
                <a:latin typeface="Calisto MT" panose="02040603050505030304" pitchFamily="18" charset="77"/>
              </a:rPr>
              <a:t> </a:t>
            </a:r>
            <a:r>
              <a:rPr lang="en-US" sz="2600" dirty="0" err="1">
                <a:latin typeface="Calisto MT" panose="02040603050505030304" pitchFamily="18" charset="77"/>
              </a:rPr>
              <a:t>forskellige</a:t>
            </a:r>
            <a:r>
              <a:rPr lang="en-US" sz="2600" dirty="0">
                <a:latin typeface="Calisto MT" panose="02040603050505030304" pitchFamily="18" charset="77"/>
              </a:rPr>
              <a:t> former</a:t>
            </a:r>
          </a:p>
        </p:txBody>
      </p:sp>
    </p:spTree>
    <p:extLst>
      <p:ext uri="{BB962C8B-B14F-4D97-AF65-F5344CB8AC3E}">
        <p14:creationId xmlns:p14="http://schemas.microsoft.com/office/powerpoint/2010/main" val="1029401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4A5B-F20B-8645-B3BA-A388AA3DE71A}"/>
              </a:ext>
            </a:extLst>
          </p:cNvPr>
          <p:cNvSpPr>
            <a:spLocks noGrp="1"/>
          </p:cNvSpPr>
          <p:nvPr>
            <p:ph type="title"/>
          </p:nvPr>
        </p:nvSpPr>
        <p:spPr/>
        <p:txBody>
          <a:bodyPr>
            <a:normAutofit/>
          </a:bodyPr>
          <a:lstStyle/>
          <a:p>
            <a:r>
              <a:rPr lang="en-DK" sz="3600" dirty="0">
                <a:latin typeface="Calisto MT" panose="02040603050505030304" pitchFamily="18" charset="77"/>
              </a:rPr>
              <a:t>Netværksorganisering/styring</a:t>
            </a:r>
          </a:p>
        </p:txBody>
      </p:sp>
      <p:sp>
        <p:nvSpPr>
          <p:cNvPr id="3" name="Content Placeholder 2">
            <a:extLst>
              <a:ext uri="{FF2B5EF4-FFF2-40B4-BE49-F238E27FC236}">
                <a16:creationId xmlns:a16="http://schemas.microsoft.com/office/drawing/2014/main" id="{F194FB31-DBA1-9B40-BC8D-7A6F574AFDDA}"/>
              </a:ext>
            </a:extLst>
          </p:cNvPr>
          <p:cNvSpPr>
            <a:spLocks noGrp="1"/>
          </p:cNvSpPr>
          <p:nvPr>
            <p:ph idx="1"/>
          </p:nvPr>
        </p:nvSpPr>
        <p:spPr/>
        <p:txBody>
          <a:bodyPr>
            <a:normAutofit fontScale="77500" lnSpcReduction="20000"/>
          </a:bodyPr>
          <a:lstStyle/>
          <a:p>
            <a:pPr marL="0" indent="0">
              <a:spcBef>
                <a:spcPts val="600"/>
              </a:spcBef>
              <a:buNone/>
            </a:pPr>
            <a:r>
              <a:rPr lang="en-US" sz="2800" dirty="0" err="1">
                <a:latin typeface="Calisto MT" panose="02040603050505030304" pitchFamily="18" charset="77"/>
              </a:rPr>
              <a:t>Netværksorganisation</a:t>
            </a:r>
            <a:r>
              <a:rPr lang="en-US" sz="2800" dirty="0">
                <a:latin typeface="Calisto MT" panose="02040603050505030304" pitchFamily="18" charset="77"/>
              </a:rPr>
              <a:t> </a:t>
            </a:r>
            <a:r>
              <a:rPr lang="en-US" sz="2800" dirty="0" err="1">
                <a:latin typeface="Calisto MT" panose="02040603050505030304" pitchFamily="18" charset="77"/>
              </a:rPr>
              <a:t>som</a:t>
            </a:r>
            <a:r>
              <a:rPr lang="en-US" sz="2800" dirty="0">
                <a:latin typeface="Calisto MT" panose="02040603050505030304" pitchFamily="18" charset="77"/>
              </a:rPr>
              <a:t> </a:t>
            </a:r>
            <a:r>
              <a:rPr lang="en-US" sz="2800" dirty="0" err="1">
                <a:latin typeface="Calisto MT" panose="02040603050505030304" pitchFamily="18" charset="77"/>
              </a:rPr>
              <a:t>løsning</a:t>
            </a:r>
            <a:r>
              <a:rPr lang="en-US" sz="2800" dirty="0">
                <a:latin typeface="Calisto MT" panose="02040603050505030304" pitchFamily="18" charset="77"/>
              </a:rPr>
              <a:t> </a:t>
            </a:r>
            <a:r>
              <a:rPr lang="en-US" sz="2800" dirty="0" err="1">
                <a:latin typeface="Calisto MT" panose="02040603050505030304" pitchFamily="18" charset="77"/>
              </a:rPr>
              <a:t>på</a:t>
            </a:r>
            <a:r>
              <a:rPr lang="en-US" sz="2800" dirty="0">
                <a:latin typeface="Calisto MT" panose="02040603050505030304" pitchFamily="18" charset="77"/>
              </a:rPr>
              <a:t> tradeoffs </a:t>
            </a:r>
            <a:r>
              <a:rPr lang="en-US" sz="2800" dirty="0" err="1">
                <a:latin typeface="Calisto MT" panose="02040603050505030304" pitchFamily="18" charset="77"/>
              </a:rPr>
              <a:t>melle</a:t>
            </a:r>
            <a:r>
              <a:rPr lang="en-US" dirty="0" err="1">
                <a:latin typeface="Calisto MT" panose="02040603050505030304" pitchFamily="18" charset="77"/>
              </a:rPr>
              <a:t>m</a:t>
            </a:r>
            <a:r>
              <a:rPr lang="en-US" dirty="0">
                <a:latin typeface="Calisto MT" panose="02040603050505030304" pitchFamily="18" charset="77"/>
              </a:rPr>
              <a:t> marked </a:t>
            </a:r>
            <a:r>
              <a:rPr lang="en-US" dirty="0" err="1">
                <a:latin typeface="Calisto MT" panose="02040603050505030304" pitchFamily="18" charset="77"/>
              </a:rPr>
              <a:t>og</a:t>
            </a:r>
            <a:r>
              <a:rPr lang="en-US" dirty="0">
                <a:latin typeface="Calisto MT" panose="02040603050505030304" pitchFamily="18" charset="77"/>
              </a:rPr>
              <a:t> </a:t>
            </a:r>
            <a:r>
              <a:rPr lang="en-US" dirty="0" err="1">
                <a:latin typeface="Calisto MT" panose="02040603050505030304" pitchFamily="18" charset="77"/>
              </a:rPr>
              <a:t>hierarki</a:t>
            </a:r>
            <a:endParaRPr lang="en-US" sz="2800" dirty="0">
              <a:latin typeface="Calisto MT" panose="02040603050505030304" pitchFamily="18" charset="77"/>
            </a:endParaRPr>
          </a:p>
          <a:p>
            <a:pPr marL="0" indent="0">
              <a:spcBef>
                <a:spcPts val="600"/>
              </a:spcBef>
              <a:buNone/>
            </a:pPr>
            <a:endParaRPr lang="da-DK" dirty="0">
              <a:latin typeface="Calisto MT" panose="02040603050505030304" pitchFamily="18" charset="77"/>
            </a:endParaRPr>
          </a:p>
          <a:p>
            <a:pPr marL="0" indent="0">
              <a:spcBef>
                <a:spcPts val="600"/>
              </a:spcBef>
              <a:buNone/>
            </a:pPr>
            <a:r>
              <a:rPr lang="da-DK" dirty="0">
                <a:latin typeface="Calisto MT" panose="02040603050505030304" pitchFamily="18" charset="77"/>
              </a:rPr>
              <a:t>Netværksorganisering er: “… </a:t>
            </a:r>
            <a:r>
              <a:rPr lang="da-DK" dirty="0" err="1">
                <a:latin typeface="Calisto MT" panose="02040603050505030304" pitchFamily="18" charset="77"/>
              </a:rPr>
              <a:t>any</a:t>
            </a:r>
            <a:r>
              <a:rPr lang="da-DK" dirty="0">
                <a:latin typeface="Calisto MT" panose="02040603050505030304" pitchFamily="18" charset="77"/>
              </a:rPr>
              <a:t> </a:t>
            </a:r>
            <a:r>
              <a:rPr lang="da-DK" dirty="0" err="1">
                <a:latin typeface="Calisto MT" panose="02040603050505030304" pitchFamily="18" charset="77"/>
              </a:rPr>
              <a:t>collection</a:t>
            </a:r>
            <a:r>
              <a:rPr lang="da-DK" dirty="0">
                <a:latin typeface="Calisto MT" panose="02040603050505030304" pitchFamily="18" charset="77"/>
              </a:rPr>
              <a:t> of </a:t>
            </a:r>
            <a:r>
              <a:rPr lang="da-DK" dirty="0" err="1">
                <a:latin typeface="Calisto MT" panose="02040603050505030304" pitchFamily="18" charset="77"/>
              </a:rPr>
              <a:t>actors</a:t>
            </a:r>
            <a:r>
              <a:rPr lang="da-DK" dirty="0">
                <a:latin typeface="Calisto MT" panose="02040603050505030304" pitchFamily="18" charset="77"/>
              </a:rPr>
              <a:t> (N&gt; 2) </a:t>
            </a:r>
            <a:r>
              <a:rPr lang="da-DK" dirty="0" err="1">
                <a:latin typeface="Calisto MT" panose="02040603050505030304" pitchFamily="18" charset="77"/>
              </a:rPr>
              <a:t>that</a:t>
            </a:r>
            <a:r>
              <a:rPr lang="da-DK" dirty="0">
                <a:latin typeface="Calisto MT" panose="02040603050505030304" pitchFamily="18" charset="77"/>
              </a:rPr>
              <a:t> </a:t>
            </a:r>
            <a:r>
              <a:rPr lang="da-DK" dirty="0" err="1">
                <a:latin typeface="Calisto MT" panose="02040603050505030304" pitchFamily="18" charset="77"/>
              </a:rPr>
              <a:t>pursue</a:t>
            </a:r>
            <a:r>
              <a:rPr lang="da-DK" dirty="0">
                <a:latin typeface="Calisto MT" panose="02040603050505030304" pitchFamily="18" charset="77"/>
              </a:rPr>
              <a:t> </a:t>
            </a:r>
            <a:r>
              <a:rPr lang="da-DK" dirty="0" err="1">
                <a:latin typeface="Calisto MT" panose="02040603050505030304" pitchFamily="18" charset="77"/>
              </a:rPr>
              <a:t>repeated</a:t>
            </a:r>
            <a:r>
              <a:rPr lang="da-DK" dirty="0">
                <a:latin typeface="Calisto MT" panose="02040603050505030304" pitchFamily="18" charset="77"/>
              </a:rPr>
              <a:t>, </a:t>
            </a:r>
            <a:r>
              <a:rPr lang="da-DK" b="1" dirty="0" err="1">
                <a:latin typeface="Calisto MT" panose="02040603050505030304" pitchFamily="18" charset="77"/>
              </a:rPr>
              <a:t>enduring</a:t>
            </a:r>
            <a:r>
              <a:rPr lang="da-DK" b="1" dirty="0">
                <a:latin typeface="Calisto MT" panose="02040603050505030304" pitchFamily="18" charset="77"/>
              </a:rPr>
              <a:t> </a:t>
            </a:r>
            <a:r>
              <a:rPr lang="da-DK" b="1" dirty="0" err="1">
                <a:latin typeface="Calisto MT" panose="02040603050505030304" pitchFamily="18" charset="77"/>
              </a:rPr>
              <a:t>exchange</a:t>
            </a:r>
            <a:r>
              <a:rPr lang="da-DK" b="1" dirty="0">
                <a:latin typeface="Calisto MT" panose="02040603050505030304" pitchFamily="18" charset="77"/>
              </a:rPr>
              <a:t> </a:t>
            </a:r>
            <a:r>
              <a:rPr lang="da-DK" dirty="0">
                <a:latin typeface="Calisto MT" panose="02040603050505030304" pitchFamily="18" charset="77"/>
              </a:rPr>
              <a:t>relations with </a:t>
            </a:r>
            <a:r>
              <a:rPr lang="da-DK" dirty="0" err="1">
                <a:latin typeface="Calisto MT" panose="02040603050505030304" pitchFamily="18" charset="77"/>
              </a:rPr>
              <a:t>one</a:t>
            </a:r>
            <a:r>
              <a:rPr lang="da-DK" dirty="0">
                <a:latin typeface="Calisto MT" panose="02040603050505030304" pitchFamily="18" charset="77"/>
              </a:rPr>
              <a:t> </a:t>
            </a:r>
            <a:r>
              <a:rPr lang="da-DK" dirty="0" err="1">
                <a:latin typeface="Calisto MT" panose="02040603050505030304" pitchFamily="18" charset="77"/>
              </a:rPr>
              <a:t>another</a:t>
            </a:r>
            <a:r>
              <a:rPr lang="da-DK" dirty="0">
                <a:latin typeface="Calisto MT" panose="02040603050505030304" pitchFamily="18" charset="77"/>
              </a:rPr>
              <a:t> and, at the same time, </a:t>
            </a:r>
            <a:r>
              <a:rPr lang="da-DK" dirty="0" err="1">
                <a:latin typeface="Calisto MT" panose="02040603050505030304" pitchFamily="18" charset="77"/>
              </a:rPr>
              <a:t>lack</a:t>
            </a:r>
            <a:r>
              <a:rPr lang="da-DK" dirty="0">
                <a:latin typeface="Calisto MT" panose="02040603050505030304" pitchFamily="18" charset="77"/>
              </a:rPr>
              <a:t> a </a:t>
            </a:r>
            <a:r>
              <a:rPr lang="da-DK" dirty="0" err="1">
                <a:latin typeface="Calisto MT" panose="02040603050505030304" pitchFamily="18" charset="77"/>
              </a:rPr>
              <a:t>legitimate</a:t>
            </a:r>
            <a:r>
              <a:rPr lang="da-DK" dirty="0">
                <a:latin typeface="Calisto MT" panose="02040603050505030304" pitchFamily="18" charset="77"/>
              </a:rPr>
              <a:t> </a:t>
            </a:r>
            <a:r>
              <a:rPr lang="da-DK" dirty="0" err="1">
                <a:latin typeface="Calisto MT" panose="02040603050505030304" pitchFamily="18" charset="77"/>
              </a:rPr>
              <a:t>organizational</a:t>
            </a:r>
            <a:r>
              <a:rPr lang="da-DK" dirty="0">
                <a:latin typeface="Calisto MT" panose="02040603050505030304" pitchFamily="18" charset="77"/>
              </a:rPr>
              <a:t> </a:t>
            </a:r>
            <a:r>
              <a:rPr lang="da-DK" b="1" dirty="0" err="1">
                <a:latin typeface="Calisto MT" panose="02040603050505030304" pitchFamily="18" charset="77"/>
              </a:rPr>
              <a:t>authority</a:t>
            </a:r>
            <a:r>
              <a:rPr lang="da-DK" b="1" dirty="0">
                <a:latin typeface="Calisto MT" panose="02040603050505030304" pitchFamily="18" charset="77"/>
              </a:rPr>
              <a:t> </a:t>
            </a:r>
            <a:r>
              <a:rPr lang="da-DK" dirty="0">
                <a:latin typeface="Calisto MT" panose="02040603050505030304" pitchFamily="18" charset="77"/>
              </a:rPr>
              <a:t>to </a:t>
            </a:r>
            <a:r>
              <a:rPr lang="da-DK" dirty="0" err="1">
                <a:latin typeface="Calisto MT" panose="02040603050505030304" pitchFamily="18" charset="77"/>
              </a:rPr>
              <a:t>arbitrate</a:t>
            </a:r>
            <a:r>
              <a:rPr lang="da-DK" dirty="0">
                <a:latin typeface="Calisto MT" panose="02040603050505030304" pitchFamily="18" charset="77"/>
              </a:rPr>
              <a:t> and </a:t>
            </a:r>
            <a:r>
              <a:rPr lang="da-DK" dirty="0" err="1">
                <a:latin typeface="Calisto MT" panose="02040603050505030304" pitchFamily="18" charset="77"/>
              </a:rPr>
              <a:t>resolve</a:t>
            </a:r>
            <a:r>
              <a:rPr lang="da-DK" dirty="0">
                <a:latin typeface="Calisto MT" panose="02040603050505030304" pitchFamily="18" charset="77"/>
              </a:rPr>
              <a:t> </a:t>
            </a:r>
            <a:r>
              <a:rPr lang="da-DK" dirty="0" err="1">
                <a:latin typeface="Calisto MT" panose="02040603050505030304" pitchFamily="18" charset="77"/>
              </a:rPr>
              <a:t>disputes</a:t>
            </a:r>
            <a:r>
              <a:rPr lang="da-DK" dirty="0">
                <a:latin typeface="Calisto MT" panose="02040603050505030304" pitchFamily="18" charset="77"/>
              </a:rPr>
              <a:t> </a:t>
            </a:r>
            <a:r>
              <a:rPr lang="da-DK" dirty="0" err="1">
                <a:latin typeface="Calisto MT" panose="02040603050505030304" pitchFamily="18" charset="77"/>
              </a:rPr>
              <a:t>that</a:t>
            </a:r>
            <a:r>
              <a:rPr lang="da-DK" dirty="0">
                <a:latin typeface="Calisto MT" panose="02040603050505030304" pitchFamily="18" charset="77"/>
              </a:rPr>
              <a:t> </a:t>
            </a:r>
            <a:r>
              <a:rPr lang="da-DK" dirty="0" err="1">
                <a:latin typeface="Calisto MT" panose="02040603050505030304" pitchFamily="18" charset="77"/>
              </a:rPr>
              <a:t>may</a:t>
            </a:r>
            <a:r>
              <a:rPr lang="da-DK" dirty="0">
                <a:latin typeface="Calisto MT" panose="02040603050505030304" pitchFamily="18" charset="77"/>
              </a:rPr>
              <a:t> </a:t>
            </a:r>
            <a:r>
              <a:rPr lang="da-DK" dirty="0" err="1">
                <a:latin typeface="Calisto MT" panose="02040603050505030304" pitchFamily="18" charset="77"/>
              </a:rPr>
              <a:t>arise</a:t>
            </a:r>
            <a:r>
              <a:rPr lang="da-DK" dirty="0">
                <a:latin typeface="Calisto MT" panose="02040603050505030304" pitchFamily="18" charset="77"/>
              </a:rPr>
              <a:t> </a:t>
            </a:r>
            <a:r>
              <a:rPr lang="da-DK" dirty="0" err="1">
                <a:latin typeface="Calisto MT" panose="02040603050505030304" pitchFamily="18" charset="77"/>
              </a:rPr>
              <a:t>during</a:t>
            </a:r>
            <a:r>
              <a:rPr lang="da-DK" dirty="0">
                <a:latin typeface="Calisto MT" panose="02040603050505030304" pitchFamily="18" charset="77"/>
              </a:rPr>
              <a:t> the </a:t>
            </a:r>
            <a:r>
              <a:rPr lang="da-DK" dirty="0" err="1">
                <a:latin typeface="Calisto MT" panose="02040603050505030304" pitchFamily="18" charset="77"/>
              </a:rPr>
              <a:t>exchange</a:t>
            </a:r>
            <a:r>
              <a:rPr lang="da-DK" dirty="0">
                <a:latin typeface="Calisto MT" panose="02040603050505030304" pitchFamily="18" charset="77"/>
              </a:rPr>
              <a:t>” (</a:t>
            </a:r>
            <a:r>
              <a:rPr lang="da-DK" dirty="0" err="1">
                <a:latin typeface="Calisto MT" panose="02040603050505030304" pitchFamily="18" charset="77"/>
              </a:rPr>
              <a:t>Podolny</a:t>
            </a:r>
            <a:r>
              <a:rPr lang="da-DK" dirty="0">
                <a:latin typeface="Calisto MT" panose="02040603050505030304" pitchFamily="18" charset="77"/>
              </a:rPr>
              <a:t> and Page 1998, pp. 59.)</a:t>
            </a:r>
          </a:p>
          <a:p>
            <a:pPr marL="0" indent="0">
              <a:spcBef>
                <a:spcPts val="600"/>
              </a:spcBef>
              <a:buNone/>
            </a:pPr>
            <a:endParaRPr lang="da-DK" dirty="0">
              <a:latin typeface="Calisto MT" panose="02040603050505030304" pitchFamily="18" charset="77"/>
            </a:endParaRPr>
          </a:p>
          <a:p>
            <a:pPr marL="0" indent="0">
              <a:spcBef>
                <a:spcPts val="600"/>
              </a:spcBef>
              <a:buNone/>
            </a:pPr>
            <a:r>
              <a:rPr lang="da-DK" dirty="0">
                <a:latin typeface="Calisto MT" panose="02040603050505030304" pitchFamily="18" charset="77"/>
              </a:rPr>
              <a:t>“… </a:t>
            </a:r>
            <a:r>
              <a:rPr lang="da-DK" dirty="0" err="1">
                <a:latin typeface="Calisto MT" panose="02040603050505030304" pitchFamily="18" charset="77"/>
              </a:rPr>
              <a:t>focus</a:t>
            </a:r>
            <a:r>
              <a:rPr lang="da-DK" dirty="0">
                <a:latin typeface="Calisto MT" panose="02040603050505030304" pitchFamily="18" charset="77"/>
              </a:rPr>
              <a:t> on lateral or </a:t>
            </a:r>
            <a:r>
              <a:rPr lang="da-DK" dirty="0" err="1">
                <a:latin typeface="Calisto MT" panose="02040603050505030304" pitchFamily="18" charset="77"/>
              </a:rPr>
              <a:t>horizontal</a:t>
            </a:r>
            <a:r>
              <a:rPr lang="da-DK" dirty="0">
                <a:latin typeface="Calisto MT" panose="02040603050505030304" pitchFamily="18" charset="77"/>
              </a:rPr>
              <a:t> patterns of </a:t>
            </a:r>
            <a:r>
              <a:rPr lang="da-DK" dirty="0" err="1">
                <a:latin typeface="Calisto MT" panose="02040603050505030304" pitchFamily="18" charset="77"/>
              </a:rPr>
              <a:t>exchange</a:t>
            </a:r>
            <a:r>
              <a:rPr lang="da-DK" dirty="0">
                <a:latin typeface="Calisto MT" panose="02040603050505030304" pitchFamily="18" charset="77"/>
              </a:rPr>
              <a:t>, </a:t>
            </a:r>
            <a:r>
              <a:rPr lang="da-DK" dirty="0" err="1">
                <a:latin typeface="Calisto MT" panose="02040603050505030304" pitchFamily="18" charset="77"/>
              </a:rPr>
              <a:t>interdependent</a:t>
            </a:r>
            <a:r>
              <a:rPr lang="da-DK" dirty="0">
                <a:latin typeface="Calisto MT" panose="02040603050505030304" pitchFamily="18" charset="77"/>
              </a:rPr>
              <a:t> flow of </a:t>
            </a:r>
            <a:r>
              <a:rPr lang="da-DK" dirty="0" err="1">
                <a:latin typeface="Calisto MT" panose="02040603050505030304" pitchFamily="18" charset="77"/>
              </a:rPr>
              <a:t>resources</a:t>
            </a:r>
            <a:r>
              <a:rPr lang="da-DK" dirty="0">
                <a:latin typeface="Calisto MT" panose="02040603050505030304" pitchFamily="18" charset="77"/>
              </a:rPr>
              <a:t>, and </a:t>
            </a:r>
            <a:r>
              <a:rPr lang="da-DK" dirty="0" err="1">
                <a:latin typeface="Calisto MT" panose="02040603050505030304" pitchFamily="18" charset="77"/>
              </a:rPr>
              <a:t>reciprocal</a:t>
            </a:r>
            <a:r>
              <a:rPr lang="da-DK" dirty="0">
                <a:latin typeface="Calisto MT" panose="02040603050505030304" pitchFamily="18" charset="77"/>
              </a:rPr>
              <a:t> lines of </a:t>
            </a:r>
            <a:r>
              <a:rPr lang="da-DK" dirty="0" err="1">
                <a:latin typeface="Calisto MT" panose="02040603050505030304" pitchFamily="18" charset="77"/>
              </a:rPr>
              <a:t>communication</a:t>
            </a:r>
            <a:r>
              <a:rPr lang="da-DK" dirty="0">
                <a:latin typeface="Calisto MT" panose="02040603050505030304" pitchFamily="18" charset="77"/>
              </a:rPr>
              <a:t>” (Powell 1990, </a:t>
            </a:r>
            <a:r>
              <a:rPr lang="da-DK" dirty="0" err="1">
                <a:latin typeface="Calisto MT" panose="02040603050505030304" pitchFamily="18" charset="77"/>
              </a:rPr>
              <a:t>pp</a:t>
            </a:r>
            <a:r>
              <a:rPr lang="da-DK" dirty="0">
                <a:latin typeface="Calisto MT" panose="02040603050505030304" pitchFamily="18" charset="77"/>
              </a:rPr>
              <a:t>. 296)</a:t>
            </a:r>
          </a:p>
          <a:p>
            <a:pPr marL="0" indent="0">
              <a:spcBef>
                <a:spcPts val="600"/>
              </a:spcBef>
              <a:buNone/>
            </a:pPr>
            <a:endParaRPr lang="da-DK" dirty="0">
              <a:latin typeface="Calisto MT" panose="02040603050505030304" pitchFamily="18" charset="77"/>
            </a:endParaRPr>
          </a:p>
          <a:p>
            <a:pPr marL="0" indent="0">
              <a:spcBef>
                <a:spcPts val="600"/>
              </a:spcBef>
              <a:buNone/>
            </a:pPr>
            <a:r>
              <a:rPr lang="da-DK" dirty="0">
                <a:latin typeface="Calisto MT" panose="02040603050505030304" pitchFamily="18" charset="77"/>
              </a:rPr>
              <a:t>Inkluderer bl.a.: joint ventures, strategiske alliancer, virksomhedsgrupper, butikskæder, forskningskonsortier, kontraktbaserede </a:t>
            </a:r>
            <a:r>
              <a:rPr lang="da-DK" dirty="0" err="1">
                <a:latin typeface="Calisto MT" panose="02040603050505030304" pitchFamily="18" charset="77"/>
              </a:rPr>
              <a:t>samarbejdeprojektet</a:t>
            </a:r>
            <a:r>
              <a:rPr lang="da-DK" dirty="0">
                <a:latin typeface="Calisto MT" panose="02040603050505030304" pitchFamily="18" charset="77"/>
              </a:rPr>
              <a:t>, and outsourcing, men:</a:t>
            </a:r>
          </a:p>
          <a:p>
            <a:pPr marL="0" indent="0">
              <a:spcBef>
                <a:spcPts val="600"/>
              </a:spcBef>
              <a:buNone/>
            </a:pPr>
            <a:endParaRPr lang="da-DK" dirty="0">
              <a:latin typeface="Calisto MT" panose="02040603050505030304" pitchFamily="18" charset="77"/>
            </a:endParaRPr>
          </a:p>
          <a:p>
            <a:pPr marL="0" indent="0">
              <a:spcBef>
                <a:spcPts val="600"/>
              </a:spcBef>
              <a:buNone/>
            </a:pPr>
            <a:r>
              <a:rPr lang="da-DK" dirty="0">
                <a:latin typeface="Calisto MT" panose="02040603050505030304" pitchFamily="18" charset="77"/>
              </a:rPr>
              <a:t>“</a:t>
            </a:r>
            <a:r>
              <a:rPr lang="da-DK" dirty="0" err="1">
                <a:latin typeface="Calisto MT" panose="02040603050505030304" pitchFamily="18" charset="77"/>
              </a:rPr>
              <a:t>no</a:t>
            </a:r>
            <a:r>
              <a:rPr lang="da-DK" dirty="0">
                <a:latin typeface="Calisto MT" panose="02040603050505030304" pitchFamily="18" charset="77"/>
              </a:rPr>
              <a:t> clear </a:t>
            </a:r>
            <a:r>
              <a:rPr lang="da-DK" dirty="0" err="1">
                <a:latin typeface="Calisto MT" panose="02040603050505030304" pitchFamily="18" charset="77"/>
              </a:rPr>
              <a:t>mapping</a:t>
            </a:r>
            <a:r>
              <a:rPr lang="da-DK" dirty="0">
                <a:latin typeface="Calisto MT" panose="02040603050505030304" pitchFamily="18" charset="77"/>
              </a:rPr>
              <a:t> of formal </a:t>
            </a:r>
            <a:r>
              <a:rPr lang="da-DK" dirty="0" err="1">
                <a:latin typeface="Calisto MT" panose="02040603050505030304" pitchFamily="18" charset="77"/>
              </a:rPr>
              <a:t>organizational</a:t>
            </a:r>
            <a:r>
              <a:rPr lang="da-DK" dirty="0">
                <a:latin typeface="Calisto MT" panose="02040603050505030304" pitchFamily="18" charset="77"/>
              </a:rPr>
              <a:t> arrangements </a:t>
            </a:r>
            <a:r>
              <a:rPr lang="da-DK" dirty="0" err="1">
                <a:latin typeface="Calisto MT" panose="02040603050505030304" pitchFamily="18" charset="77"/>
              </a:rPr>
              <a:t>onto</a:t>
            </a:r>
            <a:r>
              <a:rPr lang="da-DK" dirty="0">
                <a:latin typeface="Calisto MT" panose="02040603050505030304" pitchFamily="18" charset="77"/>
              </a:rPr>
              <a:t> the </a:t>
            </a:r>
            <a:r>
              <a:rPr lang="da-DK" dirty="0" err="1">
                <a:latin typeface="Calisto MT" panose="02040603050505030304" pitchFamily="18" charset="77"/>
              </a:rPr>
              <a:t>network</a:t>
            </a:r>
            <a:r>
              <a:rPr lang="da-DK" dirty="0">
                <a:latin typeface="Calisto MT" panose="02040603050505030304" pitchFamily="18" charset="77"/>
              </a:rPr>
              <a:t> form” (</a:t>
            </a:r>
            <a:r>
              <a:rPr lang="da-DK" dirty="0" err="1">
                <a:latin typeface="Calisto MT" panose="02040603050505030304" pitchFamily="18" charset="77"/>
              </a:rPr>
              <a:t>Podolny</a:t>
            </a:r>
            <a:r>
              <a:rPr lang="da-DK" dirty="0">
                <a:latin typeface="Calisto MT" panose="02040603050505030304" pitchFamily="18" charset="77"/>
              </a:rPr>
              <a:t> &amp; Page 1998, 60) </a:t>
            </a:r>
          </a:p>
        </p:txBody>
      </p:sp>
    </p:spTree>
    <p:extLst>
      <p:ext uri="{BB962C8B-B14F-4D97-AF65-F5344CB8AC3E}">
        <p14:creationId xmlns:p14="http://schemas.microsoft.com/office/powerpoint/2010/main" val="1355305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Autofit/>
          </a:bodyPr>
          <a:lstStyle/>
          <a:p>
            <a:pPr marL="0" indent="0">
              <a:buNone/>
            </a:pPr>
            <a:r>
              <a:rPr lang="da-DK" sz="3600" b="0" dirty="0">
                <a:solidFill>
                  <a:schemeClr val="tx1"/>
                </a:solidFill>
                <a:latin typeface="Calisto MT" panose="02040603050505030304" pitchFamily="18" charset="77"/>
              </a:rPr>
              <a:t>Netværksindlejring</a:t>
            </a:r>
          </a:p>
        </p:txBody>
      </p:sp>
      <p:sp>
        <p:nvSpPr>
          <p:cNvPr id="3" name="Content Placeholder 2"/>
          <p:cNvSpPr>
            <a:spLocks noGrp="1"/>
          </p:cNvSpPr>
          <p:nvPr>
            <p:ph sz="quarter" idx="11"/>
          </p:nvPr>
        </p:nvSpPr>
        <p:spPr>
          <a:xfrm>
            <a:off x="821121" y="1537494"/>
            <a:ext cx="10097082" cy="5139531"/>
          </a:xfrm>
        </p:spPr>
        <p:txBody>
          <a:bodyPr>
            <a:normAutofit fontScale="92500"/>
          </a:bodyPr>
          <a:lstStyle/>
          <a:p>
            <a:pPr marL="0" indent="0">
              <a:buNone/>
            </a:pPr>
            <a:r>
              <a:rPr lang="da-DK" sz="2200" dirty="0" err="1">
                <a:latin typeface="Calisto MT" panose="02040603050505030304" pitchFamily="18" charset="77"/>
              </a:rPr>
              <a:t>Granovetter</a:t>
            </a:r>
            <a:r>
              <a:rPr lang="da-DK" sz="2200" dirty="0">
                <a:latin typeface="Calisto MT" panose="02040603050505030304" pitchFamily="18" charset="77"/>
              </a:rPr>
              <a:t> (1973, 1985) som teoretisk frontløber med begreb om netværksindlejring: </a:t>
            </a:r>
          </a:p>
          <a:p>
            <a:pPr marL="0" indent="0">
              <a:buNone/>
            </a:pPr>
            <a:r>
              <a:rPr lang="da-DK" sz="2200" dirty="0">
                <a:latin typeface="Calisto MT" panose="02040603050505030304" pitchFamily="18" charset="77"/>
              </a:rPr>
              <a:t>Stærke teorier om ”undersocialiserede handlingsmønstre” (fx neoklassiske økonomi og RTC)</a:t>
            </a:r>
          </a:p>
          <a:p>
            <a:pPr marL="525181" lvl="1" indent="-342900">
              <a:buFont typeface="CBS NEW" panose="02000506080000020004" pitchFamily="2" charset="0"/>
              <a:buChar char="—"/>
            </a:pPr>
            <a:r>
              <a:rPr lang="da-DK" sz="2200" dirty="0">
                <a:latin typeface="Calisto MT" panose="02040603050505030304" pitchFamily="18" charset="77"/>
              </a:rPr>
              <a:t>Rational </a:t>
            </a:r>
            <a:r>
              <a:rPr lang="da-DK" sz="2200" dirty="0" err="1">
                <a:latin typeface="Calisto MT" panose="02040603050505030304" pitchFamily="18" charset="77"/>
              </a:rPr>
              <a:t>choice</a:t>
            </a:r>
            <a:r>
              <a:rPr lang="da-DK" sz="2200" dirty="0">
                <a:latin typeface="Calisto MT" panose="02040603050505030304" pitchFamily="18" charset="77"/>
              </a:rPr>
              <a:t> og informationssymmetri</a:t>
            </a:r>
          </a:p>
          <a:p>
            <a:pPr marL="525181" lvl="1" indent="-342900">
              <a:buFont typeface="CBS NEW" panose="02000506080000020004" pitchFamily="2" charset="0"/>
              <a:buChar char="—"/>
            </a:pPr>
            <a:r>
              <a:rPr lang="da-DK" sz="2200" dirty="0">
                <a:latin typeface="Calisto MT" panose="02040603050505030304" pitchFamily="18" charset="77"/>
              </a:rPr>
              <a:t>Fokus på aktørers konsekvenslogik; nyttemaksimering</a:t>
            </a:r>
          </a:p>
          <a:p>
            <a:pPr marL="525181" lvl="1" indent="-342900">
              <a:buFont typeface="CBS NEW" panose="02000506080000020004" pitchFamily="2" charset="0"/>
              <a:buChar char="—"/>
            </a:pPr>
            <a:endParaRPr lang="da-DK" sz="2200" dirty="0">
              <a:latin typeface="Calisto MT" panose="02040603050505030304" pitchFamily="18" charset="77"/>
            </a:endParaRPr>
          </a:p>
          <a:p>
            <a:pPr marL="0" indent="0">
              <a:buNone/>
            </a:pPr>
            <a:r>
              <a:rPr lang="da-DK" sz="2200" dirty="0">
                <a:latin typeface="Calisto MT" panose="02040603050505030304" pitchFamily="18" charset="77"/>
              </a:rPr>
              <a:t>Stærke teorier om ”oversocialiserede handlemønstre” (struktur-funktionalistisk sociologi)</a:t>
            </a:r>
          </a:p>
          <a:p>
            <a:pPr marL="525181" lvl="1" indent="-342900">
              <a:buFont typeface="CBS NEW" panose="02000506080000020004" pitchFamily="2" charset="0"/>
              <a:buChar char="—"/>
            </a:pPr>
            <a:r>
              <a:rPr lang="da-DK" sz="2200" dirty="0">
                <a:latin typeface="Calisto MT" panose="02040603050505030304" pitchFamily="18" charset="77"/>
              </a:rPr>
              <a:t>Aktører som drevet af normer og </a:t>
            </a:r>
            <a:r>
              <a:rPr lang="da-DK" sz="2200" dirty="0" err="1">
                <a:latin typeface="Calisto MT" panose="02040603050505030304" pitchFamily="18" charset="77"/>
              </a:rPr>
              <a:t>kulturrelse</a:t>
            </a:r>
            <a:r>
              <a:rPr lang="da-DK" sz="2200" dirty="0">
                <a:latin typeface="Calisto MT" panose="02040603050505030304" pitchFamily="18" charset="77"/>
              </a:rPr>
              <a:t> prægninger</a:t>
            </a:r>
          </a:p>
          <a:p>
            <a:pPr marL="525181" lvl="1" indent="-342900">
              <a:buFont typeface="CBS NEW" panose="02000506080000020004" pitchFamily="2" charset="0"/>
              <a:buChar char="—"/>
            </a:pPr>
            <a:r>
              <a:rPr lang="da-DK" sz="2200" dirty="0">
                <a:latin typeface="Calisto MT" panose="02040603050505030304" pitchFamily="18" charset="77"/>
              </a:rPr>
              <a:t>Kollektive handlemønstre som overdeterminerende, værdiorienterede handling</a:t>
            </a:r>
          </a:p>
          <a:p>
            <a:pPr marL="0" indent="0">
              <a:buNone/>
            </a:pPr>
            <a:endParaRPr lang="da-DK" sz="2200" dirty="0">
              <a:latin typeface="Calisto MT" panose="02040603050505030304" pitchFamily="18" charset="77"/>
            </a:endParaRPr>
          </a:p>
          <a:p>
            <a:pPr marL="0" indent="0">
              <a:buNone/>
            </a:pPr>
            <a:r>
              <a:rPr lang="da-DK" sz="2200" dirty="0">
                <a:latin typeface="Calisto MT" panose="02040603050505030304" pitchFamily="18" charset="77"/>
              </a:rPr>
              <a:t>Netværk som teoretisk mellemposition: Aktører er indlejret i netværksrelationer som betinger deres handlinger (begrænser såvel som muliggør)</a:t>
            </a:r>
          </a:p>
          <a:p>
            <a:pPr marL="0" indent="0">
              <a:buNone/>
            </a:pPr>
            <a:endParaRPr lang="da-DK" sz="2200" dirty="0">
              <a:latin typeface="Calisto MT" panose="02040603050505030304" pitchFamily="18" charset="77"/>
            </a:endParaRPr>
          </a:p>
          <a:p>
            <a:pPr marL="0" indent="0">
              <a:buNone/>
            </a:pPr>
            <a:r>
              <a:rPr lang="da-DK" sz="2200" dirty="0">
                <a:latin typeface="Calisto MT" panose="02040603050505030304" pitchFamily="18" charset="77"/>
              </a:rPr>
              <a:t>[Meget mere om dette senere i kurset]</a:t>
            </a:r>
          </a:p>
        </p:txBody>
      </p:sp>
    </p:spTree>
    <p:extLst>
      <p:ext uri="{BB962C8B-B14F-4D97-AF65-F5344CB8AC3E}">
        <p14:creationId xmlns:p14="http://schemas.microsoft.com/office/powerpoint/2010/main" val="239059430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24A5B-F20B-8645-B3BA-A388AA3DE71A}"/>
              </a:ext>
            </a:extLst>
          </p:cNvPr>
          <p:cNvSpPr>
            <a:spLocks noGrp="1"/>
          </p:cNvSpPr>
          <p:nvPr>
            <p:ph type="title"/>
          </p:nvPr>
        </p:nvSpPr>
        <p:spPr>
          <a:xfrm>
            <a:off x="240723" y="-329938"/>
            <a:ext cx="10515600" cy="1325563"/>
          </a:xfrm>
        </p:spPr>
        <p:txBody>
          <a:bodyPr>
            <a:normAutofit/>
          </a:bodyPr>
          <a:lstStyle/>
          <a:p>
            <a:r>
              <a:rPr lang="en-DK" sz="3000" dirty="0">
                <a:latin typeface="Calisto MT" panose="02040603050505030304" pitchFamily="18" charset="77"/>
              </a:rPr>
              <a:t>Netværksorganiseringens kernefunktioner:</a:t>
            </a:r>
          </a:p>
        </p:txBody>
      </p:sp>
      <p:sp>
        <p:nvSpPr>
          <p:cNvPr id="3" name="Content Placeholder 2">
            <a:extLst>
              <a:ext uri="{FF2B5EF4-FFF2-40B4-BE49-F238E27FC236}">
                <a16:creationId xmlns:a16="http://schemas.microsoft.com/office/drawing/2014/main" id="{F194FB31-DBA1-9B40-BC8D-7A6F574AFDDA}"/>
              </a:ext>
            </a:extLst>
          </p:cNvPr>
          <p:cNvSpPr>
            <a:spLocks noGrp="1"/>
          </p:cNvSpPr>
          <p:nvPr>
            <p:ph idx="1"/>
          </p:nvPr>
        </p:nvSpPr>
        <p:spPr>
          <a:xfrm>
            <a:off x="240723" y="1213144"/>
            <a:ext cx="11710554" cy="5687981"/>
          </a:xfrm>
        </p:spPr>
        <p:txBody>
          <a:bodyPr>
            <a:noAutofit/>
          </a:bodyPr>
          <a:lstStyle/>
          <a:p>
            <a:pPr marL="0" indent="0">
              <a:lnSpc>
                <a:spcPts val="1800"/>
              </a:lnSpc>
              <a:buNone/>
            </a:pPr>
            <a:r>
              <a:rPr lang="da-DK" sz="2600" b="1" dirty="0">
                <a:latin typeface="Calisto MT" panose="02040603050505030304" pitchFamily="18" charset="77"/>
              </a:rPr>
              <a:t>Netværksformer </a:t>
            </a:r>
            <a:r>
              <a:rPr lang="da-DK" sz="2600" dirty="0">
                <a:latin typeface="Calisto MT" panose="02040603050505030304" pitchFamily="18" charset="77"/>
              </a:rPr>
              <a:t>”</a:t>
            </a:r>
            <a:r>
              <a:rPr lang="da-DK" sz="2600" dirty="0" err="1">
                <a:latin typeface="Calisto MT" panose="02040603050505030304" pitchFamily="18" charset="77"/>
              </a:rPr>
              <a:t>can</a:t>
            </a:r>
            <a:r>
              <a:rPr lang="da-DK" sz="2600" dirty="0">
                <a:latin typeface="Calisto MT" panose="02040603050505030304" pitchFamily="18" charset="77"/>
              </a:rPr>
              <a:t> </a:t>
            </a:r>
            <a:r>
              <a:rPr lang="da-DK" sz="2600" dirty="0" err="1">
                <a:latin typeface="Calisto MT" panose="02040603050505030304" pitchFamily="18" charset="77"/>
              </a:rPr>
              <a:t>result</a:t>
            </a:r>
            <a:r>
              <a:rPr lang="da-DK" sz="2600" dirty="0">
                <a:latin typeface="Calisto MT" panose="02040603050505030304" pitchFamily="18" charset="77"/>
              </a:rPr>
              <a:t> in </a:t>
            </a:r>
            <a:r>
              <a:rPr lang="da-DK" sz="2600" dirty="0" err="1">
                <a:latin typeface="Calisto MT" panose="02040603050505030304" pitchFamily="18" charset="77"/>
              </a:rPr>
              <a:t>superior</a:t>
            </a:r>
            <a:r>
              <a:rPr lang="da-DK" sz="2600" dirty="0">
                <a:latin typeface="Calisto MT" panose="02040603050505030304" pitchFamily="18" charset="77"/>
              </a:rPr>
              <a:t> </a:t>
            </a:r>
            <a:r>
              <a:rPr lang="da-DK" sz="2600" dirty="0" err="1">
                <a:latin typeface="Calisto MT" panose="02040603050505030304" pitchFamily="18" charset="77"/>
              </a:rPr>
              <a:t>learning</a:t>
            </a:r>
            <a:r>
              <a:rPr lang="da-DK" sz="2600" dirty="0">
                <a:latin typeface="Calisto MT" panose="02040603050505030304" pitchFamily="18" charset="77"/>
              </a:rPr>
              <a:t>, </a:t>
            </a:r>
            <a:r>
              <a:rPr lang="da-DK" sz="2600" dirty="0" err="1">
                <a:latin typeface="Calisto MT" panose="02040603050505030304" pitchFamily="18" charset="77"/>
              </a:rPr>
              <a:t>enhanced</a:t>
            </a:r>
            <a:r>
              <a:rPr lang="da-DK" sz="2600" dirty="0">
                <a:latin typeface="Calisto MT" panose="02040603050505030304" pitchFamily="18" charset="77"/>
              </a:rPr>
              <a:t> </a:t>
            </a:r>
            <a:r>
              <a:rPr lang="da-DK" sz="2600" dirty="0" err="1">
                <a:latin typeface="Calisto MT" panose="02040603050505030304" pitchFamily="18" charset="77"/>
              </a:rPr>
              <a:t>legitimacy</a:t>
            </a:r>
            <a:r>
              <a:rPr lang="da-DK" sz="2600" dirty="0">
                <a:latin typeface="Calisto MT" panose="02040603050505030304" pitchFamily="18" charset="77"/>
              </a:rPr>
              <a:t> and prestige, </a:t>
            </a:r>
            <a:r>
              <a:rPr lang="da-DK" sz="2600" dirty="0" err="1">
                <a:latin typeface="Calisto MT" panose="02040603050505030304" pitchFamily="18" charset="77"/>
              </a:rPr>
              <a:t>greater</a:t>
            </a:r>
            <a:r>
              <a:rPr lang="da-DK" sz="2600" dirty="0">
                <a:latin typeface="Calisto MT" panose="02040603050505030304" pitchFamily="18" charset="77"/>
              </a:rPr>
              <a:t> </a:t>
            </a:r>
            <a:r>
              <a:rPr lang="da-DK" sz="2600" dirty="0" err="1">
                <a:latin typeface="Calisto MT" panose="02040603050505030304" pitchFamily="18" charset="77"/>
              </a:rPr>
              <a:t>control</a:t>
            </a:r>
            <a:r>
              <a:rPr lang="da-DK" sz="2600" dirty="0">
                <a:latin typeface="Calisto MT" panose="02040603050505030304" pitchFamily="18" charset="77"/>
              </a:rPr>
              <a:t> over the </a:t>
            </a:r>
            <a:r>
              <a:rPr lang="da-DK" sz="2600" dirty="0" err="1">
                <a:latin typeface="Calisto MT" panose="02040603050505030304" pitchFamily="18" charset="77"/>
              </a:rPr>
              <a:t>external</a:t>
            </a:r>
            <a:r>
              <a:rPr lang="da-DK" sz="2600" dirty="0">
                <a:latin typeface="Calisto MT" panose="02040603050505030304" pitchFamily="18" charset="77"/>
              </a:rPr>
              <a:t> </a:t>
            </a:r>
            <a:r>
              <a:rPr lang="da-DK" sz="2600" dirty="0" err="1">
                <a:latin typeface="Calisto MT" panose="02040603050505030304" pitchFamily="18" charset="77"/>
              </a:rPr>
              <a:t>environment</a:t>
            </a:r>
            <a:r>
              <a:rPr lang="da-DK" sz="2600" dirty="0">
                <a:latin typeface="Calisto MT" panose="02040603050505030304" pitchFamily="18" charset="77"/>
              </a:rPr>
              <a:t>, and </a:t>
            </a:r>
            <a:r>
              <a:rPr lang="da-DK" sz="2600" dirty="0" err="1">
                <a:latin typeface="Calisto MT" panose="02040603050505030304" pitchFamily="18" charset="77"/>
              </a:rPr>
              <a:t>economic</a:t>
            </a:r>
            <a:r>
              <a:rPr lang="da-DK" sz="2600" dirty="0">
                <a:latin typeface="Calisto MT" panose="02040603050505030304" pitchFamily="18" charset="77"/>
              </a:rPr>
              <a:t> </a:t>
            </a:r>
            <a:r>
              <a:rPr lang="da-DK" sz="2600" dirty="0" err="1">
                <a:latin typeface="Calisto MT" panose="02040603050505030304" pitchFamily="18" charset="77"/>
              </a:rPr>
              <a:t>benefits</a:t>
            </a:r>
            <a:r>
              <a:rPr lang="da-DK" sz="2600" dirty="0">
                <a:latin typeface="Calisto MT" panose="02040603050505030304" pitchFamily="18" charset="77"/>
              </a:rPr>
              <a:t>”</a:t>
            </a:r>
          </a:p>
          <a:p>
            <a:pPr marL="0" indent="0">
              <a:lnSpc>
                <a:spcPts val="1800"/>
              </a:lnSpc>
              <a:buNone/>
            </a:pPr>
            <a:endParaRPr lang="da-DK" sz="2600" dirty="0">
              <a:latin typeface="Calisto MT" panose="02040603050505030304" pitchFamily="18" charset="77"/>
            </a:endParaRPr>
          </a:p>
          <a:p>
            <a:pPr marL="0" indent="0">
              <a:lnSpc>
                <a:spcPts val="1800"/>
              </a:lnSpc>
              <a:buNone/>
            </a:pPr>
            <a:r>
              <a:rPr lang="da-DK" sz="2600" b="1" dirty="0">
                <a:latin typeface="Calisto MT" panose="02040603050505030304" pitchFamily="18" charset="77"/>
              </a:rPr>
              <a:t>Læring og innovation</a:t>
            </a:r>
            <a:r>
              <a:rPr lang="da-DK" sz="2600" dirty="0">
                <a:latin typeface="Calisto MT" panose="02040603050505030304" pitchFamily="18" charset="77"/>
              </a:rPr>
              <a:t>: </a:t>
            </a:r>
          </a:p>
          <a:p>
            <a:pPr>
              <a:lnSpc>
                <a:spcPts val="1800"/>
              </a:lnSpc>
            </a:pPr>
            <a:r>
              <a:rPr lang="da-DK" sz="2600" dirty="0">
                <a:latin typeface="Calisto MT" panose="02040603050505030304" pitchFamily="18" charset="77"/>
              </a:rPr>
              <a:t>Øget arbejdsdeling, hvor der samarbejdes om at styre uden om organisatoriske svagheder (ressource </a:t>
            </a:r>
            <a:r>
              <a:rPr lang="da-DK" sz="2600" dirty="0" err="1">
                <a:latin typeface="Calisto MT" panose="02040603050505030304" pitchFamily="18" charset="77"/>
              </a:rPr>
              <a:t>dependency</a:t>
            </a:r>
            <a:r>
              <a:rPr lang="da-DK" sz="2600" dirty="0">
                <a:latin typeface="Calisto MT" panose="02040603050505030304" pitchFamily="18" charset="77"/>
              </a:rPr>
              <a:t> </a:t>
            </a:r>
            <a:r>
              <a:rPr lang="da-DK" sz="2600" dirty="0" err="1">
                <a:latin typeface="Calisto MT" panose="02040603050505030304" pitchFamily="18" charset="77"/>
              </a:rPr>
              <a:t>theory</a:t>
            </a:r>
            <a:r>
              <a:rPr lang="da-DK" sz="2600" dirty="0">
                <a:latin typeface="Calisto MT" panose="02040603050505030304" pitchFamily="18" charset="77"/>
              </a:rPr>
              <a:t>)</a:t>
            </a:r>
          </a:p>
          <a:p>
            <a:pPr>
              <a:lnSpc>
                <a:spcPts val="1800"/>
              </a:lnSpc>
            </a:pPr>
            <a:r>
              <a:rPr lang="da-DK" sz="2600" dirty="0">
                <a:latin typeface="Calisto MT" panose="02040603050505030304" pitchFamily="18" charset="77"/>
              </a:rPr>
              <a:t>Netværk sikrer ”</a:t>
            </a:r>
            <a:r>
              <a:rPr lang="da-DK" sz="2600" dirty="0" err="1">
                <a:latin typeface="Calisto MT" panose="02040603050505030304" pitchFamily="18" charset="77"/>
              </a:rPr>
              <a:t>diversity</a:t>
            </a:r>
            <a:r>
              <a:rPr lang="da-DK" sz="2600" dirty="0">
                <a:latin typeface="Calisto MT" panose="02040603050505030304" pitchFamily="18" charset="77"/>
              </a:rPr>
              <a:t> of </a:t>
            </a:r>
            <a:r>
              <a:rPr lang="da-DK" sz="2600" dirty="0" err="1">
                <a:latin typeface="Calisto MT" panose="02040603050505030304" pitchFamily="18" charset="77"/>
              </a:rPr>
              <a:t>search</a:t>
            </a:r>
            <a:r>
              <a:rPr lang="da-DK" sz="2600" dirty="0">
                <a:latin typeface="Calisto MT" panose="02040603050505030304" pitchFamily="18" charset="77"/>
              </a:rPr>
              <a:t> </a:t>
            </a:r>
            <a:r>
              <a:rPr lang="da-DK" sz="2600" dirty="0" err="1">
                <a:latin typeface="Calisto MT" panose="02040603050505030304" pitchFamily="18" charset="77"/>
              </a:rPr>
              <a:t>routines</a:t>
            </a:r>
            <a:r>
              <a:rPr lang="da-DK" sz="2600" dirty="0">
                <a:latin typeface="Calisto MT" panose="02040603050505030304" pitchFamily="18" charset="77"/>
              </a:rPr>
              <a:t>” og adgang til ”</a:t>
            </a:r>
            <a:r>
              <a:rPr lang="da-DK" sz="2600" dirty="0" err="1">
                <a:latin typeface="Calisto MT" panose="02040603050505030304" pitchFamily="18" charset="77"/>
              </a:rPr>
              <a:t>richer</a:t>
            </a:r>
            <a:r>
              <a:rPr lang="da-DK" sz="2600" dirty="0">
                <a:latin typeface="Calisto MT" panose="02040603050505030304" pitchFamily="18" charset="77"/>
              </a:rPr>
              <a:t> more </a:t>
            </a:r>
            <a:r>
              <a:rPr lang="da-DK" sz="2600" dirty="0" err="1">
                <a:latin typeface="Calisto MT" panose="02040603050505030304" pitchFamily="18" charset="77"/>
              </a:rPr>
              <a:t>complex</a:t>
            </a:r>
            <a:r>
              <a:rPr lang="da-DK" sz="2600" dirty="0">
                <a:latin typeface="Calisto MT" panose="02040603050505030304" pitchFamily="18" charset="77"/>
              </a:rPr>
              <a:t> information” </a:t>
            </a:r>
          </a:p>
          <a:p>
            <a:pPr>
              <a:lnSpc>
                <a:spcPts val="1800"/>
              </a:lnSpc>
            </a:pPr>
            <a:r>
              <a:rPr lang="da-DK" sz="2600" dirty="0">
                <a:latin typeface="Calisto MT" panose="02040603050505030304" pitchFamily="18" charset="77"/>
              </a:rPr>
              <a:t>Læring gennem videndeling inden for og mellem virksomheder: social bånd som ”ledere” af viden og kompetencer</a:t>
            </a:r>
          </a:p>
          <a:p>
            <a:pPr>
              <a:lnSpc>
                <a:spcPts val="1800"/>
              </a:lnSpc>
            </a:pPr>
            <a:r>
              <a:rPr lang="da-DK" sz="2600" dirty="0">
                <a:latin typeface="Calisto MT" panose="02040603050505030304" pitchFamily="18" charset="77"/>
              </a:rPr>
              <a:t>Skaber tillid som muliggør ”oversættelse” af ”tavs viden”: innovation ved at aktører rekombinerer elementer på tværs af organisatoriske grænser (Stark and </a:t>
            </a:r>
            <a:r>
              <a:rPr lang="da-DK" sz="2600" dirty="0" err="1">
                <a:latin typeface="Calisto MT" panose="02040603050505030304" pitchFamily="18" charset="77"/>
              </a:rPr>
              <a:t>Védres</a:t>
            </a:r>
            <a:r>
              <a:rPr lang="da-DK" sz="2600" dirty="0">
                <a:latin typeface="Calisto MT" panose="02040603050505030304" pitchFamily="18" charset="77"/>
              </a:rPr>
              <a:t> 2010)</a:t>
            </a:r>
          </a:p>
        </p:txBody>
      </p:sp>
    </p:spTree>
    <p:extLst>
      <p:ext uri="{BB962C8B-B14F-4D97-AF65-F5344CB8AC3E}">
        <p14:creationId xmlns:p14="http://schemas.microsoft.com/office/powerpoint/2010/main" val="1848067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84DA-28C2-D448-BB4A-28CD277BD067}"/>
              </a:ext>
            </a:extLst>
          </p:cNvPr>
          <p:cNvSpPr>
            <a:spLocks noGrp="1"/>
          </p:cNvSpPr>
          <p:nvPr>
            <p:ph type="title"/>
          </p:nvPr>
        </p:nvSpPr>
        <p:spPr/>
        <p:txBody>
          <a:bodyPr>
            <a:normAutofit/>
          </a:bodyPr>
          <a:lstStyle/>
          <a:p>
            <a:r>
              <a:rPr lang="en-DK" sz="3000" dirty="0">
                <a:latin typeface="Calisto MT" panose="02040603050505030304" pitchFamily="18" charset="77"/>
              </a:rPr>
              <a:t>Netværksorganiseringens kernefunktioner (fortsat):</a:t>
            </a:r>
            <a:endParaRPr lang="da-DK" sz="3000" dirty="0"/>
          </a:p>
        </p:txBody>
      </p:sp>
      <p:sp>
        <p:nvSpPr>
          <p:cNvPr id="3" name="Content Placeholder 2">
            <a:extLst>
              <a:ext uri="{FF2B5EF4-FFF2-40B4-BE49-F238E27FC236}">
                <a16:creationId xmlns:a16="http://schemas.microsoft.com/office/drawing/2014/main" id="{17A7B3FA-3DFB-3D40-ABE1-3CAB5B6A9FCE}"/>
              </a:ext>
            </a:extLst>
          </p:cNvPr>
          <p:cNvSpPr>
            <a:spLocks noGrp="1"/>
          </p:cNvSpPr>
          <p:nvPr>
            <p:ph idx="1"/>
          </p:nvPr>
        </p:nvSpPr>
        <p:spPr/>
        <p:txBody>
          <a:bodyPr>
            <a:normAutofit fontScale="92500"/>
          </a:bodyPr>
          <a:lstStyle/>
          <a:p>
            <a:pPr marL="0" indent="0">
              <a:lnSpc>
                <a:spcPts val="1800"/>
              </a:lnSpc>
              <a:buNone/>
            </a:pPr>
            <a:r>
              <a:rPr lang="da-DK" b="1" dirty="0">
                <a:latin typeface="Calisto MT" panose="02040603050505030304" pitchFamily="18" charset="77"/>
              </a:rPr>
              <a:t>Legitimering og status</a:t>
            </a:r>
          </a:p>
          <a:p>
            <a:pPr>
              <a:lnSpc>
                <a:spcPts val="1800"/>
              </a:lnSpc>
            </a:pPr>
            <a:r>
              <a:rPr lang="da-DK" dirty="0">
                <a:latin typeface="Calisto MT" panose="02040603050505030304" pitchFamily="18" charset="77"/>
              </a:rPr>
              <a:t>Stærkt indlejring i netværk giver aktører elitestatus og legitimitet -&gt; vækst og </a:t>
            </a:r>
            <a:r>
              <a:rPr lang="da-DK" dirty="0" err="1">
                <a:latin typeface="Calisto MT" panose="02040603050505030304" pitchFamily="18" charset="77"/>
              </a:rPr>
              <a:t>value-added</a:t>
            </a:r>
            <a:r>
              <a:rPr lang="da-DK" dirty="0">
                <a:latin typeface="Calisto MT" panose="02040603050505030304" pitchFamily="18" charset="77"/>
              </a:rPr>
              <a:t> (</a:t>
            </a:r>
            <a:r>
              <a:rPr lang="da-DK" dirty="0" err="1">
                <a:latin typeface="Calisto MT" panose="02040603050505030304" pitchFamily="18" charset="77"/>
              </a:rPr>
              <a:t>Podolny</a:t>
            </a:r>
            <a:r>
              <a:rPr lang="da-DK" dirty="0">
                <a:latin typeface="Calisto MT" panose="02040603050505030304" pitchFamily="18" charset="77"/>
              </a:rPr>
              <a:t> 1993)</a:t>
            </a:r>
          </a:p>
          <a:p>
            <a:pPr>
              <a:lnSpc>
                <a:spcPts val="1800"/>
              </a:lnSpc>
            </a:pPr>
            <a:r>
              <a:rPr lang="da-DK" dirty="0">
                <a:latin typeface="Calisto MT" panose="02040603050505030304" pitchFamily="18" charset="77"/>
              </a:rPr>
              <a:t>I en usikker omverden kan netværk virke som buffere med usikkerhed og gøre virksomheder mere “omstillingsparate” (Stark 1996)</a:t>
            </a:r>
          </a:p>
          <a:p>
            <a:pPr>
              <a:lnSpc>
                <a:spcPts val="1800"/>
              </a:lnSpc>
            </a:pPr>
            <a:r>
              <a:rPr lang="da-DK" dirty="0">
                <a:latin typeface="Calisto MT" panose="02040603050505030304" pitchFamily="18" charset="77"/>
              </a:rPr>
              <a:t>Gavn af partneres </a:t>
            </a:r>
            <a:r>
              <a:rPr lang="da-DK" dirty="0" err="1">
                <a:latin typeface="Calisto MT" panose="02040603050505030304" pitchFamily="18" charset="77"/>
              </a:rPr>
              <a:t>success</a:t>
            </a:r>
            <a:r>
              <a:rPr lang="da-DK" dirty="0">
                <a:latin typeface="Calisto MT" panose="02040603050505030304" pitchFamily="18" charset="77"/>
              </a:rPr>
              <a:t>: Spillover-effekter fra alliancepartnere (‘at være forbundet med de velforbundne’)</a:t>
            </a:r>
          </a:p>
          <a:p>
            <a:pPr>
              <a:lnSpc>
                <a:spcPts val="1800"/>
              </a:lnSpc>
            </a:pPr>
            <a:endParaRPr lang="da-DK" dirty="0">
              <a:latin typeface="Calisto MT" panose="02040603050505030304" pitchFamily="18" charset="77"/>
            </a:endParaRPr>
          </a:p>
          <a:p>
            <a:pPr marL="0" indent="0">
              <a:lnSpc>
                <a:spcPts val="1800"/>
              </a:lnSpc>
              <a:buNone/>
            </a:pPr>
            <a:r>
              <a:rPr lang="da-DK" b="1" dirty="0">
                <a:latin typeface="Calisto MT" panose="02040603050505030304" pitchFamily="18" charset="77"/>
              </a:rPr>
              <a:t>Andre økonomiske fordele:</a:t>
            </a:r>
          </a:p>
          <a:p>
            <a:pPr>
              <a:lnSpc>
                <a:spcPts val="1800"/>
              </a:lnSpc>
            </a:pPr>
            <a:r>
              <a:rPr lang="da-DK" dirty="0">
                <a:latin typeface="Calisto MT" panose="02040603050505030304" pitchFamily="18" charset="77"/>
              </a:rPr>
              <a:t>Lavere transaktionsomkostninger fx fordi man kan omgå et kontraktretligt bureaukrati, som medfører store administrationsomkostninger. ”Peer </a:t>
            </a:r>
            <a:r>
              <a:rPr lang="da-DK" dirty="0" err="1">
                <a:latin typeface="Calisto MT" panose="02040603050505030304" pitchFamily="18" charset="77"/>
              </a:rPr>
              <a:t>monitoring</a:t>
            </a:r>
            <a:r>
              <a:rPr lang="da-DK" dirty="0">
                <a:latin typeface="Calisto MT" panose="02040603050505030304" pitchFamily="18" charset="77"/>
              </a:rPr>
              <a:t>” </a:t>
            </a:r>
          </a:p>
          <a:p>
            <a:pPr>
              <a:lnSpc>
                <a:spcPts val="1800"/>
              </a:lnSpc>
            </a:pPr>
            <a:r>
              <a:rPr lang="da-DK" dirty="0">
                <a:latin typeface="Calisto MT" panose="02040603050505030304" pitchFamily="18" charset="77"/>
              </a:rPr>
              <a:t>Kvalitetsforbedringer fordi et forsat tillidsforhold kræver leverance af kvalitet</a:t>
            </a:r>
          </a:p>
          <a:p>
            <a:pPr>
              <a:lnSpc>
                <a:spcPts val="1800"/>
              </a:lnSpc>
            </a:pPr>
            <a:endParaRPr lang="da-DK" dirty="0">
              <a:latin typeface="Calisto MT" panose="02040603050505030304" pitchFamily="18" charset="77"/>
            </a:endParaRPr>
          </a:p>
          <a:p>
            <a:endParaRPr lang="da-DK" dirty="0"/>
          </a:p>
        </p:txBody>
      </p:sp>
    </p:spTree>
    <p:extLst>
      <p:ext uri="{BB962C8B-B14F-4D97-AF65-F5344CB8AC3E}">
        <p14:creationId xmlns:p14="http://schemas.microsoft.com/office/powerpoint/2010/main" val="1861345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74702-0871-C64B-95A5-CC14D8B2367D}"/>
              </a:ext>
            </a:extLst>
          </p:cNvPr>
          <p:cNvSpPr>
            <a:spLocks noGrp="1"/>
          </p:cNvSpPr>
          <p:nvPr>
            <p:ph type="title"/>
          </p:nvPr>
        </p:nvSpPr>
        <p:spPr/>
        <p:txBody>
          <a:bodyPr>
            <a:normAutofit/>
          </a:bodyPr>
          <a:lstStyle/>
          <a:p>
            <a:r>
              <a:rPr lang="da-DK" sz="4000" dirty="0">
                <a:latin typeface="Calisto MT" panose="02040603050505030304" pitchFamily="18" charset="77"/>
              </a:rPr>
              <a:t>Netværk som metode/analysestrategi</a:t>
            </a:r>
          </a:p>
        </p:txBody>
      </p:sp>
      <p:sp>
        <p:nvSpPr>
          <p:cNvPr id="3" name="Content Placeholder 2">
            <a:extLst>
              <a:ext uri="{FF2B5EF4-FFF2-40B4-BE49-F238E27FC236}">
                <a16:creationId xmlns:a16="http://schemas.microsoft.com/office/drawing/2014/main" id="{64C1BB56-BA8B-CC42-9B57-6023ACDA5510}"/>
              </a:ext>
            </a:extLst>
          </p:cNvPr>
          <p:cNvSpPr>
            <a:spLocks noGrp="1"/>
          </p:cNvSpPr>
          <p:nvPr>
            <p:ph idx="1"/>
          </p:nvPr>
        </p:nvSpPr>
        <p:spPr/>
        <p:txBody>
          <a:bodyPr>
            <a:normAutofit/>
          </a:bodyPr>
          <a:lstStyle/>
          <a:p>
            <a:r>
              <a:rPr lang="da-DK" sz="2600" dirty="0">
                <a:latin typeface="Calisto MT" panose="02040603050505030304" pitchFamily="18" charset="77"/>
              </a:rPr>
              <a:t>Netværket som metode-værktøjskasse til analyse af divergente netværksstrukturer</a:t>
            </a:r>
          </a:p>
          <a:p>
            <a:r>
              <a:rPr lang="da-DK" sz="2600" dirty="0">
                <a:latin typeface="Calisto MT" panose="02040603050505030304" pitchFamily="18" charset="77"/>
              </a:rPr>
              <a:t>Særegen måde at tænke sociale systemer bredt set, om det så er bureaukratier, virksomheder, markeder eller institutionelle felt</a:t>
            </a:r>
          </a:p>
          <a:p>
            <a:r>
              <a:rPr lang="da-DK" sz="2600" dirty="0">
                <a:latin typeface="Calisto MT" panose="02040603050505030304" pitchFamily="18" charset="77"/>
              </a:rPr>
              <a:t>Adskiller sig fra netværket som organisations/styringsform</a:t>
            </a:r>
          </a:p>
          <a:p>
            <a:r>
              <a:rPr lang="da-DK" sz="2600" dirty="0">
                <a:latin typeface="Calisto MT" panose="02040603050505030304" pitchFamily="18" charset="77"/>
              </a:rPr>
              <a:t>Ikke alle netværk er flade og præget af reciprokke, horisontale interaktioner mellem aktører:</a:t>
            </a:r>
          </a:p>
          <a:p>
            <a:pPr lvl="1"/>
            <a:r>
              <a:rPr lang="da-DK" sz="2200" dirty="0">
                <a:latin typeface="Calisto MT" panose="02040603050505030304" pitchFamily="18" charset="77"/>
              </a:rPr>
              <a:t>Markedsformer og bureaukratiske processer kan også analyseres som netværk, men det vil afspejle sig i netværkets struktur - &gt;</a:t>
            </a:r>
          </a:p>
          <a:p>
            <a:pPr marL="0" indent="0">
              <a:buNone/>
            </a:pPr>
            <a:endParaRPr lang="da-DK" sz="2600" dirty="0">
              <a:latin typeface="Calisto MT" panose="02040603050505030304" pitchFamily="18" charset="77"/>
            </a:endParaRPr>
          </a:p>
        </p:txBody>
      </p:sp>
    </p:spTree>
    <p:extLst>
      <p:ext uri="{BB962C8B-B14F-4D97-AF65-F5344CB8AC3E}">
        <p14:creationId xmlns:p14="http://schemas.microsoft.com/office/powerpoint/2010/main" val="4235482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7585" y="68359"/>
            <a:ext cx="6016290" cy="1518047"/>
          </a:xfrm>
        </p:spPr>
        <p:txBody>
          <a:bodyPr>
            <a:normAutofit/>
          </a:bodyPr>
          <a:lstStyle/>
          <a:p>
            <a:pPr algn="l"/>
            <a:r>
              <a:rPr lang="en-US" sz="3094" dirty="0">
                <a:latin typeface="Calisto MT"/>
                <a:cs typeface="Calisto MT"/>
              </a:rPr>
              <a:t>Definition</a:t>
            </a:r>
          </a:p>
        </p:txBody>
      </p:sp>
      <p:sp>
        <p:nvSpPr>
          <p:cNvPr id="3" name="Content Placeholder 2"/>
          <p:cNvSpPr>
            <a:spLocks noGrp="1"/>
          </p:cNvSpPr>
          <p:nvPr>
            <p:ph idx="1"/>
          </p:nvPr>
        </p:nvSpPr>
        <p:spPr>
          <a:xfrm>
            <a:off x="2193727" y="1558043"/>
            <a:ext cx="7924901" cy="4683809"/>
          </a:xfrm>
          <a:solidFill>
            <a:schemeClr val="bg1"/>
          </a:solidFill>
        </p:spPr>
        <p:txBody>
          <a:bodyPr anchor="t" anchorCtr="0">
            <a:noAutofit/>
          </a:bodyPr>
          <a:lstStyle/>
          <a:p>
            <a:pPr marL="0" indent="0">
              <a:buNone/>
            </a:pPr>
            <a:endParaRPr lang="da-DK" sz="2531" dirty="0">
              <a:latin typeface="Calisto MT"/>
              <a:cs typeface="Calisto MT"/>
            </a:endParaRPr>
          </a:p>
          <a:p>
            <a:pPr marL="0" indent="0">
              <a:buNone/>
            </a:pPr>
            <a:r>
              <a:rPr lang="da-DK" sz="2531" dirty="0">
                <a:latin typeface="Calisto MT"/>
                <a:cs typeface="Calisto MT"/>
              </a:rPr>
              <a:t>Et netværk i metodisk forstand består af et sæt</a:t>
            </a:r>
            <a:r>
              <a:rPr lang="da-DK" sz="2531" b="1" dirty="0">
                <a:latin typeface="Calisto MT"/>
                <a:cs typeface="Calisto MT"/>
              </a:rPr>
              <a:t> aktører</a:t>
            </a:r>
            <a:r>
              <a:rPr lang="mr-IN" sz="2531" b="1" dirty="0">
                <a:latin typeface="Calisto MT"/>
                <a:cs typeface="Calisto MT"/>
              </a:rPr>
              <a:t>…</a:t>
            </a:r>
            <a:r>
              <a:rPr lang="da-DK" sz="2531" b="1" dirty="0">
                <a:latin typeface="Calisto MT"/>
                <a:cs typeface="Calisto MT"/>
              </a:rPr>
              <a:t> </a:t>
            </a:r>
            <a:br>
              <a:rPr lang="da-DK" sz="2531" b="1" dirty="0">
                <a:latin typeface="Calisto MT"/>
                <a:cs typeface="Calisto MT"/>
              </a:rPr>
            </a:br>
            <a:endParaRPr lang="da-DK" sz="2531" b="1" dirty="0">
              <a:latin typeface="Calisto MT"/>
              <a:cs typeface="Calisto MT"/>
            </a:endParaRPr>
          </a:p>
          <a:p>
            <a:pPr marL="0" indent="0">
              <a:buNone/>
            </a:pPr>
            <a:br>
              <a:rPr lang="da-DK" sz="2531" dirty="0">
                <a:latin typeface="Calisto MT"/>
                <a:cs typeface="Calisto MT"/>
              </a:rPr>
            </a:br>
            <a:endParaRPr lang="da-DK" sz="2531" dirty="0">
              <a:latin typeface="Calisto MT"/>
              <a:cs typeface="Calisto MT"/>
            </a:endParaRPr>
          </a:p>
          <a:p>
            <a:endParaRPr lang="da-DK" sz="2531" dirty="0">
              <a:latin typeface="Calisto MT"/>
              <a:cs typeface="Calisto MT"/>
            </a:endParaRPr>
          </a:p>
          <a:p>
            <a:pPr marL="321457" lvl="1"/>
            <a:endParaRPr lang="da-DK" sz="2531" dirty="0">
              <a:latin typeface="Calisto MT"/>
              <a:cs typeface="Calisto MT"/>
            </a:endParaRPr>
          </a:p>
          <a:p>
            <a:pPr lvl="1">
              <a:buFont typeface="Arial" panose="020B0604020202020204" pitchFamily="34" charset="0"/>
              <a:buChar char="•"/>
            </a:pPr>
            <a:endParaRPr lang="da-DK" sz="2531" dirty="0">
              <a:latin typeface="Calisto MT"/>
              <a:cs typeface="Calisto MT"/>
            </a:endParaRPr>
          </a:p>
        </p:txBody>
      </p:sp>
      <p:sp>
        <p:nvSpPr>
          <p:cNvPr id="48" name="Oval 47"/>
          <p:cNvSpPr>
            <a:spLocks noChangeAspect="1"/>
          </p:cNvSpPr>
          <p:nvPr/>
        </p:nvSpPr>
        <p:spPr>
          <a:xfrm>
            <a:off x="3794566" y="3088939"/>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49" name="Oval 48"/>
          <p:cNvSpPr>
            <a:spLocks noChangeAspect="1"/>
          </p:cNvSpPr>
          <p:nvPr/>
        </p:nvSpPr>
        <p:spPr>
          <a:xfrm>
            <a:off x="3794566" y="4150436"/>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53" name="Oval 52"/>
          <p:cNvSpPr>
            <a:spLocks noChangeAspect="1"/>
          </p:cNvSpPr>
          <p:nvPr/>
        </p:nvSpPr>
        <p:spPr>
          <a:xfrm>
            <a:off x="4526388" y="3643383"/>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55" name="Oval 54"/>
          <p:cNvSpPr>
            <a:spLocks noChangeAspect="1"/>
          </p:cNvSpPr>
          <p:nvPr/>
        </p:nvSpPr>
        <p:spPr>
          <a:xfrm rot="10800000">
            <a:off x="5295494" y="4165299"/>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56" name="Oval 55"/>
          <p:cNvSpPr>
            <a:spLocks noChangeAspect="1"/>
          </p:cNvSpPr>
          <p:nvPr/>
        </p:nvSpPr>
        <p:spPr>
          <a:xfrm rot="10800000">
            <a:off x="5295494" y="3103801"/>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Tree>
    <p:extLst>
      <p:ext uri="{BB962C8B-B14F-4D97-AF65-F5344CB8AC3E}">
        <p14:creationId xmlns:p14="http://schemas.microsoft.com/office/powerpoint/2010/main" val="231635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7585" y="68359"/>
            <a:ext cx="6016290" cy="1518047"/>
          </a:xfrm>
        </p:spPr>
        <p:txBody>
          <a:bodyPr>
            <a:normAutofit/>
          </a:bodyPr>
          <a:lstStyle/>
          <a:p>
            <a:pPr algn="l"/>
            <a:r>
              <a:rPr lang="en-US" sz="3094" dirty="0">
                <a:latin typeface="Calisto MT"/>
                <a:cs typeface="Calisto MT"/>
              </a:rPr>
              <a:t>Definition</a:t>
            </a:r>
          </a:p>
        </p:txBody>
      </p:sp>
      <p:sp>
        <p:nvSpPr>
          <p:cNvPr id="3" name="Content Placeholder 2"/>
          <p:cNvSpPr>
            <a:spLocks noGrp="1"/>
          </p:cNvSpPr>
          <p:nvPr>
            <p:ph idx="1"/>
          </p:nvPr>
        </p:nvSpPr>
        <p:spPr>
          <a:xfrm>
            <a:off x="2193727" y="1558043"/>
            <a:ext cx="7924901" cy="4683809"/>
          </a:xfrm>
          <a:solidFill>
            <a:schemeClr val="bg1"/>
          </a:solidFill>
        </p:spPr>
        <p:txBody>
          <a:bodyPr anchor="t" anchorCtr="0">
            <a:noAutofit/>
          </a:bodyPr>
          <a:lstStyle/>
          <a:p>
            <a:pPr marL="0" indent="0">
              <a:buNone/>
            </a:pPr>
            <a:r>
              <a:rPr lang="da-DK" sz="2531" dirty="0">
                <a:latin typeface="Calisto MT"/>
                <a:cs typeface="Calisto MT"/>
              </a:rPr>
              <a:t>… og et sæt </a:t>
            </a:r>
            <a:r>
              <a:rPr lang="da-DK" sz="2531" b="1" dirty="0">
                <a:latin typeface="Calisto MT"/>
                <a:cs typeface="Calisto MT"/>
              </a:rPr>
              <a:t>forbindelser</a:t>
            </a:r>
            <a:br>
              <a:rPr lang="da-DK" sz="2531" dirty="0">
                <a:latin typeface="Calisto MT"/>
                <a:cs typeface="Calisto MT"/>
              </a:rPr>
            </a:br>
            <a:endParaRPr lang="da-DK" sz="2531" dirty="0">
              <a:latin typeface="Calisto MT"/>
              <a:cs typeface="Calisto MT"/>
            </a:endParaRPr>
          </a:p>
          <a:p>
            <a:pPr marL="0" indent="0">
              <a:buNone/>
            </a:pPr>
            <a:br>
              <a:rPr lang="da-DK" sz="2531" dirty="0">
                <a:latin typeface="Calisto MT"/>
                <a:cs typeface="Calisto MT"/>
              </a:rPr>
            </a:br>
            <a:endParaRPr lang="da-DK" sz="2531" dirty="0">
              <a:latin typeface="Calisto MT"/>
              <a:cs typeface="Calisto MT"/>
            </a:endParaRPr>
          </a:p>
          <a:p>
            <a:endParaRPr lang="da-DK" sz="2531" dirty="0">
              <a:latin typeface="Calisto MT"/>
              <a:cs typeface="Calisto MT"/>
            </a:endParaRPr>
          </a:p>
          <a:p>
            <a:pPr marL="321457" lvl="1"/>
            <a:endParaRPr lang="da-DK" sz="2531" dirty="0">
              <a:latin typeface="Calisto MT"/>
              <a:cs typeface="Calisto MT"/>
            </a:endParaRPr>
          </a:p>
          <a:p>
            <a:pPr lvl="1">
              <a:buFont typeface="Arial" panose="020B0604020202020204" pitchFamily="34" charset="0"/>
              <a:buChar char="•"/>
            </a:pPr>
            <a:endParaRPr lang="da-DK" sz="2531" dirty="0">
              <a:latin typeface="Calisto MT"/>
              <a:cs typeface="Calisto MT"/>
            </a:endParaRPr>
          </a:p>
        </p:txBody>
      </p:sp>
      <p:cxnSp>
        <p:nvCxnSpPr>
          <p:cNvPr id="51" name="Straight Connector 50"/>
          <p:cNvCxnSpPr/>
          <p:nvPr/>
        </p:nvCxnSpPr>
        <p:spPr>
          <a:xfrm flipV="1">
            <a:off x="4042808" y="3615476"/>
            <a:ext cx="0" cy="534961"/>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flipH="1">
            <a:off x="4291050" y="4073326"/>
            <a:ext cx="319408" cy="340378"/>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rot="10800000" flipV="1">
            <a:off x="5543735" y="3630338"/>
            <a:ext cx="0" cy="534961"/>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rot="10800000" flipH="1">
            <a:off x="4976085" y="3367069"/>
            <a:ext cx="319408" cy="340378"/>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125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7585" y="68359"/>
            <a:ext cx="6016290" cy="1518047"/>
          </a:xfrm>
        </p:spPr>
        <p:txBody>
          <a:bodyPr>
            <a:normAutofit/>
          </a:bodyPr>
          <a:lstStyle/>
          <a:p>
            <a:pPr algn="l"/>
            <a:r>
              <a:rPr lang="en-US" sz="3094" dirty="0">
                <a:latin typeface="Calisto MT"/>
                <a:cs typeface="Calisto MT"/>
              </a:rPr>
              <a:t>Definition</a:t>
            </a:r>
          </a:p>
        </p:txBody>
      </p:sp>
      <p:sp>
        <p:nvSpPr>
          <p:cNvPr id="3" name="Content Placeholder 2"/>
          <p:cNvSpPr>
            <a:spLocks noGrp="1"/>
          </p:cNvSpPr>
          <p:nvPr>
            <p:ph idx="1"/>
          </p:nvPr>
        </p:nvSpPr>
        <p:spPr>
          <a:xfrm>
            <a:off x="2193726" y="1558043"/>
            <a:ext cx="8212336" cy="4683809"/>
          </a:xfrm>
          <a:solidFill>
            <a:schemeClr val="bg1"/>
          </a:solidFill>
        </p:spPr>
        <p:txBody>
          <a:bodyPr anchor="t" anchorCtr="0">
            <a:noAutofit/>
          </a:bodyPr>
          <a:lstStyle/>
          <a:p>
            <a:pPr marL="0" indent="0">
              <a:buNone/>
            </a:pPr>
            <a:r>
              <a:rPr lang="mr-IN" sz="2531" dirty="0">
                <a:latin typeface="Calisto MT"/>
                <a:cs typeface="Calisto MT"/>
              </a:rPr>
              <a:t>…</a:t>
            </a:r>
            <a:r>
              <a:rPr lang="da-DK" sz="2531" dirty="0">
                <a:latin typeface="Calisto MT"/>
                <a:cs typeface="Calisto MT"/>
              </a:rPr>
              <a:t> hvis forbindelse danner stier</a:t>
            </a:r>
            <a:r>
              <a:rPr lang="mr-IN" sz="2531" dirty="0">
                <a:latin typeface="Calisto MT"/>
                <a:cs typeface="Calisto MT"/>
              </a:rPr>
              <a:t>…</a:t>
            </a:r>
            <a:br>
              <a:rPr lang="da-DK" sz="2531" dirty="0">
                <a:latin typeface="Calisto MT"/>
                <a:cs typeface="Calisto MT"/>
              </a:rPr>
            </a:br>
            <a:endParaRPr lang="da-DK" sz="2531" dirty="0">
              <a:latin typeface="Calisto MT"/>
              <a:cs typeface="Calisto MT"/>
            </a:endParaRPr>
          </a:p>
          <a:p>
            <a:pPr marL="0" indent="0">
              <a:buNone/>
            </a:pPr>
            <a:endParaRPr lang="da-DK" sz="2531" dirty="0">
              <a:latin typeface="Calisto MT"/>
              <a:cs typeface="Calisto MT"/>
            </a:endParaRPr>
          </a:p>
          <a:p>
            <a:pPr marL="321457" lvl="1"/>
            <a:endParaRPr lang="da-DK" sz="2531" dirty="0">
              <a:latin typeface="Calisto MT"/>
              <a:cs typeface="Calisto MT"/>
            </a:endParaRPr>
          </a:p>
          <a:p>
            <a:pPr lvl="1">
              <a:buFont typeface="Arial" panose="020B0604020202020204" pitchFamily="34" charset="0"/>
              <a:buChar char="•"/>
            </a:pPr>
            <a:endParaRPr lang="da-DK" sz="2531" dirty="0">
              <a:latin typeface="Calisto MT"/>
              <a:cs typeface="Calisto MT"/>
            </a:endParaRPr>
          </a:p>
        </p:txBody>
      </p:sp>
      <p:sp>
        <p:nvSpPr>
          <p:cNvPr id="48" name="Oval 47"/>
          <p:cNvSpPr>
            <a:spLocks noChangeAspect="1"/>
          </p:cNvSpPr>
          <p:nvPr/>
        </p:nvSpPr>
        <p:spPr>
          <a:xfrm>
            <a:off x="3794566" y="3088939"/>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49" name="Oval 48"/>
          <p:cNvSpPr>
            <a:spLocks noChangeAspect="1"/>
          </p:cNvSpPr>
          <p:nvPr/>
        </p:nvSpPr>
        <p:spPr>
          <a:xfrm>
            <a:off x="3794566" y="4150436"/>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cxnSp>
        <p:nvCxnSpPr>
          <p:cNvPr id="51" name="Straight Connector 50"/>
          <p:cNvCxnSpPr>
            <a:stCxn id="49" idx="0"/>
            <a:endCxn id="48" idx="4"/>
          </p:cNvCxnSpPr>
          <p:nvPr/>
        </p:nvCxnSpPr>
        <p:spPr>
          <a:xfrm flipV="1">
            <a:off x="4042808" y="3615476"/>
            <a:ext cx="0" cy="534961"/>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a:endCxn id="49" idx="6"/>
          </p:cNvCxnSpPr>
          <p:nvPr/>
        </p:nvCxnSpPr>
        <p:spPr>
          <a:xfrm flipH="1">
            <a:off x="4291050" y="4073326"/>
            <a:ext cx="319408" cy="340378"/>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sp>
        <p:nvSpPr>
          <p:cNvPr id="53" name="Oval 52"/>
          <p:cNvSpPr>
            <a:spLocks noChangeAspect="1"/>
          </p:cNvSpPr>
          <p:nvPr/>
        </p:nvSpPr>
        <p:spPr>
          <a:xfrm>
            <a:off x="4526388" y="3643383"/>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55" name="Oval 54"/>
          <p:cNvSpPr>
            <a:spLocks noChangeAspect="1"/>
          </p:cNvSpPr>
          <p:nvPr/>
        </p:nvSpPr>
        <p:spPr>
          <a:xfrm rot="10800000">
            <a:off x="5295494" y="4165299"/>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56" name="Oval 55"/>
          <p:cNvSpPr>
            <a:spLocks noChangeAspect="1"/>
          </p:cNvSpPr>
          <p:nvPr/>
        </p:nvSpPr>
        <p:spPr>
          <a:xfrm rot="10800000">
            <a:off x="5295494" y="3103801"/>
            <a:ext cx="496485" cy="526537"/>
          </a:xfrm>
          <a:prstGeom prst="ellipse">
            <a:avLst/>
          </a:prstGeom>
          <a:noFill/>
          <a:ln w="508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cxnSp>
        <p:nvCxnSpPr>
          <p:cNvPr id="58" name="Straight Connector 57"/>
          <p:cNvCxnSpPr>
            <a:stCxn id="56" idx="0"/>
            <a:endCxn id="55" idx="4"/>
          </p:cNvCxnSpPr>
          <p:nvPr/>
        </p:nvCxnSpPr>
        <p:spPr>
          <a:xfrm rot="10800000" flipV="1">
            <a:off x="5543735" y="3630338"/>
            <a:ext cx="0" cy="534961"/>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endCxn id="56" idx="6"/>
          </p:cNvCxnSpPr>
          <p:nvPr/>
        </p:nvCxnSpPr>
        <p:spPr>
          <a:xfrm rot="10800000" flipH="1">
            <a:off x="4976085" y="3367069"/>
            <a:ext cx="319408" cy="340378"/>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60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8492" y="56453"/>
            <a:ext cx="8802353" cy="1518047"/>
          </a:xfrm>
        </p:spPr>
        <p:txBody>
          <a:bodyPr>
            <a:normAutofit/>
          </a:bodyPr>
          <a:lstStyle/>
          <a:p>
            <a:pPr algn="l"/>
            <a:r>
              <a:rPr lang="en-US" sz="3094" dirty="0">
                <a:solidFill>
                  <a:srgbClr val="FFFFFF"/>
                </a:solidFill>
                <a:latin typeface="Calisto MT"/>
                <a:cs typeface="Calisto MT"/>
              </a:rPr>
              <a:t>Weak ties decrease the average distance in networks </a:t>
            </a:r>
          </a:p>
        </p:txBody>
      </p:sp>
      <p:sp>
        <p:nvSpPr>
          <p:cNvPr id="3" name="Content Placeholder 2"/>
          <p:cNvSpPr>
            <a:spLocks noGrp="1"/>
          </p:cNvSpPr>
          <p:nvPr>
            <p:ph idx="1"/>
          </p:nvPr>
        </p:nvSpPr>
        <p:spPr>
          <a:xfrm>
            <a:off x="2193727" y="1558043"/>
            <a:ext cx="7924901" cy="4683809"/>
          </a:xfrm>
        </p:spPr>
        <p:txBody>
          <a:bodyPr anchor="t" anchorCtr="0">
            <a:noAutofit/>
          </a:bodyPr>
          <a:lstStyle/>
          <a:p>
            <a:r>
              <a:rPr lang="da-DK" sz="1969" dirty="0">
                <a:latin typeface="Calisto MT"/>
                <a:cs typeface="Calisto MT"/>
              </a:rPr>
              <a:t>Kevin </a:t>
            </a:r>
            <a:r>
              <a:rPr lang="da-DK" sz="1969" dirty="0" err="1">
                <a:latin typeface="Calisto MT"/>
                <a:cs typeface="Calisto MT"/>
              </a:rPr>
              <a:t>Bacon’s</a:t>
            </a:r>
            <a:r>
              <a:rPr lang="da-DK" sz="1969" dirty="0">
                <a:latin typeface="Calisto MT"/>
                <a:cs typeface="Calisto MT"/>
              </a:rPr>
              <a:t> Orakel.</a:t>
            </a:r>
          </a:p>
          <a:p>
            <a:r>
              <a:rPr lang="da-DK" sz="1969" dirty="0">
                <a:latin typeface="Calisto MT"/>
                <a:cs typeface="Calisto MT"/>
                <a:hlinkClick r:id="rId3"/>
              </a:rPr>
              <a:t>www.oracleofbacon.org</a:t>
            </a:r>
            <a:endParaRPr lang="da-DK" sz="1969" dirty="0">
              <a:latin typeface="Calisto MT"/>
              <a:cs typeface="Calisto MT"/>
            </a:endParaRPr>
          </a:p>
          <a:p>
            <a:endParaRPr lang="da-DK" sz="1969" dirty="0">
              <a:latin typeface="Calisto MT"/>
              <a:cs typeface="Calisto MT"/>
            </a:endParaRPr>
          </a:p>
        </p:txBody>
      </p:sp>
      <p:sp>
        <p:nvSpPr>
          <p:cNvPr id="4" name="Title 1">
            <a:extLst>
              <a:ext uri="{FF2B5EF4-FFF2-40B4-BE49-F238E27FC236}">
                <a16:creationId xmlns:a16="http://schemas.microsoft.com/office/drawing/2014/main" id="{427E39F7-7DB4-C44D-B655-276919DA77B0}"/>
              </a:ext>
            </a:extLst>
          </p:cNvPr>
          <p:cNvSpPr txBox="1">
            <a:spLocks/>
          </p:cNvSpPr>
          <p:nvPr/>
        </p:nvSpPr>
        <p:spPr>
          <a:xfrm>
            <a:off x="2455863" y="365130"/>
            <a:ext cx="7366000" cy="1101192"/>
          </a:xfrm>
          <a:prstGeom prst="rect">
            <a:avLst/>
          </a:prstGeom>
        </p:spPr>
        <p:txBody>
          <a:bodyPr vert="horz" lIns="0" tIns="0" rIns="0" bIns="0" rtlCol="0" anchor="ctr">
            <a:normAutofit fontScale="97500"/>
          </a:bodyPr>
          <a:lstStyle>
            <a:lvl1pPr algn="l" defTabSz="457200" rtl="0" eaLnBrk="1" latinLnBrk="0" hangingPunct="1">
              <a:spcBef>
                <a:spcPct val="0"/>
              </a:spcBef>
              <a:buNone/>
              <a:defRPr sz="5400" kern="1200">
                <a:solidFill>
                  <a:srgbClr val="CD0920"/>
                </a:solidFill>
                <a:latin typeface="CBS NEW"/>
                <a:ea typeface="+mj-ea"/>
                <a:cs typeface="+mj-cs"/>
              </a:defRPr>
            </a:lvl1pPr>
          </a:lstStyle>
          <a:p>
            <a:r>
              <a:rPr lang="da-DK" dirty="0"/>
              <a:t>At tænke i flere led (stier)</a:t>
            </a:r>
          </a:p>
        </p:txBody>
      </p:sp>
    </p:spTree>
    <p:extLst>
      <p:ext uri="{BB962C8B-B14F-4D97-AF65-F5344CB8AC3E}">
        <p14:creationId xmlns:p14="http://schemas.microsoft.com/office/powerpoint/2010/main" val="1524528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545" y="68358"/>
            <a:ext cx="8562110" cy="1518047"/>
          </a:xfrm>
        </p:spPr>
        <p:txBody>
          <a:bodyPr>
            <a:normAutofit/>
          </a:bodyPr>
          <a:lstStyle/>
          <a:p>
            <a:pPr algn="l"/>
            <a:r>
              <a:rPr lang="en-US" sz="2600" b="1" dirty="0" err="1">
                <a:latin typeface="Calisto MT"/>
                <a:cs typeface="Calisto MT"/>
              </a:rPr>
              <a:t>Organisations</a:t>
            </a:r>
            <a:r>
              <a:rPr lang="en-US" sz="2600" b="1" dirty="0">
                <a:latin typeface="Calisto MT"/>
                <a:cs typeface="Calisto MT"/>
              </a:rPr>
              <a:t>-former </a:t>
            </a:r>
            <a:r>
              <a:rPr lang="en-US" sz="2600" b="1" dirty="0" err="1">
                <a:latin typeface="Calisto MT"/>
                <a:cs typeface="Calisto MT"/>
              </a:rPr>
              <a:t>i</a:t>
            </a:r>
            <a:r>
              <a:rPr lang="en-US" sz="2600" b="1" dirty="0">
                <a:latin typeface="Calisto MT"/>
                <a:cs typeface="Calisto MT"/>
              </a:rPr>
              <a:t> </a:t>
            </a:r>
            <a:r>
              <a:rPr lang="en-US" sz="2600" b="1" dirty="0" err="1">
                <a:latin typeface="Calisto MT"/>
                <a:cs typeface="Calisto MT"/>
              </a:rPr>
              <a:t>netværksperspektiv</a:t>
            </a:r>
            <a:endParaRPr lang="en-US" sz="2600" dirty="0">
              <a:latin typeface="Calisto MT"/>
              <a:cs typeface="Calisto MT"/>
            </a:endParaRPr>
          </a:p>
        </p:txBody>
      </p:sp>
      <p:sp>
        <p:nvSpPr>
          <p:cNvPr id="3" name="Content Placeholder 2"/>
          <p:cNvSpPr>
            <a:spLocks noGrp="1"/>
          </p:cNvSpPr>
          <p:nvPr>
            <p:ph idx="1"/>
          </p:nvPr>
        </p:nvSpPr>
        <p:spPr>
          <a:xfrm>
            <a:off x="526474" y="1517715"/>
            <a:ext cx="8853196" cy="5081048"/>
          </a:xfrm>
        </p:spPr>
        <p:txBody>
          <a:bodyPr anchor="t" anchorCtr="0">
            <a:noAutofit/>
          </a:bodyPr>
          <a:lstStyle/>
          <a:p>
            <a:pPr marL="0" indent="0">
              <a:buNone/>
            </a:pPr>
            <a:r>
              <a:rPr lang="da-DK" sz="2400" dirty="0">
                <a:latin typeface="Calisto MT"/>
                <a:cs typeface="Calisto MT"/>
              </a:rPr>
              <a:t>Netværksformen er mere relationel men markeds- og bureaukratiformen kan ligeledes ”mappes” som netværk</a:t>
            </a:r>
          </a:p>
          <a:p>
            <a:endParaRPr lang="da-DK" sz="2400" dirty="0">
              <a:latin typeface="Calisto MT"/>
              <a:cs typeface="Calisto MT"/>
            </a:endParaRPr>
          </a:p>
          <a:p>
            <a:pPr lvl="1">
              <a:lnSpc>
                <a:spcPct val="120000"/>
              </a:lnSpc>
            </a:pPr>
            <a:r>
              <a:rPr lang="da-DK" dirty="0">
                <a:latin typeface="Calisto MT"/>
                <a:cs typeface="Calisto MT"/>
              </a:rPr>
              <a:t>Netværksform præget af gensidige, stærke relationer</a:t>
            </a:r>
          </a:p>
          <a:p>
            <a:pPr marL="457200" lvl="1" indent="0">
              <a:lnSpc>
                <a:spcPct val="120000"/>
              </a:lnSpc>
              <a:buNone/>
            </a:pPr>
            <a:endParaRPr lang="da-DK" dirty="0">
              <a:latin typeface="Calisto MT"/>
              <a:cs typeface="Calisto MT"/>
            </a:endParaRPr>
          </a:p>
          <a:p>
            <a:pPr lvl="1">
              <a:lnSpc>
                <a:spcPct val="120000"/>
              </a:lnSpc>
            </a:pPr>
            <a:r>
              <a:rPr lang="da-DK" dirty="0">
                <a:latin typeface="Calisto MT"/>
                <a:cs typeface="Calisto MT"/>
              </a:rPr>
              <a:t>Markedsformen præget af episodiske, svage relationer</a:t>
            </a:r>
          </a:p>
          <a:p>
            <a:pPr lvl="1">
              <a:lnSpc>
                <a:spcPct val="120000"/>
              </a:lnSpc>
            </a:pPr>
            <a:endParaRPr lang="da-DK" dirty="0">
              <a:latin typeface="Calisto MT"/>
              <a:cs typeface="Calisto MT"/>
            </a:endParaRPr>
          </a:p>
          <a:p>
            <a:pPr lvl="1">
              <a:lnSpc>
                <a:spcPct val="120000"/>
              </a:lnSpc>
            </a:pPr>
            <a:r>
              <a:rPr lang="da-DK" dirty="0">
                <a:latin typeface="Calisto MT"/>
                <a:cs typeface="Calisto MT"/>
              </a:rPr>
              <a:t>Hierarkiet er præget af retningsbestemte, stærke relationer baseret på formel autoritet</a:t>
            </a:r>
          </a:p>
          <a:p>
            <a:pPr marL="321457" lvl="1" indent="0">
              <a:lnSpc>
                <a:spcPct val="120000"/>
              </a:lnSpc>
              <a:buNone/>
            </a:pPr>
            <a:endParaRPr lang="da-DK" dirty="0">
              <a:latin typeface="Calisto MT"/>
              <a:cs typeface="Calisto MT"/>
            </a:endParaRPr>
          </a:p>
          <a:p>
            <a:pPr lvl="1">
              <a:lnSpc>
                <a:spcPct val="120000"/>
              </a:lnSpc>
              <a:buFont typeface="Arial" panose="020B0604020202020204" pitchFamily="34" charset="0"/>
              <a:buChar char="•"/>
            </a:pPr>
            <a:r>
              <a:rPr lang="da-DK" dirty="0">
                <a:latin typeface="Calisto MT"/>
                <a:cs typeface="Calisto MT"/>
              </a:rPr>
              <a:t>Hvordan kan formerne aflæses i netværkets struktur?</a:t>
            </a:r>
          </a:p>
        </p:txBody>
      </p:sp>
      <p:grpSp>
        <p:nvGrpSpPr>
          <p:cNvPr id="9" name="Group 8">
            <a:extLst>
              <a:ext uri="{FF2B5EF4-FFF2-40B4-BE49-F238E27FC236}">
                <a16:creationId xmlns:a16="http://schemas.microsoft.com/office/drawing/2014/main" id="{1C3A4CC7-06D9-3D4C-A822-F53233FCC7F6}"/>
              </a:ext>
            </a:extLst>
          </p:cNvPr>
          <p:cNvGrpSpPr/>
          <p:nvPr/>
        </p:nvGrpSpPr>
        <p:grpSpPr>
          <a:xfrm rot="5400000">
            <a:off x="10133286" y="2307972"/>
            <a:ext cx="397188" cy="1401286"/>
            <a:chOff x="9641003" y="2604775"/>
            <a:chExt cx="397188" cy="1401286"/>
          </a:xfrm>
        </p:grpSpPr>
        <p:sp>
          <p:nvSpPr>
            <p:cNvPr id="4" name="Oval 3">
              <a:extLst>
                <a:ext uri="{FF2B5EF4-FFF2-40B4-BE49-F238E27FC236}">
                  <a16:creationId xmlns:a16="http://schemas.microsoft.com/office/drawing/2014/main" id="{D5D32356-BB41-7C4A-B674-EFD4EFC4CEA6}"/>
                </a:ext>
              </a:extLst>
            </p:cNvPr>
            <p:cNvSpPr>
              <a:spLocks noChangeAspect="1"/>
            </p:cNvSpPr>
            <p:nvPr/>
          </p:nvSpPr>
          <p:spPr>
            <a:xfrm>
              <a:off x="9641003" y="2604775"/>
              <a:ext cx="397188" cy="421229"/>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5" name="Oval 4">
              <a:extLst>
                <a:ext uri="{FF2B5EF4-FFF2-40B4-BE49-F238E27FC236}">
                  <a16:creationId xmlns:a16="http://schemas.microsoft.com/office/drawing/2014/main" id="{3CE21EA5-A790-D14B-8E46-859EB8267BEE}"/>
                </a:ext>
              </a:extLst>
            </p:cNvPr>
            <p:cNvSpPr>
              <a:spLocks noChangeAspect="1"/>
            </p:cNvSpPr>
            <p:nvPr/>
          </p:nvSpPr>
          <p:spPr>
            <a:xfrm>
              <a:off x="9641003" y="3584832"/>
              <a:ext cx="397188" cy="421229"/>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cxnSp>
          <p:nvCxnSpPr>
            <p:cNvPr id="6" name="Straight Connector 5">
              <a:extLst>
                <a:ext uri="{FF2B5EF4-FFF2-40B4-BE49-F238E27FC236}">
                  <a16:creationId xmlns:a16="http://schemas.microsoft.com/office/drawing/2014/main" id="{810EB037-9CD8-0A40-B589-2F863B72DFB8}"/>
                </a:ext>
              </a:extLst>
            </p:cNvPr>
            <p:cNvCxnSpPr>
              <a:cxnSpLocks noChangeAspect="1"/>
              <a:stCxn id="5" idx="0"/>
            </p:cNvCxnSpPr>
            <p:nvPr/>
          </p:nvCxnSpPr>
          <p:spPr>
            <a:xfrm flipV="1">
              <a:off x="9839597" y="3026004"/>
              <a:ext cx="0" cy="558828"/>
            </a:xfrm>
            <a:prstGeom prst="line">
              <a:avLst/>
            </a:prstGeom>
            <a:ln w="50800">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A142A31A-36A1-9A4E-BE6B-3A31088A6FEA}"/>
              </a:ext>
            </a:extLst>
          </p:cNvPr>
          <p:cNvGrpSpPr/>
          <p:nvPr/>
        </p:nvGrpSpPr>
        <p:grpSpPr>
          <a:xfrm rot="5400000">
            <a:off x="10131460" y="3305342"/>
            <a:ext cx="397188" cy="1401286"/>
            <a:chOff x="9641003" y="2604775"/>
            <a:chExt cx="397188" cy="1401286"/>
          </a:xfrm>
        </p:grpSpPr>
        <p:sp>
          <p:nvSpPr>
            <p:cNvPr id="11" name="Oval 10">
              <a:extLst>
                <a:ext uri="{FF2B5EF4-FFF2-40B4-BE49-F238E27FC236}">
                  <a16:creationId xmlns:a16="http://schemas.microsoft.com/office/drawing/2014/main" id="{FCE98385-5A61-7043-B0B0-4AFD88E66889}"/>
                </a:ext>
              </a:extLst>
            </p:cNvPr>
            <p:cNvSpPr>
              <a:spLocks noChangeAspect="1"/>
            </p:cNvSpPr>
            <p:nvPr/>
          </p:nvSpPr>
          <p:spPr>
            <a:xfrm>
              <a:off x="9641003" y="2604775"/>
              <a:ext cx="397188" cy="421229"/>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12" name="Oval 11">
              <a:extLst>
                <a:ext uri="{FF2B5EF4-FFF2-40B4-BE49-F238E27FC236}">
                  <a16:creationId xmlns:a16="http://schemas.microsoft.com/office/drawing/2014/main" id="{10A2E4F0-7207-EC47-92EA-1621B5A7C44E}"/>
                </a:ext>
              </a:extLst>
            </p:cNvPr>
            <p:cNvSpPr>
              <a:spLocks noChangeAspect="1"/>
            </p:cNvSpPr>
            <p:nvPr/>
          </p:nvSpPr>
          <p:spPr>
            <a:xfrm>
              <a:off x="9641003" y="3584832"/>
              <a:ext cx="397188" cy="421229"/>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cxnSp>
          <p:nvCxnSpPr>
            <p:cNvPr id="13" name="Straight Connector 12">
              <a:extLst>
                <a:ext uri="{FF2B5EF4-FFF2-40B4-BE49-F238E27FC236}">
                  <a16:creationId xmlns:a16="http://schemas.microsoft.com/office/drawing/2014/main" id="{0CC84945-4F8E-9C4F-8107-4B62E66F38DF}"/>
                </a:ext>
              </a:extLst>
            </p:cNvPr>
            <p:cNvCxnSpPr>
              <a:cxnSpLocks noChangeAspect="1"/>
              <a:stCxn id="12" idx="0"/>
            </p:cNvCxnSpPr>
            <p:nvPr/>
          </p:nvCxnSpPr>
          <p:spPr>
            <a:xfrm flipV="1">
              <a:off x="9839597" y="3026004"/>
              <a:ext cx="0" cy="558828"/>
            </a:xfrm>
            <a:prstGeom prst="line">
              <a:avLst/>
            </a:prstGeom>
            <a:ln w="25400">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732D6530-1633-A244-9614-EBD3F11FCF62}"/>
              </a:ext>
            </a:extLst>
          </p:cNvPr>
          <p:cNvGrpSpPr/>
          <p:nvPr/>
        </p:nvGrpSpPr>
        <p:grpSpPr>
          <a:xfrm rot="2910486">
            <a:off x="10131460" y="4501306"/>
            <a:ext cx="397188" cy="1401286"/>
            <a:chOff x="9641003" y="2604775"/>
            <a:chExt cx="397188" cy="1401286"/>
          </a:xfrm>
        </p:grpSpPr>
        <p:sp>
          <p:nvSpPr>
            <p:cNvPr id="15" name="Oval 14">
              <a:extLst>
                <a:ext uri="{FF2B5EF4-FFF2-40B4-BE49-F238E27FC236}">
                  <a16:creationId xmlns:a16="http://schemas.microsoft.com/office/drawing/2014/main" id="{F3B996F4-8F1B-214E-891A-A8997852E90E}"/>
                </a:ext>
              </a:extLst>
            </p:cNvPr>
            <p:cNvSpPr>
              <a:spLocks noChangeAspect="1"/>
            </p:cNvSpPr>
            <p:nvPr/>
          </p:nvSpPr>
          <p:spPr>
            <a:xfrm>
              <a:off x="9641003" y="2604775"/>
              <a:ext cx="397188" cy="421229"/>
            </a:xfrm>
            <a:prstGeom prst="ellipse">
              <a:avLst/>
            </a:prstGeom>
            <a:noFill/>
            <a:ln w="381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sp>
          <p:nvSpPr>
            <p:cNvPr id="16" name="Oval 15">
              <a:extLst>
                <a:ext uri="{FF2B5EF4-FFF2-40B4-BE49-F238E27FC236}">
                  <a16:creationId xmlns:a16="http://schemas.microsoft.com/office/drawing/2014/main" id="{AE875D71-B6E1-D94A-B8BB-45B6797D8DA7}"/>
                </a:ext>
              </a:extLst>
            </p:cNvPr>
            <p:cNvSpPr>
              <a:spLocks noChangeAspect="1"/>
            </p:cNvSpPr>
            <p:nvPr/>
          </p:nvSpPr>
          <p:spPr>
            <a:xfrm>
              <a:off x="9641003" y="3584832"/>
              <a:ext cx="397188" cy="421229"/>
            </a:xfrm>
            <a:prstGeom prst="ellipse">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a-DK" sz="1266"/>
            </a:p>
          </p:txBody>
        </p:sp>
        <p:cxnSp>
          <p:nvCxnSpPr>
            <p:cNvPr id="17" name="Straight Connector 16">
              <a:extLst>
                <a:ext uri="{FF2B5EF4-FFF2-40B4-BE49-F238E27FC236}">
                  <a16:creationId xmlns:a16="http://schemas.microsoft.com/office/drawing/2014/main" id="{FA40E092-ED85-BB40-8AB1-AB940ECFB420}"/>
                </a:ext>
              </a:extLst>
            </p:cNvPr>
            <p:cNvCxnSpPr>
              <a:cxnSpLocks noChangeAspect="1"/>
              <a:stCxn id="16" idx="0"/>
            </p:cNvCxnSpPr>
            <p:nvPr/>
          </p:nvCxnSpPr>
          <p:spPr>
            <a:xfrm flipV="1">
              <a:off x="9839597" y="3026004"/>
              <a:ext cx="0" cy="558828"/>
            </a:xfrm>
            <a:prstGeom prst="line">
              <a:avLst/>
            </a:prstGeom>
            <a:ln w="50800">
              <a:solidFill>
                <a:srgbClr val="FF0000"/>
              </a:solidFill>
              <a:headEnd type="arrow"/>
              <a:tailEnd type="non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79731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0F631-9C65-537B-C585-D5B4D78FE8F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29F8875-90A6-883C-D5EF-DC8360BB91D8}"/>
              </a:ext>
            </a:extLst>
          </p:cNvPr>
          <p:cNvSpPr>
            <a:spLocks noGrp="1"/>
          </p:cNvSpPr>
          <p:nvPr>
            <p:ph idx="1"/>
          </p:nvPr>
        </p:nvSpPr>
        <p:spPr/>
        <p:txBody>
          <a:bodyPr/>
          <a:lstStyle/>
          <a:p>
            <a:pPr marL="0" indent="0">
              <a:buNone/>
            </a:pPr>
            <a:endParaRPr lang="en-US" dirty="0"/>
          </a:p>
        </p:txBody>
      </p:sp>
      <p:pic>
        <p:nvPicPr>
          <p:cNvPr id="4" name="Content Placeholder 5">
            <a:extLst>
              <a:ext uri="{FF2B5EF4-FFF2-40B4-BE49-F238E27FC236}">
                <a16:creationId xmlns:a16="http://schemas.microsoft.com/office/drawing/2014/main" id="{A5B4CF1B-0987-3E6D-FE31-EB1AD8D835A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9751" t="26357" r="3178" b="28746"/>
          <a:stretch/>
        </p:blipFill>
        <p:spPr bwMode="auto">
          <a:xfrm>
            <a:off x="6332408" y="2168291"/>
            <a:ext cx="3275552" cy="3093265"/>
          </a:xfrm>
          <a:prstGeom prst="rect">
            <a:avLst/>
          </a:prstGeom>
          <a:ln>
            <a:noFill/>
          </a:ln>
          <a:extLst>
            <a:ext uri="{53640926-AAD7-44d8-BBD7-CCE9431645EC}">
              <a14:shadowObscured xmlns="" xmlns:a14="http://schemas.microsoft.com/office/drawing/2010/main"/>
            </a:ext>
          </a:extLst>
        </p:spPr>
      </p:pic>
      <p:pic>
        <p:nvPicPr>
          <p:cNvPr id="5" name="Content Placeholder 5">
            <a:extLst>
              <a:ext uri="{FF2B5EF4-FFF2-40B4-BE49-F238E27FC236}">
                <a16:creationId xmlns:a16="http://schemas.microsoft.com/office/drawing/2014/main" id="{104E04D5-3BB4-7E0D-EBCD-0FF96637B6D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7886" t="26794" r="53693" b="28746"/>
          <a:stretch/>
        </p:blipFill>
        <p:spPr bwMode="auto">
          <a:xfrm rot="12613721">
            <a:off x="2579231" y="2168291"/>
            <a:ext cx="3753177" cy="3386592"/>
          </a:xfrm>
          <a:prstGeom prst="rect">
            <a:avLst/>
          </a:prstGeom>
          <a:ln>
            <a:noFill/>
          </a:ln>
          <a:extLst>
            <a:ext uri="{53640926-AAD7-44d8-BBD7-CCE9431645EC}">
              <a14:shadowObscured xmlns="" xmlns:a14="http://schemas.microsoft.com/office/drawing/2010/main"/>
            </a:ext>
          </a:extLst>
        </p:spPr>
      </p:pic>
      <p:cxnSp>
        <p:nvCxnSpPr>
          <p:cNvPr id="7" name="Straight Arrow Connector 6">
            <a:extLst>
              <a:ext uri="{FF2B5EF4-FFF2-40B4-BE49-F238E27FC236}">
                <a16:creationId xmlns:a16="http://schemas.microsoft.com/office/drawing/2014/main" id="{0B322A22-A78D-076C-6D9D-6C1FC4A3BB8F}"/>
              </a:ext>
            </a:extLst>
          </p:cNvPr>
          <p:cNvCxnSpPr>
            <a:cxnSpLocks/>
          </p:cNvCxnSpPr>
          <p:nvPr/>
        </p:nvCxnSpPr>
        <p:spPr>
          <a:xfrm>
            <a:off x="3328988" y="5986463"/>
            <a:ext cx="5657850" cy="0"/>
          </a:xfrm>
          <a:prstGeom prst="straightConnector1">
            <a:avLst/>
          </a:prstGeom>
          <a:ln w="66675">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A99D740-8B33-7430-6432-01CE487A9E32}"/>
              </a:ext>
            </a:extLst>
          </p:cNvPr>
          <p:cNvSpPr txBox="1"/>
          <p:nvPr/>
        </p:nvSpPr>
        <p:spPr>
          <a:xfrm>
            <a:off x="2357252" y="5807631"/>
            <a:ext cx="906595" cy="369332"/>
          </a:xfrm>
          <a:prstGeom prst="rect">
            <a:avLst/>
          </a:prstGeom>
          <a:noFill/>
        </p:spPr>
        <p:txBody>
          <a:bodyPr wrap="none" rtlCol="0">
            <a:spAutoFit/>
          </a:bodyPr>
          <a:lstStyle/>
          <a:p>
            <a:r>
              <a:rPr lang="da-DK" dirty="0"/>
              <a:t>Marked</a:t>
            </a:r>
          </a:p>
        </p:txBody>
      </p:sp>
      <p:sp>
        <p:nvSpPr>
          <p:cNvPr id="10" name="TextBox 9">
            <a:extLst>
              <a:ext uri="{FF2B5EF4-FFF2-40B4-BE49-F238E27FC236}">
                <a16:creationId xmlns:a16="http://schemas.microsoft.com/office/drawing/2014/main" id="{58D5EDCF-3052-A4FE-E594-582736A71F81}"/>
              </a:ext>
            </a:extLst>
          </p:cNvPr>
          <p:cNvSpPr txBox="1"/>
          <p:nvPr/>
        </p:nvSpPr>
        <p:spPr>
          <a:xfrm>
            <a:off x="9107677" y="5807631"/>
            <a:ext cx="920508" cy="369332"/>
          </a:xfrm>
          <a:prstGeom prst="rect">
            <a:avLst/>
          </a:prstGeom>
          <a:noFill/>
        </p:spPr>
        <p:txBody>
          <a:bodyPr wrap="none" rtlCol="0">
            <a:spAutoFit/>
          </a:bodyPr>
          <a:lstStyle/>
          <a:p>
            <a:r>
              <a:rPr lang="da-DK" dirty="0"/>
              <a:t>Hierarki</a:t>
            </a:r>
          </a:p>
        </p:txBody>
      </p:sp>
    </p:spTree>
    <p:extLst>
      <p:ext uri="{BB962C8B-B14F-4D97-AF65-F5344CB8AC3E}">
        <p14:creationId xmlns:p14="http://schemas.microsoft.com/office/powerpoint/2010/main" val="3274436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68F5B-27BD-9F42-0FB8-1CA40C7B2ADB}"/>
              </a:ext>
            </a:extLst>
          </p:cNvPr>
          <p:cNvSpPr>
            <a:spLocks noGrp="1"/>
          </p:cNvSpPr>
          <p:nvPr>
            <p:ph type="title"/>
          </p:nvPr>
        </p:nvSpPr>
        <p:spPr/>
        <p:txBody>
          <a:bodyPr/>
          <a:lstStyle/>
          <a:p>
            <a:r>
              <a:rPr lang="da-DK" dirty="0"/>
              <a:t>Hvorfor er netværk struktureret som de er? </a:t>
            </a:r>
          </a:p>
        </p:txBody>
      </p:sp>
      <p:sp>
        <p:nvSpPr>
          <p:cNvPr id="3" name="Content Placeholder 2">
            <a:extLst>
              <a:ext uri="{FF2B5EF4-FFF2-40B4-BE49-F238E27FC236}">
                <a16:creationId xmlns:a16="http://schemas.microsoft.com/office/drawing/2014/main" id="{BC486EBD-0EB3-7407-D765-74A4F1A5ACA3}"/>
              </a:ext>
            </a:extLst>
          </p:cNvPr>
          <p:cNvSpPr>
            <a:spLocks noGrp="1"/>
          </p:cNvSpPr>
          <p:nvPr>
            <p:ph idx="1"/>
          </p:nvPr>
        </p:nvSpPr>
        <p:spPr/>
        <p:txBody>
          <a:bodyPr/>
          <a:lstStyle/>
          <a:p>
            <a:endParaRPr lang="da-DK"/>
          </a:p>
        </p:txBody>
      </p:sp>
    </p:spTree>
    <p:extLst>
      <p:ext uri="{BB962C8B-B14F-4D97-AF65-F5344CB8AC3E}">
        <p14:creationId xmlns:p14="http://schemas.microsoft.com/office/powerpoint/2010/main" val="930328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56BA0-10EE-1449-B76B-CA95A03B6501}"/>
              </a:ext>
            </a:extLst>
          </p:cNvPr>
          <p:cNvSpPr>
            <a:spLocks noGrp="1"/>
          </p:cNvSpPr>
          <p:nvPr>
            <p:ph type="title"/>
          </p:nvPr>
        </p:nvSpPr>
        <p:spPr>
          <a:xfrm>
            <a:off x="405354" y="365125"/>
            <a:ext cx="7579150" cy="2414451"/>
          </a:xfrm>
        </p:spPr>
        <p:txBody>
          <a:bodyPr>
            <a:normAutofit fontScale="90000"/>
          </a:bodyPr>
          <a:lstStyle/>
          <a:p>
            <a:r>
              <a:rPr lang="da-DK" sz="2600" b="1" dirty="0">
                <a:latin typeface="Calisto MT" panose="02040603050505030304" pitchFamily="18" charset="77"/>
              </a:rPr>
              <a:t>Netværksforklaringer I:</a:t>
            </a:r>
            <a:br>
              <a:rPr lang="da-DK" sz="2600" b="1" dirty="0">
                <a:latin typeface="Calisto MT" panose="02040603050505030304" pitchFamily="18" charset="77"/>
              </a:rPr>
            </a:br>
            <a:r>
              <a:rPr lang="da-DK" sz="2600" dirty="0">
                <a:latin typeface="Calisto MT" panose="02040603050505030304" pitchFamily="18" charset="77"/>
              </a:rPr>
              <a:t>Hvorfor ser netværket ud som det gør? </a:t>
            </a:r>
            <a:br>
              <a:rPr lang="da-DK" sz="2600" dirty="0">
                <a:latin typeface="Calisto MT" panose="02040603050505030304" pitchFamily="18" charset="77"/>
              </a:rPr>
            </a:br>
            <a:r>
              <a:rPr lang="da-DK" sz="2600" dirty="0">
                <a:latin typeface="Calisto MT" panose="02040603050505030304" pitchFamily="18" charset="77"/>
              </a:rPr>
              <a:t>Vigtige relationelle mekanismer at have øje for</a:t>
            </a:r>
            <a:br>
              <a:rPr lang="da-DK" sz="2600" dirty="0">
                <a:latin typeface="Calisto MT" panose="02040603050505030304" pitchFamily="18" charset="77"/>
              </a:rPr>
            </a:br>
            <a:br>
              <a:rPr lang="da-DK" sz="2600" dirty="0">
                <a:latin typeface="Calisto MT" panose="02040603050505030304" pitchFamily="18" charset="77"/>
              </a:rPr>
            </a:br>
            <a:r>
              <a:rPr lang="da-DK" sz="2600" dirty="0">
                <a:latin typeface="Calisto MT" panose="02040603050505030304" pitchFamily="18" charset="77"/>
              </a:rPr>
              <a:t>Homofili – tendensen til at aktører skaber forbindelser med andre aktører der ligner dem selv (fx køn)</a:t>
            </a:r>
          </a:p>
        </p:txBody>
      </p:sp>
      <p:pic>
        <p:nvPicPr>
          <p:cNvPr id="7" name="Content Placeholder 6">
            <a:extLst>
              <a:ext uri="{FF2B5EF4-FFF2-40B4-BE49-F238E27FC236}">
                <a16:creationId xmlns:a16="http://schemas.microsoft.com/office/drawing/2014/main" id="{774C3B31-6AF9-2D4B-8B0A-1718E25A3C0E}"/>
              </a:ext>
            </a:extLst>
          </p:cNvPr>
          <p:cNvPicPr>
            <a:picLocks noGrp="1" noChangeAspect="1"/>
          </p:cNvPicPr>
          <p:nvPr>
            <p:ph idx="1"/>
          </p:nvPr>
        </p:nvPicPr>
        <p:blipFill>
          <a:blip r:embed="rId2"/>
          <a:stretch>
            <a:fillRect/>
          </a:stretch>
        </p:blipFill>
        <p:spPr>
          <a:xfrm>
            <a:off x="1046252" y="2933409"/>
            <a:ext cx="3429646" cy="2767594"/>
          </a:xfrm>
        </p:spPr>
      </p:pic>
      <p:sp>
        <p:nvSpPr>
          <p:cNvPr id="4" name="Date Placeholder 3">
            <a:extLst>
              <a:ext uri="{FF2B5EF4-FFF2-40B4-BE49-F238E27FC236}">
                <a16:creationId xmlns:a16="http://schemas.microsoft.com/office/drawing/2014/main" id="{7D595ABA-92D5-3E42-BFD0-0C41AAA3093D}"/>
              </a:ext>
            </a:extLst>
          </p:cNvPr>
          <p:cNvSpPr>
            <a:spLocks noGrp="1"/>
          </p:cNvSpPr>
          <p:nvPr>
            <p:ph type="dt" sz="half" idx="10"/>
          </p:nvPr>
        </p:nvSpPr>
        <p:spPr/>
        <p:txBody>
          <a:bodyPr/>
          <a:lstStyle/>
          <a:p>
            <a:fld id="{75A3FB84-53EE-2D48-8EA4-8F5957DF7413}" type="datetime1">
              <a:rPr lang="en-US" smtClean="0"/>
              <a:t>2/5/25</a:t>
            </a:fld>
            <a:endParaRPr lang="en-US"/>
          </a:p>
        </p:txBody>
      </p:sp>
      <p:sp>
        <p:nvSpPr>
          <p:cNvPr id="5" name="Slide Number Placeholder 4">
            <a:extLst>
              <a:ext uri="{FF2B5EF4-FFF2-40B4-BE49-F238E27FC236}">
                <a16:creationId xmlns:a16="http://schemas.microsoft.com/office/drawing/2014/main" id="{C2685279-91DF-2C46-85C5-CD77B1ED034F}"/>
              </a:ext>
            </a:extLst>
          </p:cNvPr>
          <p:cNvSpPr>
            <a:spLocks noGrp="1"/>
          </p:cNvSpPr>
          <p:nvPr>
            <p:ph type="sldNum" sz="quarter" idx="12"/>
          </p:nvPr>
        </p:nvSpPr>
        <p:spPr/>
        <p:txBody>
          <a:bodyPr/>
          <a:lstStyle/>
          <a:p>
            <a:fld id="{0FB56013-B943-42BA-886F-6F9D4EB85E9D}" type="slidenum">
              <a:rPr lang="en-US" smtClean="0"/>
              <a:pPr/>
              <a:t>35</a:t>
            </a:fld>
            <a:endParaRPr lang="en-US"/>
          </a:p>
        </p:txBody>
      </p:sp>
      <p:pic>
        <p:nvPicPr>
          <p:cNvPr id="6" name="Picture 5" descr="Chart, scatter chart&#10;&#10;Description automatically generated">
            <a:extLst>
              <a:ext uri="{FF2B5EF4-FFF2-40B4-BE49-F238E27FC236}">
                <a16:creationId xmlns:a16="http://schemas.microsoft.com/office/drawing/2014/main" id="{D6928A91-EFCD-5548-87DE-2C88EB7DC5C5}"/>
              </a:ext>
            </a:extLst>
          </p:cNvPr>
          <p:cNvPicPr>
            <a:picLocks noChangeAspect="1"/>
          </p:cNvPicPr>
          <p:nvPr/>
        </p:nvPicPr>
        <p:blipFill>
          <a:blip r:embed="rId3"/>
          <a:stretch>
            <a:fillRect/>
          </a:stretch>
        </p:blipFill>
        <p:spPr>
          <a:xfrm>
            <a:off x="7880524" y="365125"/>
            <a:ext cx="3668154" cy="6202517"/>
          </a:xfrm>
          <a:prstGeom prst="rect">
            <a:avLst/>
          </a:prstGeom>
        </p:spPr>
      </p:pic>
    </p:spTree>
    <p:extLst>
      <p:ext uri="{BB962C8B-B14F-4D97-AF65-F5344CB8AC3E}">
        <p14:creationId xmlns:p14="http://schemas.microsoft.com/office/powerpoint/2010/main" val="705106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D595ABA-92D5-3E42-BFD0-0C41AAA3093D}"/>
              </a:ext>
            </a:extLst>
          </p:cNvPr>
          <p:cNvSpPr>
            <a:spLocks noGrp="1"/>
          </p:cNvSpPr>
          <p:nvPr>
            <p:ph type="dt" sz="half" idx="10"/>
          </p:nvPr>
        </p:nvSpPr>
        <p:spPr/>
        <p:txBody>
          <a:bodyPr/>
          <a:lstStyle/>
          <a:p>
            <a:fld id="{75A3FB84-53EE-2D48-8EA4-8F5957DF7413}" type="datetime1">
              <a:rPr lang="en-US" smtClean="0"/>
              <a:t>2/5/25</a:t>
            </a:fld>
            <a:endParaRPr lang="en-US" dirty="0"/>
          </a:p>
        </p:txBody>
      </p:sp>
      <p:sp>
        <p:nvSpPr>
          <p:cNvPr id="5" name="Slide Number Placeholder 4">
            <a:extLst>
              <a:ext uri="{FF2B5EF4-FFF2-40B4-BE49-F238E27FC236}">
                <a16:creationId xmlns:a16="http://schemas.microsoft.com/office/drawing/2014/main" id="{C2685279-91DF-2C46-85C5-CD77B1ED034F}"/>
              </a:ext>
            </a:extLst>
          </p:cNvPr>
          <p:cNvSpPr>
            <a:spLocks noGrp="1"/>
          </p:cNvSpPr>
          <p:nvPr>
            <p:ph type="sldNum" sz="quarter" idx="12"/>
          </p:nvPr>
        </p:nvSpPr>
        <p:spPr/>
        <p:txBody>
          <a:bodyPr/>
          <a:lstStyle/>
          <a:p>
            <a:fld id="{0FB56013-B943-42BA-886F-6F9D4EB85E9D}" type="slidenum">
              <a:rPr lang="en-US" smtClean="0"/>
              <a:pPr/>
              <a:t>36</a:t>
            </a:fld>
            <a:endParaRPr lang="en-US"/>
          </a:p>
        </p:txBody>
      </p:sp>
      <p:pic>
        <p:nvPicPr>
          <p:cNvPr id="9" name="Content Placeholder 8">
            <a:extLst>
              <a:ext uri="{FF2B5EF4-FFF2-40B4-BE49-F238E27FC236}">
                <a16:creationId xmlns:a16="http://schemas.microsoft.com/office/drawing/2014/main" id="{52DEFA2B-6FFC-1145-A56D-B4CC17728ED0}"/>
              </a:ext>
            </a:extLst>
          </p:cNvPr>
          <p:cNvPicPr>
            <a:picLocks noGrp="1" noChangeAspect="1"/>
          </p:cNvPicPr>
          <p:nvPr>
            <p:ph idx="1"/>
          </p:nvPr>
        </p:nvPicPr>
        <p:blipFill>
          <a:blip r:embed="rId2"/>
          <a:stretch>
            <a:fillRect/>
          </a:stretch>
        </p:blipFill>
        <p:spPr>
          <a:xfrm>
            <a:off x="920526" y="3827454"/>
            <a:ext cx="3571418" cy="2346932"/>
          </a:xfrm>
        </p:spPr>
      </p:pic>
      <p:pic>
        <p:nvPicPr>
          <p:cNvPr id="8" name="Picture 2">
            <a:extLst>
              <a:ext uri="{FF2B5EF4-FFF2-40B4-BE49-F238E27FC236}">
                <a16:creationId xmlns:a16="http://schemas.microsoft.com/office/drawing/2014/main" id="{53F4025A-F5D6-954E-8F05-3AF97422A6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0684"/>
          <a:stretch/>
        </p:blipFill>
        <p:spPr bwMode="auto">
          <a:xfrm>
            <a:off x="6224342" y="2130286"/>
            <a:ext cx="5389107" cy="404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93DE3A6A-7470-6A44-BCB4-4A532B7AC5E6}"/>
              </a:ext>
            </a:extLst>
          </p:cNvPr>
          <p:cNvSpPr txBox="1">
            <a:spLocks/>
          </p:cNvSpPr>
          <p:nvPr/>
        </p:nvSpPr>
        <p:spPr>
          <a:xfrm>
            <a:off x="405354" y="365125"/>
            <a:ext cx="7579150" cy="328036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sz="2600" b="1" dirty="0">
                <a:latin typeface="Calisto MT" panose="02040603050505030304" pitchFamily="18" charset="77"/>
              </a:rPr>
              <a:t>Netværksforklaringer II</a:t>
            </a:r>
            <a:br>
              <a:rPr lang="da-DK" sz="2600" dirty="0">
                <a:latin typeface="Calisto MT" panose="02040603050505030304" pitchFamily="18" charset="77"/>
              </a:rPr>
            </a:br>
            <a:br>
              <a:rPr lang="da-DK" sz="2600" dirty="0">
                <a:latin typeface="Calisto MT" panose="02040603050505030304" pitchFamily="18" charset="77"/>
              </a:rPr>
            </a:br>
            <a:r>
              <a:rPr lang="da-DK" sz="2600" dirty="0" err="1">
                <a:latin typeface="Calisto MT" panose="02040603050505030304" pitchFamily="18" charset="77"/>
              </a:rPr>
              <a:t>Transitivitet</a:t>
            </a:r>
            <a:r>
              <a:rPr lang="da-DK" sz="2600" dirty="0">
                <a:latin typeface="Calisto MT" panose="02040603050505030304" pitchFamily="18" charset="77"/>
              </a:rPr>
              <a:t>/lukning – tendensen til at ”en ven af en ven også bliver ens ven” – at åbne trekanter i netværket lukker sig -&gt; effekt: </a:t>
            </a:r>
            <a:r>
              <a:rPr lang="da-DK" sz="2600" dirty="0" err="1">
                <a:latin typeface="Calisto MT" panose="02040603050505030304" pitchFamily="18" charset="77"/>
              </a:rPr>
              <a:t>clustering</a:t>
            </a:r>
            <a:r>
              <a:rPr lang="da-DK" sz="2600" dirty="0">
                <a:latin typeface="Calisto MT" panose="02040603050505030304" pitchFamily="18" charset="77"/>
              </a:rPr>
              <a:t>/gruppedannelse</a:t>
            </a:r>
          </a:p>
          <a:p>
            <a:endParaRPr lang="da-DK" sz="2600" dirty="0">
              <a:latin typeface="Calisto MT" panose="02040603050505030304" pitchFamily="18" charset="77"/>
            </a:endParaRPr>
          </a:p>
          <a:p>
            <a:r>
              <a:rPr lang="da-DK" sz="2600" dirty="0">
                <a:latin typeface="Calisto MT" panose="02040603050505030304" pitchFamily="18" charset="77"/>
              </a:rPr>
              <a:t>Brobygning: tværgående forbindelser betydning for netværkets sammenhængskraft!</a:t>
            </a:r>
          </a:p>
        </p:txBody>
      </p:sp>
    </p:spTree>
    <p:extLst>
      <p:ext uri="{BB962C8B-B14F-4D97-AF65-F5344CB8AC3E}">
        <p14:creationId xmlns:p14="http://schemas.microsoft.com/office/powerpoint/2010/main" val="1947821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D595ABA-92D5-3E42-BFD0-0C41AAA3093D}"/>
              </a:ext>
            </a:extLst>
          </p:cNvPr>
          <p:cNvSpPr>
            <a:spLocks noGrp="1"/>
          </p:cNvSpPr>
          <p:nvPr>
            <p:ph type="dt" sz="half" idx="10"/>
          </p:nvPr>
        </p:nvSpPr>
        <p:spPr/>
        <p:txBody>
          <a:bodyPr/>
          <a:lstStyle/>
          <a:p>
            <a:fld id="{75A3FB84-53EE-2D48-8EA4-8F5957DF7413}" type="datetime1">
              <a:rPr lang="en-US" smtClean="0"/>
              <a:t>2/5/25</a:t>
            </a:fld>
            <a:endParaRPr lang="en-US"/>
          </a:p>
        </p:txBody>
      </p:sp>
      <p:sp>
        <p:nvSpPr>
          <p:cNvPr id="5" name="Slide Number Placeholder 4">
            <a:extLst>
              <a:ext uri="{FF2B5EF4-FFF2-40B4-BE49-F238E27FC236}">
                <a16:creationId xmlns:a16="http://schemas.microsoft.com/office/drawing/2014/main" id="{C2685279-91DF-2C46-85C5-CD77B1ED034F}"/>
              </a:ext>
            </a:extLst>
          </p:cNvPr>
          <p:cNvSpPr>
            <a:spLocks noGrp="1"/>
          </p:cNvSpPr>
          <p:nvPr>
            <p:ph type="sldNum" sz="quarter" idx="12"/>
          </p:nvPr>
        </p:nvSpPr>
        <p:spPr/>
        <p:txBody>
          <a:bodyPr/>
          <a:lstStyle/>
          <a:p>
            <a:fld id="{0FB56013-B943-42BA-886F-6F9D4EB85E9D}" type="slidenum">
              <a:rPr lang="en-US" smtClean="0"/>
              <a:pPr/>
              <a:t>37</a:t>
            </a:fld>
            <a:endParaRPr lang="en-US"/>
          </a:p>
        </p:txBody>
      </p:sp>
      <p:pic>
        <p:nvPicPr>
          <p:cNvPr id="8" name="Picture 7">
            <a:extLst>
              <a:ext uri="{FF2B5EF4-FFF2-40B4-BE49-F238E27FC236}">
                <a16:creationId xmlns:a16="http://schemas.microsoft.com/office/drawing/2014/main" id="{1FA8DAB0-3DAF-9247-8C44-33BF3590DE59}"/>
              </a:ext>
            </a:extLst>
          </p:cNvPr>
          <p:cNvPicPr>
            <a:picLocks noChangeAspect="1"/>
          </p:cNvPicPr>
          <p:nvPr/>
        </p:nvPicPr>
        <p:blipFill>
          <a:blip r:embed="rId2"/>
          <a:stretch>
            <a:fillRect/>
          </a:stretch>
        </p:blipFill>
        <p:spPr>
          <a:xfrm>
            <a:off x="602963" y="2969758"/>
            <a:ext cx="2249488" cy="3386592"/>
          </a:xfrm>
          <a:prstGeom prst="rect">
            <a:avLst/>
          </a:prstGeom>
        </p:spPr>
      </p:pic>
      <p:pic>
        <p:nvPicPr>
          <p:cNvPr id="9" name="Content Placeholder 5">
            <a:extLst>
              <a:ext uri="{FF2B5EF4-FFF2-40B4-BE49-F238E27FC236}">
                <a16:creationId xmlns:a16="http://schemas.microsoft.com/office/drawing/2014/main" id="{C1D2CF7B-9B24-FE4F-BE5A-F6A37B142A1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751" t="26357" r="3178" b="28746"/>
          <a:stretch/>
        </p:blipFill>
        <p:spPr bwMode="auto">
          <a:xfrm>
            <a:off x="7946795" y="2969178"/>
            <a:ext cx="3275552" cy="3093265"/>
          </a:xfrm>
          <a:prstGeom prst="rect">
            <a:avLst/>
          </a:prstGeom>
          <a:ln>
            <a:noFill/>
          </a:ln>
          <a:extLst>
            <a:ext uri="{53640926-AAD7-44d8-BBD7-CCE9431645EC}">
              <a14:shadowObscured xmlns="" xmlns:a14="http://schemas.microsoft.com/office/drawing/2010/main"/>
            </a:ext>
          </a:extLst>
        </p:spPr>
      </p:pic>
      <p:pic>
        <p:nvPicPr>
          <p:cNvPr id="10" name="Content Placeholder 5">
            <a:extLst>
              <a:ext uri="{FF2B5EF4-FFF2-40B4-BE49-F238E27FC236}">
                <a16:creationId xmlns:a16="http://schemas.microsoft.com/office/drawing/2014/main" id="{63F0BA00-542A-E94D-881C-1C4E14795A9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886" t="26794" r="53693" b="28746"/>
          <a:stretch/>
        </p:blipFill>
        <p:spPr bwMode="auto">
          <a:xfrm>
            <a:off x="4193618" y="2969178"/>
            <a:ext cx="3753177" cy="3386592"/>
          </a:xfrm>
          <a:prstGeom prst="rect">
            <a:avLst/>
          </a:prstGeom>
          <a:ln>
            <a:noFill/>
          </a:ln>
          <a:extLst>
            <a:ext uri="{53640926-AAD7-44d8-BBD7-CCE9431645EC}">
              <a14:shadowObscured xmlns="" xmlns:a14="http://schemas.microsoft.com/office/drawing/2010/main"/>
            </a:ext>
          </a:extLst>
        </p:spPr>
      </p:pic>
      <p:sp>
        <p:nvSpPr>
          <p:cNvPr id="11" name="Title 1">
            <a:extLst>
              <a:ext uri="{FF2B5EF4-FFF2-40B4-BE49-F238E27FC236}">
                <a16:creationId xmlns:a16="http://schemas.microsoft.com/office/drawing/2014/main" id="{5EB0100B-FE36-1A4F-AD40-ECDAC17AA521}"/>
              </a:ext>
            </a:extLst>
          </p:cNvPr>
          <p:cNvSpPr txBox="1">
            <a:spLocks/>
          </p:cNvSpPr>
          <p:nvPr/>
        </p:nvSpPr>
        <p:spPr>
          <a:xfrm>
            <a:off x="405353" y="365125"/>
            <a:ext cx="8652921" cy="2414451"/>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a-DK" sz="2600" b="1" dirty="0" err="1">
                <a:latin typeface="Calisto MT" panose="02040603050505030304" pitchFamily="18" charset="77"/>
              </a:rPr>
              <a:t>Netværksforklaringere</a:t>
            </a:r>
            <a:r>
              <a:rPr lang="da-DK" sz="2600" b="1" dirty="0">
                <a:latin typeface="Calisto MT" panose="02040603050505030304" pitchFamily="18" charset="77"/>
              </a:rPr>
              <a:t> III</a:t>
            </a:r>
            <a:br>
              <a:rPr lang="da-DK" sz="2600" dirty="0">
                <a:latin typeface="Calisto MT" panose="02040603050505030304" pitchFamily="18" charset="77"/>
              </a:rPr>
            </a:br>
            <a:br>
              <a:rPr lang="da-DK" sz="2600" dirty="0">
                <a:latin typeface="Calisto MT" panose="02040603050505030304" pitchFamily="18" charset="77"/>
              </a:rPr>
            </a:br>
            <a:r>
              <a:rPr lang="da-DK" sz="2600" dirty="0">
                <a:latin typeface="Calisto MT" panose="02040603050505030304" pitchFamily="18" charset="77"/>
              </a:rPr>
              <a:t>Centralisering – tendensen til at aktører skaber forbindelser med aktører der i forvejen har mange forbindelser</a:t>
            </a:r>
          </a:p>
          <a:p>
            <a:r>
              <a:rPr lang="da-DK" sz="2600" dirty="0">
                <a:latin typeface="Calisto MT" panose="02040603050505030304" pitchFamily="18" charset="77"/>
              </a:rPr>
              <a:t>Effekt: sammenhængskraft + ulige adgang til information og resurser</a:t>
            </a:r>
          </a:p>
        </p:txBody>
      </p:sp>
    </p:spTree>
    <p:extLst>
      <p:ext uri="{BB962C8B-B14F-4D97-AF65-F5344CB8AC3E}">
        <p14:creationId xmlns:p14="http://schemas.microsoft.com/office/powerpoint/2010/main" val="2284693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545" y="68358"/>
            <a:ext cx="8562110" cy="1518047"/>
          </a:xfrm>
        </p:spPr>
        <p:txBody>
          <a:bodyPr>
            <a:normAutofit/>
          </a:bodyPr>
          <a:lstStyle/>
          <a:p>
            <a:pPr algn="l"/>
            <a:r>
              <a:rPr lang="en-US" sz="2600" b="1" dirty="0" err="1">
                <a:latin typeface="Calisto MT"/>
                <a:cs typeface="Calisto MT"/>
              </a:rPr>
              <a:t>Netværkseffekter</a:t>
            </a:r>
            <a:r>
              <a:rPr lang="en-US" sz="2600" dirty="0">
                <a:latin typeface="Calisto MT"/>
                <a:cs typeface="Calisto MT"/>
              </a:rPr>
              <a:t> </a:t>
            </a:r>
            <a:r>
              <a:rPr lang="en-US" sz="2600" dirty="0" err="1">
                <a:latin typeface="Calisto MT"/>
                <a:cs typeface="Calisto MT"/>
              </a:rPr>
              <a:t>på</a:t>
            </a:r>
            <a:r>
              <a:rPr lang="en-US" sz="2600" dirty="0">
                <a:latin typeface="Calisto MT"/>
                <a:cs typeface="Calisto MT"/>
              </a:rPr>
              <a:t> </a:t>
            </a:r>
            <a:r>
              <a:rPr lang="en-US" sz="2600" dirty="0" err="1">
                <a:latin typeface="Calisto MT"/>
                <a:cs typeface="Calisto MT"/>
              </a:rPr>
              <a:t>aktører</a:t>
            </a:r>
            <a:endParaRPr lang="en-US" sz="2600" dirty="0">
              <a:latin typeface="Calisto MT"/>
              <a:cs typeface="Calisto MT"/>
            </a:endParaRPr>
          </a:p>
        </p:txBody>
      </p:sp>
      <p:sp>
        <p:nvSpPr>
          <p:cNvPr id="3" name="Content Placeholder 2"/>
          <p:cNvSpPr>
            <a:spLocks noGrp="1"/>
          </p:cNvSpPr>
          <p:nvPr>
            <p:ph idx="1"/>
          </p:nvPr>
        </p:nvSpPr>
        <p:spPr>
          <a:xfrm>
            <a:off x="526474" y="1884218"/>
            <a:ext cx="9592154" cy="4572000"/>
          </a:xfrm>
        </p:spPr>
        <p:txBody>
          <a:bodyPr anchor="t" anchorCtr="0">
            <a:noAutofit/>
          </a:bodyPr>
          <a:lstStyle/>
          <a:p>
            <a:r>
              <a:rPr lang="da-DK" sz="2400" dirty="0">
                <a:latin typeface="Calisto MT"/>
                <a:cs typeface="Calisto MT"/>
              </a:rPr>
              <a:t>Floweffekter: Direkte eller indirekte (gennem stier) overførsel af ressources fra aktører til aktører</a:t>
            </a:r>
          </a:p>
          <a:p>
            <a:pPr marL="0" indent="0">
              <a:buNone/>
            </a:pPr>
            <a:endParaRPr lang="da-DK" sz="2400" dirty="0">
              <a:latin typeface="Calisto MT"/>
              <a:cs typeface="Calisto MT"/>
            </a:endParaRPr>
          </a:p>
          <a:p>
            <a:r>
              <a:rPr lang="da-DK" sz="2400" dirty="0">
                <a:latin typeface="Calisto MT"/>
                <a:cs typeface="Calisto MT"/>
              </a:rPr>
              <a:t>Isomorfismer/tilpasning: aktørers indlejret i de ens netværksroller smitter af på deres adfærd og tænkemåder</a:t>
            </a:r>
          </a:p>
          <a:p>
            <a:pPr marL="0" indent="0">
              <a:buNone/>
            </a:pPr>
            <a:endParaRPr lang="da-DK" sz="2400" dirty="0">
              <a:latin typeface="Calisto MT"/>
              <a:cs typeface="Calisto MT"/>
            </a:endParaRPr>
          </a:p>
          <a:p>
            <a:r>
              <a:rPr lang="da-DK" sz="2400" dirty="0">
                <a:latin typeface="Calisto MT"/>
                <a:cs typeface="Calisto MT"/>
              </a:rPr>
              <a:t>Bindinger: sociale bånd mellem aktører binder dem sammen til </a:t>
            </a:r>
            <a:r>
              <a:rPr lang="da-DK" sz="2400" dirty="0" err="1">
                <a:latin typeface="Calisto MT"/>
                <a:cs typeface="Calisto MT"/>
              </a:rPr>
              <a:t>højereordens</a:t>
            </a:r>
            <a:r>
              <a:rPr lang="da-DK" sz="2400" dirty="0">
                <a:latin typeface="Calisto MT"/>
                <a:cs typeface="Calisto MT"/>
              </a:rPr>
              <a:t> aktører, som ikke kan reduceres til deres </a:t>
            </a:r>
            <a:r>
              <a:rPr lang="da-DK" sz="2400" dirty="0" err="1">
                <a:latin typeface="Calisto MT"/>
                <a:cs typeface="Calisto MT"/>
              </a:rPr>
              <a:t>enekelte</a:t>
            </a:r>
            <a:r>
              <a:rPr lang="da-DK" sz="2400" dirty="0">
                <a:latin typeface="Calisto MT"/>
                <a:cs typeface="Calisto MT"/>
              </a:rPr>
              <a:t> bestanddele</a:t>
            </a:r>
            <a:endParaRPr lang="da-DK" dirty="0">
              <a:latin typeface="Calisto MT"/>
              <a:cs typeface="Calisto MT"/>
            </a:endParaRPr>
          </a:p>
          <a:p>
            <a:pPr marL="321457" lvl="1" indent="0">
              <a:buNone/>
            </a:pPr>
            <a:endParaRPr lang="da-DK" dirty="0">
              <a:latin typeface="Calisto MT"/>
              <a:cs typeface="Calisto MT"/>
            </a:endParaRPr>
          </a:p>
          <a:p>
            <a:pPr lvl="1">
              <a:buFont typeface="Arial" panose="020B0604020202020204" pitchFamily="34" charset="0"/>
              <a:buChar char="•"/>
            </a:pPr>
            <a:endParaRPr lang="da-DK" dirty="0">
              <a:latin typeface="Calisto MT"/>
              <a:cs typeface="Calisto MT"/>
            </a:endParaRPr>
          </a:p>
        </p:txBody>
      </p:sp>
    </p:spTree>
    <p:extLst>
      <p:ext uri="{BB962C8B-B14F-4D97-AF65-F5344CB8AC3E}">
        <p14:creationId xmlns:p14="http://schemas.microsoft.com/office/powerpoint/2010/main" val="4977504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C8E7A-2957-BD41-92FC-686655B266C9}"/>
              </a:ext>
            </a:extLst>
          </p:cNvPr>
          <p:cNvSpPr>
            <a:spLocks noGrp="1"/>
          </p:cNvSpPr>
          <p:nvPr>
            <p:ph type="title"/>
          </p:nvPr>
        </p:nvSpPr>
        <p:spPr>
          <a:xfrm>
            <a:off x="2312987" y="250829"/>
            <a:ext cx="7366000" cy="1101192"/>
          </a:xfrm>
        </p:spPr>
        <p:txBody>
          <a:bodyPr>
            <a:normAutofit/>
          </a:bodyPr>
          <a:lstStyle/>
          <a:p>
            <a:r>
              <a:rPr lang="da-DK" sz="3800" dirty="0">
                <a:latin typeface="Calisto MT" panose="02040603050505030304" pitchFamily="18" charset="77"/>
              </a:rPr>
              <a:t>Vigtige strukturer</a:t>
            </a:r>
          </a:p>
        </p:txBody>
      </p:sp>
      <p:sp>
        <p:nvSpPr>
          <p:cNvPr id="3" name="Content Placeholder 2">
            <a:extLst>
              <a:ext uri="{FF2B5EF4-FFF2-40B4-BE49-F238E27FC236}">
                <a16:creationId xmlns:a16="http://schemas.microsoft.com/office/drawing/2014/main" id="{EBE394FE-3BF3-AA4A-AEEF-3AA87A0AE224}"/>
              </a:ext>
            </a:extLst>
          </p:cNvPr>
          <p:cNvSpPr>
            <a:spLocks noGrp="1"/>
          </p:cNvSpPr>
          <p:nvPr>
            <p:ph idx="1"/>
          </p:nvPr>
        </p:nvSpPr>
        <p:spPr/>
        <p:txBody>
          <a:bodyPr/>
          <a:lstStyle/>
          <a:p>
            <a:r>
              <a:rPr lang="da-DK" dirty="0">
                <a:latin typeface="Calisto MT" panose="02040603050505030304" pitchFamily="18" charset="77"/>
              </a:rPr>
              <a:t>Kernespillere</a:t>
            </a:r>
          </a:p>
          <a:p>
            <a:endParaRPr lang="da-DK" dirty="0">
              <a:latin typeface="Calisto MT" panose="02040603050505030304" pitchFamily="18" charset="77"/>
            </a:endParaRPr>
          </a:p>
          <a:p>
            <a:r>
              <a:rPr lang="da-DK" dirty="0">
                <a:latin typeface="Calisto MT" panose="02040603050505030304" pitchFamily="18" charset="77"/>
              </a:rPr>
              <a:t>Grupper og fraktioner </a:t>
            </a:r>
          </a:p>
          <a:p>
            <a:endParaRPr lang="da-DK" dirty="0">
              <a:latin typeface="Calisto MT" panose="02040603050505030304" pitchFamily="18" charset="77"/>
            </a:endParaRPr>
          </a:p>
          <a:p>
            <a:r>
              <a:rPr lang="da-DK" dirty="0">
                <a:latin typeface="Calisto MT" panose="02040603050505030304" pitchFamily="18" charset="77"/>
              </a:rPr>
              <a:t>Brobyggere</a:t>
            </a:r>
          </a:p>
          <a:p>
            <a:endParaRPr lang="da-DK" dirty="0">
              <a:latin typeface="Calisto MT" panose="02040603050505030304" pitchFamily="18" charset="77"/>
            </a:endParaRPr>
          </a:p>
          <a:p>
            <a:r>
              <a:rPr lang="da-DK" dirty="0">
                <a:latin typeface="Calisto MT" panose="02040603050505030304" pitchFamily="18" charset="77"/>
              </a:rPr>
              <a:t>Enspændere</a:t>
            </a:r>
          </a:p>
        </p:txBody>
      </p:sp>
      <p:sp>
        <p:nvSpPr>
          <p:cNvPr id="4" name="Date Placeholder 3">
            <a:extLst>
              <a:ext uri="{FF2B5EF4-FFF2-40B4-BE49-F238E27FC236}">
                <a16:creationId xmlns:a16="http://schemas.microsoft.com/office/drawing/2014/main" id="{2E7227EC-0B5F-F043-A681-4EF550B46175}"/>
              </a:ext>
            </a:extLst>
          </p:cNvPr>
          <p:cNvSpPr>
            <a:spLocks noGrp="1"/>
          </p:cNvSpPr>
          <p:nvPr>
            <p:ph type="dt" sz="half" idx="10"/>
          </p:nvPr>
        </p:nvSpPr>
        <p:spPr/>
        <p:txBody>
          <a:bodyPr/>
          <a:lstStyle/>
          <a:p>
            <a:fld id="{F2767676-7A77-0E4F-99BC-4AF91739FF41}" type="datetime1">
              <a:rPr lang="en-US" smtClean="0"/>
              <a:t>2/5/25</a:t>
            </a:fld>
            <a:endParaRPr lang="en-US"/>
          </a:p>
        </p:txBody>
      </p:sp>
      <p:sp>
        <p:nvSpPr>
          <p:cNvPr id="5" name="Slide Number Placeholder 4">
            <a:extLst>
              <a:ext uri="{FF2B5EF4-FFF2-40B4-BE49-F238E27FC236}">
                <a16:creationId xmlns:a16="http://schemas.microsoft.com/office/drawing/2014/main" id="{97D89789-A1FF-1941-9349-971E74832813}"/>
              </a:ext>
            </a:extLst>
          </p:cNvPr>
          <p:cNvSpPr>
            <a:spLocks noGrp="1"/>
          </p:cNvSpPr>
          <p:nvPr>
            <p:ph type="sldNum" sz="quarter" idx="12"/>
          </p:nvPr>
        </p:nvSpPr>
        <p:spPr/>
        <p:txBody>
          <a:bodyPr/>
          <a:lstStyle/>
          <a:p>
            <a:fld id="{0FB56013-B943-42BA-886F-6F9D4EB85E9D}" type="slidenum">
              <a:rPr lang="en-US" smtClean="0"/>
              <a:pPr/>
              <a:t>39</a:t>
            </a:fld>
            <a:endParaRPr lang="en-US"/>
          </a:p>
        </p:txBody>
      </p:sp>
    </p:spTree>
    <p:extLst>
      <p:ext uri="{BB962C8B-B14F-4D97-AF65-F5344CB8AC3E}">
        <p14:creationId xmlns:p14="http://schemas.microsoft.com/office/powerpoint/2010/main" val="42427606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3960-F76C-6A47-9992-029DA9E5F52A}"/>
              </a:ext>
            </a:extLst>
          </p:cNvPr>
          <p:cNvSpPr>
            <a:spLocks noGrp="1"/>
          </p:cNvSpPr>
          <p:nvPr>
            <p:ph type="title"/>
          </p:nvPr>
        </p:nvSpPr>
        <p:spPr>
          <a:xfrm>
            <a:off x="1036163" y="157735"/>
            <a:ext cx="10515600" cy="1325563"/>
          </a:xfrm>
        </p:spPr>
        <p:txBody>
          <a:bodyPr>
            <a:normAutofit/>
          </a:bodyPr>
          <a:lstStyle/>
          <a:p>
            <a:r>
              <a:rPr lang="en-DK" sz="3600" dirty="0">
                <a:latin typeface="Calisto MT" panose="02040603050505030304" pitchFamily="18" charset="77"/>
              </a:rPr>
              <a:t>Netværksdata</a:t>
            </a:r>
          </a:p>
        </p:txBody>
      </p:sp>
      <p:sp>
        <p:nvSpPr>
          <p:cNvPr id="3" name="Content Placeholder 2">
            <a:extLst>
              <a:ext uri="{FF2B5EF4-FFF2-40B4-BE49-F238E27FC236}">
                <a16:creationId xmlns:a16="http://schemas.microsoft.com/office/drawing/2014/main" id="{D4B977AA-0456-664D-A00A-8E01D836C132}"/>
              </a:ext>
            </a:extLst>
          </p:cNvPr>
          <p:cNvSpPr>
            <a:spLocks noGrp="1"/>
          </p:cNvSpPr>
          <p:nvPr>
            <p:ph idx="1"/>
          </p:nvPr>
        </p:nvSpPr>
        <p:spPr/>
        <p:txBody>
          <a:bodyPr>
            <a:normAutofit lnSpcReduction="10000"/>
          </a:bodyPr>
          <a:lstStyle/>
          <a:p>
            <a:r>
              <a:rPr lang="en-DK" dirty="0">
                <a:latin typeface="Calisto MT" panose="02040603050505030304" pitchFamily="18" charset="77"/>
              </a:rPr>
              <a:t>Surveys/interview</a:t>
            </a:r>
          </a:p>
          <a:p>
            <a:r>
              <a:rPr lang="en-DK" dirty="0">
                <a:latin typeface="Calisto MT" panose="02040603050505030304" pitchFamily="18" charset="77"/>
              </a:rPr>
              <a:t>Observations-baseret </a:t>
            </a:r>
          </a:p>
          <a:p>
            <a:r>
              <a:rPr lang="en-DK" dirty="0">
                <a:latin typeface="Calisto MT" panose="02040603050505030304" pitchFamily="18" charset="77"/>
              </a:rPr>
              <a:t>Dokument-baseret</a:t>
            </a:r>
          </a:p>
          <a:p>
            <a:r>
              <a:rPr lang="en-DK" dirty="0">
                <a:latin typeface="Calisto MT" panose="02040603050505030304" pitchFamily="18" charset="77"/>
              </a:rPr>
              <a:t>Register-baseret</a:t>
            </a:r>
          </a:p>
          <a:p>
            <a:pPr marL="0" indent="0">
              <a:buNone/>
            </a:pPr>
            <a:endParaRPr lang="en-DK" dirty="0">
              <a:latin typeface="Calisto MT" panose="02040603050505030304" pitchFamily="18" charset="77"/>
            </a:endParaRPr>
          </a:p>
          <a:p>
            <a:pPr marL="0" indent="0">
              <a:buNone/>
            </a:pPr>
            <a:r>
              <a:rPr lang="da-DK" dirty="0">
                <a:latin typeface="Calisto MT"/>
                <a:cs typeface="Calisto MT"/>
              </a:rPr>
              <a:t>Oprindeligt var de tre første tilgange meget omkostningstunge og tidskrævende</a:t>
            </a:r>
          </a:p>
          <a:p>
            <a:pPr marL="0" indent="0">
              <a:buNone/>
            </a:pPr>
            <a:endParaRPr lang="da-DK" dirty="0">
              <a:latin typeface="Calisto MT"/>
              <a:cs typeface="Calisto MT"/>
            </a:endParaRPr>
          </a:p>
          <a:p>
            <a:pPr marL="0" indent="0">
              <a:buNone/>
            </a:pPr>
            <a:r>
              <a:rPr lang="da-DK" dirty="0">
                <a:latin typeface="Calisto MT"/>
                <a:cs typeface="Calisto MT"/>
              </a:rPr>
              <a:t>Digitalisering har gjort netværksdata mere tilgængelige</a:t>
            </a:r>
          </a:p>
        </p:txBody>
      </p:sp>
    </p:spTree>
    <p:extLst>
      <p:ext uri="{BB962C8B-B14F-4D97-AF65-F5344CB8AC3E}">
        <p14:creationId xmlns:p14="http://schemas.microsoft.com/office/powerpoint/2010/main" val="2481313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7168" y="-15503"/>
            <a:ext cx="9517132" cy="1518047"/>
          </a:xfrm>
        </p:spPr>
        <p:txBody>
          <a:bodyPr>
            <a:normAutofit/>
          </a:bodyPr>
          <a:lstStyle/>
          <a:p>
            <a:pPr algn="l"/>
            <a:r>
              <a:rPr lang="en-US" sz="3600" dirty="0" err="1">
                <a:latin typeface="Calisto MT"/>
                <a:cs typeface="Calisto MT"/>
              </a:rPr>
              <a:t>Netværksafgrænsning</a:t>
            </a:r>
            <a:r>
              <a:rPr lang="en-US" sz="3600" dirty="0">
                <a:latin typeface="Calisto MT"/>
                <a:cs typeface="Calisto MT"/>
              </a:rPr>
              <a:t> </a:t>
            </a:r>
            <a:r>
              <a:rPr lang="en-US" sz="3600" dirty="0" err="1">
                <a:latin typeface="Calisto MT"/>
                <a:cs typeface="Calisto MT"/>
              </a:rPr>
              <a:t>og</a:t>
            </a:r>
            <a:r>
              <a:rPr lang="en-US" sz="3600" dirty="0">
                <a:latin typeface="Calisto MT"/>
                <a:cs typeface="Calisto MT"/>
              </a:rPr>
              <a:t> sampling </a:t>
            </a:r>
          </a:p>
        </p:txBody>
      </p:sp>
      <p:sp>
        <p:nvSpPr>
          <p:cNvPr id="3" name="Content Placeholder 2"/>
          <p:cNvSpPr>
            <a:spLocks noGrp="1"/>
          </p:cNvSpPr>
          <p:nvPr>
            <p:ph idx="1"/>
          </p:nvPr>
        </p:nvSpPr>
        <p:spPr>
          <a:xfrm>
            <a:off x="347134" y="1558042"/>
            <a:ext cx="9771494" cy="4683809"/>
          </a:xfrm>
        </p:spPr>
        <p:txBody>
          <a:bodyPr anchor="t" anchorCtr="0">
            <a:noAutofit/>
          </a:bodyPr>
          <a:lstStyle/>
          <a:p>
            <a:pPr marL="0" indent="0">
              <a:buNone/>
            </a:pPr>
            <a:r>
              <a:rPr lang="da-DK" sz="2400" dirty="0" err="1">
                <a:latin typeface="Calisto MT"/>
                <a:cs typeface="Calisto MT"/>
              </a:rPr>
              <a:t>Ego-centrisk</a:t>
            </a:r>
            <a:r>
              <a:rPr lang="da-DK" sz="2400" dirty="0">
                <a:latin typeface="Calisto MT"/>
                <a:cs typeface="Calisto MT"/>
              </a:rPr>
              <a:t> vs. Netværks-niveau</a:t>
            </a:r>
            <a:r>
              <a:rPr lang="da-DK" sz="2400" b="1" dirty="0">
                <a:latin typeface="Calisto MT"/>
                <a:cs typeface="Calisto MT"/>
              </a:rPr>
              <a:t> </a:t>
            </a:r>
            <a:r>
              <a:rPr lang="da-DK" sz="2400" dirty="0">
                <a:latin typeface="Calisto MT"/>
                <a:cs typeface="Calisto MT"/>
              </a:rPr>
              <a:t>populations-sampling</a:t>
            </a:r>
          </a:p>
          <a:p>
            <a:pPr marL="0" indent="0">
              <a:buNone/>
            </a:pPr>
            <a:endParaRPr lang="da-DK" sz="2400" dirty="0">
              <a:latin typeface="Calisto MT"/>
              <a:cs typeface="Calisto MT"/>
            </a:endParaRPr>
          </a:p>
          <a:p>
            <a:pPr marL="0" indent="0">
              <a:buNone/>
            </a:pPr>
            <a:r>
              <a:rPr lang="da-DK" sz="2400" dirty="0" err="1">
                <a:latin typeface="Calisto MT"/>
                <a:cs typeface="Calisto MT"/>
              </a:rPr>
              <a:t>Ego-centrisk</a:t>
            </a:r>
            <a:r>
              <a:rPr lang="da-DK" sz="2400" dirty="0">
                <a:latin typeface="Calisto MT"/>
                <a:cs typeface="Calisto MT"/>
              </a:rPr>
              <a:t> -&gt; begrænset / lokale ”nabolag”</a:t>
            </a:r>
          </a:p>
          <a:p>
            <a:pPr marL="0" indent="0">
              <a:buNone/>
            </a:pPr>
            <a:endParaRPr lang="da-DK" sz="2400" dirty="0">
              <a:latin typeface="Calisto MT"/>
              <a:cs typeface="Calisto MT"/>
            </a:endParaRPr>
          </a:p>
          <a:p>
            <a:pPr marL="0" indent="0">
              <a:buNone/>
            </a:pPr>
            <a:r>
              <a:rPr lang="da-DK" sz="2400" dirty="0">
                <a:latin typeface="Calisto MT"/>
                <a:cs typeface="Calisto MT"/>
              </a:rPr>
              <a:t>Netværksniveau -&gt; ”globale” stisystemer</a:t>
            </a:r>
          </a:p>
          <a:p>
            <a:pPr marL="0" indent="0">
              <a:buNone/>
            </a:pPr>
            <a:endParaRPr lang="da-DK" sz="2400" dirty="0">
              <a:latin typeface="Calisto MT"/>
              <a:cs typeface="Calisto MT"/>
            </a:endParaRPr>
          </a:p>
          <a:p>
            <a:pPr marL="0" indent="0">
              <a:buNone/>
            </a:pPr>
            <a:r>
              <a:rPr lang="da-DK" sz="2400" dirty="0">
                <a:latin typeface="Calisto MT"/>
                <a:cs typeface="Calisto MT"/>
              </a:rPr>
              <a:t>”Opfattede” vs. formelle </a:t>
            </a:r>
            <a:r>
              <a:rPr lang="da-DK" sz="2400" dirty="0" err="1">
                <a:latin typeface="Calisto MT"/>
                <a:cs typeface="Calisto MT"/>
              </a:rPr>
              <a:t>netværkgrænser</a:t>
            </a:r>
            <a:r>
              <a:rPr lang="da-DK" sz="2400" dirty="0">
                <a:latin typeface="Calisto MT"/>
                <a:cs typeface="Calisto MT"/>
              </a:rPr>
              <a:t> – begge har begrænsninger	</a:t>
            </a:r>
          </a:p>
          <a:p>
            <a:pPr marL="0" indent="0">
              <a:buNone/>
            </a:pPr>
            <a:endParaRPr lang="da-DK" sz="2400" dirty="0">
              <a:latin typeface="Calisto MT"/>
              <a:cs typeface="Calisto MT"/>
            </a:endParaRPr>
          </a:p>
          <a:p>
            <a:pPr marL="0" indent="0">
              <a:buNone/>
            </a:pPr>
            <a:r>
              <a:rPr lang="da-DK" sz="2400" dirty="0" err="1">
                <a:latin typeface="Calisto MT"/>
                <a:cs typeface="Calisto MT"/>
              </a:rPr>
              <a:t>Udfordinger</a:t>
            </a:r>
            <a:r>
              <a:rPr lang="da-DK" sz="2400" dirty="0">
                <a:latin typeface="Calisto MT"/>
                <a:cs typeface="Calisto MT"/>
              </a:rPr>
              <a:t> med sampling</a:t>
            </a:r>
          </a:p>
          <a:p>
            <a:pPr marL="0" indent="0">
              <a:buNone/>
            </a:pPr>
            <a:endParaRPr lang="da-DK" sz="2400" dirty="0">
              <a:latin typeface="Calisto MT"/>
              <a:cs typeface="Calisto MT"/>
            </a:endParaRPr>
          </a:p>
          <a:p>
            <a:pPr marL="0" indent="0">
              <a:buNone/>
            </a:pPr>
            <a:r>
              <a:rPr lang="da-DK" sz="2400" dirty="0" err="1">
                <a:latin typeface="Calisto MT"/>
                <a:cs typeface="Calisto MT"/>
              </a:rPr>
              <a:t>Positional</a:t>
            </a:r>
            <a:r>
              <a:rPr lang="da-DK" sz="2400" dirty="0">
                <a:latin typeface="Calisto MT"/>
                <a:cs typeface="Calisto MT"/>
              </a:rPr>
              <a:t>- vs. ”omdømme”-sampling</a:t>
            </a:r>
          </a:p>
        </p:txBody>
      </p:sp>
    </p:spTree>
    <p:extLst>
      <p:ext uri="{BB962C8B-B14F-4D97-AF65-F5344CB8AC3E}">
        <p14:creationId xmlns:p14="http://schemas.microsoft.com/office/powerpoint/2010/main" val="2984225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20FB-2506-CEB3-650E-6D5021B3711B}"/>
              </a:ext>
            </a:extLst>
          </p:cNvPr>
          <p:cNvSpPr>
            <a:spLocks noGrp="1"/>
          </p:cNvSpPr>
          <p:nvPr>
            <p:ph type="title"/>
          </p:nvPr>
        </p:nvSpPr>
        <p:spPr/>
        <p:txBody>
          <a:bodyPr/>
          <a:lstStyle/>
          <a:p>
            <a:r>
              <a:rPr lang="en-US" dirty="0" err="1"/>
              <a:t>Næste</a:t>
            </a:r>
            <a:r>
              <a:rPr lang="en-US" dirty="0"/>
              <a:t> gang (</a:t>
            </a:r>
            <a:r>
              <a:rPr lang="en-US" dirty="0" err="1"/>
              <a:t>i</a:t>
            </a:r>
            <a:r>
              <a:rPr lang="en-US" dirty="0"/>
              <a:t> morgen </a:t>
            </a:r>
            <a:r>
              <a:rPr lang="en-US" dirty="0" err="1"/>
              <a:t>tidlig</a:t>
            </a:r>
            <a:r>
              <a:rPr lang="en-US" dirty="0"/>
              <a:t>)</a:t>
            </a:r>
          </a:p>
        </p:txBody>
      </p:sp>
      <p:sp>
        <p:nvSpPr>
          <p:cNvPr id="3" name="Content Placeholder 2">
            <a:extLst>
              <a:ext uri="{FF2B5EF4-FFF2-40B4-BE49-F238E27FC236}">
                <a16:creationId xmlns:a16="http://schemas.microsoft.com/office/drawing/2014/main" id="{D5308647-E433-1DAA-4019-55F05F86F82B}"/>
              </a:ext>
            </a:extLst>
          </p:cNvPr>
          <p:cNvSpPr>
            <a:spLocks noGrp="1"/>
          </p:cNvSpPr>
          <p:nvPr>
            <p:ph idx="1"/>
          </p:nvPr>
        </p:nvSpPr>
        <p:spPr/>
        <p:txBody>
          <a:bodyPr/>
          <a:lstStyle/>
          <a:p>
            <a:r>
              <a:rPr lang="en-US" dirty="0"/>
              <a:t>Vi </a:t>
            </a:r>
            <a:r>
              <a:rPr lang="en-US" dirty="0" err="1"/>
              <a:t>går</a:t>
            </a:r>
            <a:r>
              <a:rPr lang="en-US" dirty="0"/>
              <a:t> </a:t>
            </a:r>
            <a:r>
              <a:rPr lang="en-US" dirty="0" err="1"/>
              <a:t>videre</a:t>
            </a:r>
            <a:r>
              <a:rPr lang="en-US" dirty="0"/>
              <a:t> med </a:t>
            </a:r>
            <a:r>
              <a:rPr lang="en-US" dirty="0" err="1"/>
              <a:t>introduktionen</a:t>
            </a:r>
            <a:r>
              <a:rPr lang="en-US" dirty="0"/>
              <a:t> </a:t>
            </a:r>
            <a:r>
              <a:rPr lang="en-US" dirty="0" err="1"/>
              <a:t>til</a:t>
            </a:r>
            <a:r>
              <a:rPr lang="en-US" dirty="0"/>
              <a:t> </a:t>
            </a:r>
            <a:r>
              <a:rPr lang="en-US" dirty="0" err="1"/>
              <a:t>netværksanalyse</a:t>
            </a:r>
            <a:endParaRPr lang="en-US" dirty="0"/>
          </a:p>
        </p:txBody>
      </p:sp>
    </p:spTree>
    <p:extLst>
      <p:ext uri="{BB962C8B-B14F-4D97-AF65-F5344CB8AC3E}">
        <p14:creationId xmlns:p14="http://schemas.microsoft.com/office/powerpoint/2010/main" val="2787042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18562</TotalTime>
  <Words>2342</Words>
  <Application>Microsoft Macintosh PowerPoint</Application>
  <PresentationFormat>Widescreen</PresentationFormat>
  <Paragraphs>250</Paragraphs>
  <Slides>42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Calisto MT</vt:lpstr>
      <vt:lpstr>CBS NEW</vt:lpstr>
      <vt:lpstr>Office Theme</vt:lpstr>
      <vt:lpstr>Netværk som organisationsprincip og metode</vt:lpstr>
      <vt:lpstr>Dagsorden</vt:lpstr>
      <vt:lpstr>Formål I</vt:lpstr>
      <vt:lpstr>Formål II</vt:lpstr>
      <vt:lpstr>Læringsmål</vt:lpstr>
      <vt:lpstr>Undervisningsmetoder</vt:lpstr>
      <vt:lpstr>Eksamen</vt:lpstr>
      <vt:lpstr>PowerPoint Presentation</vt:lpstr>
      <vt:lpstr>PowerPoint Presentation</vt:lpstr>
      <vt:lpstr>PowerPoint Presentation</vt:lpstr>
      <vt:lpstr>Baggrund</vt:lpstr>
      <vt:lpstr>Virksomhedsstrategi 1.0</vt:lpstr>
      <vt:lpstr>Virksomhedsstrategi 1.0</vt:lpstr>
      <vt:lpstr>PowerPoint Presentation</vt:lpstr>
      <vt:lpstr>PowerPoint Presentation</vt:lpstr>
      <vt:lpstr>Virksomheden som netværk</vt:lpstr>
      <vt:lpstr>PowerPoint Presentation</vt:lpstr>
      <vt:lpstr>Magt, kontrol og centralitet</vt:lpstr>
      <vt:lpstr>Forhold mellem formel og uformel struktur</vt:lpstr>
      <vt:lpstr>Gruppedannelser, alliancer og konflikter</vt:lpstr>
      <vt:lpstr>Virksomheden i netværk</vt:lpstr>
      <vt:lpstr>Teoretisk baggrund</vt:lpstr>
      <vt:lpstr>Netværksorganisering/styring</vt:lpstr>
      <vt:lpstr>PowerPoint Presentation</vt:lpstr>
      <vt:lpstr>Netværksorganiseringens kernefunktioner:</vt:lpstr>
      <vt:lpstr>Netværksorganiseringens kernefunktioner (fortsat):</vt:lpstr>
      <vt:lpstr>Netværk som metode/analysestrategi</vt:lpstr>
      <vt:lpstr>Definition</vt:lpstr>
      <vt:lpstr>Definition</vt:lpstr>
      <vt:lpstr>Definition</vt:lpstr>
      <vt:lpstr>Weak ties decrease the average distance in networks </vt:lpstr>
      <vt:lpstr>Organisations-former i netværksperspektiv</vt:lpstr>
      <vt:lpstr>PowerPoint Presentation</vt:lpstr>
      <vt:lpstr>Hvorfor er netværk struktureret som de er? </vt:lpstr>
      <vt:lpstr>Netværksforklaringer I: Hvorfor ser netværket ud som det gør?  Vigtige relationelle mekanismer at have øje for  Homofili – tendensen til at aktører skaber forbindelser med andre aktører der ligner dem selv (fx køn)</vt:lpstr>
      <vt:lpstr>PowerPoint Presentation</vt:lpstr>
      <vt:lpstr>PowerPoint Presentation</vt:lpstr>
      <vt:lpstr>Netværkseffekter på aktører</vt:lpstr>
      <vt:lpstr>Vigtige strukturer</vt:lpstr>
      <vt:lpstr>Netværksdata</vt:lpstr>
      <vt:lpstr>Netværksafgrænsning og sampling </vt:lpstr>
      <vt:lpstr>Næste gang (i morgen tidlig)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Lasse Folke Henriksen</cp:lastModifiedBy>
  <cp:revision>75</cp:revision>
  <dcterms:created xsi:type="dcterms:W3CDTF">2020-02-10T14:31:55Z</dcterms:created>
  <dcterms:modified xsi:type="dcterms:W3CDTF">2025-02-05T11:26:15Z</dcterms:modified>
</cp:coreProperties>
</file>