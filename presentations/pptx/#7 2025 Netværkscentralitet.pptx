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7" r:id="rId3"/>
    <p:sldId id="272" r:id="rId4"/>
    <p:sldId id="349" r:id="rId5"/>
    <p:sldId id="258" r:id="rId6"/>
    <p:sldId id="348" r:id="rId7"/>
    <p:sldId id="352" r:id="rId8"/>
    <p:sldId id="373" r:id="rId9"/>
    <p:sldId id="374" r:id="rId10"/>
    <p:sldId id="353" r:id="rId11"/>
    <p:sldId id="378" r:id="rId12"/>
    <p:sldId id="354" r:id="rId13"/>
    <p:sldId id="355" r:id="rId14"/>
    <p:sldId id="357" r:id="rId15"/>
    <p:sldId id="350" r:id="rId16"/>
    <p:sldId id="271" r:id="rId17"/>
    <p:sldId id="367" r:id="rId18"/>
    <p:sldId id="369" r:id="rId19"/>
    <p:sldId id="368" r:id="rId20"/>
    <p:sldId id="372" r:id="rId21"/>
    <p:sldId id="370" r:id="rId22"/>
    <p:sldId id="358" r:id="rId23"/>
    <p:sldId id="359" r:id="rId24"/>
    <p:sldId id="360" r:id="rId25"/>
    <p:sldId id="362" r:id="rId26"/>
    <p:sldId id="361" r:id="rId27"/>
    <p:sldId id="363" r:id="rId28"/>
    <p:sldId id="364" r:id="rId29"/>
    <p:sldId id="365" r:id="rId30"/>
    <p:sldId id="356" r:id="rId31"/>
    <p:sldId id="371" r:id="rId32"/>
    <p:sldId id="375" r:id="rId33"/>
    <p:sldId id="309" r:id="rId34"/>
    <p:sldId id="377" r:id="rId35"/>
  </p:sldIdLst>
  <p:sldSz cx="9144000" cy="6858000" type="screen4x3"/>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2" pos="249" userDrawn="1">
          <p15:clr>
            <a:srgbClr val="A4A3A4"/>
          </p15:clr>
        </p15:guide>
        <p15:guide id="3" pos="5511" userDrawn="1">
          <p15:clr>
            <a:srgbClr val="A4A3A4"/>
          </p15:clr>
        </p15:guide>
        <p15:guide id="4" orient="horz" pos="411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67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49" autoAdjust="0"/>
  </p:normalViewPr>
  <p:slideViewPr>
    <p:cSldViewPr>
      <p:cViewPr varScale="1">
        <p:scale>
          <a:sx n="103" d="100"/>
          <a:sy n="103" d="100"/>
        </p:scale>
        <p:origin x="1110" y="102"/>
      </p:cViewPr>
      <p:guideLst>
        <p:guide orient="horz" pos="210"/>
        <p:guide pos="249"/>
        <p:guide pos="5511"/>
        <p:guide orient="horz" pos="411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99C7E1-F2A3-49A9-A82E-B5FF5E15DA00}" type="datetimeFigureOut">
              <a:rPr lang="da-DK" smtClean="0"/>
              <a:t>17-02-2025</a:t>
            </a:fld>
            <a:endParaRPr lang="da-DK"/>
          </a:p>
        </p:txBody>
      </p:sp>
      <p:sp>
        <p:nvSpPr>
          <p:cNvPr id="4" name="Pladsholder til diasbille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a-DK"/>
          </a:p>
        </p:txBody>
      </p:sp>
      <p:sp>
        <p:nvSpPr>
          <p:cNvPr id="7" name="Pladsholder til dias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4F6A9A-10CF-4AA0-BD89-7DB412DA9257}" type="slidenum">
              <a:rPr lang="da-DK" smtClean="0"/>
              <a:t>‹#›</a:t>
            </a:fld>
            <a:endParaRPr lang="da-DK"/>
          </a:p>
        </p:txBody>
      </p:sp>
    </p:spTree>
    <p:extLst>
      <p:ext uri="{BB962C8B-B14F-4D97-AF65-F5344CB8AC3E}">
        <p14:creationId xmlns:p14="http://schemas.microsoft.com/office/powerpoint/2010/main" val="2791617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3" name="Pladsholder til tekst 2"/>
          <p:cNvSpPr>
            <a:spLocks noGrp="1"/>
          </p:cNvSpPr>
          <p:nvPr>
            <p:ph type="body" sz="quarter" idx="10" hasCustomPrompt="1"/>
          </p:nvPr>
        </p:nvSpPr>
        <p:spPr>
          <a:xfrm>
            <a:off x="395288" y="333375"/>
            <a:ext cx="8353425" cy="719361"/>
          </a:xfrm>
        </p:spPr>
        <p:txBody>
          <a:bodyPr/>
          <a:lstStyle>
            <a:lvl1pPr>
              <a:lnSpc>
                <a:spcPct val="90000"/>
              </a:lnSpc>
              <a:defRPr sz="1300" b="1" baseline="0">
                <a:solidFill>
                  <a:srgbClr val="4967AA"/>
                </a:solidFill>
              </a:defRPr>
            </a:lvl1pPr>
          </a:lstStyle>
          <a:p>
            <a:pPr lvl="0"/>
            <a:r>
              <a:rPr lang="da-DK" dirty="0" err="1"/>
              <a:t>Click</a:t>
            </a:r>
            <a:r>
              <a:rPr lang="da-DK" dirty="0"/>
              <a:t> to </a:t>
            </a:r>
            <a:r>
              <a:rPr lang="da-DK" dirty="0" err="1"/>
              <a:t>add</a:t>
            </a:r>
            <a:r>
              <a:rPr lang="da-DK" dirty="0"/>
              <a:t> date, time and </a:t>
            </a:r>
            <a:r>
              <a:rPr lang="da-DK" dirty="0" err="1"/>
              <a:t>optional</a:t>
            </a:r>
            <a:r>
              <a:rPr lang="da-DK" dirty="0"/>
              <a:t> notes</a:t>
            </a:r>
          </a:p>
        </p:txBody>
      </p:sp>
      <p:sp>
        <p:nvSpPr>
          <p:cNvPr id="11" name="Pladsholder til tekst 10"/>
          <p:cNvSpPr>
            <a:spLocks noGrp="1"/>
          </p:cNvSpPr>
          <p:nvPr>
            <p:ph type="body" sz="quarter" idx="11" hasCustomPrompt="1"/>
          </p:nvPr>
        </p:nvSpPr>
        <p:spPr>
          <a:xfrm>
            <a:off x="395288" y="1052736"/>
            <a:ext cx="8353425" cy="2520279"/>
          </a:xfrm>
        </p:spPr>
        <p:txBody>
          <a:bodyPr anchor="b" anchorCtr="0"/>
          <a:lstStyle>
            <a:lvl1pPr>
              <a:lnSpc>
                <a:spcPct val="80000"/>
              </a:lnSpc>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3" name="Pladsholder til tekst 12"/>
          <p:cNvSpPr>
            <a:spLocks noGrp="1"/>
          </p:cNvSpPr>
          <p:nvPr>
            <p:ph type="body" sz="quarter" idx="12" hasCustomPrompt="1"/>
          </p:nvPr>
        </p:nvSpPr>
        <p:spPr>
          <a:xfrm>
            <a:off x="395288" y="3573016"/>
            <a:ext cx="8353425" cy="2303909"/>
          </a:xfrm>
        </p:spPr>
        <p:txBody>
          <a:bodyPr/>
          <a:lstStyle>
            <a:lvl1pPr>
              <a:lnSpc>
                <a:spcPct val="90000"/>
              </a:lnSpc>
              <a:defRPr sz="1600"/>
            </a:lvl1pPr>
          </a:lstStyle>
          <a:p>
            <a:pPr lvl="0"/>
            <a:r>
              <a:rPr lang="da-DK" dirty="0" err="1"/>
              <a:t>Click</a:t>
            </a:r>
            <a:r>
              <a:rPr lang="da-DK" dirty="0"/>
              <a:t> to </a:t>
            </a:r>
            <a:r>
              <a:rPr lang="da-DK" dirty="0" err="1"/>
              <a:t>add</a:t>
            </a:r>
            <a:r>
              <a:rPr lang="da-DK" dirty="0"/>
              <a:t> </a:t>
            </a:r>
            <a:r>
              <a:rPr lang="da-DK" dirty="0" err="1"/>
              <a:t>title</a:t>
            </a:r>
            <a:endParaRPr lang="da-DK" dirty="0"/>
          </a:p>
        </p:txBody>
      </p:sp>
      <p:pic>
        <p:nvPicPr>
          <p:cNvPr id="1028"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94418" y="6251942"/>
            <a:ext cx="2412000" cy="268000"/>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3B8DB67-AFFD-4A84-9282-C1A564A7964E}"/>
              </a:ext>
            </a:extLst>
          </p:cNvPr>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4644008" y="6155992"/>
            <a:ext cx="4258310" cy="471170"/>
          </a:xfrm>
          <a:prstGeom prst="rect">
            <a:avLst/>
          </a:prstGeom>
          <a:noFill/>
          <a:ln>
            <a:noFill/>
          </a:ln>
        </p:spPr>
      </p:pic>
    </p:spTree>
    <p:extLst>
      <p:ext uri="{BB962C8B-B14F-4D97-AF65-F5344CB8AC3E}">
        <p14:creationId xmlns:p14="http://schemas.microsoft.com/office/powerpoint/2010/main" val="2263376756"/>
      </p:ext>
    </p:extLst>
  </p:cSld>
  <p:clrMapOvr>
    <a:masterClrMapping/>
  </p:clrMapOvr>
  <p:transition/>
  <p:extLst>
    <p:ext uri="{DCECCB84-F9BA-43D5-87BE-67443E8EF086}">
      <p15:sldGuideLst xmlns:p15="http://schemas.microsoft.com/office/powerpoint/2012/main">
        <p15:guide id="1" orient="horz" pos="210" userDrawn="1">
          <p15:clr>
            <a:srgbClr val="FBAE40"/>
          </p15:clr>
        </p15:guide>
        <p15:guide id="2" pos="5511" userDrawn="1">
          <p15:clr>
            <a:srgbClr val="FBAE40"/>
          </p15:clr>
        </p15:guide>
        <p15:guide id="3" pos="249" userDrawn="1">
          <p15:clr>
            <a:srgbClr val="FBAE40"/>
          </p15:clr>
        </p15:guide>
        <p15:guide id="4" orient="horz" pos="411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9" y="1124743"/>
            <a:ext cx="8353424" cy="5139531"/>
          </a:xfrm>
        </p:spPr>
        <p:txBody>
          <a:bodyPr>
            <a:normAutofit/>
          </a:bodyPr>
          <a:lstStyle>
            <a:lvl1pPr>
              <a:defRPr baseline="0"/>
            </a:lvl1pPr>
          </a:lstStyle>
          <a:p>
            <a:pPr lvl="0"/>
            <a:r>
              <a:rPr lang="en-US" dirty="0"/>
              <a:t>Click to add text – or click an icon to add content</a:t>
            </a:r>
            <a:endParaRPr lang="da-DK" dirty="0"/>
          </a:p>
        </p:txBody>
      </p:sp>
      <p:pic>
        <p:nvPicPr>
          <p:cNvPr id="7"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208252586"/>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9" y="1124743"/>
            <a:ext cx="3960687" cy="5139531"/>
          </a:xfrm>
        </p:spPr>
        <p:txBody>
          <a:bodyPr>
            <a:normAutofit/>
          </a:bodyPr>
          <a:lstStyle>
            <a:lvl1pPr>
              <a:defRPr baseline="0"/>
            </a:lvl1pPr>
          </a:lstStyle>
          <a:p>
            <a:pPr lvl="0"/>
            <a:r>
              <a:rPr lang="en-US" dirty="0"/>
              <a:t>Click to add text – or click an icon to add content</a:t>
            </a:r>
            <a:endParaRPr lang="da-DK" dirty="0"/>
          </a:p>
        </p:txBody>
      </p:sp>
      <p:sp>
        <p:nvSpPr>
          <p:cNvPr id="7" name="Content Placeholder 9"/>
          <p:cNvSpPr>
            <a:spLocks noGrp="1"/>
          </p:cNvSpPr>
          <p:nvPr>
            <p:ph sz="quarter" idx="12" hasCustomPrompt="1"/>
          </p:nvPr>
        </p:nvSpPr>
        <p:spPr>
          <a:xfrm>
            <a:off x="4788024" y="1124743"/>
            <a:ext cx="3960689" cy="5139531"/>
          </a:xfrm>
        </p:spPr>
        <p:txBody>
          <a:bodyPr>
            <a:normAutofit/>
          </a:bodyPr>
          <a:lstStyle>
            <a:lvl1pPr>
              <a:defRPr baseline="0"/>
            </a:lvl1pPr>
          </a:lstStyle>
          <a:p>
            <a:pPr lvl="0"/>
            <a:r>
              <a:rPr lang="en-US" dirty="0"/>
              <a:t>Click to add text – or click an icon to add content</a:t>
            </a:r>
            <a:endParaRPr lang="da-DK" dirty="0"/>
          </a:p>
        </p:txBody>
      </p:sp>
      <p:pic>
        <p:nvPicPr>
          <p:cNvPr id="9"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902259117"/>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8" y="1124743"/>
            <a:ext cx="2520000" cy="5139531"/>
          </a:xfrm>
        </p:spPr>
        <p:txBody>
          <a:bodyPr>
            <a:normAutofit/>
          </a:bodyPr>
          <a:lstStyle>
            <a:lvl1pPr>
              <a:defRPr baseline="0"/>
            </a:lvl1pPr>
          </a:lstStyle>
          <a:p>
            <a:pPr lvl="0"/>
            <a:r>
              <a:rPr lang="en-US" dirty="0"/>
              <a:t>Click to add text – or click an icon to add content</a:t>
            </a:r>
            <a:endParaRPr lang="da-DK" dirty="0"/>
          </a:p>
        </p:txBody>
      </p:sp>
      <p:sp>
        <p:nvSpPr>
          <p:cNvPr id="9" name="Content Placeholder 9"/>
          <p:cNvSpPr>
            <a:spLocks noGrp="1"/>
          </p:cNvSpPr>
          <p:nvPr>
            <p:ph sz="quarter" idx="12" hasCustomPrompt="1"/>
          </p:nvPr>
        </p:nvSpPr>
        <p:spPr>
          <a:xfrm>
            <a:off x="3312000" y="1124471"/>
            <a:ext cx="2520000" cy="5139531"/>
          </a:xfrm>
        </p:spPr>
        <p:txBody>
          <a:bodyPr>
            <a:normAutofit/>
          </a:bodyPr>
          <a:lstStyle>
            <a:lvl1pPr>
              <a:defRPr baseline="0"/>
            </a:lvl1pPr>
          </a:lstStyle>
          <a:p>
            <a:pPr lvl="0"/>
            <a:r>
              <a:rPr lang="en-US" dirty="0"/>
              <a:t>Click to add text – or click an icon to add content</a:t>
            </a:r>
            <a:endParaRPr lang="da-DK" dirty="0"/>
          </a:p>
        </p:txBody>
      </p:sp>
      <p:sp>
        <p:nvSpPr>
          <p:cNvPr id="11" name="Content Placeholder 9"/>
          <p:cNvSpPr>
            <a:spLocks noGrp="1"/>
          </p:cNvSpPr>
          <p:nvPr>
            <p:ph sz="quarter" idx="13" hasCustomPrompt="1"/>
          </p:nvPr>
        </p:nvSpPr>
        <p:spPr>
          <a:xfrm>
            <a:off x="6215585" y="1124471"/>
            <a:ext cx="2520000" cy="5139531"/>
          </a:xfrm>
        </p:spPr>
        <p:txBody>
          <a:bodyPr>
            <a:normAutofit/>
          </a:bodyPr>
          <a:lstStyle>
            <a:lvl1pPr>
              <a:defRPr baseline="0"/>
            </a:lvl1pPr>
          </a:lstStyle>
          <a:p>
            <a:pPr lvl="0"/>
            <a:r>
              <a:rPr lang="en-US" dirty="0"/>
              <a:t>Click to add text – or click an icon to add content</a:t>
            </a:r>
            <a:endParaRPr lang="da-DK" dirty="0"/>
          </a:p>
        </p:txBody>
      </p:sp>
      <p:pic>
        <p:nvPicPr>
          <p:cNvPr id="12"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451912543"/>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7" name="Content Placeholder 9"/>
          <p:cNvSpPr>
            <a:spLocks noGrp="1"/>
          </p:cNvSpPr>
          <p:nvPr>
            <p:ph sz="quarter" idx="12" hasCustomPrompt="1"/>
          </p:nvPr>
        </p:nvSpPr>
        <p:spPr>
          <a:xfrm>
            <a:off x="395288" y="1124743"/>
            <a:ext cx="8353425" cy="2448273"/>
          </a:xfrm>
        </p:spPr>
        <p:txBody>
          <a:bodyPr>
            <a:normAutofit/>
          </a:bodyPr>
          <a:lstStyle>
            <a:lvl1pPr>
              <a:defRPr baseline="0"/>
            </a:lvl1pPr>
          </a:lstStyle>
          <a:p>
            <a:pPr lvl="0"/>
            <a:r>
              <a:rPr lang="en-US" dirty="0"/>
              <a:t>Click to add text – or click an icon to add content</a:t>
            </a:r>
            <a:endParaRPr lang="da-DK" dirty="0"/>
          </a:p>
        </p:txBody>
      </p:sp>
      <p:sp>
        <p:nvSpPr>
          <p:cNvPr id="10" name="Content Placeholder 9"/>
          <p:cNvSpPr>
            <a:spLocks noGrp="1"/>
          </p:cNvSpPr>
          <p:nvPr>
            <p:ph sz="quarter" idx="13" hasCustomPrompt="1"/>
          </p:nvPr>
        </p:nvSpPr>
        <p:spPr>
          <a:xfrm>
            <a:off x="395288" y="3816002"/>
            <a:ext cx="8344783" cy="2448000"/>
          </a:xfrm>
        </p:spPr>
        <p:txBody>
          <a:bodyPr>
            <a:normAutofit/>
          </a:bodyPr>
          <a:lstStyle>
            <a:lvl1pPr>
              <a:defRPr baseline="0"/>
            </a:lvl1pPr>
          </a:lstStyle>
          <a:p>
            <a:pPr lvl="0"/>
            <a:r>
              <a:rPr lang="en-US" dirty="0"/>
              <a:t>Click to add text – or click an icon to add content</a:t>
            </a:r>
            <a:endParaRPr lang="da-DK" dirty="0"/>
          </a:p>
        </p:txBody>
      </p:sp>
      <p:pic>
        <p:nvPicPr>
          <p:cNvPr id="11"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27569324"/>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9" y="1124743"/>
            <a:ext cx="3960687" cy="5139531"/>
          </a:xfrm>
        </p:spPr>
        <p:txBody>
          <a:bodyPr>
            <a:normAutofit/>
          </a:bodyPr>
          <a:lstStyle>
            <a:lvl1pPr>
              <a:defRPr baseline="0"/>
            </a:lvl1pPr>
          </a:lstStyle>
          <a:p>
            <a:pPr lvl="0"/>
            <a:r>
              <a:rPr lang="en-US" dirty="0"/>
              <a:t>Click to add text – or click an icon to add content</a:t>
            </a:r>
            <a:endParaRPr lang="da-DK" dirty="0"/>
          </a:p>
        </p:txBody>
      </p:sp>
      <p:sp>
        <p:nvSpPr>
          <p:cNvPr id="7" name="Content Placeholder 9"/>
          <p:cNvSpPr>
            <a:spLocks noGrp="1"/>
          </p:cNvSpPr>
          <p:nvPr>
            <p:ph sz="quarter" idx="12" hasCustomPrompt="1"/>
          </p:nvPr>
        </p:nvSpPr>
        <p:spPr>
          <a:xfrm>
            <a:off x="4788024" y="1124743"/>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8" name="Content Placeholder 9"/>
          <p:cNvSpPr>
            <a:spLocks noGrp="1"/>
          </p:cNvSpPr>
          <p:nvPr>
            <p:ph sz="quarter" idx="13" hasCustomPrompt="1"/>
          </p:nvPr>
        </p:nvSpPr>
        <p:spPr>
          <a:xfrm>
            <a:off x="4786367" y="3816002"/>
            <a:ext cx="3953704" cy="2448000"/>
          </a:xfrm>
        </p:spPr>
        <p:txBody>
          <a:bodyPr>
            <a:normAutofit/>
          </a:bodyPr>
          <a:lstStyle>
            <a:lvl1pPr>
              <a:defRPr baseline="0"/>
            </a:lvl1pPr>
          </a:lstStyle>
          <a:p>
            <a:pPr lvl="0"/>
            <a:r>
              <a:rPr lang="en-US" dirty="0"/>
              <a:t>Click to add text – or click an icon to add content</a:t>
            </a:r>
            <a:endParaRPr lang="da-DK" dirty="0"/>
          </a:p>
        </p:txBody>
      </p:sp>
      <p:pic>
        <p:nvPicPr>
          <p:cNvPr id="11"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674405617"/>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4788026" y="1124743"/>
            <a:ext cx="3960687" cy="5139531"/>
          </a:xfrm>
        </p:spPr>
        <p:txBody>
          <a:bodyPr>
            <a:normAutofit/>
          </a:bodyPr>
          <a:lstStyle>
            <a:lvl1pPr>
              <a:defRPr baseline="0"/>
            </a:lvl1pPr>
          </a:lstStyle>
          <a:p>
            <a:pPr lvl="0"/>
            <a:r>
              <a:rPr lang="en-US" dirty="0"/>
              <a:t>Click to add text – or click an icon to add content</a:t>
            </a:r>
            <a:endParaRPr lang="da-DK" dirty="0"/>
          </a:p>
        </p:txBody>
      </p:sp>
      <p:sp>
        <p:nvSpPr>
          <p:cNvPr id="11" name="Content Placeholder 9"/>
          <p:cNvSpPr>
            <a:spLocks noGrp="1"/>
          </p:cNvSpPr>
          <p:nvPr>
            <p:ph sz="quarter" idx="12" hasCustomPrompt="1"/>
          </p:nvPr>
        </p:nvSpPr>
        <p:spPr>
          <a:xfrm>
            <a:off x="396945" y="1124743"/>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2" name="Content Placeholder 9"/>
          <p:cNvSpPr>
            <a:spLocks noGrp="1"/>
          </p:cNvSpPr>
          <p:nvPr>
            <p:ph sz="quarter" idx="13" hasCustomPrompt="1"/>
          </p:nvPr>
        </p:nvSpPr>
        <p:spPr>
          <a:xfrm>
            <a:off x="395288" y="3816002"/>
            <a:ext cx="3953704" cy="2448000"/>
          </a:xfrm>
        </p:spPr>
        <p:txBody>
          <a:bodyPr>
            <a:normAutofit/>
          </a:bodyPr>
          <a:lstStyle>
            <a:lvl1pPr>
              <a:defRPr baseline="0"/>
            </a:lvl1pPr>
          </a:lstStyle>
          <a:p>
            <a:pPr lvl="0"/>
            <a:r>
              <a:rPr lang="en-US" dirty="0"/>
              <a:t>Click to add text – or click an icon to add content</a:t>
            </a:r>
            <a:endParaRPr lang="da-DK" dirty="0"/>
          </a:p>
        </p:txBody>
      </p:sp>
      <p:pic>
        <p:nvPicPr>
          <p:cNvPr id="13"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885730283"/>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1" name="Content Placeholder 9"/>
          <p:cNvSpPr>
            <a:spLocks noGrp="1"/>
          </p:cNvSpPr>
          <p:nvPr>
            <p:ph sz="quarter" idx="15" hasCustomPrompt="1"/>
          </p:nvPr>
        </p:nvSpPr>
        <p:spPr>
          <a:xfrm>
            <a:off x="395288" y="3816002"/>
            <a:ext cx="8344783" cy="2448000"/>
          </a:xfrm>
        </p:spPr>
        <p:txBody>
          <a:bodyPr>
            <a:normAutofit/>
          </a:bodyPr>
          <a:lstStyle>
            <a:lvl1pPr>
              <a:defRPr baseline="0"/>
            </a:lvl1pPr>
          </a:lstStyle>
          <a:p>
            <a:pPr lvl="0"/>
            <a:r>
              <a:rPr lang="en-US" dirty="0"/>
              <a:t>Click to add text – or click an icon to add content</a:t>
            </a:r>
            <a:endParaRPr lang="da-DK" dirty="0"/>
          </a:p>
        </p:txBody>
      </p:sp>
      <p:sp>
        <p:nvSpPr>
          <p:cNvPr id="12" name="Content Placeholder 9"/>
          <p:cNvSpPr>
            <a:spLocks noGrp="1"/>
          </p:cNvSpPr>
          <p:nvPr>
            <p:ph sz="quarter" idx="12" hasCustomPrompt="1"/>
          </p:nvPr>
        </p:nvSpPr>
        <p:spPr>
          <a:xfrm>
            <a:off x="4788024" y="1124743"/>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3" name="Content Placeholder 9"/>
          <p:cNvSpPr>
            <a:spLocks noGrp="1"/>
          </p:cNvSpPr>
          <p:nvPr>
            <p:ph sz="quarter" idx="16" hasCustomPrompt="1"/>
          </p:nvPr>
        </p:nvSpPr>
        <p:spPr>
          <a:xfrm>
            <a:off x="395288" y="1124744"/>
            <a:ext cx="3960689" cy="2448273"/>
          </a:xfrm>
        </p:spPr>
        <p:txBody>
          <a:bodyPr>
            <a:normAutofit/>
          </a:bodyPr>
          <a:lstStyle>
            <a:lvl1pPr>
              <a:defRPr baseline="0"/>
            </a:lvl1pPr>
          </a:lstStyle>
          <a:p>
            <a:pPr lvl="0"/>
            <a:r>
              <a:rPr lang="en-US" dirty="0"/>
              <a:t>Click to add text – or click an icon to add content</a:t>
            </a:r>
            <a:endParaRPr lang="da-DK" dirty="0"/>
          </a:p>
        </p:txBody>
      </p:sp>
      <p:pic>
        <p:nvPicPr>
          <p:cNvPr id="14"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569829573"/>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2" name="Content Placeholder 9"/>
          <p:cNvSpPr>
            <a:spLocks noGrp="1"/>
          </p:cNvSpPr>
          <p:nvPr>
            <p:ph sz="quarter" idx="12" hasCustomPrompt="1"/>
          </p:nvPr>
        </p:nvSpPr>
        <p:spPr>
          <a:xfrm>
            <a:off x="4788024" y="3815729"/>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3" name="Content Placeholder 9"/>
          <p:cNvSpPr>
            <a:spLocks noGrp="1"/>
          </p:cNvSpPr>
          <p:nvPr>
            <p:ph sz="quarter" idx="16" hasCustomPrompt="1"/>
          </p:nvPr>
        </p:nvSpPr>
        <p:spPr>
          <a:xfrm>
            <a:off x="395288" y="3815730"/>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0" name="Content Placeholder 9"/>
          <p:cNvSpPr>
            <a:spLocks noGrp="1"/>
          </p:cNvSpPr>
          <p:nvPr>
            <p:ph sz="quarter" idx="17" hasCustomPrompt="1"/>
          </p:nvPr>
        </p:nvSpPr>
        <p:spPr>
          <a:xfrm>
            <a:off x="395288" y="1124743"/>
            <a:ext cx="8353425" cy="2448273"/>
          </a:xfrm>
        </p:spPr>
        <p:txBody>
          <a:bodyPr>
            <a:normAutofit/>
          </a:bodyPr>
          <a:lstStyle>
            <a:lvl1pPr>
              <a:defRPr baseline="0"/>
            </a:lvl1pPr>
          </a:lstStyle>
          <a:p>
            <a:pPr lvl="0"/>
            <a:r>
              <a:rPr lang="en-US" dirty="0"/>
              <a:t>Click to add text – or click an icon to add content</a:t>
            </a:r>
            <a:endParaRPr lang="da-DK" dirty="0"/>
          </a:p>
        </p:txBody>
      </p:sp>
      <p:pic>
        <p:nvPicPr>
          <p:cNvPr id="14"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95363092"/>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460" name="Text Placeholder 2"/>
          <p:cNvSpPr>
            <a:spLocks noGrp="1"/>
          </p:cNvSpPr>
          <p:nvPr>
            <p:ph type="body" idx="1"/>
          </p:nvPr>
        </p:nvSpPr>
        <p:spPr bwMode="auto">
          <a:xfrm>
            <a:off x="395288" y="333375"/>
            <a:ext cx="8353425" cy="619124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a:p>
            <a:pPr lvl="1"/>
            <a:endParaRPr lang="en-US" dirty="0"/>
          </a:p>
        </p:txBody>
      </p:sp>
    </p:spTree>
    <p:extLst>
      <p:ext uri="{BB962C8B-B14F-4D97-AF65-F5344CB8AC3E}">
        <p14:creationId xmlns:p14="http://schemas.microsoft.com/office/powerpoint/2010/main" val="2635023368"/>
      </p:ext>
    </p:extLst>
  </p:cSld>
  <p:clrMap bg1="lt1" tx1="dk1" bg2="lt2" tx2="dk2" accent1="accent1" accent2="accent2" accent3="accent3" accent4="accent4" accent5="accent5" accent6="accent6" hlink="hlink" folHlink="folHlink"/>
  <p:sldLayoutIdLst>
    <p:sldLayoutId id="2147483661" r:id="rId1"/>
    <p:sldLayoutId id="2147483669" r:id="rId2"/>
    <p:sldLayoutId id="2147483670" r:id="rId3"/>
    <p:sldLayoutId id="2147483676" r:id="rId4"/>
    <p:sldLayoutId id="2147483672" r:id="rId5"/>
    <p:sldLayoutId id="2147483671" r:id="rId6"/>
    <p:sldLayoutId id="2147483675" r:id="rId7"/>
    <p:sldLayoutId id="2147483673" r:id="rId8"/>
    <p:sldLayoutId id="2147483674" r:id="rId9"/>
  </p:sldLayoutIdLst>
  <p:hf sldNum="0" hdr="0" dt="0"/>
  <p:txStyles>
    <p:titleStyle>
      <a:lvl1pPr algn="l" defTabSz="914258" rtl="0" eaLnBrk="1" fontAlgn="base" hangingPunct="1">
        <a:lnSpc>
          <a:spcPct val="100000"/>
        </a:lnSpc>
        <a:spcBef>
          <a:spcPct val="0"/>
        </a:spcBef>
        <a:spcAft>
          <a:spcPct val="0"/>
        </a:spcAft>
        <a:defRPr sz="3200" b="1" kern="1200">
          <a:solidFill>
            <a:srgbClr val="4967AA"/>
          </a:solidFill>
          <a:latin typeface="+mj-lt"/>
          <a:ea typeface="+mj-ea"/>
          <a:cs typeface="+mj-cs"/>
        </a:defRPr>
      </a:lvl1pPr>
      <a:lvl2pPr algn="l" defTabSz="914258" rtl="0" eaLnBrk="1" fontAlgn="base" hangingPunct="1">
        <a:lnSpc>
          <a:spcPts val="3050"/>
        </a:lnSpc>
        <a:spcBef>
          <a:spcPct val="0"/>
        </a:spcBef>
        <a:spcAft>
          <a:spcPct val="0"/>
        </a:spcAft>
        <a:defRPr sz="2200" b="1">
          <a:solidFill>
            <a:schemeClr val="tx2"/>
          </a:solidFill>
          <a:latin typeface="Arial" charset="0"/>
        </a:defRPr>
      </a:lvl2pPr>
      <a:lvl3pPr algn="l" defTabSz="914258" rtl="0" eaLnBrk="1" fontAlgn="base" hangingPunct="1">
        <a:lnSpc>
          <a:spcPts val="3050"/>
        </a:lnSpc>
        <a:spcBef>
          <a:spcPct val="0"/>
        </a:spcBef>
        <a:spcAft>
          <a:spcPct val="0"/>
        </a:spcAft>
        <a:defRPr sz="2200" b="1">
          <a:solidFill>
            <a:schemeClr val="tx2"/>
          </a:solidFill>
          <a:latin typeface="Arial" charset="0"/>
        </a:defRPr>
      </a:lvl3pPr>
      <a:lvl4pPr algn="l" defTabSz="914258" rtl="0" eaLnBrk="1" fontAlgn="base" hangingPunct="1">
        <a:lnSpc>
          <a:spcPts val="3050"/>
        </a:lnSpc>
        <a:spcBef>
          <a:spcPct val="0"/>
        </a:spcBef>
        <a:spcAft>
          <a:spcPct val="0"/>
        </a:spcAft>
        <a:defRPr sz="2200" b="1">
          <a:solidFill>
            <a:schemeClr val="tx2"/>
          </a:solidFill>
          <a:latin typeface="Arial" charset="0"/>
        </a:defRPr>
      </a:lvl4pPr>
      <a:lvl5pPr algn="l" defTabSz="914258" rtl="0" eaLnBrk="1" fontAlgn="base" hangingPunct="1">
        <a:lnSpc>
          <a:spcPts val="3050"/>
        </a:lnSpc>
        <a:spcBef>
          <a:spcPct val="0"/>
        </a:spcBef>
        <a:spcAft>
          <a:spcPct val="0"/>
        </a:spcAft>
        <a:defRPr sz="2200" b="1">
          <a:solidFill>
            <a:schemeClr val="tx2"/>
          </a:solidFill>
          <a:latin typeface="Arial" charset="0"/>
        </a:defRPr>
      </a:lvl5pPr>
      <a:lvl6pPr marL="410134" algn="l" rtl="0" eaLnBrk="1" fontAlgn="base" hangingPunct="1">
        <a:spcBef>
          <a:spcPct val="0"/>
        </a:spcBef>
        <a:spcAft>
          <a:spcPct val="0"/>
        </a:spcAft>
        <a:defRPr sz="2200" b="1">
          <a:solidFill>
            <a:schemeClr val="accent1"/>
          </a:solidFill>
          <a:latin typeface="Arial" charset="0"/>
        </a:defRPr>
      </a:lvl6pPr>
      <a:lvl7pPr marL="820269" algn="l" rtl="0" eaLnBrk="1" fontAlgn="base" hangingPunct="1">
        <a:spcBef>
          <a:spcPct val="0"/>
        </a:spcBef>
        <a:spcAft>
          <a:spcPct val="0"/>
        </a:spcAft>
        <a:defRPr sz="2200" b="1">
          <a:solidFill>
            <a:schemeClr val="accent1"/>
          </a:solidFill>
          <a:latin typeface="Arial" charset="0"/>
        </a:defRPr>
      </a:lvl7pPr>
      <a:lvl8pPr marL="1230403" algn="l" rtl="0" eaLnBrk="1" fontAlgn="base" hangingPunct="1">
        <a:spcBef>
          <a:spcPct val="0"/>
        </a:spcBef>
        <a:spcAft>
          <a:spcPct val="0"/>
        </a:spcAft>
        <a:defRPr sz="2200" b="1">
          <a:solidFill>
            <a:schemeClr val="accent1"/>
          </a:solidFill>
          <a:latin typeface="Arial" charset="0"/>
        </a:defRPr>
      </a:lvl8pPr>
      <a:lvl9pPr marL="1640536" algn="l" rtl="0" eaLnBrk="1" fontAlgn="base" hangingPunct="1">
        <a:spcBef>
          <a:spcPct val="0"/>
        </a:spcBef>
        <a:spcAft>
          <a:spcPct val="0"/>
        </a:spcAft>
        <a:defRPr sz="2200" b="1">
          <a:solidFill>
            <a:schemeClr val="accent1"/>
          </a:solidFill>
          <a:latin typeface="Arial" charset="0"/>
        </a:defRPr>
      </a:lvl9pPr>
    </p:titleStyle>
    <p:bodyStyle>
      <a:lvl1pPr marL="0" indent="0" algn="l" defTabSz="914258" rtl="0" eaLnBrk="1" fontAlgn="base" hangingPunct="1">
        <a:spcBef>
          <a:spcPct val="0"/>
        </a:spcBef>
        <a:spcAft>
          <a:spcPts val="300"/>
        </a:spcAft>
        <a:buFont typeface="Arial" charset="0"/>
        <a:defRPr lang="en-US" sz="2000" kern="1200" dirty="0">
          <a:solidFill>
            <a:schemeClr val="tx1"/>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p:bodyStyle>
    <p:otherStyle>
      <a:defPPr>
        <a:defRPr lang="en-US"/>
      </a:defPPr>
      <a:lvl1pPr marL="0" algn="l" defTabSz="820269" rtl="0" eaLnBrk="1" latinLnBrk="0" hangingPunct="1">
        <a:defRPr sz="1600" kern="1200">
          <a:solidFill>
            <a:schemeClr val="tx1"/>
          </a:solidFill>
          <a:latin typeface="+mn-lt"/>
          <a:ea typeface="+mn-ea"/>
          <a:cs typeface="+mn-cs"/>
        </a:defRPr>
      </a:lvl1pPr>
      <a:lvl2pPr marL="410134" algn="l" defTabSz="820269" rtl="0" eaLnBrk="1" latinLnBrk="0" hangingPunct="1">
        <a:defRPr sz="1600" kern="1200">
          <a:solidFill>
            <a:schemeClr val="tx1"/>
          </a:solidFill>
          <a:latin typeface="+mn-lt"/>
          <a:ea typeface="+mn-ea"/>
          <a:cs typeface="+mn-cs"/>
        </a:defRPr>
      </a:lvl2pPr>
      <a:lvl3pPr marL="820269" algn="l" defTabSz="820269" rtl="0" eaLnBrk="1" latinLnBrk="0" hangingPunct="1">
        <a:defRPr sz="1600" kern="1200">
          <a:solidFill>
            <a:schemeClr val="tx1"/>
          </a:solidFill>
          <a:latin typeface="+mn-lt"/>
          <a:ea typeface="+mn-ea"/>
          <a:cs typeface="+mn-cs"/>
        </a:defRPr>
      </a:lvl3pPr>
      <a:lvl4pPr marL="1230403" algn="l" defTabSz="820269" rtl="0" eaLnBrk="1" latinLnBrk="0" hangingPunct="1">
        <a:defRPr sz="1600" kern="1200">
          <a:solidFill>
            <a:schemeClr val="tx1"/>
          </a:solidFill>
          <a:latin typeface="+mn-lt"/>
          <a:ea typeface="+mn-ea"/>
          <a:cs typeface="+mn-cs"/>
        </a:defRPr>
      </a:lvl4pPr>
      <a:lvl5pPr marL="1640536" algn="l" defTabSz="820269" rtl="0" eaLnBrk="1" latinLnBrk="0" hangingPunct="1">
        <a:defRPr sz="1600" kern="1200">
          <a:solidFill>
            <a:schemeClr val="tx1"/>
          </a:solidFill>
          <a:latin typeface="+mn-lt"/>
          <a:ea typeface="+mn-ea"/>
          <a:cs typeface="+mn-cs"/>
        </a:defRPr>
      </a:lvl5pPr>
      <a:lvl6pPr marL="2050670" algn="l" defTabSz="820269" rtl="0" eaLnBrk="1" latinLnBrk="0" hangingPunct="1">
        <a:defRPr sz="1600" kern="1200">
          <a:solidFill>
            <a:schemeClr val="tx1"/>
          </a:solidFill>
          <a:latin typeface="+mn-lt"/>
          <a:ea typeface="+mn-ea"/>
          <a:cs typeface="+mn-cs"/>
        </a:defRPr>
      </a:lvl6pPr>
      <a:lvl7pPr marL="2460804" algn="l" defTabSz="820269" rtl="0" eaLnBrk="1" latinLnBrk="0" hangingPunct="1">
        <a:defRPr sz="1600" kern="1200">
          <a:solidFill>
            <a:schemeClr val="tx1"/>
          </a:solidFill>
          <a:latin typeface="+mn-lt"/>
          <a:ea typeface="+mn-ea"/>
          <a:cs typeface="+mn-cs"/>
        </a:defRPr>
      </a:lvl7pPr>
      <a:lvl8pPr marL="2870939" algn="l" defTabSz="820269" rtl="0" eaLnBrk="1" latinLnBrk="0" hangingPunct="1">
        <a:defRPr sz="1600" kern="1200">
          <a:solidFill>
            <a:schemeClr val="tx1"/>
          </a:solidFill>
          <a:latin typeface="+mn-lt"/>
          <a:ea typeface="+mn-ea"/>
          <a:cs typeface="+mn-cs"/>
        </a:defRPr>
      </a:lvl8pPr>
      <a:lvl9pPr marL="3281073" algn="l" defTabSz="820269"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https://docs.google.com/presentation/d/1K3OVnkFzHaow8EGW9o7N49twXvM7WoSgb4Xkm7rmBFk/edit?usp=shar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hyperlink" Target="http://oracleofbacon.org/cgi-bin/center-cgi" TargetMode="External"/><Relationship Id="rId7" Type="http://schemas.openxmlformats.org/officeDocument/2006/relationships/image" Target="../media/image29.jpg"/><Relationship Id="rId2" Type="http://schemas.openxmlformats.org/officeDocument/2006/relationships/hyperlink" Target="http://oracleofbacon.org/" TargetMode="External"/><Relationship Id="rId1" Type="http://schemas.openxmlformats.org/officeDocument/2006/relationships/slideLayout" Target="../slideLayouts/slideLayout3.xml"/><Relationship Id="rId6" Type="http://schemas.openxmlformats.org/officeDocument/2006/relationships/image" Target="../media/image28.jpg"/><Relationship Id="rId5" Type="http://schemas.openxmlformats.org/officeDocument/2006/relationships/hyperlink" Target="http://oracleofbacon.org/center_list.php" TargetMode="External"/><Relationship Id="rId4" Type="http://schemas.openxmlformats.org/officeDocument/2006/relationships/hyperlink" Target="http://oracleofbacon.org/center.php"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1075648"/>
            <a:ext cx="5634626" cy="3073432"/>
          </a:xfrm>
          <a:prstGeom prst="rect">
            <a:avLst/>
          </a:prstGeom>
        </p:spPr>
      </p:pic>
      <p:sp>
        <p:nvSpPr>
          <p:cNvPr id="2" name="Text Placeholder 1"/>
          <p:cNvSpPr>
            <a:spLocks noGrp="1"/>
          </p:cNvSpPr>
          <p:nvPr>
            <p:ph type="body" sz="quarter" idx="10"/>
          </p:nvPr>
        </p:nvSpPr>
        <p:spPr>
          <a:xfrm>
            <a:off x="395288" y="764704"/>
            <a:ext cx="8353425" cy="288032"/>
          </a:xfrm>
        </p:spPr>
        <p:txBody>
          <a:bodyPr/>
          <a:lstStyle/>
          <a:p>
            <a:r>
              <a:rPr lang="da-DK" noProof="0" dirty="0">
                <a:latin typeface="CBS NEW" panose="02000506080000020004" pitchFamily="2" charset="0"/>
              </a:rPr>
              <a:t>Virksomhedsstrategi i et netværksperspektiv, Forelæsning #7, 17. februar 2025</a:t>
            </a:r>
          </a:p>
        </p:txBody>
      </p:sp>
      <p:sp>
        <p:nvSpPr>
          <p:cNvPr id="3" name="Text Placeholder 2"/>
          <p:cNvSpPr>
            <a:spLocks noGrp="1"/>
          </p:cNvSpPr>
          <p:nvPr>
            <p:ph type="body" sz="quarter" idx="11"/>
          </p:nvPr>
        </p:nvSpPr>
        <p:spPr>
          <a:xfrm>
            <a:off x="395288" y="4365104"/>
            <a:ext cx="8353425" cy="648072"/>
          </a:xfrm>
        </p:spPr>
        <p:txBody>
          <a:bodyPr/>
          <a:lstStyle/>
          <a:p>
            <a:r>
              <a:rPr lang="da-DK" sz="6000" noProof="0" dirty="0" err="1">
                <a:latin typeface="CBS NEW" panose="02000506080000020004" pitchFamily="2" charset="0"/>
              </a:rPr>
              <a:t>Netværkscentralitet</a:t>
            </a:r>
            <a:endParaRPr lang="da-DK" sz="6000" noProof="0" dirty="0">
              <a:latin typeface="CBS NEW" panose="02000506080000020004" pitchFamily="2" charset="0"/>
            </a:endParaRPr>
          </a:p>
        </p:txBody>
      </p:sp>
      <p:sp>
        <p:nvSpPr>
          <p:cNvPr id="4" name="Text Placeholder 3"/>
          <p:cNvSpPr>
            <a:spLocks noGrp="1"/>
          </p:cNvSpPr>
          <p:nvPr>
            <p:ph type="body" sz="quarter" idx="12"/>
          </p:nvPr>
        </p:nvSpPr>
        <p:spPr>
          <a:xfrm>
            <a:off x="395288" y="5373216"/>
            <a:ext cx="8353425" cy="503709"/>
          </a:xfrm>
        </p:spPr>
        <p:txBody>
          <a:bodyPr/>
          <a:lstStyle/>
          <a:p>
            <a:r>
              <a:rPr lang="da-DK" noProof="0" dirty="0">
                <a:latin typeface="CBS NEW" panose="02000506080000020004" pitchFamily="2" charset="0"/>
              </a:rPr>
              <a:t>Christoph Ellersgaard</a:t>
            </a:r>
          </a:p>
          <a:p>
            <a:r>
              <a:rPr lang="da-DK" dirty="0">
                <a:latin typeface="CBS NEW" panose="02000506080000020004" pitchFamily="2" charset="0"/>
              </a:rPr>
              <a:t>Lektor</a:t>
            </a:r>
            <a:r>
              <a:rPr lang="da-DK" noProof="0" dirty="0">
                <a:latin typeface="CBS NEW" panose="02000506080000020004" pitchFamily="2" charset="0"/>
              </a:rPr>
              <a:t> ved Department of Organization, Copenhagen Business School</a:t>
            </a:r>
          </a:p>
          <a:p>
            <a:endParaRPr lang="da-DK" noProof="0" dirty="0"/>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r>
              <a:rPr lang="da-DK" sz="2800" dirty="0">
                <a:latin typeface="CBS NEW" panose="02000506080000020004" pitchFamily="2" charset="0"/>
              </a:rPr>
              <a:t>At finde nøgleaktører i netværk</a:t>
            </a:r>
          </a:p>
        </p:txBody>
      </p:sp>
    </p:spTree>
    <p:extLst>
      <p:ext uri="{BB962C8B-B14F-4D97-AF65-F5344CB8AC3E}">
        <p14:creationId xmlns:p14="http://schemas.microsoft.com/office/powerpoint/2010/main" val="322925922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Program</a:t>
            </a:r>
          </a:p>
        </p:txBody>
      </p:sp>
      <p:sp>
        <p:nvSpPr>
          <p:cNvPr id="3" name="Content Placeholder 2"/>
          <p:cNvSpPr>
            <a:spLocks noGrp="1"/>
          </p:cNvSpPr>
          <p:nvPr>
            <p:ph sz="quarter" idx="11"/>
          </p:nvPr>
        </p:nvSpPr>
        <p:spPr/>
        <p:txBody>
          <a:bodyPr/>
          <a:lstStyle/>
          <a:p>
            <a:r>
              <a:rPr lang="da-DK" sz="3200" noProof="0" dirty="0">
                <a:latin typeface="CBS NEW" panose="02000506080000020004" pitchFamily="2" charset="0"/>
              </a:rPr>
              <a:t>1. time: </a:t>
            </a:r>
            <a:r>
              <a:rPr lang="da-DK" sz="3200" noProof="0" dirty="0" err="1">
                <a:latin typeface="CBS NEW" panose="02000506080000020004" pitchFamily="2" charset="0"/>
              </a:rPr>
              <a:t>Centralitetsmål</a:t>
            </a:r>
            <a:endParaRPr lang="da-DK" sz="3200" noProof="0" dirty="0">
              <a:latin typeface="CBS NEW" panose="02000506080000020004" pitchFamily="2" charset="0"/>
            </a:endParaRPr>
          </a:p>
          <a:p>
            <a:r>
              <a:rPr lang="da-DK" sz="3200" noProof="0" dirty="0">
                <a:latin typeface="CBS NEW" panose="02000506080000020004" pitchFamily="2" charset="0"/>
              </a:rPr>
              <a:t>2. time: Kerner og eksempler på </a:t>
            </a:r>
            <a:r>
              <a:rPr lang="da-DK" sz="3200" noProof="0" dirty="0" err="1">
                <a:latin typeface="CBS NEW" panose="02000506080000020004" pitchFamily="2" charset="0"/>
              </a:rPr>
              <a:t>centralitetsanalyser</a:t>
            </a:r>
            <a:endParaRPr lang="da-DK" sz="32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2961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dirty="0">
                <a:latin typeface="CBS NEW" panose="02000506080000020004" pitchFamily="2" charset="0"/>
              </a:rPr>
              <a:t>Virksomhedsstrategi i et netværksperspektiv, Forelæsning #7, 17. februar 2025</a:t>
            </a:r>
          </a:p>
        </p:txBody>
      </p:sp>
      <p:sp>
        <p:nvSpPr>
          <p:cNvPr id="3" name="Text Placeholder 2"/>
          <p:cNvSpPr>
            <a:spLocks noGrp="1"/>
          </p:cNvSpPr>
          <p:nvPr>
            <p:ph type="body" sz="quarter" idx="11"/>
          </p:nvPr>
        </p:nvSpPr>
        <p:spPr>
          <a:xfrm>
            <a:off x="395288" y="4365104"/>
            <a:ext cx="8353425" cy="648072"/>
          </a:xfrm>
        </p:spPr>
        <p:txBody>
          <a:bodyPr/>
          <a:lstStyle/>
          <a:p>
            <a:r>
              <a:rPr lang="da-DK" sz="4400" noProof="0" dirty="0">
                <a:latin typeface="CBS NEW" panose="02000506080000020004" pitchFamily="2" charset="0"/>
              </a:rPr>
              <a:t>1. time: </a:t>
            </a:r>
            <a:r>
              <a:rPr lang="da-DK" sz="4400" noProof="0" dirty="0" err="1">
                <a:latin typeface="CBS NEW" panose="02000506080000020004" pitchFamily="2" charset="0"/>
              </a:rPr>
              <a:t>Centralitetsmål</a:t>
            </a:r>
            <a:endParaRPr lang="da-DK" sz="4400" noProof="0" dirty="0">
              <a:latin typeface="CBS NEW" panose="02000506080000020004" pitchFamily="2" charset="0"/>
            </a:endParaRP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210761189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Hvad er </a:t>
            </a:r>
            <a:r>
              <a:rPr lang="da-DK" sz="4800" noProof="0" dirty="0" err="1">
                <a:latin typeface="CBS NEW" panose="02000506080000020004" pitchFamily="2" charset="0"/>
              </a:rPr>
              <a:t>centralitet</a:t>
            </a:r>
            <a:r>
              <a:rPr lang="da-DK" sz="4800" noProof="0" dirty="0">
                <a:latin typeface="CBS NEW" panose="02000506080000020004" pitchFamily="2" charset="0"/>
              </a:rPr>
              <a:t>?</a:t>
            </a:r>
          </a:p>
        </p:txBody>
      </p:sp>
      <p:sp>
        <p:nvSpPr>
          <p:cNvPr id="3" name="Content Placeholder 2"/>
          <p:cNvSpPr>
            <a:spLocks noGrp="1"/>
          </p:cNvSpPr>
          <p:nvPr>
            <p:ph sz="quarter" idx="11"/>
          </p:nvPr>
        </p:nvSpPr>
        <p:spPr>
          <a:xfrm>
            <a:off x="395289" y="1124743"/>
            <a:ext cx="8281167" cy="5139531"/>
          </a:xfrm>
        </p:spPr>
        <p:txBody>
          <a:bodyPr>
            <a:normAutofit/>
          </a:bodyPr>
          <a:lstStyle/>
          <a:p>
            <a:pPr marL="514350" indent="-514350">
              <a:buFont typeface="CBS NEW" panose="02000506080000020004" pitchFamily="2" charset="0"/>
              <a:buChar char="—"/>
            </a:pPr>
            <a:r>
              <a:rPr lang="da-DK" sz="3200" noProof="0" dirty="0">
                <a:latin typeface="CBS NEW" panose="02000506080000020004" pitchFamily="2" charset="0"/>
              </a:rPr>
              <a:t>Finde velforbundne noder i netværket</a:t>
            </a:r>
          </a:p>
          <a:p>
            <a:pPr marL="696631" lvl="1" indent="-514350">
              <a:buFont typeface="CBS NEW" panose="02000506080000020004" pitchFamily="2" charset="0"/>
              <a:buChar char="—"/>
            </a:pPr>
            <a:r>
              <a:rPr lang="da-DK" sz="3200" noProof="0" dirty="0">
                <a:latin typeface="CBS NEW" panose="02000506080000020004" pitchFamily="2" charset="0"/>
              </a:rPr>
              <a:t>Men hvad betyder det?</a:t>
            </a:r>
          </a:p>
          <a:p>
            <a:pPr marL="514350" indent="-514350">
              <a:buFont typeface="CBS NEW" panose="02000506080000020004" pitchFamily="2" charset="0"/>
              <a:buChar char="—"/>
            </a:pPr>
            <a:r>
              <a:rPr lang="da-DK" sz="3200" noProof="0" dirty="0">
                <a:latin typeface="CBS NEW" panose="02000506080000020004" pitchFamily="2" charset="0"/>
              </a:rPr>
              <a:t>Diskutér </a:t>
            </a:r>
            <a:r>
              <a:rPr lang="da-DK" sz="3200" dirty="0">
                <a:latin typeface="CBS NEW" panose="02000506080000020004" pitchFamily="2" charset="0"/>
              </a:rPr>
              <a:t>i to-og-to, </a:t>
            </a:r>
            <a:r>
              <a:rPr lang="da-DK" sz="3200" noProof="0" dirty="0">
                <a:latin typeface="CBS NEW" panose="02000506080000020004" pitchFamily="2" charset="0"/>
              </a:rPr>
              <a:t>hvad centrale aktører kan. Skriv jeres svar </a:t>
            </a:r>
            <a:r>
              <a:rPr lang="da-DK" sz="3200" noProof="0" dirty="0">
                <a:latin typeface="CBS NEW" panose="02000506080000020004" pitchFamily="2" charset="0"/>
                <a:hlinkClick r:id="rId2"/>
              </a:rPr>
              <a:t>her</a:t>
            </a:r>
            <a:endParaRPr lang="da-DK" sz="32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3113584"/>
            <a:ext cx="6304374" cy="3744416"/>
          </a:xfrm>
          <a:prstGeom prst="rect">
            <a:avLst/>
          </a:prstGeom>
        </p:spPr>
      </p:pic>
    </p:spTree>
    <p:extLst>
      <p:ext uri="{BB962C8B-B14F-4D97-AF65-F5344CB8AC3E}">
        <p14:creationId xmlns:p14="http://schemas.microsoft.com/office/powerpoint/2010/main" val="97960392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err="1">
                <a:latin typeface="CBS NEW" panose="02000506080000020004" pitchFamily="2" charset="0"/>
              </a:rPr>
              <a:t>Degree</a:t>
            </a:r>
            <a:endParaRPr lang="da-DK" sz="4800" noProof="0" dirty="0">
              <a:latin typeface="CBS NEW" panose="02000506080000020004" pitchFamily="2" charset="0"/>
            </a:endParaRPr>
          </a:p>
        </p:txBody>
      </p:sp>
      <p:sp>
        <p:nvSpPr>
          <p:cNvPr id="3" name="Content Placeholder 2"/>
          <p:cNvSpPr>
            <a:spLocks noGrp="1"/>
          </p:cNvSpPr>
          <p:nvPr>
            <p:ph sz="quarter" idx="11"/>
          </p:nvPr>
        </p:nvSpPr>
        <p:spPr>
          <a:xfrm>
            <a:off x="395289" y="1124743"/>
            <a:ext cx="3816671" cy="5139531"/>
          </a:xfrm>
        </p:spPr>
        <p:txBody>
          <a:bodyPr>
            <a:normAutofit lnSpcReduction="10000"/>
          </a:bodyPr>
          <a:lstStyle/>
          <a:p>
            <a:r>
              <a:rPr lang="da-DK" sz="3200" b="1" noProof="0" dirty="0">
                <a:latin typeface="CBS NEW" panose="02000506080000020004" pitchFamily="2" charset="0"/>
              </a:rPr>
              <a:t>Lokal </a:t>
            </a:r>
            <a:r>
              <a:rPr lang="da-DK" sz="3200" b="1" noProof="0" dirty="0" err="1">
                <a:latin typeface="CBS NEW" panose="02000506080000020004" pitchFamily="2" charset="0"/>
              </a:rPr>
              <a:t>centralitet</a:t>
            </a:r>
            <a:endParaRPr lang="da-DK" sz="3200" b="1" noProof="0" dirty="0">
              <a:latin typeface="CBS NEW" panose="02000506080000020004" pitchFamily="2" charset="0"/>
            </a:endParaRPr>
          </a:p>
          <a:p>
            <a:pPr marL="457200" indent="-457200">
              <a:buFont typeface="CBS NEW" panose="02000506080000020004" pitchFamily="2" charset="0"/>
              <a:buChar char="—"/>
            </a:pPr>
            <a:r>
              <a:rPr lang="da-DK" sz="3200" noProof="0" dirty="0">
                <a:latin typeface="CBS NEW" panose="02000506080000020004" pitchFamily="2" charset="0"/>
              </a:rPr>
              <a:t>Antallet af naboer eller forbindelser for hvert punkt</a:t>
            </a:r>
          </a:p>
          <a:p>
            <a:pPr marL="457200" indent="-457200">
              <a:buFont typeface="CBS NEW" panose="02000506080000020004" pitchFamily="2" charset="0"/>
              <a:buChar char="—"/>
            </a:pPr>
            <a:r>
              <a:rPr lang="da-DK" sz="3200" noProof="0" dirty="0">
                <a:latin typeface="CBS NEW" panose="02000506080000020004" pitchFamily="2" charset="0"/>
              </a:rPr>
              <a:t>Relativ (</a:t>
            </a:r>
            <a:r>
              <a:rPr lang="da-DK" sz="3200" noProof="0" dirty="0" err="1">
                <a:latin typeface="CBS NEW" panose="02000506080000020004" pitchFamily="2" charset="0"/>
              </a:rPr>
              <a:t>degree</a:t>
            </a:r>
            <a:r>
              <a:rPr lang="da-DK" sz="3200" noProof="0" dirty="0">
                <a:latin typeface="CBS NEW" panose="02000506080000020004" pitchFamily="2" charset="0"/>
              </a:rPr>
              <a:t>) </a:t>
            </a:r>
            <a:r>
              <a:rPr lang="da-DK" sz="3200" noProof="0" dirty="0" err="1">
                <a:latin typeface="CBS NEW" panose="02000506080000020004" pitchFamily="2" charset="0"/>
              </a:rPr>
              <a:t>centralitet</a:t>
            </a:r>
            <a:r>
              <a:rPr lang="da-DK" sz="3200" noProof="0" dirty="0">
                <a:latin typeface="CBS NEW" panose="02000506080000020004" pitchFamily="2" charset="0"/>
              </a:rPr>
              <a:t>: antal </a:t>
            </a:r>
            <a:r>
              <a:rPr lang="da-DK" sz="3200" noProof="0" dirty="0" err="1">
                <a:latin typeface="CBS NEW" panose="02000506080000020004" pitchFamily="2" charset="0"/>
              </a:rPr>
              <a:t>degrees</a:t>
            </a:r>
            <a:r>
              <a:rPr lang="da-DK" sz="3200" noProof="0" dirty="0">
                <a:latin typeface="CBS NEW" panose="02000506080000020004" pitchFamily="2" charset="0"/>
              </a:rPr>
              <a:t> i forhold til hypotetisk muligt antal</a:t>
            </a:r>
          </a:p>
          <a:p>
            <a:pPr marL="457200" indent="-457200">
              <a:buFont typeface="CBS NEW" panose="02000506080000020004" pitchFamily="2" charset="0"/>
              <a:buChar char="—"/>
            </a:pPr>
            <a:r>
              <a:rPr lang="da-DK" sz="3200" b="1" noProof="0" dirty="0" err="1">
                <a:latin typeface="CBS NEW" panose="02000506080000020004" pitchFamily="2" charset="0"/>
              </a:rPr>
              <a:t>In</a:t>
            </a:r>
            <a:r>
              <a:rPr lang="da-DK" sz="3200" noProof="0" dirty="0" err="1">
                <a:latin typeface="CBS NEW" panose="02000506080000020004" pitchFamily="2" charset="0"/>
              </a:rPr>
              <a:t>degree</a:t>
            </a:r>
            <a:r>
              <a:rPr lang="da-DK" sz="3200" noProof="0" dirty="0">
                <a:latin typeface="CBS NEW" panose="02000506080000020004" pitchFamily="2" charset="0"/>
              </a:rPr>
              <a:t> og </a:t>
            </a:r>
            <a:r>
              <a:rPr lang="da-DK" sz="3200" b="1" noProof="0" dirty="0" err="1">
                <a:latin typeface="CBS NEW" panose="02000506080000020004" pitchFamily="2" charset="0"/>
              </a:rPr>
              <a:t>out</a:t>
            </a:r>
            <a:r>
              <a:rPr lang="da-DK" sz="3200" noProof="0" dirty="0" err="1">
                <a:latin typeface="CBS NEW" panose="02000506080000020004" pitchFamily="2" charset="0"/>
              </a:rPr>
              <a:t>degree</a:t>
            </a:r>
            <a:endParaRPr lang="da-DK" sz="3200" noProof="0" dirty="0">
              <a:latin typeface="CBS NEW" panose="02000506080000020004" pitchFamily="2" charset="0"/>
            </a:endParaRPr>
          </a:p>
          <a:p>
            <a:pPr marL="639481" lvl="1" indent="-457200">
              <a:buFont typeface="CBS NEW" panose="02000506080000020004" pitchFamily="2" charset="0"/>
              <a:buChar char="—"/>
            </a:pPr>
            <a:r>
              <a:rPr lang="da-DK" sz="3200" noProof="0" dirty="0">
                <a:latin typeface="CBS NEW" panose="02000506080000020004" pitchFamily="2" charset="0"/>
              </a:rPr>
              <a:t>Retningsbestemte antal forbindelser</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2"/>
          </p:nvPr>
        </p:nvSpPr>
        <p:spPr/>
        <p:txBody>
          <a:bodyPr/>
          <a:lstStyle/>
          <a:p>
            <a:endParaRPr lang="da-DK"/>
          </a:p>
        </p:txBody>
      </p:sp>
      <p:pic>
        <p:nvPicPr>
          <p:cNvPr id="8" name="Picture 7"/>
          <p:cNvPicPr>
            <a:picLocks noChangeAspect="1"/>
          </p:cNvPicPr>
          <p:nvPr/>
        </p:nvPicPr>
        <p:blipFill>
          <a:blip r:embed="rId2">
            <a:lum/>
            <a:alphaModFix/>
          </a:blip>
          <a:srcRect/>
          <a:stretch>
            <a:fillRect/>
          </a:stretch>
        </p:blipFill>
        <p:spPr>
          <a:xfrm>
            <a:off x="4427984" y="1124742"/>
            <a:ext cx="4408958" cy="4408958"/>
          </a:xfrm>
          <a:prstGeom prst="rect">
            <a:avLst/>
          </a:prstGeom>
          <a:noFill/>
          <a:ln cap="flat">
            <a:noFill/>
          </a:ln>
        </p:spPr>
      </p:pic>
    </p:spTree>
    <p:extLst>
      <p:ext uri="{BB962C8B-B14F-4D97-AF65-F5344CB8AC3E}">
        <p14:creationId xmlns:p14="http://schemas.microsoft.com/office/powerpoint/2010/main" val="389053870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Rækkevide</a:t>
            </a:r>
          </a:p>
        </p:txBody>
      </p:sp>
      <p:sp>
        <p:nvSpPr>
          <p:cNvPr id="3" name="Content Placeholder 2"/>
          <p:cNvSpPr>
            <a:spLocks noGrp="1"/>
          </p:cNvSpPr>
          <p:nvPr>
            <p:ph sz="quarter" idx="11"/>
          </p:nvPr>
        </p:nvSpPr>
        <p:spPr>
          <a:xfrm>
            <a:off x="395289" y="1124743"/>
            <a:ext cx="3816671" cy="5139531"/>
          </a:xfrm>
        </p:spPr>
        <p:txBody>
          <a:bodyPr>
            <a:normAutofit/>
          </a:bodyPr>
          <a:lstStyle/>
          <a:p>
            <a:r>
              <a:rPr lang="da-DK" sz="3200" b="1" noProof="0" dirty="0">
                <a:latin typeface="CBS NEW" panose="02000506080000020004" pitchFamily="2" charset="0"/>
              </a:rPr>
              <a:t>Lokal </a:t>
            </a:r>
            <a:r>
              <a:rPr lang="da-DK" sz="3200" b="1" noProof="0" dirty="0" err="1">
                <a:latin typeface="CBS NEW" panose="02000506080000020004" pitchFamily="2" charset="0"/>
              </a:rPr>
              <a:t>centralitet</a:t>
            </a:r>
            <a:endParaRPr lang="da-DK" sz="3200" b="1" noProof="0" dirty="0">
              <a:latin typeface="CBS NEW" panose="02000506080000020004" pitchFamily="2" charset="0"/>
            </a:endParaRPr>
          </a:p>
          <a:p>
            <a:pPr marL="457200" indent="-457200">
              <a:buFont typeface="CBS NEW" panose="02000506080000020004" pitchFamily="2" charset="0"/>
              <a:buChar char="—"/>
            </a:pPr>
            <a:r>
              <a:rPr lang="da-DK" sz="3200" noProof="0" dirty="0">
                <a:latin typeface="CBS NEW" panose="02000506080000020004" pitchFamily="2" charset="0"/>
              </a:rPr>
              <a:t>Antallet af naboer indenfor en bestemt afstand (typisk 2)</a:t>
            </a:r>
          </a:p>
          <a:p>
            <a:pPr marL="457200" indent="-457200">
              <a:buFont typeface="CBS NEW" panose="02000506080000020004" pitchFamily="2" charset="0"/>
              <a:buChar char="—"/>
            </a:pPr>
            <a:r>
              <a:rPr lang="da-DK" sz="3200" noProof="0" dirty="0">
                <a:latin typeface="CBS NEW" panose="02000506080000020004" pitchFamily="2" charset="0"/>
              </a:rPr>
              <a:t>Hvor stor spredningspotentiale har ens information</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2"/>
          </p:nvPr>
        </p:nvSpPr>
        <p:spPr/>
        <p:txBody>
          <a:bodyPr/>
          <a:lstStyle/>
          <a:p>
            <a:endParaRPr lang="da-DK"/>
          </a:p>
        </p:txBody>
      </p:sp>
      <p:pic>
        <p:nvPicPr>
          <p:cNvPr id="7" name="Picture 6"/>
          <p:cNvPicPr>
            <a:picLocks noChangeAspect="1"/>
          </p:cNvPicPr>
          <p:nvPr/>
        </p:nvPicPr>
        <p:blipFill>
          <a:blip r:embed="rId2">
            <a:lum/>
            <a:alphaModFix/>
          </a:blip>
          <a:srcRect/>
          <a:stretch>
            <a:fillRect/>
          </a:stretch>
        </p:blipFill>
        <p:spPr>
          <a:xfrm>
            <a:off x="4444452" y="1124742"/>
            <a:ext cx="4392490" cy="4392490"/>
          </a:xfrm>
          <a:prstGeom prst="rect">
            <a:avLst/>
          </a:prstGeom>
          <a:noFill/>
          <a:ln cap="flat">
            <a:noFill/>
          </a:ln>
        </p:spPr>
      </p:pic>
    </p:spTree>
    <p:extLst>
      <p:ext uri="{BB962C8B-B14F-4D97-AF65-F5344CB8AC3E}">
        <p14:creationId xmlns:p14="http://schemas.microsoft.com/office/powerpoint/2010/main" val="204081006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err="1">
                <a:latin typeface="CBS NEW" panose="02000506080000020004" pitchFamily="2" charset="0"/>
              </a:rPr>
              <a:t>Closeness</a:t>
            </a:r>
            <a:endParaRPr lang="da-DK" sz="4800" noProof="0" dirty="0">
              <a:latin typeface="CBS NEW" panose="02000506080000020004" pitchFamily="2" charset="0"/>
            </a:endParaRPr>
          </a:p>
        </p:txBody>
      </p:sp>
      <p:sp>
        <p:nvSpPr>
          <p:cNvPr id="3" name="Content Placeholder 2"/>
          <p:cNvSpPr>
            <a:spLocks noGrp="1"/>
          </p:cNvSpPr>
          <p:nvPr>
            <p:ph sz="quarter" idx="11"/>
          </p:nvPr>
        </p:nvSpPr>
        <p:spPr>
          <a:xfrm>
            <a:off x="395289" y="1124743"/>
            <a:ext cx="3977155" cy="5139531"/>
          </a:xfrm>
        </p:spPr>
        <p:txBody>
          <a:bodyPr>
            <a:normAutofit fontScale="92500" lnSpcReduction="20000"/>
          </a:bodyPr>
          <a:lstStyle/>
          <a:p>
            <a:r>
              <a:rPr lang="da-DK" sz="3200" b="1" noProof="0" dirty="0">
                <a:latin typeface="CBS NEW" panose="02000506080000020004" pitchFamily="2" charset="0"/>
              </a:rPr>
              <a:t>Tæthed</a:t>
            </a:r>
            <a:r>
              <a:rPr lang="da-DK" sz="3200" noProof="0" dirty="0">
                <a:latin typeface="CBS NEW" panose="02000506080000020004" pitchFamily="2" charset="0"/>
              </a:rPr>
              <a:t> på andre (i komponenten)</a:t>
            </a:r>
          </a:p>
          <a:p>
            <a:pPr marL="457200" indent="-457200">
              <a:buFont typeface="CBS NEW" panose="02000506080000020004" pitchFamily="2" charset="0"/>
              <a:buChar char="—"/>
            </a:pPr>
            <a:r>
              <a:rPr lang="da-DK" sz="3200" noProof="0" dirty="0">
                <a:latin typeface="CBS NEW" panose="02000506080000020004" pitchFamily="2" charset="0"/>
              </a:rPr>
              <a:t>Hvor tæt er du på hele (de forbudne) dele af netværket</a:t>
            </a:r>
          </a:p>
          <a:p>
            <a:pPr marL="639481" lvl="1" indent="-457200">
              <a:buFont typeface="CBS NEW" panose="02000506080000020004" pitchFamily="2" charset="0"/>
              <a:buChar char="—"/>
            </a:pPr>
            <a:r>
              <a:rPr lang="da-DK" sz="3200" noProof="0" dirty="0">
                <a:latin typeface="CBS NEW" panose="02000506080000020004" pitchFamily="2" charset="0"/>
              </a:rPr>
              <a:t>Den inverse sum af alle ’</a:t>
            </a:r>
            <a:r>
              <a:rPr lang="da-DK" sz="3200" noProof="0" dirty="0" err="1">
                <a:latin typeface="CBS NEW" panose="02000506080000020004" pitchFamily="2" charset="0"/>
              </a:rPr>
              <a:t>geodesic</a:t>
            </a:r>
            <a:r>
              <a:rPr lang="da-DK" sz="3200" noProof="0" dirty="0">
                <a:latin typeface="CBS NEW" panose="02000506080000020004" pitchFamily="2" charset="0"/>
              </a:rPr>
              <a:t> distances’</a:t>
            </a:r>
          </a:p>
          <a:p>
            <a:pPr marL="457200" indent="-457200">
              <a:buFont typeface="CBS NEW" panose="02000506080000020004" pitchFamily="2" charset="0"/>
              <a:buChar char="—"/>
            </a:pPr>
            <a:r>
              <a:rPr lang="da-DK" sz="3200" noProof="0" dirty="0">
                <a:latin typeface="CBS NEW" panose="02000506080000020004" pitchFamily="2" charset="0"/>
              </a:rPr>
              <a:t>Kan forstås som: </a:t>
            </a:r>
          </a:p>
          <a:p>
            <a:pPr marL="639481" lvl="1" indent="-457200">
              <a:buFont typeface="CBS NEW" panose="02000506080000020004" pitchFamily="2" charset="0"/>
              <a:buChar char="—"/>
            </a:pPr>
            <a:r>
              <a:rPr lang="da-DK" sz="3200" noProof="0" dirty="0">
                <a:latin typeface="CBS NEW" panose="02000506080000020004" pitchFamily="2" charset="0"/>
              </a:rPr>
              <a:t>Uafhængighed i informationskilder</a:t>
            </a:r>
          </a:p>
          <a:p>
            <a:pPr marL="639481" lvl="1" indent="-457200">
              <a:buFont typeface="CBS NEW" panose="02000506080000020004" pitchFamily="2" charset="0"/>
              <a:buChar char="—"/>
            </a:pPr>
            <a:r>
              <a:rPr lang="da-DK" sz="3200" noProof="0" dirty="0">
                <a:latin typeface="CBS NEW" panose="02000506080000020004" pitchFamily="2" charset="0"/>
              </a:rPr>
              <a:t>Integrationsniveau i kernen</a:t>
            </a:r>
          </a:p>
          <a:p>
            <a:pPr marL="457200" indent="-457200">
              <a:buFont typeface="CBS NEW" panose="02000506080000020004" pitchFamily="2" charset="0"/>
              <a:buChar char="—"/>
            </a:pPr>
            <a:r>
              <a:rPr lang="da-DK" sz="3200" noProof="0" dirty="0">
                <a:latin typeface="CBS NEW" panose="02000506080000020004" pitchFamily="2" charset="0"/>
              </a:rPr>
              <a:t>Bemærk: Er meget sårbar overfor grafer med mere end én komponent</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2"/>
          </p:nvPr>
        </p:nvSpPr>
        <p:spPr/>
        <p:txBody>
          <a:bodyPr/>
          <a:lstStyle/>
          <a:p>
            <a:endParaRPr lang="da-DK"/>
          </a:p>
        </p:txBody>
      </p:sp>
      <p:pic>
        <p:nvPicPr>
          <p:cNvPr id="8" name="Picture 7"/>
          <p:cNvPicPr>
            <a:picLocks noChangeAspect="1"/>
          </p:cNvPicPr>
          <p:nvPr/>
        </p:nvPicPr>
        <p:blipFill>
          <a:blip r:embed="rId2">
            <a:lum/>
            <a:alphaModFix/>
          </a:blip>
          <a:srcRect/>
          <a:stretch>
            <a:fillRect/>
          </a:stretch>
        </p:blipFill>
        <p:spPr>
          <a:xfrm>
            <a:off x="4588468" y="1124742"/>
            <a:ext cx="4464498" cy="4464498"/>
          </a:xfrm>
          <a:prstGeom prst="rect">
            <a:avLst/>
          </a:prstGeom>
          <a:noFill/>
          <a:ln cap="flat">
            <a:noFill/>
          </a:ln>
        </p:spPr>
      </p:pic>
    </p:spTree>
    <p:extLst>
      <p:ext uri="{BB962C8B-B14F-4D97-AF65-F5344CB8AC3E}">
        <p14:creationId xmlns:p14="http://schemas.microsoft.com/office/powerpoint/2010/main" val="112048337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Stilængder</a:t>
            </a:r>
          </a:p>
        </p:txBody>
      </p:sp>
      <p:sp>
        <p:nvSpPr>
          <p:cNvPr id="3" name="Content Placeholder 2"/>
          <p:cNvSpPr>
            <a:spLocks noGrp="1"/>
          </p:cNvSpPr>
          <p:nvPr>
            <p:ph sz="quarter" idx="11"/>
          </p:nvPr>
        </p:nvSpPr>
        <p:spPr>
          <a:xfrm>
            <a:off x="395289" y="1124743"/>
            <a:ext cx="8209159" cy="5139531"/>
          </a:xfrm>
        </p:spPr>
        <p:txBody>
          <a:bodyPr>
            <a:normAutofit/>
          </a:bodyPr>
          <a:lstStyle/>
          <a:p>
            <a:pPr marL="571500" indent="-571500">
              <a:buFont typeface="CBS NEW" panose="02000506080000020004" pitchFamily="2" charset="0"/>
              <a:buChar char="—"/>
            </a:pPr>
            <a:r>
              <a:rPr lang="da-DK" sz="3600" noProof="0" dirty="0">
                <a:latin typeface="CBS NEW" panose="02000506080000020004" pitchFamily="2" charset="0"/>
              </a:rPr>
              <a:t>Afstanden mellem to punkter i en component</a:t>
            </a:r>
          </a:p>
          <a:p>
            <a:pPr marL="571500" indent="-571500">
              <a:buFont typeface="CBS NEW" panose="02000506080000020004" pitchFamily="2" charset="0"/>
              <a:buChar char="—"/>
            </a:pPr>
            <a:r>
              <a:rPr lang="da-DK" sz="3600" noProof="0" dirty="0">
                <a:latin typeface="CBS NEW" panose="02000506080000020004" pitchFamily="2" charset="0"/>
              </a:rPr>
              <a:t>Måles oftest gennem “</a:t>
            </a:r>
            <a:r>
              <a:rPr lang="da-DK" sz="3600" noProof="0" dirty="0" err="1">
                <a:latin typeface="CBS NEW" panose="02000506080000020004" pitchFamily="2" charset="0"/>
              </a:rPr>
              <a:t>shortest</a:t>
            </a:r>
            <a:r>
              <a:rPr lang="da-DK" sz="3600" noProof="0" dirty="0">
                <a:latin typeface="CBS NEW" panose="02000506080000020004" pitchFamily="2" charset="0"/>
              </a:rPr>
              <a:t> </a:t>
            </a:r>
            <a:r>
              <a:rPr lang="da-DK" sz="3600" noProof="0" dirty="0" err="1">
                <a:latin typeface="CBS NEW" panose="02000506080000020004" pitchFamily="2" charset="0"/>
              </a:rPr>
              <a:t>path</a:t>
            </a:r>
            <a:r>
              <a:rPr lang="da-DK" sz="3600" noProof="0" dirty="0">
                <a:latin typeface="CBS NEW" panose="02000506080000020004" pitchFamily="2" charset="0"/>
              </a:rPr>
              <a:t>”</a:t>
            </a:r>
          </a:p>
          <a:p>
            <a:pPr marL="571500" indent="-571500">
              <a:buFont typeface="CBS NEW" panose="02000506080000020004" pitchFamily="2" charset="0"/>
              <a:buChar char="—"/>
            </a:pPr>
            <a:r>
              <a:rPr lang="da-DK" sz="3600" noProof="0" dirty="0">
                <a:latin typeface="CBS NEW" panose="02000506080000020004" pitchFamily="2" charset="0"/>
              </a:rPr>
              <a:t>Andre løsninger kan være </a:t>
            </a:r>
            <a:r>
              <a:rPr lang="da-DK" sz="3600" noProof="0" dirty="0" err="1">
                <a:latin typeface="CBS NEW" panose="02000506080000020004" pitchFamily="2" charset="0"/>
              </a:rPr>
              <a:t>random</a:t>
            </a:r>
            <a:r>
              <a:rPr lang="da-DK" sz="3600" noProof="0" dirty="0">
                <a:latin typeface="CBS NEW" panose="02000506080000020004" pitchFamily="2" charset="0"/>
              </a:rPr>
              <a:t> </a:t>
            </a:r>
            <a:r>
              <a:rPr lang="da-DK" sz="3600" noProof="0" dirty="0" err="1">
                <a:latin typeface="CBS NEW" panose="02000506080000020004" pitchFamily="2" charset="0"/>
              </a:rPr>
              <a:t>walks</a:t>
            </a:r>
            <a:r>
              <a:rPr lang="da-DK" sz="3600" noProof="0" dirty="0">
                <a:latin typeface="CBS NEW" panose="02000506080000020004" pitchFamily="2" charset="0"/>
              </a:rPr>
              <a:t>, der tager højde for, at aktørerne ikke nødvendigvis selv kender deres netværksmuligheder</a:t>
            </a:r>
          </a:p>
          <a:p>
            <a:endParaRPr lang="da-DK" sz="36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7744" y="4221088"/>
            <a:ext cx="4054401" cy="2397128"/>
          </a:xfrm>
          <a:prstGeom prst="rect">
            <a:avLst/>
          </a:prstGeom>
        </p:spPr>
      </p:pic>
    </p:spTree>
    <p:extLst>
      <p:ext uri="{BB962C8B-B14F-4D97-AF65-F5344CB8AC3E}">
        <p14:creationId xmlns:p14="http://schemas.microsoft.com/office/powerpoint/2010/main" val="151004238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err="1">
                <a:latin typeface="CBS NEW" panose="02000506080000020004" pitchFamily="2" charset="0"/>
              </a:rPr>
              <a:t>Closeness</a:t>
            </a:r>
            <a:endParaRPr lang="da-DK" sz="4800" noProof="0" dirty="0">
              <a:latin typeface="CBS NEW" panose="02000506080000020004" pitchFamily="2" charset="0"/>
            </a:endParaRPr>
          </a:p>
        </p:txBody>
      </p:sp>
      <p:sp>
        <p:nvSpPr>
          <p:cNvPr id="3" name="Content Placeholder 2"/>
          <p:cNvSpPr>
            <a:spLocks noGrp="1"/>
          </p:cNvSpPr>
          <p:nvPr>
            <p:ph sz="quarter" idx="11"/>
          </p:nvPr>
        </p:nvSpPr>
        <p:spPr>
          <a:xfrm>
            <a:off x="395289" y="1124743"/>
            <a:ext cx="3977155" cy="5139531"/>
          </a:xfrm>
        </p:spPr>
        <p:txBody>
          <a:bodyPr>
            <a:normAutofit fontScale="92500" lnSpcReduction="20000"/>
          </a:bodyPr>
          <a:lstStyle/>
          <a:p>
            <a:r>
              <a:rPr lang="da-DK" sz="3200" b="1" noProof="0" dirty="0">
                <a:latin typeface="CBS NEW" panose="02000506080000020004" pitchFamily="2" charset="0"/>
              </a:rPr>
              <a:t>Tæthed</a:t>
            </a:r>
            <a:r>
              <a:rPr lang="da-DK" sz="3200" noProof="0" dirty="0">
                <a:latin typeface="CBS NEW" panose="02000506080000020004" pitchFamily="2" charset="0"/>
              </a:rPr>
              <a:t> på andre (i komponenten)</a:t>
            </a:r>
          </a:p>
          <a:p>
            <a:pPr marL="457200" indent="-457200">
              <a:buFont typeface="CBS NEW" panose="02000506080000020004" pitchFamily="2" charset="0"/>
              <a:buChar char="—"/>
            </a:pPr>
            <a:r>
              <a:rPr lang="da-DK" sz="3200" noProof="0" dirty="0">
                <a:latin typeface="CBS NEW" panose="02000506080000020004" pitchFamily="2" charset="0"/>
              </a:rPr>
              <a:t>Hvor tæt er du på hele (de forbudne) dele af netværket</a:t>
            </a:r>
          </a:p>
          <a:p>
            <a:pPr marL="639481" lvl="1" indent="-457200">
              <a:buFont typeface="CBS NEW" panose="02000506080000020004" pitchFamily="2" charset="0"/>
              <a:buChar char="—"/>
            </a:pPr>
            <a:r>
              <a:rPr lang="da-DK" sz="3200" noProof="0" dirty="0">
                <a:latin typeface="CBS NEW" panose="02000506080000020004" pitchFamily="2" charset="0"/>
              </a:rPr>
              <a:t>Den inverse sum af alle ’</a:t>
            </a:r>
            <a:r>
              <a:rPr lang="da-DK" sz="3200" noProof="0" dirty="0" err="1">
                <a:latin typeface="CBS NEW" panose="02000506080000020004" pitchFamily="2" charset="0"/>
              </a:rPr>
              <a:t>geodesic</a:t>
            </a:r>
            <a:r>
              <a:rPr lang="da-DK" sz="3200" noProof="0" dirty="0">
                <a:latin typeface="CBS NEW" panose="02000506080000020004" pitchFamily="2" charset="0"/>
              </a:rPr>
              <a:t> distances’</a:t>
            </a:r>
          </a:p>
          <a:p>
            <a:pPr marL="457200" indent="-457200">
              <a:buFont typeface="CBS NEW" panose="02000506080000020004" pitchFamily="2" charset="0"/>
              <a:buChar char="—"/>
            </a:pPr>
            <a:r>
              <a:rPr lang="da-DK" sz="3200" noProof="0" dirty="0">
                <a:latin typeface="CBS NEW" panose="02000506080000020004" pitchFamily="2" charset="0"/>
              </a:rPr>
              <a:t>Kan forstås som: </a:t>
            </a:r>
          </a:p>
          <a:p>
            <a:pPr marL="639481" lvl="1" indent="-457200">
              <a:buFont typeface="CBS NEW" panose="02000506080000020004" pitchFamily="2" charset="0"/>
              <a:buChar char="—"/>
            </a:pPr>
            <a:r>
              <a:rPr lang="da-DK" sz="3200" noProof="0" dirty="0">
                <a:latin typeface="CBS NEW" panose="02000506080000020004" pitchFamily="2" charset="0"/>
              </a:rPr>
              <a:t>Uafhængighed i informationskilder</a:t>
            </a:r>
          </a:p>
          <a:p>
            <a:pPr marL="639481" lvl="1" indent="-457200">
              <a:buFont typeface="CBS NEW" panose="02000506080000020004" pitchFamily="2" charset="0"/>
              <a:buChar char="—"/>
            </a:pPr>
            <a:r>
              <a:rPr lang="da-DK" sz="3200" noProof="0" dirty="0">
                <a:latin typeface="CBS NEW" panose="02000506080000020004" pitchFamily="2" charset="0"/>
              </a:rPr>
              <a:t>Integrationsniveau i kernen</a:t>
            </a:r>
          </a:p>
          <a:p>
            <a:pPr marL="457200" indent="-457200">
              <a:buFont typeface="CBS NEW" panose="02000506080000020004" pitchFamily="2" charset="0"/>
              <a:buChar char="—"/>
            </a:pPr>
            <a:r>
              <a:rPr lang="da-DK" sz="3200" noProof="0" dirty="0">
                <a:latin typeface="CBS NEW" panose="02000506080000020004" pitchFamily="2" charset="0"/>
              </a:rPr>
              <a:t>Bemærk: Er meget sårbar overfor grafer med mere end én komponent</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2"/>
          </p:nvPr>
        </p:nvSpPr>
        <p:spPr/>
        <p:txBody>
          <a:bodyPr/>
          <a:lstStyle/>
          <a:p>
            <a:endParaRPr lang="da-DK"/>
          </a:p>
        </p:txBody>
      </p:sp>
      <p:pic>
        <p:nvPicPr>
          <p:cNvPr id="8" name="Picture 7"/>
          <p:cNvPicPr>
            <a:picLocks noChangeAspect="1"/>
          </p:cNvPicPr>
          <p:nvPr/>
        </p:nvPicPr>
        <p:blipFill>
          <a:blip r:embed="rId2">
            <a:lum/>
            <a:alphaModFix/>
          </a:blip>
          <a:srcRect/>
          <a:stretch>
            <a:fillRect/>
          </a:stretch>
        </p:blipFill>
        <p:spPr>
          <a:xfrm>
            <a:off x="4588468" y="1124742"/>
            <a:ext cx="4464498" cy="4464498"/>
          </a:xfrm>
          <a:prstGeom prst="rect">
            <a:avLst/>
          </a:prstGeom>
          <a:noFill/>
          <a:ln cap="flat">
            <a:noFill/>
          </a:ln>
        </p:spPr>
      </p:pic>
    </p:spTree>
    <p:extLst>
      <p:ext uri="{BB962C8B-B14F-4D97-AF65-F5344CB8AC3E}">
        <p14:creationId xmlns:p14="http://schemas.microsoft.com/office/powerpoint/2010/main" val="236483431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err="1">
                <a:latin typeface="CBS NEW" panose="02000506080000020004" pitchFamily="2" charset="0"/>
              </a:rPr>
              <a:t>Betweenness</a:t>
            </a:r>
            <a:endParaRPr lang="da-DK" sz="4800" noProof="0" dirty="0">
              <a:latin typeface="CBS NEW" panose="02000506080000020004" pitchFamily="2" charset="0"/>
            </a:endParaRPr>
          </a:p>
        </p:txBody>
      </p:sp>
      <p:sp>
        <p:nvSpPr>
          <p:cNvPr id="3" name="Content Placeholder 2"/>
          <p:cNvSpPr>
            <a:spLocks noGrp="1"/>
          </p:cNvSpPr>
          <p:nvPr>
            <p:ph sz="quarter" idx="11"/>
          </p:nvPr>
        </p:nvSpPr>
        <p:spPr>
          <a:xfrm>
            <a:off x="395289" y="1124743"/>
            <a:ext cx="3977155" cy="5139531"/>
          </a:xfrm>
        </p:spPr>
        <p:txBody>
          <a:bodyPr>
            <a:normAutofit fontScale="70000" lnSpcReduction="20000"/>
          </a:bodyPr>
          <a:lstStyle/>
          <a:p>
            <a:r>
              <a:rPr lang="da-DK" sz="3200" b="1" noProof="0" dirty="0">
                <a:latin typeface="CBS NEW" panose="02000506080000020004" pitchFamily="2" charset="0"/>
              </a:rPr>
              <a:t>Mellemhed</a:t>
            </a:r>
            <a:r>
              <a:rPr lang="da-DK" sz="3200" noProof="0" dirty="0">
                <a:latin typeface="CBS NEW" panose="02000506080000020004" pitchFamily="2" charset="0"/>
              </a:rPr>
              <a:t>: Hvor godt bygger du bro mellem de forskellige centrale dele af netværket</a:t>
            </a:r>
          </a:p>
          <a:p>
            <a:pPr marL="457200" indent="-457200">
              <a:buFont typeface="CBS NEW" panose="02000506080000020004" pitchFamily="2" charset="0"/>
              <a:buChar char="—"/>
            </a:pPr>
            <a:r>
              <a:rPr lang="da-DK" sz="3200" noProof="0" dirty="0">
                <a:latin typeface="CBS NEW" panose="02000506080000020004" pitchFamily="2" charset="0"/>
              </a:rPr>
              <a:t>Beregnes ved at summere </a:t>
            </a:r>
            <a:r>
              <a:rPr lang="da-DK" sz="3200" noProof="0" dirty="0" err="1">
                <a:latin typeface="CBS NEW" panose="02000506080000020004" pitchFamily="2" charset="0"/>
              </a:rPr>
              <a:t>partial</a:t>
            </a:r>
            <a:r>
              <a:rPr lang="da-DK" sz="3200" noProof="0" dirty="0">
                <a:latin typeface="CBS NEW" panose="02000506080000020004" pitchFamily="2" charset="0"/>
              </a:rPr>
              <a:t> </a:t>
            </a:r>
            <a:r>
              <a:rPr lang="da-DK" sz="3200" noProof="0" dirty="0" err="1">
                <a:latin typeface="CBS NEW" panose="02000506080000020004" pitchFamily="2" charset="0"/>
              </a:rPr>
              <a:t>betweenness</a:t>
            </a:r>
            <a:r>
              <a:rPr lang="da-DK" sz="3200" noProof="0" dirty="0">
                <a:latin typeface="CBS NEW" panose="02000506080000020004" pitchFamily="2" charset="0"/>
              </a:rPr>
              <a:t> for alle punkter til punkter, hvis disse punktet er på den korteste vej mellem to punkter </a:t>
            </a:r>
          </a:p>
          <a:p>
            <a:pPr marL="457200" indent="-457200">
              <a:buFont typeface="CBS NEW" panose="02000506080000020004" pitchFamily="2" charset="0"/>
              <a:buChar char="—"/>
            </a:pPr>
            <a:r>
              <a:rPr lang="da-DK" sz="3200" noProof="0" dirty="0">
                <a:latin typeface="CBS NEW" panose="02000506080000020004" pitchFamily="2" charset="0"/>
              </a:rPr>
              <a:t>Kan forstås som</a:t>
            </a:r>
          </a:p>
          <a:p>
            <a:pPr marL="639481" lvl="1" indent="-457200">
              <a:buFont typeface="CBS NEW" panose="02000506080000020004" pitchFamily="2" charset="0"/>
              <a:buChar char="—"/>
            </a:pPr>
            <a:r>
              <a:rPr lang="da-DK" sz="3200" noProof="0" dirty="0">
                <a:latin typeface="CBS NEW" panose="02000506080000020004" pitchFamily="2" charset="0"/>
              </a:rPr>
              <a:t>Værdi som informationskilde (jf. strukturelle huller hos Burt)</a:t>
            </a:r>
          </a:p>
          <a:p>
            <a:pPr marL="639481" lvl="1" indent="-457200">
              <a:buFont typeface="CBS NEW" panose="02000506080000020004" pitchFamily="2" charset="0"/>
              <a:buChar char="—"/>
            </a:pPr>
            <a:r>
              <a:rPr lang="da-DK" sz="3200" noProof="0" dirty="0">
                <a:latin typeface="CBS NEW" panose="02000506080000020004" pitchFamily="2" charset="0"/>
              </a:rPr>
              <a:t>Værdi som </a:t>
            </a:r>
            <a:r>
              <a:rPr lang="da-DK" sz="3200" noProof="0" dirty="0" err="1">
                <a:latin typeface="CBS NEW" panose="02000506080000020004" pitchFamily="2" charset="0"/>
              </a:rPr>
              <a:t>mediator</a:t>
            </a:r>
            <a:r>
              <a:rPr lang="da-DK" sz="3200" noProof="0" dirty="0">
                <a:latin typeface="CBS NEW" panose="02000506080000020004" pitchFamily="2" charset="0"/>
              </a:rPr>
              <a:t> af forskellige typer af kapital, evner til at kunne agere i flere fora på samme tid</a:t>
            </a:r>
          </a:p>
          <a:p>
            <a:pPr marL="457200" indent="-457200">
              <a:buFont typeface="CBS NEW" panose="02000506080000020004" pitchFamily="2" charset="0"/>
              <a:buChar char="—"/>
            </a:pPr>
            <a:r>
              <a:rPr lang="da-DK" sz="3200" noProof="0" dirty="0">
                <a:latin typeface="CBS NEW" panose="02000506080000020004" pitchFamily="2" charset="0"/>
              </a:rPr>
              <a:t>Bemærk: </a:t>
            </a:r>
          </a:p>
          <a:p>
            <a:pPr marL="639481" lvl="1" indent="-457200">
              <a:buFont typeface="CBS NEW" panose="02000506080000020004" pitchFamily="2" charset="0"/>
              <a:buChar char="—"/>
            </a:pPr>
            <a:r>
              <a:rPr lang="da-DK" sz="3200" noProof="0" dirty="0">
                <a:latin typeface="CBS NEW" panose="02000506080000020004" pitchFamily="2" charset="0"/>
              </a:rPr>
              <a:t>Afhængig af, at alle dele af netværket indfanges lige godt. Ellers er </a:t>
            </a:r>
            <a:r>
              <a:rPr lang="da-DK" sz="3200" noProof="0" dirty="0" err="1">
                <a:latin typeface="CBS NEW" panose="02000506080000020004" pitchFamily="2" charset="0"/>
              </a:rPr>
              <a:t>betweennees</a:t>
            </a:r>
            <a:r>
              <a:rPr lang="da-DK" sz="3200" noProof="0" dirty="0">
                <a:latin typeface="CBS NEW" panose="02000506080000020004" pitchFamily="2" charset="0"/>
              </a:rPr>
              <a:t> bare et udtryk for at have de forbindelser, vi har tilbøjelighed til at overse</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2"/>
          </p:nvPr>
        </p:nvSpPr>
        <p:spPr/>
        <p:txBody>
          <a:bodyPr/>
          <a:lstStyle/>
          <a:p>
            <a:endParaRPr lang="da-DK"/>
          </a:p>
        </p:txBody>
      </p:sp>
      <p:pic>
        <p:nvPicPr>
          <p:cNvPr id="7" name="Picture 6"/>
          <p:cNvPicPr>
            <a:picLocks noChangeAspect="1"/>
          </p:cNvPicPr>
          <p:nvPr/>
        </p:nvPicPr>
        <p:blipFill>
          <a:blip r:embed="rId2">
            <a:lum/>
            <a:alphaModFix/>
          </a:blip>
          <a:srcRect/>
          <a:stretch>
            <a:fillRect/>
          </a:stretch>
        </p:blipFill>
        <p:spPr>
          <a:xfrm>
            <a:off x="4345004" y="1097302"/>
            <a:ext cx="4563946" cy="4563946"/>
          </a:xfrm>
          <a:prstGeom prst="rect">
            <a:avLst/>
          </a:prstGeom>
          <a:noFill/>
          <a:ln cap="flat">
            <a:noFill/>
          </a:ln>
        </p:spPr>
      </p:pic>
    </p:spTree>
    <p:extLst>
      <p:ext uri="{BB962C8B-B14F-4D97-AF65-F5344CB8AC3E}">
        <p14:creationId xmlns:p14="http://schemas.microsoft.com/office/powerpoint/2010/main" val="105513458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3EBB7-1491-F67F-A77A-745211133C0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A531B0-7A92-DFE7-CFEA-04EFDCCEF0B4}"/>
              </a:ext>
            </a:extLst>
          </p:cNvPr>
          <p:cNvSpPr>
            <a:spLocks noGrp="1"/>
          </p:cNvSpPr>
          <p:nvPr>
            <p:ph type="body" sz="quarter" idx="10"/>
          </p:nvPr>
        </p:nvSpPr>
        <p:spPr/>
        <p:txBody>
          <a:bodyPr>
            <a:noAutofit/>
          </a:bodyPr>
          <a:lstStyle/>
          <a:p>
            <a:r>
              <a:rPr lang="da-DK" sz="4800" dirty="0">
                <a:latin typeface="CBS NEW" panose="02000506080000020004" pitchFamily="2" charset="0"/>
              </a:rPr>
              <a:t>Eksempel: Tognet</a:t>
            </a:r>
            <a:endParaRPr lang="da-DK" sz="4800" noProof="0" dirty="0">
              <a:latin typeface="CBS NEW" panose="02000506080000020004" pitchFamily="2" charset="0"/>
            </a:endParaRPr>
          </a:p>
        </p:txBody>
      </p:sp>
      <p:cxnSp>
        <p:nvCxnSpPr>
          <p:cNvPr id="5" name="Straight Connector 4">
            <a:extLst>
              <a:ext uri="{FF2B5EF4-FFF2-40B4-BE49-F238E27FC236}">
                <a16:creationId xmlns:a16="http://schemas.microsoft.com/office/drawing/2014/main" id="{E297EDF6-9C1B-9A0F-E97F-5131D053E746}"/>
              </a:ext>
            </a:extLst>
          </p:cNvPr>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8" name="Content Placeholder 7" descr="A map of a city&#10;&#10;AI-generated content may be incorrect.">
            <a:extLst>
              <a:ext uri="{FF2B5EF4-FFF2-40B4-BE49-F238E27FC236}">
                <a16:creationId xmlns:a16="http://schemas.microsoft.com/office/drawing/2014/main" id="{EEEE4728-E6B4-EB50-0DBB-D9170305FE44}"/>
              </a:ext>
            </a:extLst>
          </p:cNvPr>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3964022" y="31770"/>
            <a:ext cx="5212230" cy="6821768"/>
          </a:xfrm>
        </p:spPr>
      </p:pic>
      <p:pic>
        <p:nvPicPr>
          <p:cNvPr id="12" name="Picture 11" descr="A bird with a beak and a building in the background&#10;&#10;AI-generated content may be incorrect.">
            <a:extLst>
              <a:ext uri="{FF2B5EF4-FFF2-40B4-BE49-F238E27FC236}">
                <a16:creationId xmlns:a16="http://schemas.microsoft.com/office/drawing/2014/main" id="{75CD7D30-853C-7585-7C73-2EF6C5E74EA3}"/>
              </a:ext>
            </a:extLst>
          </p:cNvPr>
          <p:cNvPicPr>
            <a:picLocks noChangeAspect="1"/>
          </p:cNvPicPr>
          <p:nvPr/>
        </p:nvPicPr>
        <p:blipFill>
          <a:blip r:embed="rId3" cstate="print">
            <a:extLst>
              <a:ext uri="{28A0092B-C50C-407E-A947-70E740481C1C}">
                <a14:useLocalDpi xmlns:a14="http://schemas.microsoft.com/office/drawing/2010/main" val="0"/>
              </a:ext>
            </a:extLst>
          </a:blip>
          <a:srcRect b="12201"/>
          <a:stretch/>
        </p:blipFill>
        <p:spPr>
          <a:xfrm>
            <a:off x="476311" y="1330891"/>
            <a:ext cx="3487711" cy="2376261"/>
          </a:xfrm>
          <a:prstGeom prst="rect">
            <a:avLst/>
          </a:prstGeom>
        </p:spPr>
      </p:pic>
      <p:pic>
        <p:nvPicPr>
          <p:cNvPr id="14" name="Picture 13" descr="A map of a subway system&#10;&#10;AI-generated content may be incorrect.">
            <a:extLst>
              <a:ext uri="{FF2B5EF4-FFF2-40B4-BE49-F238E27FC236}">
                <a16:creationId xmlns:a16="http://schemas.microsoft.com/office/drawing/2014/main" id="{23D1E2E9-3F86-DA7A-B4A4-991F0594BA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1665" y="3804385"/>
            <a:ext cx="2567997" cy="2996950"/>
          </a:xfrm>
          <a:prstGeom prst="rect">
            <a:avLst/>
          </a:prstGeom>
        </p:spPr>
      </p:pic>
    </p:spTree>
    <p:extLst>
      <p:ext uri="{BB962C8B-B14F-4D97-AF65-F5344CB8AC3E}">
        <p14:creationId xmlns:p14="http://schemas.microsoft.com/office/powerpoint/2010/main" val="330457099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err="1">
                <a:latin typeface="CBS NEW" panose="02000506080000020004" pitchFamily="2" charset="0"/>
              </a:rPr>
              <a:t>Eigenvector</a:t>
            </a:r>
            <a:endParaRPr lang="da-DK" sz="4800" noProof="0" dirty="0">
              <a:latin typeface="CBS NEW" panose="02000506080000020004" pitchFamily="2" charset="0"/>
            </a:endParaRPr>
          </a:p>
        </p:txBody>
      </p:sp>
      <p:sp>
        <p:nvSpPr>
          <p:cNvPr id="3" name="Content Placeholder 2"/>
          <p:cNvSpPr>
            <a:spLocks noGrp="1"/>
          </p:cNvSpPr>
          <p:nvPr>
            <p:ph sz="quarter" idx="11"/>
          </p:nvPr>
        </p:nvSpPr>
        <p:spPr>
          <a:xfrm>
            <a:off x="395289" y="1124743"/>
            <a:ext cx="7777111" cy="5139531"/>
          </a:xfrm>
        </p:spPr>
        <p:txBody>
          <a:bodyPr>
            <a:normAutofit lnSpcReduction="10000"/>
          </a:bodyPr>
          <a:lstStyle/>
          <a:p>
            <a:pPr marL="457200" indent="-457200">
              <a:buFont typeface="CBS NEW" panose="02000506080000020004" pitchFamily="2" charset="0"/>
              <a:buChar char="—"/>
            </a:pPr>
            <a:r>
              <a:rPr lang="da-DK" sz="3200" noProof="0" dirty="0">
                <a:latin typeface="CBS NEW" panose="02000506080000020004" pitchFamily="2" charset="0"/>
              </a:rPr>
              <a:t>Hvor godt forbundet er du til andre, der også er velforbudne. </a:t>
            </a:r>
          </a:p>
          <a:p>
            <a:pPr marL="814644" lvl="2" indent="-457200">
              <a:buFont typeface="CBS NEW" panose="02000506080000020004" pitchFamily="2" charset="0"/>
              <a:buChar char="—"/>
            </a:pPr>
            <a:r>
              <a:rPr lang="da-DK" sz="3200" noProof="0" dirty="0">
                <a:latin typeface="CBS NEW" panose="02000506080000020004" pitchFamily="2" charset="0"/>
              </a:rPr>
              <a:t>Popularitet hos de populære…</a:t>
            </a:r>
          </a:p>
          <a:p>
            <a:pPr marL="457200" indent="-457200">
              <a:buFont typeface="CBS NEW" panose="02000506080000020004" pitchFamily="2" charset="0"/>
              <a:buChar char="—"/>
            </a:pPr>
            <a:r>
              <a:rPr lang="da-DK" sz="3200" noProof="0" dirty="0">
                <a:latin typeface="CBS NEW" panose="02000506080000020004" pitchFamily="2" charset="0"/>
              </a:rPr>
              <a:t>Kan forstås som:</a:t>
            </a:r>
          </a:p>
          <a:p>
            <a:pPr marL="639481" lvl="1" indent="-457200">
              <a:buFont typeface="CBS NEW" panose="02000506080000020004" pitchFamily="2" charset="0"/>
              <a:buChar char="—"/>
            </a:pPr>
            <a:r>
              <a:rPr lang="da-DK" sz="3200" noProof="0" dirty="0">
                <a:latin typeface="CBS NEW" panose="02000506080000020004" pitchFamily="2" charset="0"/>
              </a:rPr>
              <a:t>Informationspopularitet</a:t>
            </a:r>
          </a:p>
          <a:p>
            <a:pPr marL="639481" lvl="1" indent="-457200">
              <a:buFont typeface="CBS NEW" panose="02000506080000020004" pitchFamily="2" charset="0"/>
              <a:buChar char="—"/>
            </a:pPr>
            <a:r>
              <a:rPr lang="da-DK" sz="3200" noProof="0" dirty="0">
                <a:latin typeface="CBS NEW" panose="02000506080000020004" pitchFamily="2" charset="0"/>
              </a:rPr>
              <a:t>Magt eller evne til at definere netværkets opfattelse af virkeligheden</a:t>
            </a:r>
          </a:p>
          <a:p>
            <a:pPr marL="457200" indent="-457200">
              <a:buFont typeface="CBS NEW" panose="02000506080000020004" pitchFamily="2" charset="0"/>
              <a:buChar char="—"/>
            </a:pPr>
            <a:r>
              <a:rPr lang="da-DK" sz="3200" noProof="0" dirty="0">
                <a:latin typeface="CBS NEW" panose="02000506080000020004" pitchFamily="2" charset="0"/>
              </a:rPr>
              <a:t>Bemærk: </a:t>
            </a:r>
          </a:p>
          <a:p>
            <a:pPr marL="639481" lvl="1" indent="-457200">
              <a:buFont typeface="CBS NEW" panose="02000506080000020004" pitchFamily="2" charset="0"/>
              <a:buChar char="—"/>
            </a:pPr>
            <a:r>
              <a:rPr lang="da-DK" sz="3200" noProof="0" dirty="0">
                <a:latin typeface="CBS NEW" panose="02000506080000020004" pitchFamily="2" charset="0"/>
              </a:rPr>
              <a:t>Har problemer med meget velforbudne netværk bygget op omkring </a:t>
            </a:r>
            <a:r>
              <a:rPr lang="da-DK" sz="3200" noProof="0" dirty="0" err="1">
                <a:latin typeface="CBS NEW" panose="02000506080000020004" pitchFamily="2" charset="0"/>
              </a:rPr>
              <a:t>affiliations</a:t>
            </a:r>
            <a:r>
              <a:rPr lang="da-DK" sz="3200" noProof="0" dirty="0">
                <a:latin typeface="CBS NEW" panose="02000506080000020004" pitchFamily="2" charset="0"/>
              </a:rPr>
              <a:t>, så som </a:t>
            </a:r>
            <a:r>
              <a:rPr lang="da-DK" sz="3200" noProof="0" dirty="0" err="1">
                <a:latin typeface="CBS NEW" panose="02000506080000020004" pitchFamily="2" charset="0"/>
              </a:rPr>
              <a:t>EliteDB</a:t>
            </a:r>
            <a:endParaRPr lang="da-DK" sz="3200" noProof="0" dirty="0">
              <a:latin typeface="CBS NEW" panose="02000506080000020004" pitchFamily="2" charset="0"/>
            </a:endParaRPr>
          </a:p>
          <a:p>
            <a:pPr marL="639481" lvl="1" indent="-457200">
              <a:buFont typeface="CBS NEW" panose="02000506080000020004" pitchFamily="2" charset="0"/>
              <a:buChar char="—"/>
            </a:pPr>
            <a:r>
              <a:rPr lang="da-DK" sz="3200" noProof="0" dirty="0">
                <a:latin typeface="CBS NEW" panose="02000506080000020004" pitchFamily="2" charset="0"/>
              </a:rPr>
              <a:t>Handle with </a:t>
            </a:r>
            <a:r>
              <a:rPr lang="da-DK" sz="3200" noProof="0" dirty="0" err="1">
                <a:latin typeface="CBS NEW" panose="02000506080000020004" pitchFamily="2" charset="0"/>
              </a:rPr>
              <a:t>care</a:t>
            </a:r>
            <a:r>
              <a:rPr lang="da-DK" sz="3200" noProof="0" dirty="0">
                <a:latin typeface="CBS NEW" panose="02000506080000020004" pitchFamily="2" charset="0"/>
              </a:rPr>
              <a:t>…</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0578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Øvelse: </a:t>
            </a:r>
            <a:r>
              <a:rPr lang="da-DK" sz="4800" noProof="0" dirty="0" err="1">
                <a:latin typeface="CBS NEW" panose="02000506080000020004" pitchFamily="2" charset="0"/>
              </a:rPr>
              <a:t>Krackhardt’s</a:t>
            </a:r>
            <a:r>
              <a:rPr lang="da-DK" sz="4800" noProof="0" dirty="0">
                <a:latin typeface="CBS NEW" panose="02000506080000020004" pitchFamily="2" charset="0"/>
              </a:rPr>
              <a:t> </a:t>
            </a:r>
            <a:r>
              <a:rPr lang="da-DK" sz="4800" noProof="0" dirty="0" err="1">
                <a:latin typeface="CBS NEW" panose="02000506080000020004" pitchFamily="2" charset="0"/>
              </a:rPr>
              <a:t>Kite</a:t>
            </a:r>
            <a:endParaRPr lang="da-DK" sz="4800" noProof="0" dirty="0">
              <a:latin typeface="CBS NEW" panose="02000506080000020004" pitchFamily="2" charset="0"/>
            </a:endParaRPr>
          </a:p>
        </p:txBody>
      </p:sp>
      <p:sp>
        <p:nvSpPr>
          <p:cNvPr id="3" name="Content Placeholder 2"/>
          <p:cNvSpPr>
            <a:spLocks noGrp="1"/>
          </p:cNvSpPr>
          <p:nvPr>
            <p:ph sz="quarter" idx="11"/>
          </p:nvPr>
        </p:nvSpPr>
        <p:spPr>
          <a:xfrm>
            <a:off x="395289" y="1124743"/>
            <a:ext cx="7777111" cy="1664255"/>
          </a:xfrm>
        </p:spPr>
        <p:txBody>
          <a:bodyPr>
            <a:normAutofit fontScale="92500" lnSpcReduction="20000"/>
          </a:bodyPr>
          <a:lstStyle/>
          <a:p>
            <a:pPr marL="457200" indent="-457200">
              <a:buFont typeface="CBS NEW" panose="02000506080000020004" pitchFamily="2" charset="0"/>
              <a:buChar char="—"/>
            </a:pPr>
            <a:r>
              <a:rPr lang="da-DK" sz="3200" noProof="0" dirty="0">
                <a:latin typeface="CBS NEW" panose="02000506080000020004" pitchFamily="2" charset="0"/>
              </a:rPr>
              <a:t>Beregn alle punkters </a:t>
            </a:r>
            <a:r>
              <a:rPr lang="da-DK" sz="3200" noProof="0" dirty="0" err="1">
                <a:latin typeface="CBS NEW" panose="02000506080000020004" pitchFamily="2" charset="0"/>
              </a:rPr>
              <a:t>degree</a:t>
            </a:r>
            <a:r>
              <a:rPr lang="da-DK" sz="3200" noProof="0" dirty="0">
                <a:latin typeface="CBS NEW" panose="02000506080000020004" pitchFamily="2" charset="0"/>
              </a:rPr>
              <a:t> </a:t>
            </a:r>
            <a:r>
              <a:rPr lang="da-DK" sz="3200" noProof="0" dirty="0" err="1">
                <a:latin typeface="CBS NEW" panose="02000506080000020004" pitchFamily="2" charset="0"/>
              </a:rPr>
              <a:t>centralitet</a:t>
            </a:r>
            <a:r>
              <a:rPr lang="da-DK" sz="3200" noProof="0" dirty="0">
                <a:latin typeface="CBS NEW" panose="02000506080000020004" pitchFamily="2" charset="0"/>
              </a:rPr>
              <a:t>, </a:t>
            </a:r>
            <a:r>
              <a:rPr lang="da-DK" sz="3200" noProof="0" dirty="0" err="1">
                <a:latin typeface="CBS NEW" panose="02000506080000020004" pitchFamily="2" charset="0"/>
              </a:rPr>
              <a:t>closeness</a:t>
            </a:r>
            <a:r>
              <a:rPr lang="da-DK" sz="3200" noProof="0" dirty="0">
                <a:latin typeface="CBS NEW" panose="02000506080000020004" pitchFamily="2" charset="0"/>
              </a:rPr>
              <a:t> </a:t>
            </a:r>
            <a:r>
              <a:rPr lang="da-DK" sz="3200" noProof="0" dirty="0" err="1">
                <a:latin typeface="CBS NEW" panose="02000506080000020004" pitchFamily="2" charset="0"/>
              </a:rPr>
              <a:t>centralitet</a:t>
            </a:r>
            <a:r>
              <a:rPr lang="da-DK" sz="3200" noProof="0" dirty="0">
                <a:latin typeface="CBS NEW" panose="02000506080000020004" pitchFamily="2" charset="0"/>
              </a:rPr>
              <a:t> og </a:t>
            </a:r>
            <a:r>
              <a:rPr lang="da-DK" sz="3200" noProof="0" dirty="0" err="1">
                <a:latin typeface="CBS NEW" panose="02000506080000020004" pitchFamily="2" charset="0"/>
              </a:rPr>
              <a:t>betweenness</a:t>
            </a:r>
            <a:r>
              <a:rPr lang="da-DK" sz="3200" noProof="0" dirty="0">
                <a:latin typeface="CBS NEW" panose="02000506080000020004" pitchFamily="2" charset="0"/>
              </a:rPr>
              <a:t> </a:t>
            </a:r>
            <a:r>
              <a:rPr lang="da-DK" sz="3200" noProof="0" dirty="0" err="1">
                <a:latin typeface="CBS NEW" panose="02000506080000020004" pitchFamily="2" charset="0"/>
              </a:rPr>
              <a:t>centralitet</a:t>
            </a:r>
            <a:r>
              <a:rPr lang="da-DK" sz="3200" noProof="0" dirty="0">
                <a:latin typeface="CBS NEW" panose="02000506080000020004" pitchFamily="2" charset="0"/>
              </a:rPr>
              <a:t> i hånden</a:t>
            </a:r>
          </a:p>
          <a:p>
            <a:pPr marL="457200" indent="-457200">
              <a:buFont typeface="CBS NEW" panose="02000506080000020004" pitchFamily="2" charset="0"/>
              <a:buChar char="—"/>
            </a:pPr>
            <a:r>
              <a:rPr lang="da-DK" sz="3200" noProof="0" dirty="0">
                <a:latin typeface="CBS NEW" panose="02000506080000020004" pitchFamily="2" charset="0"/>
              </a:rPr>
              <a:t>Hvilket punkt er mest central i følge de forskellige </a:t>
            </a:r>
            <a:r>
              <a:rPr lang="da-DK" sz="3200" noProof="0" dirty="0" err="1">
                <a:latin typeface="CBS NEW" panose="02000506080000020004" pitchFamily="2" charset="0"/>
              </a:rPr>
              <a:t>centralitetsmål</a:t>
            </a:r>
            <a:r>
              <a:rPr lang="da-DK" sz="3200" noProof="0" dirty="0">
                <a:latin typeface="CBS NEW" panose="02000506080000020004" pitchFamily="2" charset="0"/>
              </a:rPr>
              <a:t>?</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stretch>
            <a:fillRect/>
          </a:stretch>
        </p:blipFill>
        <p:spPr>
          <a:xfrm>
            <a:off x="2267744" y="2788998"/>
            <a:ext cx="4608512" cy="4055274"/>
          </a:xfrm>
          <a:prstGeom prst="rect">
            <a:avLst/>
          </a:prstGeom>
        </p:spPr>
      </p:pic>
    </p:spTree>
    <p:extLst>
      <p:ext uri="{BB962C8B-B14F-4D97-AF65-F5344CB8AC3E}">
        <p14:creationId xmlns:p14="http://schemas.microsoft.com/office/powerpoint/2010/main" val="178398179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Øvelse: </a:t>
            </a:r>
            <a:r>
              <a:rPr lang="da-DK" sz="4800" noProof="0" dirty="0" err="1">
                <a:latin typeface="CBS NEW" panose="02000506080000020004" pitchFamily="2" charset="0"/>
              </a:rPr>
              <a:t>Krackhardt’s</a:t>
            </a:r>
            <a:r>
              <a:rPr lang="da-DK" sz="4800" noProof="0" dirty="0">
                <a:latin typeface="CBS NEW" panose="02000506080000020004" pitchFamily="2" charset="0"/>
              </a:rPr>
              <a:t> </a:t>
            </a:r>
            <a:r>
              <a:rPr lang="da-DK" sz="4800" noProof="0" dirty="0" err="1">
                <a:latin typeface="CBS NEW" panose="02000506080000020004" pitchFamily="2" charset="0"/>
              </a:rPr>
              <a:t>Kite</a:t>
            </a:r>
            <a:endParaRPr lang="da-DK" sz="4800" noProof="0" dirty="0">
              <a:latin typeface="CBS NEW" panose="02000506080000020004" pitchFamily="2" charset="0"/>
            </a:endParaRPr>
          </a:p>
        </p:txBody>
      </p:sp>
      <p:sp>
        <p:nvSpPr>
          <p:cNvPr id="3" name="Content Placeholder 2"/>
          <p:cNvSpPr>
            <a:spLocks noGrp="1"/>
          </p:cNvSpPr>
          <p:nvPr>
            <p:ph sz="quarter" idx="11"/>
          </p:nvPr>
        </p:nvSpPr>
        <p:spPr>
          <a:xfrm>
            <a:off x="395289" y="1124743"/>
            <a:ext cx="7777111" cy="2232249"/>
          </a:xfrm>
        </p:spPr>
        <p:txBody>
          <a:bodyPr>
            <a:normAutofit/>
          </a:bodyPr>
          <a:lstStyle/>
          <a:p>
            <a:pPr marL="457200" indent="-457200">
              <a:buFont typeface="CBS NEW" panose="02000506080000020004" pitchFamily="2" charset="0"/>
              <a:buChar char="—"/>
            </a:pPr>
            <a:r>
              <a:rPr lang="da-DK" sz="3200" noProof="0" dirty="0">
                <a:latin typeface="CBS NEW" panose="02000506080000020004" pitchFamily="2" charset="0"/>
              </a:rPr>
              <a:t>Lad os prøve i R</a:t>
            </a:r>
          </a:p>
          <a:p>
            <a:pPr marL="457200" indent="-457200">
              <a:buFont typeface="CBS NEW" panose="02000506080000020004" pitchFamily="2" charset="0"/>
              <a:buChar char="—"/>
            </a:pPr>
            <a:r>
              <a:rPr lang="da-DK" sz="3200" noProof="0" dirty="0">
                <a:latin typeface="CBS NEW" panose="02000506080000020004" pitchFamily="2" charset="0"/>
              </a:rPr>
              <a:t>Åbn R-</a:t>
            </a:r>
            <a:r>
              <a:rPr lang="da-DK" sz="3200" noProof="0" dirty="0" err="1">
                <a:latin typeface="CBS NEW" panose="02000506080000020004" pitchFamily="2" charset="0"/>
              </a:rPr>
              <a:t>studio</a:t>
            </a:r>
            <a:r>
              <a:rPr lang="da-DK" sz="3200" noProof="0" dirty="0">
                <a:latin typeface="CBS NEW" panose="02000506080000020004" pitchFamily="2" charset="0"/>
              </a:rPr>
              <a:t> og kør </a:t>
            </a:r>
            <a:r>
              <a:rPr lang="da-DK" sz="3200" noProof="0" dirty="0" err="1">
                <a:latin typeface="CBS NEW" panose="02000506080000020004" pitchFamily="2" charset="0"/>
              </a:rPr>
              <a:t>kite</a:t>
            </a:r>
            <a:r>
              <a:rPr lang="da-DK" sz="3200" noProof="0" dirty="0">
                <a:latin typeface="CBS NEW" panose="02000506080000020004" pitchFamily="2" charset="0"/>
              </a:rPr>
              <a:t> – </a:t>
            </a:r>
            <a:r>
              <a:rPr lang="da-DK" sz="3200" noProof="0" dirty="0" err="1">
                <a:latin typeface="CBS NEW" panose="02000506080000020004" pitchFamily="2" charset="0"/>
              </a:rPr>
              <a:t>solution.R</a:t>
            </a:r>
            <a:r>
              <a:rPr lang="da-DK" sz="3200" noProof="0" dirty="0">
                <a:latin typeface="CBS NEW" panose="02000506080000020004" pitchFamily="2" charset="0"/>
              </a:rPr>
              <a:t>, der ligger på CANVAS</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stretch>
            <a:fillRect/>
          </a:stretch>
        </p:blipFill>
        <p:spPr>
          <a:xfrm>
            <a:off x="2267744" y="2788998"/>
            <a:ext cx="4608512" cy="4055274"/>
          </a:xfrm>
          <a:prstGeom prst="rect">
            <a:avLst/>
          </a:prstGeom>
        </p:spPr>
      </p:pic>
    </p:spTree>
    <p:extLst>
      <p:ext uri="{BB962C8B-B14F-4D97-AF65-F5344CB8AC3E}">
        <p14:creationId xmlns:p14="http://schemas.microsoft.com/office/powerpoint/2010/main" val="109822651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Centralisering</a:t>
            </a:r>
          </a:p>
        </p:txBody>
      </p:sp>
      <p:sp>
        <p:nvSpPr>
          <p:cNvPr id="3" name="Content Placeholder 2"/>
          <p:cNvSpPr>
            <a:spLocks noGrp="1"/>
          </p:cNvSpPr>
          <p:nvPr>
            <p:ph sz="quarter" idx="11"/>
          </p:nvPr>
        </p:nvSpPr>
        <p:spPr>
          <a:xfrm>
            <a:off x="395289" y="1124743"/>
            <a:ext cx="8353424" cy="5139531"/>
          </a:xfrm>
        </p:spPr>
        <p:txBody>
          <a:bodyPr>
            <a:normAutofit/>
          </a:bodyPr>
          <a:lstStyle/>
          <a:p>
            <a:r>
              <a:rPr lang="da-DK" sz="3200" b="1" noProof="0" dirty="0">
                <a:latin typeface="CBS NEW" panose="02000506080000020004" pitchFamily="2" charset="0"/>
              </a:rPr>
              <a:t>Analyse på netværksniveau</a:t>
            </a:r>
          </a:p>
          <a:p>
            <a:pPr marL="457200" indent="-457200">
              <a:buFont typeface="CBS NEW" panose="02000506080000020004" pitchFamily="2" charset="0"/>
              <a:buChar char="—"/>
            </a:pPr>
            <a:r>
              <a:rPr lang="da-DK" sz="3200" noProof="0" dirty="0">
                <a:latin typeface="CBS NEW" panose="02000506080000020004" pitchFamily="2" charset="0"/>
              </a:rPr>
              <a:t>Hvor stor en del af </a:t>
            </a:r>
            <a:r>
              <a:rPr lang="da-DK" sz="3200" noProof="0" dirty="0" err="1">
                <a:latin typeface="CBS NEW" panose="02000506080000020004" pitchFamily="2" charset="0"/>
              </a:rPr>
              <a:t>centraliteten</a:t>
            </a:r>
            <a:r>
              <a:rPr lang="da-DK" sz="3200" noProof="0" dirty="0">
                <a:latin typeface="CBS NEW" panose="02000506080000020004" pitchFamily="2" charset="0"/>
              </a:rPr>
              <a:t> er koncentreret på det mest centrale punkt</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stretch>
            <a:fillRect/>
          </a:stretch>
        </p:blipFill>
        <p:spPr>
          <a:xfrm>
            <a:off x="251521" y="3284984"/>
            <a:ext cx="8640960" cy="1769511"/>
          </a:xfrm>
          <a:prstGeom prst="rect">
            <a:avLst/>
          </a:prstGeom>
        </p:spPr>
      </p:pic>
    </p:spTree>
    <p:extLst>
      <p:ext uri="{BB962C8B-B14F-4D97-AF65-F5344CB8AC3E}">
        <p14:creationId xmlns:p14="http://schemas.microsoft.com/office/powerpoint/2010/main" val="200054972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noProof="0" dirty="0">
                <a:latin typeface="CBS NEW" panose="02000506080000020004" pitchFamily="2" charset="0"/>
              </a:rPr>
              <a:t>Virksomhedsstrategi i et netværksperspektiv, Forelæsning #7, 17. februar 2025</a:t>
            </a:r>
          </a:p>
        </p:txBody>
      </p:sp>
      <p:sp>
        <p:nvSpPr>
          <p:cNvPr id="3" name="Text Placeholder 2"/>
          <p:cNvSpPr>
            <a:spLocks noGrp="1"/>
          </p:cNvSpPr>
          <p:nvPr>
            <p:ph type="body" sz="quarter" idx="11"/>
          </p:nvPr>
        </p:nvSpPr>
        <p:spPr>
          <a:xfrm>
            <a:off x="395288" y="4365104"/>
            <a:ext cx="8353425" cy="648072"/>
          </a:xfrm>
        </p:spPr>
        <p:txBody>
          <a:bodyPr/>
          <a:lstStyle/>
          <a:p>
            <a:r>
              <a:rPr lang="da-DK" sz="4400" noProof="0" dirty="0">
                <a:latin typeface="CBS NEW" panose="02000506080000020004" pitchFamily="2" charset="0"/>
              </a:rPr>
              <a:t>2. time: Kerner og eksempler på </a:t>
            </a:r>
            <a:r>
              <a:rPr lang="da-DK" sz="4400" noProof="0" dirty="0" err="1">
                <a:latin typeface="CBS NEW" panose="02000506080000020004" pitchFamily="2" charset="0"/>
              </a:rPr>
              <a:t>centralitetsanalyser</a:t>
            </a:r>
            <a:endParaRPr lang="da-DK" sz="4400" noProof="0" dirty="0">
              <a:latin typeface="CBS NEW" panose="02000506080000020004" pitchFamily="2" charset="0"/>
            </a:endParaRP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24617970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000" noProof="0" dirty="0">
                <a:latin typeface="CBS NEW" panose="02000506080000020004" pitchFamily="2" charset="0"/>
              </a:rPr>
              <a:t>Eksempel: Europas Erhvervselite</a:t>
            </a:r>
          </a:p>
        </p:txBody>
      </p:sp>
      <p:sp>
        <p:nvSpPr>
          <p:cNvPr id="3" name="Content Placeholder 2"/>
          <p:cNvSpPr>
            <a:spLocks noGrp="1"/>
          </p:cNvSpPr>
          <p:nvPr>
            <p:ph sz="quarter" idx="11"/>
          </p:nvPr>
        </p:nvSpPr>
        <p:spPr>
          <a:xfrm>
            <a:off x="395289" y="1124743"/>
            <a:ext cx="7921127" cy="864097"/>
          </a:xfrm>
        </p:spPr>
        <p:txBody>
          <a:bodyPr>
            <a:normAutofit fontScale="70000" lnSpcReduction="20000"/>
          </a:bodyPr>
          <a:lstStyle/>
          <a:p>
            <a:r>
              <a:rPr lang="da-DK" sz="3200" noProof="0" dirty="0" err="1">
                <a:latin typeface="CBS NEW" panose="02000506080000020004" pitchFamily="2" charset="0"/>
              </a:rPr>
              <a:t>Heemskeek</a:t>
            </a:r>
            <a:r>
              <a:rPr lang="da-DK" sz="3200" noProof="0" dirty="0">
                <a:latin typeface="CBS NEW" panose="02000506080000020004" pitchFamily="2" charset="0"/>
              </a:rPr>
              <a:t> 2011“The Social Field of the European Corporate Elite: A Network Analysis of </a:t>
            </a:r>
            <a:r>
              <a:rPr lang="da-DK" sz="3200" noProof="0" dirty="0" err="1">
                <a:latin typeface="CBS NEW" panose="02000506080000020004" pitchFamily="2" charset="0"/>
              </a:rPr>
              <a:t>Interlocking</a:t>
            </a:r>
            <a:r>
              <a:rPr lang="da-DK" sz="3200" noProof="0" dirty="0">
                <a:latin typeface="CBS NEW" panose="02000506080000020004" pitchFamily="2" charset="0"/>
              </a:rPr>
              <a:t> </a:t>
            </a:r>
            <a:r>
              <a:rPr lang="da-DK" sz="3200" noProof="0" dirty="0" err="1">
                <a:latin typeface="CBS NEW" panose="02000506080000020004" pitchFamily="2" charset="0"/>
              </a:rPr>
              <a:t>Directorates</a:t>
            </a:r>
            <a:r>
              <a:rPr lang="da-DK" sz="3200" noProof="0" dirty="0">
                <a:latin typeface="CBS NEW" panose="02000506080000020004" pitchFamily="2" charset="0"/>
              </a:rPr>
              <a:t> </a:t>
            </a:r>
            <a:r>
              <a:rPr lang="da-DK" sz="3200" noProof="0" dirty="0" err="1">
                <a:latin typeface="CBS NEW" panose="02000506080000020004" pitchFamily="2" charset="0"/>
              </a:rPr>
              <a:t>among</a:t>
            </a:r>
            <a:r>
              <a:rPr lang="da-DK" sz="3200" noProof="0" dirty="0">
                <a:latin typeface="CBS NEW" panose="02000506080000020004" pitchFamily="2" charset="0"/>
              </a:rPr>
              <a:t> </a:t>
            </a:r>
            <a:r>
              <a:rPr lang="da-DK" sz="3200" noProof="0" dirty="0" err="1">
                <a:latin typeface="CBS NEW" panose="02000506080000020004" pitchFamily="2" charset="0"/>
              </a:rPr>
              <a:t>Europe’s</a:t>
            </a:r>
            <a:r>
              <a:rPr lang="da-DK" sz="3200" noProof="0" dirty="0">
                <a:latin typeface="CBS NEW" panose="02000506080000020004" pitchFamily="2" charset="0"/>
              </a:rPr>
              <a:t> </a:t>
            </a:r>
            <a:r>
              <a:rPr lang="da-DK" sz="3200" noProof="0" dirty="0" err="1">
                <a:latin typeface="CBS NEW" panose="02000506080000020004" pitchFamily="2" charset="0"/>
              </a:rPr>
              <a:t>Largest</a:t>
            </a:r>
            <a:r>
              <a:rPr lang="da-DK" sz="3200" noProof="0" dirty="0">
                <a:latin typeface="CBS NEW" panose="02000506080000020004" pitchFamily="2" charset="0"/>
              </a:rPr>
              <a:t> Corporate Boards.” </a:t>
            </a:r>
            <a:r>
              <a:rPr lang="da-DK" sz="3200" i="1" noProof="0" dirty="0">
                <a:latin typeface="CBS NEW" panose="02000506080000020004" pitchFamily="2" charset="0"/>
              </a:rPr>
              <a:t>Global Networks </a:t>
            </a:r>
            <a:r>
              <a:rPr lang="da-DK" sz="3200" noProof="0" dirty="0">
                <a:latin typeface="CBS NEW" panose="02000506080000020004" pitchFamily="2" charset="0"/>
              </a:rPr>
              <a:t>11, no. 4 : 40–60.</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stretch>
            <a:fillRect/>
          </a:stretch>
        </p:blipFill>
        <p:spPr>
          <a:xfrm>
            <a:off x="471152" y="1993489"/>
            <a:ext cx="7769399" cy="4864511"/>
          </a:xfrm>
          <a:prstGeom prst="rect">
            <a:avLst/>
          </a:prstGeom>
        </p:spPr>
      </p:pic>
    </p:spTree>
    <p:extLst>
      <p:ext uri="{BB962C8B-B14F-4D97-AF65-F5344CB8AC3E}">
        <p14:creationId xmlns:p14="http://schemas.microsoft.com/office/powerpoint/2010/main" val="425062345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000" noProof="0" dirty="0">
                <a:latin typeface="CBS NEW" panose="02000506080000020004" pitchFamily="2" charset="0"/>
              </a:rPr>
              <a:t>Eksempel: Europas Erhvervselite</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stretch>
            <a:fillRect/>
          </a:stretch>
        </p:blipFill>
        <p:spPr>
          <a:xfrm>
            <a:off x="467544" y="1196752"/>
            <a:ext cx="6820070" cy="5556142"/>
          </a:xfrm>
          <a:prstGeom prst="rect">
            <a:avLst/>
          </a:prstGeom>
        </p:spPr>
      </p:pic>
    </p:spTree>
    <p:extLst>
      <p:ext uri="{BB962C8B-B14F-4D97-AF65-F5344CB8AC3E}">
        <p14:creationId xmlns:p14="http://schemas.microsoft.com/office/powerpoint/2010/main" val="246690801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000" noProof="0" dirty="0">
                <a:latin typeface="CBS NEW" panose="02000506080000020004" pitchFamily="2" charset="0"/>
              </a:rPr>
              <a:t>Eksempel: Europas Erhvervselite</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stretch>
            <a:fillRect/>
          </a:stretch>
        </p:blipFill>
        <p:spPr>
          <a:xfrm>
            <a:off x="388116" y="1187570"/>
            <a:ext cx="5782465" cy="5670430"/>
          </a:xfrm>
          <a:prstGeom prst="rect">
            <a:avLst/>
          </a:prstGeom>
        </p:spPr>
      </p:pic>
    </p:spTree>
    <p:extLst>
      <p:ext uri="{BB962C8B-B14F-4D97-AF65-F5344CB8AC3E}">
        <p14:creationId xmlns:p14="http://schemas.microsoft.com/office/powerpoint/2010/main" val="53259445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000" noProof="0" dirty="0">
                <a:latin typeface="CBS NEW" panose="02000506080000020004" pitchFamily="2" charset="0"/>
              </a:rPr>
              <a:t>Eksempel: Europas Erhvervselite</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stretch>
            <a:fillRect/>
          </a:stretch>
        </p:blipFill>
        <p:spPr>
          <a:xfrm>
            <a:off x="467544" y="1196752"/>
            <a:ext cx="6820070" cy="5556142"/>
          </a:xfrm>
          <a:prstGeom prst="rect">
            <a:avLst/>
          </a:prstGeom>
        </p:spPr>
      </p:pic>
      <p:sp>
        <p:nvSpPr>
          <p:cNvPr id="3" name="Oval 2"/>
          <p:cNvSpPr/>
          <p:nvPr/>
        </p:nvSpPr>
        <p:spPr>
          <a:xfrm>
            <a:off x="3491880" y="3147920"/>
            <a:ext cx="1296144" cy="792088"/>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6" name="Oval 5"/>
          <p:cNvSpPr/>
          <p:nvPr/>
        </p:nvSpPr>
        <p:spPr>
          <a:xfrm>
            <a:off x="3707904" y="4077072"/>
            <a:ext cx="1296144" cy="792088"/>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Oval 6"/>
          <p:cNvSpPr/>
          <p:nvPr/>
        </p:nvSpPr>
        <p:spPr>
          <a:xfrm>
            <a:off x="2555776" y="4149080"/>
            <a:ext cx="1296144" cy="792088"/>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18260886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000" noProof="0" dirty="0">
                <a:latin typeface="CBS NEW" panose="02000506080000020004" pitchFamily="2" charset="0"/>
              </a:rPr>
              <a:t>Eksempel: Europas Erhvervselite</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stretch>
            <a:fillRect/>
          </a:stretch>
        </p:blipFill>
        <p:spPr>
          <a:xfrm>
            <a:off x="395289" y="1124745"/>
            <a:ext cx="3997870" cy="5733256"/>
          </a:xfrm>
          <a:prstGeom prst="rect">
            <a:avLst/>
          </a:prstGeom>
        </p:spPr>
      </p:pic>
    </p:spTree>
    <p:extLst>
      <p:ext uri="{BB962C8B-B14F-4D97-AF65-F5344CB8AC3E}">
        <p14:creationId xmlns:p14="http://schemas.microsoft.com/office/powerpoint/2010/main" val="262686705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Kerner</a:t>
            </a:r>
          </a:p>
        </p:txBody>
      </p:sp>
      <p:sp>
        <p:nvSpPr>
          <p:cNvPr id="3" name="Content Placeholder 2"/>
          <p:cNvSpPr>
            <a:spLocks noGrp="1"/>
          </p:cNvSpPr>
          <p:nvPr>
            <p:ph sz="quarter" idx="11"/>
          </p:nvPr>
        </p:nvSpPr>
        <p:spPr>
          <a:xfrm>
            <a:off x="395289" y="1124743"/>
            <a:ext cx="5112815" cy="6264697"/>
          </a:xfrm>
        </p:spPr>
        <p:txBody>
          <a:bodyPr>
            <a:normAutofit fontScale="85000" lnSpcReduction="10000"/>
          </a:bodyPr>
          <a:lstStyle/>
          <a:p>
            <a:r>
              <a:rPr lang="da-DK" sz="3200" b="1" noProof="0" dirty="0">
                <a:latin typeface="CBS NEW" panose="02000506080000020004" pitchFamily="2" charset="0"/>
              </a:rPr>
              <a:t>Punkter med minimum </a:t>
            </a:r>
            <a:r>
              <a:rPr lang="da-DK" sz="3200" b="1" noProof="0" dirty="0" err="1">
                <a:latin typeface="CBS NEW" panose="02000506080000020004" pitchFamily="2" charset="0"/>
              </a:rPr>
              <a:t>degree</a:t>
            </a:r>
            <a:r>
              <a:rPr lang="da-DK" sz="3200" b="1" noProof="0" dirty="0">
                <a:latin typeface="CBS NEW" panose="02000506080000020004" pitchFamily="2" charset="0"/>
              </a:rPr>
              <a:t> til andre med mindst samme minimum</a:t>
            </a:r>
          </a:p>
          <a:p>
            <a:r>
              <a:rPr lang="da-DK" sz="3200" b="1" noProof="0" dirty="0">
                <a:latin typeface="CBS NEW" panose="02000506080000020004" pitchFamily="2" charset="0"/>
              </a:rPr>
              <a:t>k-</a:t>
            </a:r>
            <a:r>
              <a:rPr lang="da-DK" sz="3200" b="1" noProof="0" dirty="0" err="1">
                <a:latin typeface="CBS NEW" panose="02000506080000020004" pitchFamily="2" charset="0"/>
              </a:rPr>
              <a:t>core</a:t>
            </a:r>
            <a:r>
              <a:rPr lang="da-DK" sz="3200" b="1" noProof="0" dirty="0">
                <a:latin typeface="CBS NEW" panose="02000506080000020004" pitchFamily="2" charset="0"/>
              </a:rPr>
              <a:t>: </a:t>
            </a:r>
          </a:p>
          <a:p>
            <a:pPr marL="457200" indent="-457200">
              <a:buFont typeface="CBS NEW" panose="02000506080000020004" pitchFamily="2" charset="0"/>
              <a:buChar char="—"/>
            </a:pPr>
            <a:r>
              <a:rPr lang="da-DK" sz="3200" noProof="0" dirty="0">
                <a:latin typeface="CBS NEW" panose="02000506080000020004" pitchFamily="2" charset="0"/>
              </a:rPr>
              <a:t>Benytter antallet af </a:t>
            </a:r>
            <a:r>
              <a:rPr lang="da-DK" sz="3200" noProof="0" dirty="0" err="1">
                <a:latin typeface="CBS NEW" panose="02000506080000020004" pitchFamily="2" charset="0"/>
              </a:rPr>
              <a:t>degrees</a:t>
            </a:r>
            <a:r>
              <a:rPr lang="da-DK" sz="3200" noProof="0" dirty="0">
                <a:latin typeface="CBS NEW" panose="02000506080000020004" pitchFamily="2" charset="0"/>
              </a:rPr>
              <a:t>. Man skal være forbundet til k, fx 3 andre punkter indenfor komponenten. 1k-core er komponenten. En k-</a:t>
            </a:r>
            <a:r>
              <a:rPr lang="da-DK" sz="3200" noProof="0" dirty="0" err="1">
                <a:latin typeface="CBS NEW" panose="02000506080000020004" pitchFamily="2" charset="0"/>
              </a:rPr>
              <a:t>core</a:t>
            </a:r>
            <a:r>
              <a:rPr lang="da-DK" sz="3200" noProof="0" dirty="0">
                <a:latin typeface="CBS NEW" panose="02000506080000020004" pitchFamily="2" charset="0"/>
              </a:rPr>
              <a:t> skal have mindst (k+1 medlemmer). k-</a:t>
            </a:r>
            <a:r>
              <a:rPr lang="da-DK" sz="3200" noProof="0" dirty="0" err="1">
                <a:latin typeface="CBS NEW" panose="02000506080000020004" pitchFamily="2" charset="0"/>
              </a:rPr>
              <a:t>cores</a:t>
            </a:r>
            <a:r>
              <a:rPr lang="da-DK" sz="3200" noProof="0" dirty="0">
                <a:latin typeface="CBS NEW" panose="02000506080000020004" pitchFamily="2" charset="0"/>
              </a:rPr>
              <a:t> er de dele af netværk, hvor stærkt integrerede grupper (som inderkredsen) vil findes</a:t>
            </a:r>
          </a:p>
          <a:p>
            <a:r>
              <a:rPr lang="da-DK" sz="3200" b="1" noProof="0" dirty="0">
                <a:latin typeface="CBS NEW" panose="02000506080000020004" pitchFamily="2" charset="0"/>
              </a:rPr>
              <a:t>m-</a:t>
            </a:r>
            <a:r>
              <a:rPr lang="da-DK" sz="3200" b="1" noProof="0" dirty="0" err="1">
                <a:latin typeface="CBS NEW" panose="02000506080000020004" pitchFamily="2" charset="0"/>
              </a:rPr>
              <a:t>core</a:t>
            </a:r>
            <a:r>
              <a:rPr lang="da-DK" sz="3200" b="1" noProof="0" dirty="0">
                <a:latin typeface="CBS NEW" panose="02000506080000020004" pitchFamily="2" charset="0"/>
              </a:rPr>
              <a:t>:</a:t>
            </a:r>
          </a:p>
          <a:p>
            <a:pPr marL="457200" indent="-457200">
              <a:buFont typeface="CBS NEW" panose="02000506080000020004" pitchFamily="2" charset="0"/>
              <a:buChar char="—"/>
            </a:pPr>
            <a:r>
              <a:rPr lang="da-DK" sz="3200" noProof="0" dirty="0">
                <a:latin typeface="CBS NEW" panose="02000506080000020004" pitchFamily="2" charset="0"/>
              </a:rPr>
              <a:t>I vægtede netværk. Kun forbindelser med en værdi/vægt &gt; end m indgår i kernen</a:t>
            </a:r>
          </a:p>
          <a:p>
            <a:pPr marL="457200" indent="-457200">
              <a:buFont typeface="CBS NEW" panose="02000506080000020004" pitchFamily="2" charset="0"/>
              <a:buChar char="—"/>
            </a:pPr>
            <a:r>
              <a:rPr lang="da-DK" sz="3200" noProof="0" dirty="0">
                <a:latin typeface="CBS NEW" panose="02000506080000020004" pitchFamily="2" charset="0"/>
              </a:rPr>
              <a:t>Kollapssekvenser: Hvor stort et tab oplever netværket, hvor gang k eller m stiger</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6" name="Content Placeholder 5"/>
          <p:cNvPicPr>
            <a:picLocks noGrp="1" noChangeAspect="1"/>
          </p:cNvPicPr>
          <p:nvPr>
            <p:ph sz="quarter" idx="12"/>
          </p:nvPr>
        </p:nvPicPr>
        <p:blipFill rotWithShape="1">
          <a:blip r:embed="rId2">
            <a:extLst>
              <a:ext uri="{28A0092B-C50C-407E-A947-70E740481C1C}">
                <a14:useLocalDpi xmlns:a14="http://schemas.microsoft.com/office/drawing/2010/main" val="0"/>
              </a:ext>
            </a:extLst>
          </a:blip>
          <a:srcRect l="1123" t="4762" r="6068"/>
          <a:stretch/>
        </p:blipFill>
        <p:spPr>
          <a:xfrm>
            <a:off x="5292080" y="1916832"/>
            <a:ext cx="3816424" cy="4320480"/>
          </a:xfrm>
        </p:spPr>
      </p:pic>
    </p:spTree>
    <p:extLst>
      <p:ext uri="{BB962C8B-B14F-4D97-AF65-F5344CB8AC3E}">
        <p14:creationId xmlns:p14="http://schemas.microsoft.com/office/powerpoint/2010/main" val="53499431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Eksempel: Magteliten</a:t>
            </a:r>
          </a:p>
        </p:txBody>
      </p:sp>
      <p:sp>
        <p:nvSpPr>
          <p:cNvPr id="3" name="Content Placeholder 2"/>
          <p:cNvSpPr>
            <a:spLocks noGrp="1"/>
          </p:cNvSpPr>
          <p:nvPr>
            <p:ph sz="quarter" idx="11"/>
          </p:nvPr>
        </p:nvSpPr>
        <p:spPr>
          <a:xfrm>
            <a:off x="395289" y="1124743"/>
            <a:ext cx="5112815" cy="6264697"/>
          </a:xfrm>
        </p:spPr>
        <p:txBody>
          <a:bodyPr>
            <a:normAutofit/>
          </a:bodyPr>
          <a:lstStyle/>
          <a:p>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2"/>
          </p:nvPr>
        </p:nvSpPr>
        <p:spPr/>
        <p:txBody>
          <a:bodyPr/>
          <a:lstStyle/>
          <a:p>
            <a:endParaRPr lang="da-DK"/>
          </a:p>
        </p:txBody>
      </p:sp>
      <p:pic>
        <p:nvPicPr>
          <p:cNvPr id="10" name="Picture 9"/>
          <p:cNvPicPr>
            <a:picLocks noChangeAspect="1"/>
          </p:cNvPicPr>
          <p:nvPr/>
        </p:nvPicPr>
        <p:blipFill>
          <a:blip r:embed="rId2"/>
          <a:stretch>
            <a:fillRect/>
          </a:stretch>
        </p:blipFill>
        <p:spPr>
          <a:xfrm>
            <a:off x="323528" y="1144150"/>
            <a:ext cx="8680683" cy="5010866"/>
          </a:xfrm>
          <a:prstGeom prst="rect">
            <a:avLst/>
          </a:prstGeom>
        </p:spPr>
      </p:pic>
    </p:spTree>
    <p:extLst>
      <p:ext uri="{BB962C8B-B14F-4D97-AF65-F5344CB8AC3E}">
        <p14:creationId xmlns:p14="http://schemas.microsoft.com/office/powerpoint/2010/main" val="21710041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Eksempel: Magteliten</a:t>
            </a:r>
          </a:p>
        </p:txBody>
      </p:sp>
      <p:pic>
        <p:nvPicPr>
          <p:cNvPr id="6" name="Content Placeholder 5"/>
          <p:cNvPicPr>
            <a:picLocks noGrp="1" noChangeAspect="1"/>
          </p:cNvPicPr>
          <p:nvPr>
            <p:ph sz="quarter" idx="11"/>
          </p:nvPr>
        </p:nvPicPr>
        <p:blipFill>
          <a:blip r:embed="rId2" cstate="print">
            <a:extLst>
              <a:ext uri="{28A0092B-C50C-407E-A947-70E740481C1C}">
                <a14:useLocalDpi xmlns:a14="http://schemas.microsoft.com/office/drawing/2010/main" val="0"/>
              </a:ext>
            </a:extLst>
          </a:blip>
          <a:stretch>
            <a:fillRect/>
          </a:stretch>
        </p:blipFill>
        <p:spPr>
          <a:xfrm>
            <a:off x="1475656" y="1106115"/>
            <a:ext cx="5761037" cy="5761037"/>
          </a:xfrm>
        </p:spPr>
      </p:pic>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150542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Eksempel: Magteliten</a:t>
            </a:r>
          </a:p>
        </p:txBody>
      </p:sp>
      <p:sp>
        <p:nvSpPr>
          <p:cNvPr id="3" name="Content Placeholder 2"/>
          <p:cNvSpPr>
            <a:spLocks noGrp="1"/>
          </p:cNvSpPr>
          <p:nvPr>
            <p:ph sz="quarter" idx="11"/>
          </p:nvPr>
        </p:nvSpPr>
        <p:spPr>
          <a:xfrm>
            <a:off x="395289" y="1124743"/>
            <a:ext cx="5112815" cy="6264697"/>
          </a:xfrm>
        </p:spPr>
        <p:txBody>
          <a:bodyPr>
            <a:normAutofit/>
          </a:bodyPr>
          <a:lstStyle/>
          <a:p>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7" name="Content Placeholder 6"/>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1691680" y="1124742"/>
            <a:ext cx="5616624" cy="5616624"/>
          </a:xfrm>
        </p:spPr>
      </p:pic>
    </p:spTree>
    <p:extLst>
      <p:ext uri="{BB962C8B-B14F-4D97-AF65-F5344CB8AC3E}">
        <p14:creationId xmlns:p14="http://schemas.microsoft.com/office/powerpoint/2010/main" val="229203885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Eksempel: Magteliten</a:t>
            </a:r>
          </a:p>
        </p:txBody>
      </p:sp>
      <p:pic>
        <p:nvPicPr>
          <p:cNvPr id="6" name="Content Placeholder 5"/>
          <p:cNvPicPr>
            <a:picLocks noGrp="1" noChangeAspect="1"/>
          </p:cNvPicPr>
          <p:nvPr>
            <p:ph sz="quarter" idx="11"/>
          </p:nvPr>
        </p:nvPicPr>
        <p:blipFill rotWithShape="1">
          <a:blip r:embed="rId2" cstate="print">
            <a:extLst>
              <a:ext uri="{28A0092B-C50C-407E-A947-70E740481C1C}">
                <a14:useLocalDpi xmlns:a14="http://schemas.microsoft.com/office/drawing/2010/main" val="0"/>
              </a:ext>
            </a:extLst>
          </a:blip>
          <a:srcRect t="13804" b="17244"/>
          <a:stretch/>
        </p:blipFill>
        <p:spPr>
          <a:xfrm>
            <a:off x="1475656" y="1124521"/>
            <a:ext cx="5930616" cy="5544839"/>
          </a:xfrm>
        </p:spPr>
      </p:pic>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70107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Eksempel: Magteliten</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7" name="Content Placeholder 6"/>
          <p:cNvSpPr>
            <a:spLocks noGrp="1"/>
          </p:cNvSpPr>
          <p:nvPr>
            <p:ph sz="quarter" idx="11"/>
          </p:nvPr>
        </p:nvSpPr>
        <p:spPr/>
        <p:txBody>
          <a:bodyPr/>
          <a:lstStyle/>
          <a:p>
            <a:endParaRPr lang="da-DK"/>
          </a:p>
        </p:txBody>
      </p:sp>
      <p:pic>
        <p:nvPicPr>
          <p:cNvPr id="10" name="Picture 9"/>
          <p:cNvPicPr>
            <a:picLocks noChangeAspect="1"/>
          </p:cNvPicPr>
          <p:nvPr/>
        </p:nvPicPr>
        <p:blipFill>
          <a:blip r:embed="rId2"/>
          <a:stretch>
            <a:fillRect/>
          </a:stretch>
        </p:blipFill>
        <p:spPr>
          <a:xfrm>
            <a:off x="1115616" y="1528063"/>
            <a:ext cx="7127662" cy="5304761"/>
          </a:xfrm>
          <a:prstGeom prst="rect">
            <a:avLst/>
          </a:prstGeom>
        </p:spPr>
      </p:pic>
    </p:spTree>
    <p:extLst>
      <p:ext uri="{BB962C8B-B14F-4D97-AF65-F5344CB8AC3E}">
        <p14:creationId xmlns:p14="http://schemas.microsoft.com/office/powerpoint/2010/main" val="81448778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Eksempel: Magteliten</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7" name="Content Placeholder 6"/>
          <p:cNvSpPr>
            <a:spLocks noGrp="1"/>
          </p:cNvSpPr>
          <p:nvPr>
            <p:ph sz="quarter" idx="11"/>
          </p:nvPr>
        </p:nvSpPr>
        <p:spPr/>
        <p:txBody>
          <a:bodyPr/>
          <a:lstStyle/>
          <a:p>
            <a:endParaRPr lang="da-DK"/>
          </a:p>
        </p:txBody>
      </p:sp>
      <p:pic>
        <p:nvPicPr>
          <p:cNvPr id="8" name="Picture 7"/>
          <p:cNvPicPr>
            <a:picLocks noChangeAspect="1"/>
          </p:cNvPicPr>
          <p:nvPr/>
        </p:nvPicPr>
        <p:blipFill>
          <a:blip r:embed="rId2"/>
          <a:stretch>
            <a:fillRect/>
          </a:stretch>
        </p:blipFill>
        <p:spPr>
          <a:xfrm>
            <a:off x="107504" y="1268760"/>
            <a:ext cx="9036496" cy="3004656"/>
          </a:xfrm>
          <a:prstGeom prst="rect">
            <a:avLst/>
          </a:prstGeom>
        </p:spPr>
      </p:pic>
      <p:sp>
        <p:nvSpPr>
          <p:cNvPr id="6" name="Oval 5"/>
          <p:cNvSpPr/>
          <p:nvPr/>
        </p:nvSpPr>
        <p:spPr>
          <a:xfrm>
            <a:off x="3563888" y="2060848"/>
            <a:ext cx="864096" cy="216024"/>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2838765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Eksempel: Magteliten</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7" name="Content Placeholder 6"/>
          <p:cNvSpPr>
            <a:spLocks noGrp="1"/>
          </p:cNvSpPr>
          <p:nvPr>
            <p:ph sz="quarter" idx="11"/>
          </p:nvPr>
        </p:nvSpPr>
        <p:spPr/>
        <p:txBody>
          <a:bodyPr/>
          <a:lstStyle/>
          <a:p>
            <a:endParaRPr lang="da-DK"/>
          </a:p>
        </p:txBody>
      </p:sp>
      <p:pic>
        <p:nvPicPr>
          <p:cNvPr id="9" name="Picture 8"/>
          <p:cNvPicPr>
            <a:picLocks noChangeAspect="1"/>
          </p:cNvPicPr>
          <p:nvPr/>
        </p:nvPicPr>
        <p:blipFill>
          <a:blip r:embed="rId2"/>
          <a:stretch>
            <a:fillRect/>
          </a:stretch>
        </p:blipFill>
        <p:spPr>
          <a:xfrm>
            <a:off x="395288" y="1196752"/>
            <a:ext cx="7879405" cy="5256584"/>
          </a:xfrm>
          <a:prstGeom prst="rect">
            <a:avLst/>
          </a:prstGeom>
        </p:spPr>
      </p:pic>
    </p:spTree>
    <p:extLst>
      <p:ext uri="{BB962C8B-B14F-4D97-AF65-F5344CB8AC3E}">
        <p14:creationId xmlns:p14="http://schemas.microsoft.com/office/powerpoint/2010/main" val="170154133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Afstemning</a:t>
            </a:r>
          </a:p>
        </p:txBody>
      </p:sp>
      <p:sp>
        <p:nvSpPr>
          <p:cNvPr id="3" name="Content Placeholder 2"/>
          <p:cNvSpPr>
            <a:spLocks noGrp="1"/>
          </p:cNvSpPr>
          <p:nvPr>
            <p:ph sz="quarter" idx="11"/>
          </p:nvPr>
        </p:nvSpPr>
        <p:spPr>
          <a:xfrm>
            <a:off x="395289" y="1124743"/>
            <a:ext cx="3816671" cy="5139531"/>
          </a:xfrm>
        </p:spPr>
        <p:txBody>
          <a:bodyPr>
            <a:normAutofit/>
          </a:bodyPr>
          <a:lstStyle/>
          <a:p>
            <a:r>
              <a:rPr lang="da-DK" sz="3200" b="1" noProof="0" dirty="0">
                <a:latin typeface="CBS NEW" panose="02000506080000020004" pitchFamily="2" charset="0"/>
              </a:rPr>
              <a:t>Vi mangler bedre ord for…</a:t>
            </a:r>
          </a:p>
          <a:p>
            <a:pPr marL="457200" indent="-457200">
              <a:buFont typeface="CBS NEW" panose="02000506080000020004" pitchFamily="2" charset="0"/>
              <a:buChar char="—"/>
            </a:pPr>
            <a:r>
              <a:rPr lang="da-DK" sz="3200" noProof="0" dirty="0" err="1">
                <a:latin typeface="CBS NEW" panose="02000506080000020004" pitchFamily="2" charset="0"/>
              </a:rPr>
              <a:t>Degree</a:t>
            </a:r>
            <a:endParaRPr lang="da-DK" sz="3200" noProof="0" dirty="0">
              <a:latin typeface="CBS NEW" panose="02000506080000020004" pitchFamily="2" charset="0"/>
            </a:endParaRPr>
          </a:p>
          <a:p>
            <a:pPr marL="814644" lvl="2" indent="-457200">
              <a:buFont typeface="CBS NEW" panose="02000506080000020004" pitchFamily="2" charset="0"/>
              <a:buChar char="—"/>
            </a:pPr>
            <a:r>
              <a:rPr lang="da-DK" sz="2800" noProof="0" dirty="0">
                <a:latin typeface="CBS NEW" panose="02000506080000020004" pitchFamily="2" charset="0"/>
              </a:rPr>
              <a:t>Antal forbindelser? Grad? Naboer?</a:t>
            </a:r>
          </a:p>
          <a:p>
            <a:pPr marL="457200" indent="-457200">
              <a:buFont typeface="CBS NEW" panose="02000506080000020004" pitchFamily="2" charset="0"/>
              <a:buChar char="—"/>
            </a:pPr>
            <a:r>
              <a:rPr lang="da-DK" sz="3200" noProof="0" dirty="0" err="1">
                <a:latin typeface="CBS NEW" panose="02000506080000020004" pitchFamily="2" charset="0"/>
              </a:rPr>
              <a:t>Closeness</a:t>
            </a:r>
            <a:endParaRPr lang="da-DK" sz="3200" noProof="0" dirty="0">
              <a:latin typeface="CBS NEW" panose="02000506080000020004" pitchFamily="2" charset="0"/>
            </a:endParaRPr>
          </a:p>
          <a:p>
            <a:pPr marL="814644" lvl="2" indent="-457200">
              <a:buFont typeface="CBS NEW" panose="02000506080000020004" pitchFamily="2" charset="0"/>
              <a:buChar char="—"/>
            </a:pPr>
            <a:r>
              <a:rPr lang="da-DK" sz="2800" noProof="0" dirty="0" err="1">
                <a:latin typeface="CBS NEW" panose="02000506080000020004" pitchFamily="2" charset="0"/>
              </a:rPr>
              <a:t>Tæthedscentralitet</a:t>
            </a:r>
            <a:r>
              <a:rPr lang="da-DK" sz="2800" noProof="0" dirty="0">
                <a:latin typeface="CBS NEW" panose="02000506080000020004" pitchFamily="2" charset="0"/>
              </a:rPr>
              <a:t>? </a:t>
            </a:r>
            <a:r>
              <a:rPr lang="da-DK" sz="2800" noProof="0" dirty="0" err="1">
                <a:latin typeface="CBS NEW" panose="02000506080000020004" pitchFamily="2" charset="0"/>
              </a:rPr>
              <a:t>Nærhedscentralitet</a:t>
            </a:r>
            <a:r>
              <a:rPr lang="da-DK" sz="2800" noProof="0" dirty="0">
                <a:latin typeface="CBS NEW" panose="02000506080000020004" pitchFamily="2" charset="0"/>
              </a:rPr>
              <a:t>?</a:t>
            </a:r>
          </a:p>
          <a:p>
            <a:pPr marL="457200" indent="-457200">
              <a:buFont typeface="CBS NEW" panose="02000506080000020004" pitchFamily="2" charset="0"/>
              <a:buChar char="—"/>
            </a:pPr>
            <a:r>
              <a:rPr lang="da-DK" sz="3200" noProof="0" dirty="0" err="1">
                <a:latin typeface="CBS NEW" panose="02000506080000020004" pitchFamily="2" charset="0"/>
              </a:rPr>
              <a:t>Betweenness</a:t>
            </a:r>
            <a:endParaRPr lang="da-DK" sz="3200" noProof="0" dirty="0">
              <a:latin typeface="CBS NEW" panose="02000506080000020004" pitchFamily="2" charset="0"/>
            </a:endParaRPr>
          </a:p>
          <a:p>
            <a:pPr marL="814644" lvl="2" indent="-457200">
              <a:buFont typeface="CBS NEW" panose="02000506080000020004" pitchFamily="2" charset="0"/>
              <a:buChar char="—"/>
            </a:pPr>
            <a:r>
              <a:rPr lang="da-DK" sz="2800" noProof="0" dirty="0" err="1">
                <a:latin typeface="CBS NEW" panose="02000506080000020004" pitchFamily="2" charset="0"/>
              </a:rPr>
              <a:t>Mellemledcentralitet</a:t>
            </a:r>
            <a:r>
              <a:rPr lang="da-DK" sz="2800" noProof="0" dirty="0">
                <a:latin typeface="CBS NEW" panose="02000506080000020004" pitchFamily="2" charset="0"/>
              </a:rPr>
              <a:t>? </a:t>
            </a:r>
            <a:r>
              <a:rPr lang="da-DK" sz="2800" noProof="0" dirty="0" err="1">
                <a:latin typeface="CBS NEW" panose="02000506080000020004" pitchFamily="2" charset="0"/>
              </a:rPr>
              <a:t>Brobygningscentralitet</a:t>
            </a:r>
            <a:r>
              <a:rPr lang="da-DK" sz="2800" noProof="0" dirty="0">
                <a:latin typeface="CBS NEW" panose="02000506080000020004" pitchFamily="2" charset="0"/>
              </a:rPr>
              <a:t>?</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4008" y="2060848"/>
            <a:ext cx="3775968" cy="3156473"/>
          </a:xfrm>
          <a:prstGeom prst="rect">
            <a:avLst/>
          </a:prstGeom>
        </p:spPr>
      </p:pic>
    </p:spTree>
    <p:extLst>
      <p:ext uri="{BB962C8B-B14F-4D97-AF65-F5344CB8AC3E}">
        <p14:creationId xmlns:p14="http://schemas.microsoft.com/office/powerpoint/2010/main" val="337155373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000" noProof="0" dirty="0">
                <a:latin typeface="CBS NEW" panose="02000506080000020004" pitchFamily="2" charset="0"/>
              </a:rPr>
              <a:t>Øvelse: </a:t>
            </a:r>
            <a:r>
              <a:rPr lang="en-US" sz="4000" dirty="0">
                <a:latin typeface="CBS NEW" panose="02000506080000020004" pitchFamily="2" charset="0"/>
              </a:rPr>
              <a:t>6 degrees of Kevin Bacon</a:t>
            </a:r>
            <a:endParaRPr lang="da-DK" sz="4000" noProof="0" dirty="0">
              <a:latin typeface="CBS NEW" panose="02000506080000020004" pitchFamily="2" charset="0"/>
            </a:endParaRPr>
          </a:p>
        </p:txBody>
      </p:sp>
      <p:sp>
        <p:nvSpPr>
          <p:cNvPr id="3" name="Content Placeholder 2"/>
          <p:cNvSpPr>
            <a:spLocks noGrp="1"/>
          </p:cNvSpPr>
          <p:nvPr>
            <p:ph sz="quarter" idx="11"/>
          </p:nvPr>
        </p:nvSpPr>
        <p:spPr>
          <a:xfrm>
            <a:off x="395289" y="1340768"/>
            <a:ext cx="6480967" cy="4176464"/>
          </a:xfrm>
        </p:spPr>
        <p:txBody>
          <a:bodyPr>
            <a:normAutofit fontScale="62500" lnSpcReduction="20000"/>
          </a:bodyPr>
          <a:lstStyle/>
          <a:p>
            <a:pPr marL="457200" indent="-457200">
              <a:buFont typeface="Wingdings" panose="05000000000000000000" pitchFamily="2" charset="2"/>
              <a:buChar char="q"/>
            </a:pPr>
            <a:r>
              <a:rPr lang="da-DK" sz="3200" dirty="0">
                <a:latin typeface="CBS NEW" panose="02000506080000020004" pitchFamily="2" charset="0"/>
              </a:rPr>
              <a:t>Gå ind på </a:t>
            </a:r>
            <a:r>
              <a:rPr lang="da-DK" sz="3200" dirty="0">
                <a:latin typeface="CBS NEW" panose="02000506080000020004" pitchFamily="2" charset="0"/>
                <a:hlinkClick r:id="rId2"/>
              </a:rPr>
              <a:t>http://oracleofbacon.org/</a:t>
            </a:r>
            <a:endParaRPr lang="da-DK" sz="3200" dirty="0">
              <a:latin typeface="CBS NEW" panose="02000506080000020004" pitchFamily="2" charset="0"/>
            </a:endParaRPr>
          </a:p>
          <a:p>
            <a:pPr marL="457200" indent="-457200">
              <a:buFont typeface="Wingdings" panose="05000000000000000000" pitchFamily="2" charset="2"/>
              <a:buChar char="q"/>
            </a:pPr>
            <a:r>
              <a:rPr lang="da-DK" sz="3200" dirty="0">
                <a:latin typeface="CBS NEW" panose="02000506080000020004" pitchFamily="2" charset="0"/>
              </a:rPr>
              <a:t>Find antallet af </a:t>
            </a:r>
            <a:r>
              <a:rPr lang="da-DK" sz="3200" dirty="0" err="1">
                <a:latin typeface="CBS NEW" panose="02000506080000020004" pitchFamily="2" charset="0"/>
              </a:rPr>
              <a:t>degrees</a:t>
            </a:r>
            <a:r>
              <a:rPr lang="da-DK" sz="3200" dirty="0">
                <a:latin typeface="CBS NEW" panose="02000506080000020004" pitchFamily="2" charset="0"/>
              </a:rPr>
              <a:t> fra forskellige (danske som udenlandske) skuespillere til Kevin Bacon</a:t>
            </a:r>
          </a:p>
          <a:p>
            <a:pPr marL="457200" indent="-457200">
              <a:buFont typeface="Wingdings" panose="05000000000000000000" pitchFamily="2" charset="2"/>
              <a:buChar char="q"/>
            </a:pPr>
            <a:r>
              <a:rPr lang="da-DK" sz="3200" dirty="0">
                <a:latin typeface="CBS NEW" panose="02000506080000020004" pitchFamily="2" charset="0"/>
              </a:rPr>
              <a:t>Tjek Bacon numre ud på </a:t>
            </a:r>
            <a:r>
              <a:rPr lang="da-DK" sz="3200" dirty="0">
                <a:latin typeface="CBS NEW" panose="02000506080000020004" pitchFamily="2" charset="0"/>
                <a:hlinkClick r:id="rId3"/>
              </a:rPr>
              <a:t>http://oracleofbacon.org/cgi-bin/center-cgi</a:t>
            </a:r>
            <a:r>
              <a:rPr lang="da-DK" sz="3200" dirty="0">
                <a:latin typeface="CBS NEW" panose="02000506080000020004" pitchFamily="2" charset="0"/>
              </a:rPr>
              <a:t> for forskellige skuespillere. </a:t>
            </a:r>
          </a:p>
          <a:p>
            <a:pPr marL="639481" lvl="1" indent="-457200">
              <a:buFont typeface="Wingdings" panose="05000000000000000000" pitchFamily="2" charset="2"/>
              <a:buChar char="q"/>
            </a:pPr>
            <a:r>
              <a:rPr lang="da-DK" sz="3200" dirty="0">
                <a:latin typeface="CBS NEW" panose="02000506080000020004" pitchFamily="2" charset="0"/>
              </a:rPr>
              <a:t>Hvem kan finde skuespillere med det laveste gennemsnit? </a:t>
            </a:r>
          </a:p>
          <a:p>
            <a:pPr marL="639481" lvl="1" indent="-457200">
              <a:buFont typeface="Wingdings" panose="05000000000000000000" pitchFamily="2" charset="2"/>
              <a:buChar char="q"/>
            </a:pPr>
            <a:r>
              <a:rPr lang="da-DK" sz="3200" dirty="0">
                <a:latin typeface="CBS NEW" panose="02000506080000020004" pitchFamily="2" charset="0"/>
              </a:rPr>
              <a:t>Bedste nummer </a:t>
            </a:r>
            <a:r>
              <a:rPr lang="da-DK" sz="3200" dirty="0" err="1">
                <a:latin typeface="CBS NEW" panose="02000506080000020004" pitchFamily="2" charset="0"/>
              </a:rPr>
              <a:t>er”Average</a:t>
            </a:r>
            <a:r>
              <a:rPr lang="da-DK" sz="3200" dirty="0">
                <a:latin typeface="CBS NEW" panose="02000506080000020004" pitchFamily="2" charset="0"/>
              </a:rPr>
              <a:t> Kevin Bacon </a:t>
            </a:r>
            <a:r>
              <a:rPr lang="da-DK" sz="3200" dirty="0" err="1">
                <a:latin typeface="CBS NEW" panose="02000506080000020004" pitchFamily="2" charset="0"/>
              </a:rPr>
              <a:t>number</a:t>
            </a:r>
            <a:r>
              <a:rPr lang="da-DK" sz="3200" dirty="0">
                <a:latin typeface="CBS NEW" panose="02000506080000020004" pitchFamily="2" charset="0"/>
              </a:rPr>
              <a:t>: 2.898”. </a:t>
            </a:r>
          </a:p>
          <a:p>
            <a:pPr marL="639481" lvl="1" indent="-457200">
              <a:buFont typeface="Wingdings" panose="05000000000000000000" pitchFamily="2" charset="2"/>
              <a:buChar char="q"/>
            </a:pPr>
            <a:r>
              <a:rPr lang="da-DK" sz="3200" dirty="0">
                <a:latin typeface="CBS NEW" panose="02000506080000020004" pitchFamily="2" charset="0"/>
              </a:rPr>
              <a:t>Tjek hvordan dette beregnes under </a:t>
            </a:r>
            <a:r>
              <a:rPr lang="da-DK" sz="3200" dirty="0">
                <a:latin typeface="CBS NEW" panose="02000506080000020004" pitchFamily="2" charset="0"/>
                <a:hlinkClick r:id="rId4"/>
              </a:rPr>
              <a:t>http://oracleofbacon.org/center.php</a:t>
            </a:r>
            <a:endParaRPr lang="da-DK" sz="3200" dirty="0">
              <a:latin typeface="CBS NEW" panose="02000506080000020004" pitchFamily="2" charset="0"/>
            </a:endParaRPr>
          </a:p>
          <a:p>
            <a:pPr marL="457200" indent="-457200">
              <a:buFont typeface="Wingdings" panose="05000000000000000000" pitchFamily="2" charset="2"/>
              <a:buChar char="q"/>
            </a:pPr>
            <a:r>
              <a:rPr lang="da-DK" sz="3200" dirty="0">
                <a:latin typeface="CBS NEW" panose="02000506080000020004" pitchFamily="2" charset="0"/>
              </a:rPr>
              <a:t>Efter at have eksperimenteret lidt, så prøv at finde den sociale logik bag at have et lavt bacon nummer og altså være godt forbundet til mange andre i Hollywood. Lav en hurtig hypotese</a:t>
            </a:r>
          </a:p>
          <a:p>
            <a:pPr marL="457200" indent="-457200">
              <a:buFont typeface="Wingdings" panose="05000000000000000000" pitchFamily="2" charset="2"/>
              <a:buChar char="q"/>
            </a:pPr>
            <a:r>
              <a:rPr lang="da-DK" sz="3200" dirty="0">
                <a:latin typeface="CBS NEW" panose="02000506080000020004" pitchFamily="2" charset="0"/>
              </a:rPr>
              <a:t>Tjek </a:t>
            </a:r>
            <a:r>
              <a:rPr lang="da-DK" sz="3200" dirty="0">
                <a:latin typeface="CBS NEW" panose="02000506080000020004" pitchFamily="2" charset="0"/>
                <a:hlinkClick r:id="rId5"/>
              </a:rPr>
              <a:t>http://oracleofbacon.org/center_list.php</a:t>
            </a:r>
            <a:r>
              <a:rPr lang="da-DK" sz="3200" dirty="0">
                <a:latin typeface="CBS NEW" panose="02000506080000020004" pitchFamily="2" charset="0"/>
              </a:rPr>
              <a:t> og se, hvem der har de laveste numre alt i alt. Holdt jeres hypotese eller må den reformuleres?</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48264" y="1052513"/>
            <a:ext cx="2034005" cy="2870572"/>
          </a:xfrm>
          <a:prstGeom prst="rect">
            <a:avLst/>
          </a:prstGeom>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61015" y="4941168"/>
            <a:ext cx="1374744" cy="1832992"/>
          </a:xfrm>
          <a:prstGeom prst="rect">
            <a:avLst/>
          </a:prstGeom>
        </p:spPr>
      </p:pic>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99792" y="5042883"/>
            <a:ext cx="1226068" cy="1700808"/>
          </a:xfrm>
          <a:prstGeom prst="rect">
            <a:avLst/>
          </a:prstGeom>
        </p:spPr>
      </p:pic>
    </p:spTree>
    <p:extLst>
      <p:ext uri="{BB962C8B-B14F-4D97-AF65-F5344CB8AC3E}">
        <p14:creationId xmlns:p14="http://schemas.microsoft.com/office/powerpoint/2010/main" val="257541525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188641"/>
            <a:ext cx="5761037" cy="863872"/>
          </a:xfrm>
        </p:spPr>
        <p:txBody>
          <a:bodyPr>
            <a:noAutofit/>
          </a:bodyPr>
          <a:lstStyle/>
          <a:p>
            <a:r>
              <a:rPr lang="da-DK" sz="6000" noProof="0" dirty="0">
                <a:latin typeface="CBS NEW" panose="02000506080000020004" pitchFamily="2" charset="0"/>
              </a:rPr>
              <a:t>Næste gang</a:t>
            </a:r>
          </a:p>
        </p:txBody>
      </p:sp>
      <p:sp>
        <p:nvSpPr>
          <p:cNvPr id="3" name="Content Placeholder 2"/>
          <p:cNvSpPr>
            <a:spLocks noGrp="1"/>
          </p:cNvSpPr>
          <p:nvPr>
            <p:ph sz="quarter" idx="11"/>
          </p:nvPr>
        </p:nvSpPr>
        <p:spPr/>
        <p:txBody>
          <a:bodyPr>
            <a:normAutofit fontScale="62500" lnSpcReduction="20000"/>
          </a:bodyPr>
          <a:lstStyle/>
          <a:p>
            <a:r>
              <a:rPr lang="da-DK" sz="3200" b="1" dirty="0">
                <a:latin typeface="CBS NEW" panose="02000506080000020004" pitchFamily="2" charset="0"/>
              </a:rPr>
              <a:t>Netværksstrategi:</a:t>
            </a:r>
          </a:p>
          <a:p>
            <a:r>
              <a:rPr lang="da-DK" sz="3200" dirty="0">
                <a:latin typeface="CBS NEW" panose="02000506080000020004" pitchFamily="2" charset="0"/>
              </a:rPr>
              <a:t>I denne forelæsning bygger vi videre på #1 men vi kigger mere specifikt på, hvordan en virksomheds netværk kan tænkes og anskueliggøres. Hvorfor en virksomheders netværk vigtige for at forstå deres gøren og laden, og hvordan kan forskellige netværksstrukturer have indvirken på virksomheder evne til at forny sig og bredere set deres performance?</a:t>
            </a:r>
          </a:p>
          <a:p>
            <a:r>
              <a:rPr lang="da-DK" sz="3200" dirty="0" err="1">
                <a:latin typeface="CBS NEW" panose="02000506080000020004" pitchFamily="2" charset="0"/>
              </a:rPr>
              <a:t>Uzzi’s</a:t>
            </a:r>
            <a:r>
              <a:rPr lang="da-DK" sz="3200" dirty="0">
                <a:latin typeface="CBS NEW" panose="02000506080000020004" pitchFamily="2" charset="0"/>
              </a:rPr>
              <a:t> tekst viser betydningen af forskellige typer relationer, henholdsvis stærke forbindelser og armslængde forbindelser, når mindre virksomheder skaber regionale netværk.</a:t>
            </a:r>
          </a:p>
          <a:p>
            <a:endParaRPr lang="da-DK" sz="3200" dirty="0">
              <a:latin typeface="CBS NEW" panose="02000506080000020004" pitchFamily="2" charset="0"/>
            </a:endParaRPr>
          </a:p>
          <a:p>
            <a:r>
              <a:rPr lang="da-DK" sz="3200" b="1" dirty="0">
                <a:latin typeface="CBS NEW" panose="02000506080000020004" pitchFamily="2" charset="0"/>
              </a:rPr>
              <a:t>Litteratur:</a:t>
            </a:r>
          </a:p>
          <a:p>
            <a:endParaRPr lang="da-DK" sz="3200" dirty="0">
              <a:latin typeface="CBS NEW" panose="02000506080000020004" pitchFamily="2" charset="0"/>
            </a:endParaRPr>
          </a:p>
          <a:p>
            <a:r>
              <a:rPr lang="da-DK" sz="3200" dirty="0" err="1">
                <a:latin typeface="CBS NEW" panose="02000506080000020004" pitchFamily="2" charset="0"/>
              </a:rPr>
              <a:t>Granovetter</a:t>
            </a:r>
            <a:r>
              <a:rPr lang="da-DK" sz="3200" dirty="0">
                <a:latin typeface="CBS NEW" panose="02000506080000020004" pitchFamily="2" charset="0"/>
              </a:rPr>
              <a:t>, Mark. "</a:t>
            </a:r>
            <a:r>
              <a:rPr lang="da-DK" sz="3200" dirty="0" err="1">
                <a:latin typeface="CBS NEW" panose="02000506080000020004" pitchFamily="2" charset="0"/>
              </a:rPr>
              <a:t>Economic</a:t>
            </a:r>
            <a:r>
              <a:rPr lang="da-DK" sz="3200" dirty="0">
                <a:latin typeface="CBS NEW" panose="02000506080000020004" pitchFamily="2" charset="0"/>
              </a:rPr>
              <a:t> action and social </a:t>
            </a:r>
            <a:r>
              <a:rPr lang="da-DK" sz="3200" dirty="0" err="1">
                <a:latin typeface="CBS NEW" panose="02000506080000020004" pitchFamily="2" charset="0"/>
              </a:rPr>
              <a:t>structure</a:t>
            </a:r>
            <a:r>
              <a:rPr lang="da-DK" sz="3200" dirty="0">
                <a:latin typeface="CBS NEW" panose="02000506080000020004" pitchFamily="2" charset="0"/>
              </a:rPr>
              <a:t>: The problem of </a:t>
            </a:r>
            <a:r>
              <a:rPr lang="da-DK" sz="3200" dirty="0" err="1">
                <a:latin typeface="CBS NEW" panose="02000506080000020004" pitchFamily="2" charset="0"/>
              </a:rPr>
              <a:t>embeddedness</a:t>
            </a:r>
            <a:r>
              <a:rPr lang="da-DK" sz="3200" dirty="0">
                <a:latin typeface="CBS NEW" panose="02000506080000020004" pitchFamily="2" charset="0"/>
              </a:rPr>
              <a:t>." American Journal of Sociology 91.3 (1985): 481-510.</a:t>
            </a:r>
          </a:p>
          <a:p>
            <a:endParaRPr lang="da-DK" sz="3200" dirty="0">
              <a:latin typeface="CBS NEW" panose="02000506080000020004" pitchFamily="2" charset="0"/>
            </a:endParaRPr>
          </a:p>
          <a:p>
            <a:r>
              <a:rPr lang="da-DK" sz="3200" dirty="0" err="1">
                <a:latin typeface="CBS NEW" panose="02000506080000020004" pitchFamily="2" charset="0"/>
              </a:rPr>
              <a:t>Uzzi</a:t>
            </a:r>
            <a:r>
              <a:rPr lang="da-DK" sz="3200" dirty="0">
                <a:latin typeface="CBS NEW" panose="02000506080000020004" pitchFamily="2" charset="0"/>
              </a:rPr>
              <a:t>, Brian (1997). “Social </a:t>
            </a:r>
            <a:r>
              <a:rPr lang="da-DK" sz="3200" dirty="0" err="1">
                <a:latin typeface="CBS NEW" panose="02000506080000020004" pitchFamily="2" charset="0"/>
              </a:rPr>
              <a:t>Structure</a:t>
            </a:r>
            <a:r>
              <a:rPr lang="da-DK" sz="3200" dirty="0">
                <a:latin typeface="CBS NEW" panose="02000506080000020004" pitchFamily="2" charset="0"/>
              </a:rPr>
              <a:t> and </a:t>
            </a:r>
            <a:r>
              <a:rPr lang="da-DK" sz="3200" dirty="0" err="1">
                <a:latin typeface="CBS NEW" panose="02000506080000020004" pitchFamily="2" charset="0"/>
              </a:rPr>
              <a:t>Competition</a:t>
            </a:r>
            <a:r>
              <a:rPr lang="da-DK" sz="3200" dirty="0">
                <a:latin typeface="CBS NEW" panose="02000506080000020004" pitchFamily="2" charset="0"/>
              </a:rPr>
              <a:t> in Inter-Firm Networks: The Paradox of </a:t>
            </a:r>
            <a:r>
              <a:rPr lang="da-DK" sz="3200" dirty="0" err="1">
                <a:latin typeface="CBS NEW" panose="02000506080000020004" pitchFamily="2" charset="0"/>
              </a:rPr>
              <a:t>Embeddedness</a:t>
            </a:r>
            <a:r>
              <a:rPr lang="da-DK" sz="3200" dirty="0">
                <a:latin typeface="CBS NEW" panose="02000506080000020004" pitchFamily="2" charset="0"/>
              </a:rPr>
              <a:t>.” Administrative Science </a:t>
            </a:r>
            <a:r>
              <a:rPr lang="da-DK" sz="3200" dirty="0" err="1">
                <a:latin typeface="CBS NEW" panose="02000506080000020004" pitchFamily="2" charset="0"/>
              </a:rPr>
              <a:t>Quarterly</a:t>
            </a:r>
            <a:r>
              <a:rPr lang="da-DK" sz="3200" dirty="0">
                <a:latin typeface="CBS NEW" panose="02000506080000020004" pitchFamily="2" charset="0"/>
              </a:rPr>
              <a:t>, 42(1), 35–67.</a:t>
            </a:r>
          </a:p>
          <a:p>
            <a:endParaRPr lang="da-DK" sz="3200" dirty="0">
              <a:latin typeface="CBS NEW" panose="02000506080000020004" pitchFamily="2" charset="0"/>
            </a:endParaRPr>
          </a:p>
          <a:p>
            <a:r>
              <a:rPr lang="da-DK" sz="3200" dirty="0" err="1">
                <a:latin typeface="CBS NEW" panose="02000506080000020004" pitchFamily="2" charset="0"/>
              </a:rPr>
              <a:t>Vedres</a:t>
            </a:r>
            <a:r>
              <a:rPr lang="da-DK" sz="3200" dirty="0">
                <a:latin typeface="CBS NEW" panose="02000506080000020004" pitchFamily="2" charset="0"/>
              </a:rPr>
              <a:t>, </a:t>
            </a:r>
            <a:r>
              <a:rPr lang="da-DK" sz="3200" dirty="0" err="1">
                <a:latin typeface="CBS NEW" panose="02000506080000020004" pitchFamily="2" charset="0"/>
              </a:rPr>
              <a:t>Balazs</a:t>
            </a:r>
            <a:r>
              <a:rPr lang="da-DK" sz="3200" dirty="0">
                <a:latin typeface="CBS NEW" panose="02000506080000020004" pitchFamily="2" charset="0"/>
              </a:rPr>
              <a:t>, and David Stark. "</a:t>
            </a:r>
            <a:r>
              <a:rPr lang="da-DK" sz="3200" dirty="0" err="1">
                <a:latin typeface="CBS NEW" panose="02000506080000020004" pitchFamily="2" charset="0"/>
              </a:rPr>
              <a:t>Structural</a:t>
            </a:r>
            <a:r>
              <a:rPr lang="da-DK" sz="3200" dirty="0">
                <a:latin typeface="CBS NEW" panose="02000506080000020004" pitchFamily="2" charset="0"/>
              </a:rPr>
              <a:t> folds: Generative disruption in overlapping </a:t>
            </a:r>
            <a:r>
              <a:rPr lang="da-DK" sz="3200" dirty="0" err="1">
                <a:latin typeface="CBS NEW" panose="02000506080000020004" pitchFamily="2" charset="0"/>
              </a:rPr>
              <a:t>groups</a:t>
            </a:r>
            <a:r>
              <a:rPr lang="da-DK" sz="3200" dirty="0">
                <a:latin typeface="CBS NEW" panose="02000506080000020004" pitchFamily="2" charset="0"/>
              </a:rPr>
              <a:t>." American Journal of Sociology 115.4 (2010): 1150-1190.</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74816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noProof="0" dirty="0">
                <a:latin typeface="CBS NEW" panose="02000506080000020004" pitchFamily="2" charset="0"/>
              </a:rPr>
              <a:t>Virksomhedsstrategi i et netværksperspektiv, Forelæsning #7, 17. februar 2025</a:t>
            </a:r>
          </a:p>
        </p:txBody>
      </p:sp>
      <p:sp>
        <p:nvSpPr>
          <p:cNvPr id="3" name="Text Placeholder 2"/>
          <p:cNvSpPr>
            <a:spLocks noGrp="1"/>
          </p:cNvSpPr>
          <p:nvPr>
            <p:ph type="body" sz="quarter" idx="11"/>
          </p:nvPr>
        </p:nvSpPr>
        <p:spPr>
          <a:xfrm>
            <a:off x="395288" y="4365104"/>
            <a:ext cx="8353425" cy="648072"/>
          </a:xfrm>
        </p:spPr>
        <p:txBody>
          <a:bodyPr/>
          <a:lstStyle/>
          <a:p>
            <a:r>
              <a:rPr lang="da-DK" sz="5400" noProof="0" dirty="0">
                <a:latin typeface="CBS NEW" panose="02000506080000020004" pitchFamily="2" charset="0"/>
              </a:rPr>
              <a:t>Spørgsmål?</a:t>
            </a: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194684053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noProof="0" dirty="0">
                <a:latin typeface="CBS NEW" panose="02000506080000020004" pitchFamily="2" charset="0"/>
              </a:rPr>
              <a:t>Virksomhedsstrategi i et netværksperspektiv, Forelæsning #7, 17. februar 2025</a:t>
            </a:r>
          </a:p>
        </p:txBody>
      </p:sp>
      <p:sp>
        <p:nvSpPr>
          <p:cNvPr id="3" name="Text Placeholder 2"/>
          <p:cNvSpPr>
            <a:spLocks noGrp="1"/>
          </p:cNvSpPr>
          <p:nvPr>
            <p:ph type="body" sz="quarter" idx="11"/>
          </p:nvPr>
        </p:nvSpPr>
        <p:spPr>
          <a:xfrm>
            <a:off x="395288" y="4365104"/>
            <a:ext cx="8353425" cy="648072"/>
          </a:xfrm>
        </p:spPr>
        <p:txBody>
          <a:bodyPr/>
          <a:lstStyle/>
          <a:p>
            <a:r>
              <a:rPr lang="da-DK" sz="4400" noProof="0" dirty="0">
                <a:latin typeface="CBS NEW" panose="02000506080000020004" pitchFamily="2" charset="0"/>
              </a:rPr>
              <a:t>Gruppedannelse</a:t>
            </a: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3029829256"/>
      </p:ext>
    </p:extLst>
  </p:cSld>
  <p:clrMapOvr>
    <a:masterClrMapping/>
  </p:clrMapOvr>
  <p:transition/>
</p:sld>
</file>

<file path=ppt/theme/theme1.xml><?xml version="1.0" encoding="utf-8"?>
<a:theme xmlns:a="http://schemas.openxmlformats.org/drawingml/2006/main" name="CBS PowerPoint">
  <a:themeElements>
    <a:clrScheme name="Deloitte">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9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lIns="0" tIns="0" rIns="0" bIns="0" rtlCol="0">
        <a:spAutoFit/>
      </a:bodyPr>
      <a:lstStyle>
        <a:defPPr>
          <a:defRPr sz="2000" dirty="0" err="1" smtClean="0">
            <a:solidFill>
              <a:schemeClr val="tx2"/>
            </a:solidFill>
          </a:defRPr>
        </a:defPPr>
      </a:lstStyle>
    </a:txDef>
  </a:objectDefaults>
  <a:extraClrSchemeLst/>
</a:theme>
</file>

<file path=ppt/theme/theme2.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11585</TotalTime>
  <Words>1076</Words>
  <Application>Microsoft Office PowerPoint</Application>
  <PresentationFormat>On-screen Show (4:3)</PresentationFormat>
  <Paragraphs>126</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CBS NEW</vt:lpstr>
      <vt:lpstr>Wingdings</vt:lpstr>
      <vt:lpstr>CBS PowerPoint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Christoph Houman Ellersgaard</dc:creator>
  <cp:lastModifiedBy>Christoph Houman Ellersgaard</cp:lastModifiedBy>
  <cp:revision>308</cp:revision>
  <dcterms:created xsi:type="dcterms:W3CDTF">2012-04-20T06:34:53Z</dcterms:created>
  <dcterms:modified xsi:type="dcterms:W3CDTF">2025-02-17T10:25:25Z</dcterms:modified>
</cp:coreProperties>
</file>