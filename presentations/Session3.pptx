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60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360000" y="270000"/>
            <a:ext cx="9360000" cy="3338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60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346392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56748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36000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346392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656748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60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360000" y="270000"/>
            <a:ext cx="9360000" cy="33386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0" lang="en-US" sz="260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346392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567480" y="135000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36000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346392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body"/>
          </p:nvPr>
        </p:nvSpPr>
        <p:spPr>
          <a:xfrm>
            <a:off x="6567480" y="3183480"/>
            <a:ext cx="2955600" cy="1674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180000"/>
            <a:ext cx="9720000" cy="900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"/>
          <p:cNvSpPr/>
          <p:nvPr/>
        </p:nvSpPr>
        <p:spPr>
          <a:xfrm>
            <a:off x="7560000" y="5130000"/>
            <a:ext cx="2520000" cy="405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"/>
          <p:cNvSpPr/>
          <p:nvPr/>
        </p:nvSpPr>
        <p:spPr>
          <a:xfrm>
            <a:off x="900000" y="5130000"/>
            <a:ext cx="6480000" cy="40500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"/>
          <p:cNvSpPr/>
          <p:nvPr/>
        </p:nvSpPr>
        <p:spPr>
          <a:xfrm>
            <a:off x="180000" y="5130000"/>
            <a:ext cx="540000" cy="405000"/>
          </a:xfrm>
          <a:prstGeom prst="rect">
            <a:avLst/>
          </a:prstGeom>
          <a:noFill/>
          <a:ln w="72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C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l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i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c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k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o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e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d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i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h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e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i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l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e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e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x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f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o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r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m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a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Click to edit the outline text format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lvl="1" marL="288000">
              <a:spcAft>
                <a:spcPts val="848"/>
              </a:spcAft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Second Outline Level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pPr lvl="2" marL="576000">
              <a:spcAft>
                <a:spcPts val="635"/>
              </a:spcAft>
            </a:pPr>
            <a:r>
              <a:rPr b="0" lang="en-US" sz="1350" spc="-1" strike="noStrike">
                <a:solidFill>
                  <a:srgbClr val="1c1c1c"/>
                </a:solidFill>
                <a:latin typeface="Source Sans Pro Light"/>
              </a:rPr>
              <a:t>Third Outline Level</a:t>
            </a:r>
            <a:endParaRPr b="0" lang="en-US" sz="1350" spc="-1" strike="noStrike">
              <a:solidFill>
                <a:srgbClr val="1c1c1c"/>
              </a:solidFill>
              <a:latin typeface="Source Sans Pro Light"/>
            </a:endParaRPr>
          </a:p>
          <a:p>
            <a:pPr lvl="3" marL="864000">
              <a:spcAft>
                <a:spcPts val="425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Fourth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4" marL="1152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Fifth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5" marL="1440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Sixth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6" marL="1728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Seventh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</p:txBody>
      </p:sp>
      <p:sp>
        <p:nvSpPr>
          <p:cNvPr id="6" name=""/>
          <p:cNvSpPr/>
          <p:nvPr/>
        </p:nvSpPr>
        <p:spPr>
          <a:xfrm>
            <a:off x="180000" y="5130000"/>
            <a:ext cx="540000" cy="405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" name="PlaceHolder 3"/>
          <p:cNvSpPr>
            <a:spLocks noGrp="1"/>
          </p:cNvSpPr>
          <p:nvPr>
            <p:ph type="sldNum"/>
          </p:nvPr>
        </p:nvSpPr>
        <p:spPr>
          <a:xfrm>
            <a:off x="-180000" y="5130000"/>
            <a:ext cx="1260000" cy="405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fld id="{2F444B20-C145-43F2-8D07-0961972C9423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/>
          </p:nvPr>
        </p:nvSpPr>
        <p:spPr>
          <a:xfrm>
            <a:off x="900000" y="5130000"/>
            <a:ext cx="6480000" cy="405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dt"/>
          </p:nvPr>
        </p:nvSpPr>
        <p:spPr>
          <a:xfrm>
            <a:off x="7560000" y="5130000"/>
            <a:ext cx="2340000" cy="391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r"/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1980000"/>
            <a:ext cx="9720000" cy="990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2160000"/>
            <a:ext cx="9180000" cy="72000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40000" y="3150000"/>
            <a:ext cx="9000000" cy="1890000"/>
          </a:xfrm>
          <a:prstGeom prst="rect">
            <a:avLst/>
          </a:prstGeom>
        </p:spPr>
        <p:txBody>
          <a:bodyPr lIns="0" rIns="0" tIns="0" bIns="0">
            <a:normAutofit fontScale="94000"/>
          </a:bodyPr>
          <a:p>
            <a:pPr>
              <a:spcAft>
                <a:spcPts val="853"/>
              </a:spcAft>
            </a:pPr>
            <a:r>
              <a:rPr b="1" lang="en-US" sz="1950" spc="-1" strike="noStrike">
                <a:solidFill>
                  <a:srgbClr val="1c1c1c"/>
                </a:solidFill>
                <a:latin typeface="Source Sans Pro Semibold"/>
              </a:rPr>
              <a:t>Click to edit the outline text format</a:t>
            </a:r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  <a:p>
            <a:pPr lvl="1" marL="288000">
              <a:spcAft>
                <a:spcPts val="848"/>
              </a:spcAft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Second Outline Level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pPr lvl="2" marL="576000">
              <a:spcAft>
                <a:spcPts val="635"/>
              </a:spcAft>
            </a:pPr>
            <a:r>
              <a:rPr b="0" lang="en-US" sz="1350" spc="-1" strike="noStrike">
                <a:solidFill>
                  <a:srgbClr val="1c1c1c"/>
                </a:solidFill>
                <a:latin typeface="Source Sans Pro Light"/>
              </a:rPr>
              <a:t>Third Outline Level</a:t>
            </a:r>
            <a:endParaRPr b="0" lang="en-US" sz="1350" spc="-1" strike="noStrike">
              <a:solidFill>
                <a:srgbClr val="1c1c1c"/>
              </a:solidFill>
              <a:latin typeface="Source Sans Pro Light"/>
            </a:endParaRPr>
          </a:p>
          <a:p>
            <a:pPr lvl="3" marL="864000">
              <a:spcAft>
                <a:spcPts val="425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Fourth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4" marL="1152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Fifth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5" marL="1440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Sixth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  <a:p>
            <a:pPr lvl="6" marL="1728000">
              <a:spcAft>
                <a:spcPts val="213"/>
              </a:spcAft>
            </a:pPr>
            <a:r>
              <a:rPr b="0" lang="en-US" sz="1200" spc="-1" strike="noStrike">
                <a:solidFill>
                  <a:srgbClr val="1c1c1c"/>
                </a:solidFill>
                <a:latin typeface="Source Sans Pro Light"/>
              </a:rPr>
              <a:t>Seventh Outline Level</a:t>
            </a:r>
            <a:endParaRPr b="0" lang="en-US" sz="1200" spc="-1" strike="noStrike">
              <a:solidFill>
                <a:srgbClr val="1c1c1c"/>
              </a:solidFill>
              <a:latin typeface="Source Sans Pro Light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/>
          </p:nvPr>
        </p:nvSpPr>
        <p:spPr>
          <a:xfrm>
            <a:off x="7560000" y="5130000"/>
            <a:ext cx="2340000" cy="405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1" lang="en-US" sz="1800" spc="-1" strike="noStrike">
                <a:solidFill>
                  <a:srgbClr val="c9211e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c9211e"/>
              </a:solidFill>
              <a:latin typeface="Source Sans Pro Black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/>
          </p:nvPr>
        </p:nvSpPr>
        <p:spPr>
          <a:xfrm>
            <a:off x="1080000" y="5130000"/>
            <a:ext cx="3240000" cy="4050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1" lang="en-US" sz="1800" spc="-1" strike="noStrike">
                <a:solidFill>
                  <a:srgbClr val="c9211e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c9211e"/>
              </a:solidFill>
              <a:latin typeface="Source Sans Pro Black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/>
          </p:nvPr>
        </p:nvSpPr>
        <p:spPr>
          <a:xfrm>
            <a:off x="180000" y="5130000"/>
            <a:ext cx="540000" cy="4050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A4C47964-C205-4998-8E6A-F5FF36D8131F}" type="slidenum">
              <a:rPr b="1" lang="en-US" sz="1800" spc="-1" strike="noStrike">
                <a:solidFill>
                  <a:srgbClr val="c9211e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c9211e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 txBox="1"/>
          <p:nvPr/>
        </p:nvSpPr>
        <p:spPr>
          <a:xfrm>
            <a:off x="360000" y="2160000"/>
            <a:ext cx="918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 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C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e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n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r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a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l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i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e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t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s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m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å</a:t>
            </a:r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l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40000" y="3150000"/>
            <a:ext cx="9000000" cy="18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A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f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s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t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a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n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d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e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 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i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 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n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e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t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v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æ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r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k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C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e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n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t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r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a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l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i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t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e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t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I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d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e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 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o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g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 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p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r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a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k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s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i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s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C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e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n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t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r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a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l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i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s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e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r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i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n</a:t>
            </a:r>
            <a:r>
              <a:rPr b="0" lang="en-US" sz="1650" spc="-1" strike="noStrike">
                <a:solidFill>
                  <a:srgbClr val="1c1c1c"/>
                </a:solidFill>
                <a:latin typeface="Source Sans Pro Light"/>
              </a:rPr>
              <a:t>g</a:t>
            </a:r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  <a:p>
            <a:endParaRPr b="0" lang="en-US" sz="165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6715440" y="2514600"/>
            <a:ext cx="1056960" cy="1015560"/>
          </a:xfrm>
          <a:prstGeom prst="rect">
            <a:avLst/>
          </a:prstGeom>
          <a:ln w="18000">
            <a:noFill/>
          </a:ln>
        </p:spPr>
      </p:pic>
      <p:sp>
        <p:nvSpPr>
          <p:cNvPr id="91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#afstande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688320" y="1974600"/>
            <a:ext cx="6398280" cy="2764800"/>
          </a:xfrm>
          <a:prstGeom prst="rect">
            <a:avLst/>
          </a:prstGeom>
          <a:ln w="18000">
            <a:noFill/>
          </a:ln>
        </p:spPr>
      </p:pic>
      <p:pic>
        <p:nvPicPr>
          <p:cNvPr id="93" name="" descr=""/>
          <p:cNvPicPr/>
          <p:nvPr/>
        </p:nvPicPr>
        <p:blipFill>
          <a:blip r:embed="rId3"/>
          <a:stretch/>
        </p:blipFill>
        <p:spPr>
          <a:xfrm>
            <a:off x="7459200" y="1143000"/>
            <a:ext cx="2667600" cy="3752640"/>
          </a:xfrm>
          <a:prstGeom prst="rect">
            <a:avLst/>
          </a:prstGeom>
          <a:ln w="18000">
            <a:noFill/>
          </a:ln>
        </p:spPr>
      </p:pic>
      <p:pic>
        <p:nvPicPr>
          <p:cNvPr id="94" name="" descr=""/>
          <p:cNvPicPr/>
          <p:nvPr/>
        </p:nvPicPr>
        <p:blipFill>
          <a:blip r:embed="rId4"/>
          <a:stretch/>
        </p:blipFill>
        <p:spPr>
          <a:xfrm>
            <a:off x="914400" y="1638720"/>
            <a:ext cx="875880" cy="875880"/>
          </a:xfrm>
          <a:prstGeom prst="rect">
            <a:avLst/>
          </a:prstGeom>
          <a:ln w="18000">
            <a:noFill/>
          </a:ln>
        </p:spPr>
      </p:pic>
      <p:sp>
        <p:nvSpPr>
          <p:cNvPr id="95" name=""/>
          <p:cNvSpPr txBox="1"/>
          <p:nvPr/>
        </p:nvSpPr>
        <p:spPr>
          <a:xfrm>
            <a:off x="122400" y="1221480"/>
            <a:ext cx="2392200" cy="5382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400" spc="-1" strike="noStrike">
                <a:latin typeface="Source Sans Pro"/>
              </a:rPr>
              <a:t>“</a:t>
            </a:r>
            <a:r>
              <a:rPr b="0" lang="en-US" sz="1400" spc="-1" strike="noStrike">
                <a:latin typeface="Source Sans Pro"/>
              </a:rPr>
              <a:t>Ejendomsmægler afstand”</a:t>
            </a:r>
            <a:endParaRPr b="0" lang="en-US" sz="1400" spc="-1" strike="noStrike">
              <a:latin typeface="Source Sans Pro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743200" y="1221480"/>
            <a:ext cx="1942200" cy="3787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400" spc="-1" strike="noStrike">
                <a:latin typeface="Source Sans Pro"/>
              </a:rPr>
              <a:t>“</a:t>
            </a:r>
            <a:r>
              <a:rPr b="0" lang="en-US" sz="1400" spc="-1" strike="noStrike">
                <a:latin typeface="Source Sans Pro"/>
              </a:rPr>
              <a:t>Afstand i socialt rum”</a:t>
            </a:r>
            <a:endParaRPr b="0" lang="en-US" sz="1400" spc="-1" strike="noStrike">
              <a:latin typeface="Source Sans Pro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4795560" y="1221480"/>
            <a:ext cx="1942200" cy="3787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400" spc="-1" strike="noStrike">
                <a:latin typeface="Source Sans Pro"/>
              </a:rPr>
              <a:t>“</a:t>
            </a:r>
            <a:r>
              <a:rPr b="0" lang="en-US" sz="1400" spc="-1" strike="noStrike">
                <a:latin typeface="Source Sans Pro"/>
              </a:rPr>
              <a:t>Netværksafstand”</a:t>
            </a:r>
            <a:endParaRPr b="0" lang="en-US" sz="1400" spc="-1" strike="noStrike"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#centralitets-ideen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60000" y="1350000"/>
            <a:ext cx="9180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2286000" y="1261080"/>
            <a:ext cx="5088960" cy="3634920"/>
          </a:xfrm>
          <a:prstGeom prst="rect">
            <a:avLst/>
          </a:prstGeom>
          <a:ln w="18000">
            <a:noFill/>
          </a:ln>
        </p:spPr>
      </p:pic>
      <p:sp>
        <p:nvSpPr>
          <p:cNvPr id="101" name=""/>
          <p:cNvSpPr txBox="1"/>
          <p:nvPr/>
        </p:nvSpPr>
        <p:spPr>
          <a:xfrm>
            <a:off x="6858000" y="1600200"/>
            <a:ext cx="1713960" cy="47124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200" spc="-1" strike="noStrike">
                <a:latin typeface="Source Sans Pro"/>
              </a:rPr>
              <a:t>A er forbundet til 9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B-J er forbundet til 1</a:t>
            </a:r>
            <a:endParaRPr b="0" lang="en-US" sz="1200" spc="-1" strike="noStrike">
              <a:latin typeface="Source Sans Pro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858000" y="2730600"/>
            <a:ext cx="2682000" cy="66708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200" spc="-1" strike="noStrike">
                <a:latin typeface="Source Sans Pro"/>
              </a:rPr>
              <a:t>A har en gennesmitsafstand til alle på 1 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B-J har en gennemsnitsafstand til alle på </a:t>
            </a:r>
            <a:r>
              <a:rPr b="0" lang="en-US" sz="1200" spc="-1" strike="noStrike">
                <a:latin typeface="Source Sans Pro"/>
              </a:rPr>
              <a:t>(8x2 + 1)/9 = 1,9 </a:t>
            </a:r>
            <a:endParaRPr b="0" lang="en-US" sz="1200" spc="-1" strike="noStrike">
              <a:latin typeface="Source Sans Pro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6858000" y="3450960"/>
            <a:ext cx="2682000" cy="66708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200" spc="-1" strike="noStrike">
                <a:latin typeface="Source Sans Pro"/>
              </a:rPr>
              <a:t>A ligger på alle stier mellem de andre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B-J ligger ikke på nogen stier </a:t>
            </a:r>
            <a:endParaRPr b="0" lang="en-US" sz="1200" spc="-1" strike="noStrike">
              <a:latin typeface="Source Sans Pro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858360" y="2140560"/>
            <a:ext cx="1713960" cy="47124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200" spc="-1" strike="noStrike">
                <a:latin typeface="Source Sans Pro"/>
              </a:rPr>
              <a:t>A er i ‘centrum’ </a:t>
            </a:r>
            <a:endParaRPr b="0" lang="en-US" sz="1200" spc="-1" strike="noStrike">
              <a:latin typeface="Source Sans Pro"/>
            </a:endParaRPr>
          </a:p>
          <a:p>
            <a:r>
              <a:rPr b="0" lang="en-US" sz="1200" spc="-1" strike="noStrike">
                <a:latin typeface="Source Sans Pro"/>
              </a:rPr>
              <a:t>B-J er i ‘periferien’</a:t>
            </a:r>
            <a:endParaRPr b="0" lang="en-US" sz="1200" spc="-1" strike="noStrike"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#måler forskellige ting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2291040" y="1547280"/>
            <a:ext cx="5543280" cy="2980800"/>
          </a:xfrm>
          <a:prstGeom prst="rect">
            <a:avLst/>
          </a:prstGeom>
          <a:ln w="18000">
            <a:noFill/>
          </a:ln>
        </p:spPr>
      </p:pic>
      <p:sp>
        <p:nvSpPr>
          <p:cNvPr id="107" name=""/>
          <p:cNvSpPr txBox="1"/>
          <p:nvPr/>
        </p:nvSpPr>
        <p:spPr>
          <a:xfrm>
            <a:off x="3416760" y="2591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4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020760" y="3023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3128760" y="219960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4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560760" y="3599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2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776760" y="1799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677400" y="303120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4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4136760" y="2483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5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388760" y="3311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5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208760" y="4067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1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5044680" y="3311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4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332680" y="287136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332680" y="385920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5905080" y="4139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2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761080" y="3311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7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337080" y="3419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625080" y="3023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445080" y="2483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3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877080" y="2051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2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7273080" y="1655280"/>
            <a:ext cx="27504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1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7093080" y="3815280"/>
            <a:ext cx="2576520" cy="3297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500" spc="-1" strike="noStrike">
                <a:solidFill>
                  <a:srgbClr val="c9211e"/>
                </a:solidFill>
                <a:latin typeface="Source Sans Pro"/>
              </a:rPr>
              <a:t># direkte forbindelser (degree)</a:t>
            </a:r>
            <a:endParaRPr b="0" lang="en-US" sz="1500" spc="-1" strike="noStrike">
              <a:solidFill>
                <a:srgbClr val="c9211e"/>
              </a:solidFill>
              <a:latin typeface="Source Sans Pro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081800" y="4764600"/>
            <a:ext cx="8020080" cy="3769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900" spc="-1" strike="noStrike">
                <a:latin typeface="Source Sans Pro"/>
              </a:rPr>
              <a:t>Ortiz-Arroyo, Daniel. 2010. “Discovering Sets of Key Players in Social Networks.” pp. 27–47 </a:t>
            </a:r>
            <a:endParaRPr b="0" lang="en-US" sz="900" spc="-1" strike="noStrike">
              <a:latin typeface="Source Sans Pro"/>
            </a:endParaRPr>
          </a:p>
          <a:p>
            <a:r>
              <a:rPr b="0" lang="en-US" sz="900" spc="-1" strike="noStrike">
                <a:latin typeface="Source Sans Pro"/>
              </a:rPr>
              <a:t>I: Computational Social Network Analysis, Computer Communications and Networks, edited by A. Abraham, A.-E. Hassanien, and V. Snásel. London: Springer London.</a:t>
            </a:r>
            <a:endParaRPr b="0" lang="en-US" sz="900" spc="-1" strike="noStrike"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60000" y="1350000"/>
            <a:ext cx="9180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rmAutofit/>
          </a:bodyPr>
          <a:p>
            <a:endParaRPr b="1" lang="en-US" sz="1950" spc="-1" strike="noStrike">
              <a:solidFill>
                <a:srgbClr val="1c1c1c"/>
              </a:solidFill>
              <a:latin typeface="Source Sans Pro Semibold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902880" y="1600200"/>
            <a:ext cx="8241120" cy="28364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1" lang="en-US" sz="2400" spc="-1" strike="noStrike">
                <a:solidFill>
                  <a:srgbClr val="ffffff"/>
                </a:solidFill>
                <a:latin typeface="Source Sans Pro Black"/>
              </a:rPr>
              <a:t>#centralisering</a:t>
            </a:r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28600" y="1828800"/>
            <a:ext cx="3136320" cy="2743560"/>
          </a:xfrm>
          <a:prstGeom prst="rect">
            <a:avLst/>
          </a:prstGeom>
          <a:ln w="18000">
            <a:noFill/>
          </a:ln>
        </p:spPr>
      </p:pic>
      <p:sp>
        <p:nvSpPr>
          <p:cNvPr id="133" name=""/>
          <p:cNvSpPr txBox="1"/>
          <p:nvPr/>
        </p:nvSpPr>
        <p:spPr>
          <a:xfrm>
            <a:off x="228600" y="1371600"/>
            <a:ext cx="1913400" cy="3787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Source Sans Pro"/>
              </a:rPr>
              <a:t>Max centralisering</a:t>
            </a:r>
            <a:endParaRPr b="0" lang="en-US" sz="1800" spc="-1" strike="noStrike">
              <a:latin typeface="Source Sans Pro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2"/>
          <a:stretch/>
        </p:blipFill>
        <p:spPr>
          <a:xfrm>
            <a:off x="4410360" y="1828800"/>
            <a:ext cx="2219040" cy="2257200"/>
          </a:xfrm>
          <a:prstGeom prst="rect">
            <a:avLst/>
          </a:prstGeom>
          <a:ln w="18000">
            <a:noFill/>
          </a:ln>
        </p:spPr>
      </p:pic>
      <p:sp>
        <p:nvSpPr>
          <p:cNvPr id="135" name=""/>
          <p:cNvSpPr txBox="1"/>
          <p:nvPr/>
        </p:nvSpPr>
        <p:spPr>
          <a:xfrm>
            <a:off x="4548960" y="1371600"/>
            <a:ext cx="1933200" cy="3787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>
            <a:noAutofit/>
          </a:bodyPr>
          <a:p>
            <a:r>
              <a:rPr b="0" lang="en-US" sz="1800" spc="-1" strike="noStrike">
                <a:latin typeface="Source Sans Pro"/>
              </a:rPr>
              <a:t>Min. centralisering</a:t>
            </a:r>
            <a:endParaRPr b="0" lang="en-US" sz="1800" spc="-1" strike="noStrike"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endParaRPr b="1" lang="en-US" sz="2400" spc="-1" strike="noStrike">
              <a:solidFill>
                <a:srgbClr val="ffffff"/>
              </a:solidFill>
              <a:latin typeface="Source Sans Pro Black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685800" y="419400"/>
            <a:ext cx="7943400" cy="483840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Application>LibreOffice/7.1.8.1$Linux_X86_64 LibreOffice_project/e1f30c802c3269a1d052614453f260e49458c82c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2025-02-21T06:48:59Z</dcterms:created>
  <dc:creator/>
  <dc:description/>
  <dc:language>en-US</dc:language>
  <cp:lastModifiedBy/>
  <dcterms:modified xsi:type="dcterms:W3CDTF">2025-02-21T11:56:59Z</dcterms:modified>
  <cp:revision>3</cp:revision>
  <dc:subject/>
  <dc:title>Alizarin</dc:title>
</cp:coreProperties>
</file>