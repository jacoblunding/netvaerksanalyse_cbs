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59640" cy="3337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59640" cy="3337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59640" cy="3337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7964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1980000"/>
            <a:ext cx="9719640" cy="98964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k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x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f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180000"/>
            <a:ext cx="9719640" cy="89964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"/>
          <p:cNvSpPr/>
          <p:nvPr/>
        </p:nvSpPr>
        <p:spPr>
          <a:xfrm>
            <a:off x="7560000" y="5130000"/>
            <a:ext cx="2519640" cy="40464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"/>
          <p:cNvSpPr/>
          <p:nvPr/>
        </p:nvSpPr>
        <p:spPr>
          <a:xfrm>
            <a:off x="900000" y="5130000"/>
            <a:ext cx="6479640" cy="40464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"/>
          <p:cNvSpPr/>
          <p:nvPr/>
        </p:nvSpPr>
        <p:spPr>
          <a:xfrm>
            <a:off x="180000" y="5130000"/>
            <a:ext cx="539640" cy="4046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"/>
          <p:cNvSpPr/>
          <p:nvPr/>
        </p:nvSpPr>
        <p:spPr>
          <a:xfrm>
            <a:off x="180000" y="5130000"/>
            <a:ext cx="539640" cy="40464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59640" cy="7196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k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79640" cy="3509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180000"/>
            <a:ext cx="9720720" cy="90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/>
          <p:nvPr/>
        </p:nvSpPr>
        <p:spPr>
          <a:xfrm>
            <a:off x="7560360" y="5130360"/>
            <a:ext cx="252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"/>
          <p:cNvSpPr/>
          <p:nvPr/>
        </p:nvSpPr>
        <p:spPr>
          <a:xfrm>
            <a:off x="900000" y="5130360"/>
            <a:ext cx="6480360" cy="40500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"/>
          <p:cNvSpPr/>
          <p:nvPr/>
        </p:nvSpPr>
        <p:spPr>
          <a:xfrm>
            <a:off x="180000" y="5130360"/>
            <a:ext cx="540000" cy="405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72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k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d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h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x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f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r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m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a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720" cy="3510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>
              <a:spcAft>
                <a:spcPts val="848"/>
              </a:spcAft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>
              <a:spcAft>
                <a:spcPts val="635"/>
              </a:spcAft>
            </a:pPr>
            <a:r>
              <a:rPr b="0" lang="en-US" sz="135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35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>
              <a:spcAft>
                <a:spcPts val="425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88" name=""/>
          <p:cNvSpPr/>
          <p:nvPr/>
        </p:nvSpPr>
        <p:spPr>
          <a:xfrm>
            <a:off x="180000" y="5130360"/>
            <a:ext cx="54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PlaceHolder 3"/>
          <p:cNvSpPr>
            <a:spLocks noGrp="1"/>
          </p:cNvSpPr>
          <p:nvPr>
            <p:ph type="sldNum"/>
          </p:nvPr>
        </p:nvSpPr>
        <p:spPr>
          <a:xfrm>
            <a:off x="-180000" y="5130360"/>
            <a:ext cx="126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6E541674-7F08-4108-8FA1-638A3AEDB41A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/>
          </p:nvPr>
        </p:nvSpPr>
        <p:spPr>
          <a:xfrm>
            <a:off x="900000" y="5130360"/>
            <a:ext cx="648036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dt"/>
          </p:nvPr>
        </p:nvSpPr>
        <p:spPr>
          <a:xfrm>
            <a:off x="7560360" y="5130360"/>
            <a:ext cx="2340000" cy="391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360000" y="2160000"/>
            <a:ext cx="917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 Centralitetsmål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40000" y="3150000"/>
            <a:ext cx="8999640" cy="18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Afstande i netværk</a:t>
            </a:r>
            <a:endParaRPr b="0" lang="en-US" sz="165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Centralitet</a:t>
            </a:r>
            <a:endParaRPr b="0" lang="en-US" sz="1650" spc="-1" strike="noStrike">
              <a:latin typeface="Arial"/>
            </a:endParaRPr>
          </a:p>
          <a:p>
            <a:pPr lvl="1" marL="432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Ide og praksis</a:t>
            </a:r>
            <a:endParaRPr b="0" lang="en-US" sz="165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Centralisering</a:t>
            </a:r>
            <a:endParaRPr b="0" lang="en-US" sz="16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 txBox="1"/>
          <p:nvPr/>
        </p:nvSpPr>
        <p:spPr>
          <a:xfrm>
            <a:off x="360000" y="270000"/>
            <a:ext cx="936072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W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r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k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f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w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1" name=""/>
              <p:cNvSpPr txBox="1"/>
              <p:nvPr/>
            </p:nvSpPr>
            <p:spPr>
              <a:xfrm>
                <a:off x="360000" y="1350000"/>
                <a:ext cx="9180720" cy="3510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p:sp>
        <p:nvSpPr>
          <p:cNvPr id="132" name=""/>
          <p:cNvSpPr/>
          <p:nvPr/>
        </p:nvSpPr>
        <p:spPr>
          <a:xfrm>
            <a:off x="84600" y="2503800"/>
            <a:ext cx="685800" cy="2286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Source Sans Pro"/>
              </a:rPr>
              <a:t>Data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33" name=""/>
          <p:cNvSpPr/>
          <p:nvPr/>
        </p:nvSpPr>
        <p:spPr>
          <a:xfrm>
            <a:off x="1143000" y="1428120"/>
            <a:ext cx="1600200" cy="242424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/>
            <a:r>
              <a:rPr b="0" lang="en-US" sz="1800" spc="-1" strike="noStrike" u="sng">
                <a:uFillTx/>
                <a:latin typeface="Source Sans Pro"/>
              </a:rPr>
              <a:t>dplyr:</a:t>
            </a:r>
            <a:endParaRPr b="0" lang="en-US" sz="18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select()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filter()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distinct()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group_by() | ungroup()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 u="sng">
                <a:uFillTx/>
                <a:latin typeface="Source Sans Pro"/>
              </a:rPr>
              <a:t>mutate(   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	</a:t>
            </a:r>
            <a:r>
              <a:rPr b="0" lang="en-US" sz="1200" spc="-1" strike="noStrike">
                <a:latin typeface="Source Sans Pro"/>
              </a:rPr>
              <a:t>case_when()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	</a:t>
            </a:r>
            <a:r>
              <a:rPr b="0" lang="en-US" sz="1200" spc="-1" strike="noStrike">
                <a:latin typeface="Source Sans Pro"/>
              </a:rPr>
              <a:t>grepl()</a:t>
            </a:r>
            <a:endParaRPr b="0" lang="en-US" sz="1200" spc="-1" strike="noStrike" u="sng">
              <a:uFillTx/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	</a:t>
            </a:r>
            <a:r>
              <a:rPr b="0" lang="en-US" sz="1200" spc="-1" strike="noStrike">
                <a:latin typeface="Source Sans Pro"/>
              </a:rPr>
              <a:t>n_distinct()</a:t>
            </a:r>
            <a:endParaRPr b="0" lang="en-US" sz="1200" spc="-1" strike="noStrike" u="sng">
              <a:uFillTx/>
              <a:latin typeface="Source Sans Pro"/>
            </a:endParaRPr>
          </a:p>
          <a:p>
            <a:endParaRPr b="0" lang="en-US" sz="1200" spc="-1" strike="noStrike" u="sng">
              <a:uFillTx/>
              <a:latin typeface="Source Sans Pro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143000" y="1049400"/>
            <a:ext cx="1600200" cy="6670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B</a:t>
            </a:r>
            <a:r>
              <a:rPr b="0" lang="en-US" sz="1800" spc="-1" strike="noStrike">
                <a:latin typeface="Source Sans Pro"/>
              </a:rPr>
              <a:t>e</a:t>
            </a:r>
            <a:r>
              <a:rPr b="0" lang="en-US" sz="1800" spc="-1" strike="noStrike">
                <a:latin typeface="Source Sans Pro"/>
              </a:rPr>
              <a:t>h</a:t>
            </a:r>
            <a:r>
              <a:rPr b="0" lang="en-US" sz="1800" spc="-1" strike="noStrike">
                <a:latin typeface="Source Sans Pro"/>
              </a:rPr>
              <a:t>a</a:t>
            </a:r>
            <a:r>
              <a:rPr b="0" lang="en-US" sz="1800" spc="-1" strike="noStrike">
                <a:latin typeface="Source Sans Pro"/>
              </a:rPr>
              <a:t>n</a:t>
            </a:r>
            <a:r>
              <a:rPr b="0" lang="en-US" sz="1800" spc="-1" strike="noStrike">
                <a:latin typeface="Source Sans Pro"/>
              </a:rPr>
              <a:t>d</a:t>
            </a:r>
            <a:r>
              <a:rPr b="0" lang="en-US" sz="1800" spc="-1" strike="noStrike">
                <a:latin typeface="Source Sans Pro"/>
              </a:rPr>
              <a:t>l</a:t>
            </a:r>
            <a:r>
              <a:rPr b="0" lang="en-US" sz="1800" spc="-1" strike="noStrike">
                <a:latin typeface="Source Sans Pro"/>
              </a:rPr>
              <a:t>e</a:t>
            </a:r>
            <a:r>
              <a:rPr b="0" lang="en-US" sz="1800" spc="-1" strike="noStrike">
                <a:latin typeface="Source Sans Pro"/>
              </a:rPr>
              <a:t> </a:t>
            </a:r>
            <a:r>
              <a:rPr b="0" lang="en-US" sz="1800" spc="-1" strike="noStrike">
                <a:latin typeface="Source Sans Pro"/>
              </a:rPr>
              <a:t>d</a:t>
            </a:r>
            <a:r>
              <a:rPr b="0" lang="en-US" sz="1800" spc="-1" strike="noStrike">
                <a:latin typeface="Source Sans Pro"/>
              </a:rPr>
              <a:t>a</a:t>
            </a:r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a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35" name=""/>
          <p:cNvSpPr/>
          <p:nvPr/>
        </p:nvSpPr>
        <p:spPr>
          <a:xfrm>
            <a:off x="3092400" y="1794600"/>
            <a:ext cx="2514600" cy="205776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pPr algn="ctr"/>
            <a:r>
              <a:rPr b="0" lang="en-US" sz="1200" spc="-1" strike="noStrike">
                <a:latin typeface="Source Sans Pro"/>
              </a:rPr>
              <a:t>xtabs()</a:t>
            </a:r>
            <a:endParaRPr b="0" lang="en-US" sz="1200" spc="-1" strike="noStrike">
              <a:latin typeface="Source Sans Pro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 u="sng">
                <a:uFillTx/>
                <a:latin typeface="Source Sans Pro"/>
              </a:rPr>
              <a:t>Matrix:</a:t>
            </a:r>
            <a:endParaRPr b="0" lang="en-US" sz="1800" spc="-1" strike="noStrike">
              <a:latin typeface="Source Sans Pro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x </a:t>
            </a:r>
            <a:r>
              <a:rPr b="1" lang="en-US" sz="900" spc="-1" strike="noStrike">
                <a:latin typeface="Source Sans Pro"/>
              </a:rPr>
              <a:t>% * %</a:t>
            </a:r>
            <a:r>
              <a:rPr b="1" lang="en-US" sz="1200" spc="-1" strike="noStrike">
                <a:latin typeface="Source Sans Pro"/>
              </a:rPr>
              <a:t> </a:t>
            </a:r>
            <a:r>
              <a:rPr b="0" lang="en-US" sz="1200" spc="-1" strike="noStrike">
                <a:latin typeface="Source Sans Pro"/>
              </a:rPr>
              <a:t>t(x)</a:t>
            </a:r>
            <a:endParaRPr b="0" lang="en-US" sz="1200" spc="-1" strike="noStrike">
              <a:latin typeface="Source Sans Pro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t(x)</a:t>
            </a:r>
            <a:r>
              <a:rPr b="0" lang="en-US" sz="1200" spc="-1" strike="noStrike">
                <a:latin typeface="Source Sans Pro"/>
              </a:rPr>
              <a:t> </a:t>
            </a:r>
            <a:r>
              <a:rPr b="1" lang="en-US" sz="900" spc="-1" strike="noStrike">
                <a:latin typeface="Source Sans Pro"/>
              </a:rPr>
              <a:t>% * %</a:t>
            </a:r>
            <a:r>
              <a:rPr b="1" lang="en-US" sz="1200" spc="-1" strike="noStrike">
                <a:latin typeface="Source Sans Pro"/>
              </a:rPr>
              <a:t> </a:t>
            </a:r>
            <a:r>
              <a:rPr b="0" lang="en-US" sz="1200" spc="-1" strike="noStrike">
                <a:latin typeface="Source Sans Pro"/>
              </a:rPr>
              <a:t>x</a:t>
            </a:r>
            <a:endParaRPr b="0" lang="en-US" sz="1200" spc="-1" strike="noStrike">
              <a:latin typeface="Source Sans Pro"/>
            </a:endParaRPr>
          </a:p>
          <a:p>
            <a:pPr algn="ctr"/>
            <a:r>
              <a:rPr b="0" lang="en-US" sz="1800" spc="-1" strike="noStrike" u="sng">
                <a:uFillTx/>
                <a:latin typeface="Source Sans Pro"/>
              </a:rPr>
              <a:t>Igraph:</a:t>
            </a:r>
            <a:endParaRPr b="0" lang="en-US" sz="1800" spc="-1" strike="noStrike">
              <a:latin typeface="Source Sans Pro"/>
            </a:endParaRPr>
          </a:p>
          <a:p>
            <a:pPr algn="ctr"/>
            <a:r>
              <a:rPr b="0" lang="en-US" sz="1200" spc="-1" strike="noStrike">
                <a:latin typeface="Source Sans Pro"/>
              </a:rPr>
              <a:t>graph_from_</a:t>
            </a:r>
            <a:r>
              <a:rPr b="0" lang="en-US" sz="1200" spc="-1" strike="noStrike">
                <a:solidFill>
                  <a:srgbClr val="999999"/>
                </a:solidFill>
                <a:latin typeface="Source Sans Pro"/>
              </a:rPr>
              <a:t>(bi_)</a:t>
            </a:r>
            <a:r>
              <a:rPr b="0" lang="en-US" sz="1200" spc="-1" strike="noStrike">
                <a:latin typeface="Source Sans Pro"/>
              </a:rPr>
              <a:t>adjacency_matrix()</a:t>
            </a:r>
            <a:endParaRPr b="0" lang="en-US" sz="1200" spc="-1" strike="noStrike">
              <a:latin typeface="Source Sans Pro"/>
            </a:endParaRPr>
          </a:p>
          <a:p>
            <a:pPr algn="ctr"/>
            <a:r>
              <a:rPr b="0" lang="en-US" sz="1800" spc="-1" strike="noStrike" u="sng">
                <a:uFillTx/>
                <a:latin typeface="Source Sans Pro"/>
              </a:rPr>
              <a:t>tidygraph:</a:t>
            </a:r>
            <a:endParaRPr b="0" lang="en-US" sz="1800" spc="-1" strike="noStrike">
              <a:latin typeface="Source Sans Pro"/>
            </a:endParaRPr>
          </a:p>
          <a:p>
            <a:pPr algn="ctr"/>
            <a:r>
              <a:rPr b="0" lang="en-US" sz="1200" spc="-1" strike="noStrike">
                <a:latin typeface="Source Sans Pro"/>
              </a:rPr>
              <a:t>as_tbl_graph()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063600" y="1049400"/>
            <a:ext cx="13716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i</a:t>
            </a:r>
            <a:r>
              <a:rPr b="0" lang="en-US" sz="1800" spc="-1" strike="noStrike">
                <a:latin typeface="Source Sans Pro"/>
              </a:rPr>
              <a:t>l </a:t>
            </a:r>
            <a:r>
              <a:rPr b="0" lang="en-US" sz="1800" spc="-1" strike="noStrike">
                <a:latin typeface="Source Sans Pro"/>
              </a:rPr>
              <a:t>n</a:t>
            </a:r>
            <a:r>
              <a:rPr b="0" lang="en-US" sz="1800" spc="-1" strike="noStrike">
                <a:latin typeface="Source Sans Pro"/>
              </a:rPr>
              <a:t>e</a:t>
            </a:r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v</a:t>
            </a:r>
            <a:r>
              <a:rPr b="0" lang="en-US" sz="1800" spc="-1" strike="noStrike">
                <a:latin typeface="Source Sans Pro"/>
              </a:rPr>
              <a:t>æ</a:t>
            </a:r>
            <a:r>
              <a:rPr b="0" lang="en-US" sz="1800" spc="-1" strike="noStrike">
                <a:latin typeface="Source Sans Pro"/>
              </a:rPr>
              <a:t>r</a:t>
            </a:r>
            <a:r>
              <a:rPr b="0" lang="en-US" sz="1800" spc="-1" strike="noStrike">
                <a:latin typeface="Source Sans Pro"/>
              </a:rPr>
              <a:t>k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087960" y="1049400"/>
            <a:ext cx="9990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A</a:t>
            </a:r>
            <a:r>
              <a:rPr b="0" lang="en-US" sz="1800" spc="-1" strike="noStrike">
                <a:latin typeface="Source Sans Pro"/>
              </a:rPr>
              <a:t>n</a:t>
            </a:r>
            <a:r>
              <a:rPr b="0" lang="en-US" sz="1800" spc="-1" strike="noStrike">
                <a:latin typeface="Source Sans Pro"/>
              </a:rPr>
              <a:t>a</a:t>
            </a:r>
            <a:r>
              <a:rPr b="0" lang="en-US" sz="1800" spc="-1" strike="noStrike">
                <a:latin typeface="Source Sans Pro"/>
              </a:rPr>
              <a:t>l</a:t>
            </a:r>
            <a:r>
              <a:rPr b="0" lang="en-US" sz="1800" spc="-1" strike="noStrike">
                <a:latin typeface="Source Sans Pro"/>
              </a:rPr>
              <a:t>y</a:t>
            </a:r>
            <a:r>
              <a:rPr b="0" lang="en-US" sz="1800" spc="-1" strike="noStrike">
                <a:latin typeface="Source Sans Pro"/>
              </a:rPr>
              <a:t>s</a:t>
            </a:r>
            <a:r>
              <a:rPr b="0" lang="en-US" sz="1800" spc="-1" strike="noStrike">
                <a:latin typeface="Source Sans Pro"/>
              </a:rPr>
              <a:t>e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356320" y="1049400"/>
            <a:ext cx="9990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P</a:t>
            </a:r>
            <a:r>
              <a:rPr b="0" lang="en-US" sz="1800" spc="-1" strike="noStrike">
                <a:latin typeface="Source Sans Pro"/>
              </a:rPr>
              <a:t>l</a:t>
            </a:r>
            <a:r>
              <a:rPr b="0" lang="en-US" sz="1800" spc="-1" strike="noStrike">
                <a:latin typeface="Source Sans Pro"/>
              </a:rPr>
              <a:t>o</a:t>
            </a:r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s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39" name=""/>
          <p:cNvSpPr/>
          <p:nvPr/>
        </p:nvSpPr>
        <p:spPr>
          <a:xfrm>
            <a:off x="5936760" y="1428120"/>
            <a:ext cx="1992600" cy="268704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r>
              <a:rPr b="0" lang="en-US" sz="1200" spc="-1" strike="noStrike" u="sng">
                <a:uFillTx/>
                <a:latin typeface="Source Sans Pro"/>
              </a:rPr>
              <a:t>På netværksniveau: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edge_density()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transitivity(type = ‘global’)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mean_distance()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diameter()</a:t>
            </a:r>
            <a:endParaRPr b="0" lang="en-US" sz="1200" spc="-1" strike="noStrike">
              <a:latin typeface="Source Sans Pro"/>
            </a:endParaRPr>
          </a:p>
          <a:p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 u="sng">
                <a:uFillTx/>
                <a:latin typeface="Source Sans Pro"/>
              </a:rPr>
              <a:t>På aktørniveau: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degree()</a:t>
            </a:r>
            <a:endParaRPr b="0" lang="en-US" sz="1200" spc="-1" strike="noStrike">
              <a:latin typeface="Source Sans Pro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eigen_centrality()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betweenness()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closeness()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transitivity(type = ‘local’)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coreness()</a:t>
            </a:r>
            <a:endParaRPr b="0" lang="en-US" sz="1200" spc="-1" strike="noStrike">
              <a:latin typeface="Source Sans Pro"/>
            </a:endParaRPr>
          </a:p>
          <a:p>
            <a:endParaRPr b="0" lang="en-US" sz="1200" spc="-1" strike="noStrike">
              <a:latin typeface="Source Sans Pro"/>
            </a:endParaRPr>
          </a:p>
          <a:p>
            <a:endParaRPr b="0" lang="en-US" sz="1200" spc="-1" strike="noStrike">
              <a:latin typeface="Source Sans Pro"/>
            </a:endParaRPr>
          </a:p>
        </p:txBody>
      </p:sp>
      <p:sp>
        <p:nvSpPr>
          <p:cNvPr id="140" name=""/>
          <p:cNvSpPr/>
          <p:nvPr/>
        </p:nvSpPr>
        <p:spPr>
          <a:xfrm>
            <a:off x="5943960" y="4343760"/>
            <a:ext cx="2057400" cy="6858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Source Sans Pro"/>
              </a:rPr>
              <a:t>Tabeller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41" name=""/>
          <p:cNvSpPr/>
          <p:nvPr/>
        </p:nvSpPr>
        <p:spPr>
          <a:xfrm>
            <a:off x="8229960" y="4343760"/>
            <a:ext cx="1600200" cy="6858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Source Sans Pro"/>
              </a:rPr>
              <a:t>Figurer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719960" y="4469760"/>
            <a:ext cx="9990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O</a:t>
            </a:r>
            <a:r>
              <a:rPr b="0" lang="en-US" sz="1800" spc="-1" strike="noStrike">
                <a:latin typeface="Source Sans Pro"/>
              </a:rPr>
              <a:t>u</a:t>
            </a:r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p</a:t>
            </a:r>
            <a:r>
              <a:rPr b="0" lang="en-US" sz="1800" spc="-1" strike="noStrike">
                <a:latin typeface="Source Sans Pro"/>
              </a:rPr>
              <a:t>u</a:t>
            </a:r>
            <a:r>
              <a:rPr b="0" lang="en-US" sz="1800" spc="-1" strike="noStrike">
                <a:latin typeface="Source Sans Pro"/>
              </a:rPr>
              <a:t>t</a:t>
            </a:r>
            <a:r>
              <a:rPr b="0" lang="en-US" sz="1800" spc="-1" strike="noStrike">
                <a:latin typeface="Source Sans Pro"/>
              </a:rPr>
              <a:t>:</a:t>
            </a:r>
            <a:endParaRPr b="0" lang="en-US" sz="1800" spc="-1" strike="noStrike">
              <a:latin typeface="Source Sans Pro"/>
            </a:endParaRPr>
          </a:p>
        </p:txBody>
      </p:sp>
      <p:sp>
        <p:nvSpPr>
          <p:cNvPr id="143" name=""/>
          <p:cNvSpPr/>
          <p:nvPr/>
        </p:nvSpPr>
        <p:spPr>
          <a:xfrm>
            <a:off x="8204760" y="1794600"/>
            <a:ext cx="1625400" cy="2057760"/>
          </a:xfrm>
          <a:prstGeom prst="rect">
            <a:avLst/>
          </a:pr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noAutofit/>
          </a:bodyPr>
          <a:p>
            <a:r>
              <a:rPr b="0" lang="en-US" sz="1800" spc="-1" strike="noStrike" u="sng">
                <a:uFillTx/>
                <a:latin typeface="Source Sans Pro"/>
              </a:rPr>
              <a:t>ggraph:</a:t>
            </a:r>
            <a:endParaRPr b="0" lang="en-US" sz="1800" spc="-1" strike="noStrike">
              <a:latin typeface="Source Sans Pro"/>
            </a:endParaRPr>
          </a:p>
          <a:p>
            <a:endParaRPr b="0" lang="en-US" sz="18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ggraph() +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geom_edge_link0() +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geom_node_point() +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theme_graph()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44" name=""/>
          <p:cNvSpPr/>
          <p:nvPr/>
        </p:nvSpPr>
        <p:spPr>
          <a:xfrm>
            <a:off x="2743200" y="2514600"/>
            <a:ext cx="349200" cy="228600"/>
          </a:xfrm>
          <a:custGeom>
            <a:avLst/>
            <a:gdLst/>
            <a:ahLst/>
            <a:rect l="0" t="0" r="r" b="b"/>
            <a:pathLst>
              <a:path w="972" h="637">
                <a:moveTo>
                  <a:pt x="0" y="159"/>
                </a:moveTo>
                <a:lnTo>
                  <a:pt x="728" y="159"/>
                </a:lnTo>
                <a:lnTo>
                  <a:pt x="728" y="0"/>
                </a:lnTo>
                <a:lnTo>
                  <a:pt x="971" y="318"/>
                </a:lnTo>
                <a:lnTo>
                  <a:pt x="728" y="636"/>
                </a:lnTo>
                <a:lnTo>
                  <a:pt x="728" y="477"/>
                </a:lnTo>
                <a:lnTo>
                  <a:pt x="0" y="477"/>
                </a:lnTo>
                <a:lnTo>
                  <a:pt x="0" y="159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5607360" y="2514600"/>
            <a:ext cx="329400" cy="228600"/>
          </a:xfrm>
          <a:custGeom>
            <a:avLst/>
            <a:gdLst/>
            <a:ahLst/>
            <a:rect l="0" t="0" r="r" b="b"/>
            <a:pathLst>
              <a:path w="917" h="637">
                <a:moveTo>
                  <a:pt x="0" y="159"/>
                </a:moveTo>
                <a:lnTo>
                  <a:pt x="687" y="159"/>
                </a:lnTo>
                <a:lnTo>
                  <a:pt x="687" y="0"/>
                </a:lnTo>
                <a:lnTo>
                  <a:pt x="916" y="318"/>
                </a:lnTo>
                <a:lnTo>
                  <a:pt x="687" y="636"/>
                </a:lnTo>
                <a:lnTo>
                  <a:pt x="687" y="477"/>
                </a:lnTo>
                <a:lnTo>
                  <a:pt x="0" y="477"/>
                </a:lnTo>
                <a:lnTo>
                  <a:pt x="0" y="159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7929360" y="2514600"/>
            <a:ext cx="275400" cy="228600"/>
          </a:xfrm>
          <a:custGeom>
            <a:avLst/>
            <a:gdLst/>
            <a:ahLst/>
            <a:rect l="0" t="0" r="r" b="b"/>
            <a:pathLst>
              <a:path w="766" h="637">
                <a:moveTo>
                  <a:pt x="0" y="159"/>
                </a:moveTo>
                <a:lnTo>
                  <a:pt x="574" y="159"/>
                </a:lnTo>
                <a:lnTo>
                  <a:pt x="574" y="0"/>
                </a:lnTo>
                <a:lnTo>
                  <a:pt x="765" y="318"/>
                </a:lnTo>
                <a:lnTo>
                  <a:pt x="574" y="636"/>
                </a:lnTo>
                <a:lnTo>
                  <a:pt x="574" y="477"/>
                </a:lnTo>
                <a:lnTo>
                  <a:pt x="0" y="477"/>
                </a:lnTo>
                <a:lnTo>
                  <a:pt x="0" y="159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"/>
          <p:cNvSpPr/>
          <p:nvPr/>
        </p:nvSpPr>
        <p:spPr>
          <a:xfrm>
            <a:off x="769320" y="2514600"/>
            <a:ext cx="366840" cy="228600"/>
          </a:xfrm>
          <a:custGeom>
            <a:avLst/>
            <a:gdLst/>
            <a:ahLst/>
            <a:rect l="0" t="0" r="r" b="b"/>
            <a:pathLst>
              <a:path w="1021" h="637">
                <a:moveTo>
                  <a:pt x="0" y="159"/>
                </a:moveTo>
                <a:lnTo>
                  <a:pt x="765" y="159"/>
                </a:lnTo>
                <a:lnTo>
                  <a:pt x="765" y="0"/>
                </a:lnTo>
                <a:lnTo>
                  <a:pt x="1020" y="318"/>
                </a:lnTo>
                <a:lnTo>
                  <a:pt x="765" y="636"/>
                </a:lnTo>
                <a:lnTo>
                  <a:pt x="765" y="477"/>
                </a:lnTo>
                <a:lnTo>
                  <a:pt x="0" y="477"/>
                </a:lnTo>
                <a:lnTo>
                  <a:pt x="0" y="159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"/>
          <p:cNvSpPr/>
          <p:nvPr/>
        </p:nvSpPr>
        <p:spPr>
          <a:xfrm rot="5358600">
            <a:off x="6470640" y="4127760"/>
            <a:ext cx="329400" cy="228600"/>
          </a:xfrm>
          <a:custGeom>
            <a:avLst/>
            <a:gdLst/>
            <a:ahLst/>
            <a:rect l="0" t="0" r="r" b="b"/>
            <a:pathLst>
              <a:path w="917" h="637">
                <a:moveTo>
                  <a:pt x="0" y="161"/>
                </a:moveTo>
                <a:lnTo>
                  <a:pt x="687" y="159"/>
                </a:lnTo>
                <a:lnTo>
                  <a:pt x="687" y="0"/>
                </a:lnTo>
                <a:lnTo>
                  <a:pt x="916" y="317"/>
                </a:lnTo>
                <a:lnTo>
                  <a:pt x="688" y="636"/>
                </a:lnTo>
                <a:lnTo>
                  <a:pt x="688" y="477"/>
                </a:lnTo>
                <a:lnTo>
                  <a:pt x="1" y="479"/>
                </a:lnTo>
                <a:lnTo>
                  <a:pt x="0" y="161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"/>
          <p:cNvSpPr/>
          <p:nvPr/>
        </p:nvSpPr>
        <p:spPr>
          <a:xfrm rot="5358600">
            <a:off x="8811720" y="3897720"/>
            <a:ext cx="329400" cy="228600"/>
          </a:xfrm>
          <a:custGeom>
            <a:avLst/>
            <a:gdLst/>
            <a:ahLst/>
            <a:rect l="0" t="0" r="r" b="b"/>
            <a:pathLst>
              <a:path w="918" h="637">
                <a:moveTo>
                  <a:pt x="0" y="161"/>
                </a:moveTo>
                <a:lnTo>
                  <a:pt x="687" y="159"/>
                </a:lnTo>
                <a:lnTo>
                  <a:pt x="687" y="0"/>
                </a:lnTo>
                <a:lnTo>
                  <a:pt x="917" y="318"/>
                </a:lnTo>
                <a:lnTo>
                  <a:pt x="688" y="636"/>
                </a:lnTo>
                <a:lnTo>
                  <a:pt x="688" y="477"/>
                </a:lnTo>
                <a:lnTo>
                  <a:pt x="1" y="479"/>
                </a:lnTo>
                <a:lnTo>
                  <a:pt x="0" y="161"/>
                </a:lnTo>
              </a:path>
            </a:pathLst>
          </a:custGeom>
          <a:solidFill>
            <a:srgbClr val="ffffff"/>
          </a:solidFill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4447440" y="2514600"/>
            <a:ext cx="1056600" cy="1015200"/>
          </a:xfrm>
          <a:prstGeom prst="rect">
            <a:avLst/>
          </a:prstGeom>
          <a:ln w="18000">
            <a:noFill/>
          </a:ln>
        </p:spPr>
      </p:pic>
      <p:sp>
        <p:nvSpPr>
          <p:cNvPr id="151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#afstande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2"/>
          <a:srcRect l="60692" t="0" r="0" b="0"/>
          <a:stretch/>
        </p:blipFill>
        <p:spPr>
          <a:xfrm>
            <a:off x="2304000" y="1974600"/>
            <a:ext cx="2514240" cy="2764440"/>
          </a:xfrm>
          <a:prstGeom prst="rect">
            <a:avLst/>
          </a:prstGeom>
          <a:ln w="18000">
            <a:noFill/>
          </a:ln>
        </p:spPr>
      </p:pic>
      <p:pic>
        <p:nvPicPr>
          <p:cNvPr id="153" name="" descr=""/>
          <p:cNvPicPr/>
          <p:nvPr/>
        </p:nvPicPr>
        <p:blipFill>
          <a:blip r:embed="rId3"/>
          <a:stretch/>
        </p:blipFill>
        <p:spPr>
          <a:xfrm>
            <a:off x="5191200" y="1143000"/>
            <a:ext cx="2667240" cy="3752280"/>
          </a:xfrm>
          <a:prstGeom prst="rect">
            <a:avLst/>
          </a:prstGeom>
          <a:ln w="18000">
            <a:noFill/>
          </a:ln>
        </p:spPr>
      </p:pic>
      <p:sp>
        <p:nvSpPr>
          <p:cNvPr id="154" name=""/>
          <p:cNvSpPr/>
          <p:nvPr/>
        </p:nvSpPr>
        <p:spPr>
          <a:xfrm>
            <a:off x="2527560" y="1221480"/>
            <a:ext cx="1941840" cy="3783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Source Sans Pro"/>
              </a:rPr>
              <a:t>“</a:t>
            </a:r>
            <a:r>
              <a:rPr b="0" lang="en-US" sz="1400" spc="-1" strike="noStrike">
                <a:latin typeface="Source Sans Pro"/>
              </a:rPr>
              <a:t>Netværksafstand” (geodesic)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#centralitets-ideen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0000" y="1350000"/>
            <a:ext cx="917964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6000" y="1261080"/>
            <a:ext cx="5088600" cy="3634560"/>
          </a:xfrm>
          <a:prstGeom prst="rect">
            <a:avLst/>
          </a:prstGeom>
          <a:ln w="18000">
            <a:noFill/>
          </a:ln>
        </p:spPr>
      </p:pic>
      <p:sp>
        <p:nvSpPr>
          <p:cNvPr id="158" name=""/>
          <p:cNvSpPr/>
          <p:nvPr/>
        </p:nvSpPr>
        <p:spPr>
          <a:xfrm>
            <a:off x="6858000" y="1600200"/>
            <a:ext cx="1713600" cy="470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A er forbundet til 9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B-J er forbundet til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858000" y="2730600"/>
            <a:ext cx="2681640" cy="6667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A har en gennesmitsafstand til alle på 1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B-J har en gennemsnitsafstand til alle på (8x2 + 1)/9 = 1,9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858000" y="3450960"/>
            <a:ext cx="2681640" cy="6667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A ligger på alle stier mellem de andre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B-J ligger ikke på nogen stier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858360" y="2140560"/>
            <a:ext cx="1713600" cy="470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A er i ‘centrum’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Source Sans Pro"/>
              </a:rPr>
              <a:t>B-J er i ‘periferien’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#måler forskellige ting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291040" y="1547280"/>
            <a:ext cx="5542920" cy="2980440"/>
          </a:xfrm>
          <a:prstGeom prst="rect">
            <a:avLst/>
          </a:prstGeom>
          <a:ln w="18000">
            <a:noFill/>
          </a:ln>
        </p:spPr>
      </p:pic>
      <p:sp>
        <p:nvSpPr>
          <p:cNvPr id="164" name=""/>
          <p:cNvSpPr/>
          <p:nvPr/>
        </p:nvSpPr>
        <p:spPr>
          <a:xfrm>
            <a:off x="3416760" y="2591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020760" y="3023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128760" y="219960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560760" y="3599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776760" y="1799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677400" y="303120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136760" y="2483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4388760" y="3311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208760" y="4067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044680" y="3311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332680" y="287136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332680" y="385920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905080" y="4139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761080" y="3311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7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337080" y="3419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625080" y="3023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445080" y="2483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877080" y="2051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273080" y="1655280"/>
            <a:ext cx="27468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093080" y="3815280"/>
            <a:ext cx="2576160" cy="329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# direkte forbindelser (degree)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081800" y="4764600"/>
            <a:ext cx="8019720" cy="3765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latin typeface="Source Sans Pro"/>
              </a:rPr>
              <a:t>Ortiz-Arroyo, Daniel. 2010. “Discovering Sets of Key Players in Social Networks.” pp. 27–47 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latin typeface="Source Sans Pro"/>
              </a:rPr>
              <a:t>I: Computational Social Network Analysis, Computer Communications and Networks, edited by A. Abraham, A.-E. Hassanien, and V. Snásel. London: Springer London.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#centralisering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228600" y="1828800"/>
            <a:ext cx="3135960" cy="2743200"/>
          </a:xfrm>
          <a:prstGeom prst="rect">
            <a:avLst/>
          </a:prstGeom>
          <a:ln w="18000">
            <a:noFill/>
          </a:ln>
        </p:spPr>
      </p:pic>
      <p:sp>
        <p:nvSpPr>
          <p:cNvPr id="187" name=""/>
          <p:cNvSpPr/>
          <p:nvPr/>
        </p:nvSpPr>
        <p:spPr>
          <a:xfrm>
            <a:off x="228600" y="1371600"/>
            <a:ext cx="1913040" cy="3783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Source Sans Pro"/>
              </a:rPr>
              <a:t>Max centralisering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2"/>
          <a:stretch/>
        </p:blipFill>
        <p:spPr>
          <a:xfrm>
            <a:off x="4410360" y="1828800"/>
            <a:ext cx="2218680" cy="2256840"/>
          </a:xfrm>
          <a:prstGeom prst="rect">
            <a:avLst/>
          </a:prstGeom>
          <a:ln w="18000">
            <a:noFill/>
          </a:ln>
        </p:spPr>
      </p:pic>
      <p:sp>
        <p:nvSpPr>
          <p:cNvPr id="189" name=""/>
          <p:cNvSpPr/>
          <p:nvPr/>
        </p:nvSpPr>
        <p:spPr>
          <a:xfrm>
            <a:off x="4548960" y="1371600"/>
            <a:ext cx="1932840" cy="3783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Source Sans Pro"/>
              </a:rPr>
              <a:t>Min. centralisering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"/>
          <p:cNvSpPr/>
          <p:nvPr/>
        </p:nvSpPr>
        <p:spPr>
          <a:xfrm>
            <a:off x="360000" y="1350000"/>
            <a:ext cx="917964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902880" y="1600200"/>
            <a:ext cx="8240760" cy="2836080"/>
          </a:xfrm>
          <a:prstGeom prst="rect">
            <a:avLst/>
          </a:prstGeom>
          <a:ln w="18000">
            <a:noFill/>
          </a:ln>
        </p:spPr>
      </p:pic>
      <p:sp>
        <p:nvSpPr>
          <p:cNvPr id="193" name=""/>
          <p:cNvSpPr/>
          <p:nvPr/>
        </p:nvSpPr>
        <p:spPr>
          <a:xfrm>
            <a:off x="360000" y="27108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#kerne/periferi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360000" y="270000"/>
            <a:ext cx="935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1800" y="419400"/>
            <a:ext cx="7943040" cy="4838040"/>
          </a:xfrm>
          <a:prstGeom prst="rect">
            <a:avLst/>
          </a:prstGeom>
          <a:ln w="18000">
            <a:noFill/>
          </a:ln>
        </p:spPr>
      </p:pic>
      <p:sp>
        <p:nvSpPr>
          <p:cNvPr id="196" name=""/>
          <p:cNvSpPr txBox="1"/>
          <p:nvPr/>
        </p:nvSpPr>
        <p:spPr>
          <a:xfrm>
            <a:off x="8071560" y="1253880"/>
            <a:ext cx="20811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centrality_degree()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215920" y="2153880"/>
            <a:ext cx="19288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centrality_eigen()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855920" y="2909880"/>
            <a:ext cx="22975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1/node_eccentricity()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783920" y="3845880"/>
            <a:ext cx="23860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centrality_closeness()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459920" y="4637880"/>
            <a:ext cx="27151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centrality_betweenness()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917840" y="457200"/>
            <a:ext cx="2162880" cy="649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tidygraph wrapper: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Application>LibreOffice/7.1.8.1$Linux_X86_64 LibreOffice_project/e1f30c802c3269a1d052614453f260e49458c82c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2025-02-21T06:48:59Z</dcterms:created>
  <dc:creator/>
  <dc:description/>
  <dc:language>en-US</dc:language>
  <cp:lastModifiedBy/>
  <dcterms:modified xsi:type="dcterms:W3CDTF">2026-02-27T06:59:41Z</dcterms:modified>
  <cp:revision>5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