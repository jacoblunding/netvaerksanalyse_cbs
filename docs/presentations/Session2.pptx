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8"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9"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3"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4"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15"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7"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18"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9"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1"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22"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23"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5"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26"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8"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29"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30"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31"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33"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34"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35"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36"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37"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38"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7"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9"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1"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52"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6"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57"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58"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0"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61"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62"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4"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65"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66"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8"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69"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71"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72"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73"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74"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76"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77"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78"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79"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80"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81"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0"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2"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4"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95"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7"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9"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00"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101"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03"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104"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05"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07"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08"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09"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11"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112"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14"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15"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16"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117"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19"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120"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121"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122"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123"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124"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1980000"/>
            <a:ext cx="9719280" cy="989280"/>
          </a:xfrm>
          <a:prstGeom prst="rect">
            <a:avLst/>
          </a:prstGeom>
          <a:solidFill>
            <a:srgbClr val="c9211e"/>
          </a:solidFill>
          <a:ln w="18000">
            <a:noFill/>
          </a:ln>
        </p:spPr>
        <p:style>
          <a:lnRef idx="0"/>
          <a:fillRef idx="0"/>
          <a:effectRef idx="0"/>
          <a:fontRef idx="minor"/>
        </p:style>
      </p:sp>
      <p:sp>
        <p:nvSpPr>
          <p:cNvPr id="1" name="PlaceHolder 1"/>
          <p:cNvSpPr>
            <a:spLocks noGrp="1"/>
          </p:cNvSpPr>
          <p:nvPr>
            <p:ph type="title"/>
          </p:nvPr>
        </p:nvSpPr>
        <p:spPr>
          <a:xfrm>
            <a:off x="360000" y="270000"/>
            <a:ext cx="9359280" cy="719280"/>
          </a:xfrm>
          <a:prstGeom prst="rect">
            <a:avLst/>
          </a:prstGeom>
        </p:spPr>
        <p:txBody>
          <a:bodyPr lIns="0" rIns="0" tIns="0" bIns="0" anchor="ctr">
            <a:noAutofit/>
          </a:bodyPr>
          <a:p>
            <a:r>
              <a:rPr b="0" lang="en-US" sz="1800" spc="-1" strike="noStrike">
                <a:latin typeface="Arial"/>
              </a:rPr>
              <a:t>Click to edit the title </a:t>
            </a:r>
            <a:r>
              <a:rPr b="0" lang="en-US" sz="1800" spc="-1" strike="noStrike">
                <a:latin typeface="Arial"/>
              </a:rPr>
              <a:t>text format</a:t>
            </a:r>
            <a:endParaRPr b="0" lang="en-US" sz="1800" spc="-1" strike="noStrike">
              <a:latin typeface="Arial"/>
            </a:endParaRPr>
          </a:p>
        </p:txBody>
      </p:sp>
      <p:sp>
        <p:nvSpPr>
          <p:cNvPr id="2" name="PlaceHolder 2"/>
          <p:cNvSpPr>
            <a:spLocks noGrp="1"/>
          </p:cNvSpPr>
          <p:nvPr>
            <p:ph type="body"/>
          </p:nvPr>
        </p:nvSpPr>
        <p:spPr>
          <a:xfrm>
            <a:off x="360000" y="1350000"/>
            <a:ext cx="9179280" cy="3509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p:nvPr/>
        </p:nvSpPr>
        <p:spPr>
          <a:xfrm>
            <a:off x="0" y="180000"/>
            <a:ext cx="9719280" cy="899280"/>
          </a:xfrm>
          <a:prstGeom prst="rect">
            <a:avLst/>
          </a:prstGeom>
          <a:solidFill>
            <a:srgbClr val="c9211e"/>
          </a:solidFill>
          <a:ln w="18000">
            <a:noFill/>
          </a:ln>
        </p:spPr>
        <p:style>
          <a:lnRef idx="0"/>
          <a:fillRef idx="0"/>
          <a:effectRef idx="0"/>
          <a:fontRef idx="minor"/>
        </p:style>
      </p:sp>
      <p:sp>
        <p:nvSpPr>
          <p:cNvPr id="40" name=""/>
          <p:cNvSpPr/>
          <p:nvPr/>
        </p:nvSpPr>
        <p:spPr>
          <a:xfrm>
            <a:off x="7560000" y="5130000"/>
            <a:ext cx="2519280" cy="404280"/>
          </a:xfrm>
          <a:prstGeom prst="rect">
            <a:avLst/>
          </a:prstGeom>
          <a:solidFill>
            <a:srgbClr val="c9211e"/>
          </a:solidFill>
          <a:ln w="18000">
            <a:noFill/>
          </a:ln>
        </p:spPr>
        <p:style>
          <a:lnRef idx="0"/>
          <a:fillRef idx="0"/>
          <a:effectRef idx="0"/>
          <a:fontRef idx="minor"/>
        </p:style>
      </p:sp>
      <p:sp>
        <p:nvSpPr>
          <p:cNvPr id="41" name=""/>
          <p:cNvSpPr/>
          <p:nvPr/>
        </p:nvSpPr>
        <p:spPr>
          <a:xfrm>
            <a:off x="900000" y="5130000"/>
            <a:ext cx="6479280" cy="404280"/>
          </a:xfrm>
          <a:prstGeom prst="rect">
            <a:avLst/>
          </a:prstGeom>
          <a:solidFill>
            <a:srgbClr val="b2b2b2"/>
          </a:solidFill>
          <a:ln w="0">
            <a:solidFill>
              <a:srgbClr val="808080"/>
            </a:solidFill>
          </a:ln>
        </p:spPr>
        <p:style>
          <a:lnRef idx="0"/>
          <a:fillRef idx="0"/>
          <a:effectRef idx="0"/>
          <a:fontRef idx="minor"/>
        </p:style>
      </p:sp>
      <p:sp>
        <p:nvSpPr>
          <p:cNvPr id="42" name=""/>
          <p:cNvSpPr/>
          <p:nvPr/>
        </p:nvSpPr>
        <p:spPr>
          <a:xfrm>
            <a:off x="180000" y="5130000"/>
            <a:ext cx="539280" cy="404280"/>
          </a:xfrm>
          <a:prstGeom prst="rect">
            <a:avLst/>
          </a:prstGeom>
          <a:noFill/>
          <a:ln w="72000">
            <a:noFill/>
          </a:ln>
        </p:spPr>
        <p:style>
          <a:lnRef idx="0"/>
          <a:fillRef idx="0"/>
          <a:effectRef idx="0"/>
          <a:fontRef idx="minor"/>
        </p:style>
      </p:sp>
      <p:sp>
        <p:nvSpPr>
          <p:cNvPr id="43" name=""/>
          <p:cNvSpPr/>
          <p:nvPr/>
        </p:nvSpPr>
        <p:spPr>
          <a:xfrm>
            <a:off x="180000" y="5130000"/>
            <a:ext cx="539280" cy="404280"/>
          </a:xfrm>
          <a:prstGeom prst="rect">
            <a:avLst/>
          </a:prstGeom>
          <a:solidFill>
            <a:srgbClr val="c9211e"/>
          </a:solidFill>
          <a:ln w="18000">
            <a:noFill/>
          </a:ln>
        </p:spPr>
        <p:style>
          <a:lnRef idx="0"/>
          <a:fillRef idx="0"/>
          <a:effectRef idx="0"/>
          <a:fontRef idx="minor"/>
        </p:style>
      </p:sp>
      <p:sp>
        <p:nvSpPr>
          <p:cNvPr id="44"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45"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0" y="180000"/>
            <a:ext cx="9719280" cy="899280"/>
          </a:xfrm>
          <a:prstGeom prst="rect">
            <a:avLst/>
          </a:prstGeom>
          <a:solidFill>
            <a:srgbClr val="c9211e"/>
          </a:solidFill>
          <a:ln w="18000">
            <a:noFill/>
          </a:ln>
        </p:spPr>
        <p:style>
          <a:lnRef idx="0"/>
          <a:fillRef idx="0"/>
          <a:effectRef idx="0"/>
          <a:fontRef idx="minor"/>
        </p:style>
      </p:sp>
      <p:sp>
        <p:nvSpPr>
          <p:cNvPr id="83" name=""/>
          <p:cNvSpPr/>
          <p:nvPr/>
        </p:nvSpPr>
        <p:spPr>
          <a:xfrm>
            <a:off x="7560000" y="5130000"/>
            <a:ext cx="2519280" cy="404280"/>
          </a:xfrm>
          <a:prstGeom prst="rect">
            <a:avLst/>
          </a:prstGeom>
          <a:solidFill>
            <a:srgbClr val="c9211e"/>
          </a:solidFill>
          <a:ln w="18000">
            <a:noFill/>
          </a:ln>
        </p:spPr>
        <p:style>
          <a:lnRef idx="0"/>
          <a:fillRef idx="0"/>
          <a:effectRef idx="0"/>
          <a:fontRef idx="minor"/>
        </p:style>
      </p:sp>
      <p:sp>
        <p:nvSpPr>
          <p:cNvPr id="84" name=""/>
          <p:cNvSpPr/>
          <p:nvPr/>
        </p:nvSpPr>
        <p:spPr>
          <a:xfrm>
            <a:off x="900000" y="5130000"/>
            <a:ext cx="6479280" cy="404280"/>
          </a:xfrm>
          <a:prstGeom prst="rect">
            <a:avLst/>
          </a:prstGeom>
          <a:solidFill>
            <a:srgbClr val="b2b2b2"/>
          </a:solidFill>
          <a:ln w="0">
            <a:solidFill>
              <a:srgbClr val="808080"/>
            </a:solidFill>
          </a:ln>
        </p:spPr>
        <p:style>
          <a:lnRef idx="0"/>
          <a:fillRef idx="0"/>
          <a:effectRef idx="0"/>
          <a:fontRef idx="minor"/>
        </p:style>
      </p:sp>
      <p:sp>
        <p:nvSpPr>
          <p:cNvPr id="85" name=""/>
          <p:cNvSpPr/>
          <p:nvPr/>
        </p:nvSpPr>
        <p:spPr>
          <a:xfrm>
            <a:off x="180000" y="5130000"/>
            <a:ext cx="539280" cy="404280"/>
          </a:xfrm>
          <a:prstGeom prst="rect">
            <a:avLst/>
          </a:prstGeom>
          <a:noFill/>
          <a:ln w="72000">
            <a:noFill/>
          </a:ln>
        </p:spPr>
        <p:style>
          <a:lnRef idx="0"/>
          <a:fillRef idx="0"/>
          <a:effectRef idx="0"/>
          <a:fontRef idx="minor"/>
        </p:style>
      </p:sp>
      <p:sp>
        <p:nvSpPr>
          <p:cNvPr id="86" name=""/>
          <p:cNvSpPr/>
          <p:nvPr/>
        </p:nvSpPr>
        <p:spPr>
          <a:xfrm>
            <a:off x="180000" y="5130000"/>
            <a:ext cx="539280" cy="404280"/>
          </a:xfrm>
          <a:prstGeom prst="rect">
            <a:avLst/>
          </a:prstGeom>
          <a:solidFill>
            <a:srgbClr val="c9211e"/>
          </a:solidFill>
          <a:ln w="18000">
            <a:noFill/>
          </a:ln>
        </p:spPr>
        <p:style>
          <a:lnRef idx="0"/>
          <a:fillRef idx="0"/>
          <a:effectRef idx="0"/>
          <a:fontRef idx="minor"/>
        </p:style>
      </p:sp>
      <p:sp>
        <p:nvSpPr>
          <p:cNvPr id="87"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88"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hyperlink" Target="https://datacvr.virk.dk/" TargetMode="External"/><Relationship Id="rId2" Type="http://schemas.openxmlformats.org/officeDocument/2006/relationships/hyperlink" Target="https://datacvr.virk.dk/enhed/virksomhed/61126228" TargetMode="External"/><Relationship Id="rId3"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p:nvPr/>
        </p:nvSpPr>
        <p:spPr>
          <a:xfrm>
            <a:off x="360000" y="2160000"/>
            <a:ext cx="917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zxx" sz="2400" spc="-1" strike="noStrike">
                <a:solidFill>
                  <a:srgbClr val="ffffff"/>
                </a:solidFill>
                <a:latin typeface="Source Sans Pro Black"/>
                <a:ea typeface="DejaVu Sans"/>
              </a:rPr>
              <a:t>Øvelseslektion#2 </a:t>
            </a:r>
            <a:br/>
            <a:r>
              <a:rPr b="1" lang="zxx" sz="2400" spc="-1" strike="noStrike">
                <a:solidFill>
                  <a:srgbClr val="ffffff"/>
                </a:solidFill>
                <a:latin typeface="Source Sans Pro Black"/>
                <a:ea typeface="DejaVu Sans"/>
              </a:rPr>
              <a:t>Indsamling og konstruktion af netværksdata</a:t>
            </a:r>
            <a:endParaRPr b="0" lang="en-US" sz="2400" spc="-1" strike="noStrike">
              <a:latin typeface="Arial"/>
            </a:endParaRPr>
          </a:p>
        </p:txBody>
      </p:sp>
      <p:sp>
        <p:nvSpPr>
          <p:cNvPr id="126" name=""/>
          <p:cNvSpPr/>
          <p:nvPr/>
        </p:nvSpPr>
        <p:spPr>
          <a:xfrm>
            <a:off x="540000" y="3150000"/>
            <a:ext cx="8999280" cy="188928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zxx" sz="2400" spc="-1" strike="noStrike">
                <a:solidFill>
                  <a:srgbClr val="ffffff"/>
                </a:solidFill>
                <a:latin typeface="Source Sans Pro Black"/>
                <a:ea typeface="DejaVu Sans"/>
              </a:rPr>
              <a:t>#Datakilder:</a:t>
            </a:r>
            <a:endParaRPr b="0" lang="en-US" sz="2400" spc="-1" strike="noStrike">
              <a:latin typeface="Arial"/>
            </a:endParaRPr>
          </a:p>
        </p:txBody>
      </p:sp>
      <p:sp>
        <p:nvSpPr>
          <p:cNvPr id="128" name=""/>
          <p:cNvSpPr/>
          <p:nvPr/>
        </p:nvSpPr>
        <p:spPr>
          <a:xfrm>
            <a:off x="360000" y="1350000"/>
            <a:ext cx="9179280" cy="3509280"/>
          </a:xfrm>
          <a:prstGeom prst="rect">
            <a:avLst/>
          </a:prstGeom>
          <a:noFill/>
          <a:ln w="0">
            <a:noFill/>
          </a:ln>
        </p:spPr>
        <p:style>
          <a:lnRef idx="0"/>
          <a:fillRef idx="0"/>
          <a:effectRef idx="0"/>
          <a:fontRef idx="minor"/>
        </p:style>
        <p:txBody>
          <a:bodyPr lIns="0" rIns="0" tIns="0" bIns="0">
            <a:normAutofit/>
          </a:bodyPr>
          <a:p>
            <a:pPr marL="216000" indent="-215280">
              <a:lnSpc>
                <a:spcPct val="100000"/>
              </a:lnSpc>
              <a:spcAft>
                <a:spcPts val="853"/>
              </a:spcAft>
              <a:buClr>
                <a:srgbClr val="000000"/>
              </a:buClr>
              <a:buFont typeface="StarSymbol"/>
              <a:buAutoNum type="arabicParenR"/>
            </a:pPr>
            <a:r>
              <a:rPr b="1" lang="zxx" sz="1950" spc="-1" strike="noStrike">
                <a:solidFill>
                  <a:srgbClr val="1c1c1c"/>
                </a:solidFill>
                <a:latin typeface="Source Sans Pro Semibold"/>
                <a:ea typeface="DejaVu Sans"/>
              </a:rPr>
              <a:t>Data fra Orbis (se evt. også Lasses video på Canvas).</a:t>
            </a:r>
            <a:endParaRPr b="0" lang="en-US" sz="1950" spc="-1" strike="noStrike">
              <a:latin typeface="Arial"/>
            </a:endParaRPr>
          </a:p>
          <a:p>
            <a:pPr marL="216000" indent="-215280">
              <a:lnSpc>
                <a:spcPct val="100000"/>
              </a:lnSpc>
              <a:spcAft>
                <a:spcPts val="853"/>
              </a:spcAft>
              <a:buClr>
                <a:srgbClr val="000000"/>
              </a:buClr>
              <a:buFont typeface="StarSymbol"/>
              <a:buAutoNum type="arabicParenR"/>
            </a:pPr>
            <a:r>
              <a:rPr b="1" lang="zxx" sz="1950" spc="-1" strike="noStrike">
                <a:solidFill>
                  <a:srgbClr val="1c1c1c"/>
                </a:solidFill>
                <a:latin typeface="Source Sans Pro Semibold"/>
                <a:ea typeface="DejaVu Sans"/>
              </a:rPr>
              <a:t>Data fra andre kilder, som I selv finder. </a:t>
            </a:r>
            <a:endParaRPr b="0" lang="en-US" sz="1950" spc="-1" strike="noStrike">
              <a:latin typeface="Arial"/>
            </a:endParaRPr>
          </a:p>
          <a:p>
            <a:pPr lvl="1" marL="432000" indent="-215640">
              <a:lnSpc>
                <a:spcPct val="100000"/>
              </a:lnSpc>
              <a:spcAft>
                <a:spcPts val="853"/>
              </a:spcAft>
              <a:buClr>
                <a:srgbClr val="000000"/>
              </a:buClr>
              <a:buSzPct val="45000"/>
              <a:buFont typeface="Wingdings" charset="2"/>
              <a:buChar char=""/>
            </a:pPr>
            <a:r>
              <a:rPr b="1" lang="zxx" sz="1950" spc="-1" strike="noStrike">
                <a:solidFill>
                  <a:srgbClr val="1c1c1c"/>
                </a:solidFill>
                <a:latin typeface="Source Sans Pro Semibold"/>
                <a:ea typeface="DejaVu Sans"/>
              </a:rPr>
              <a:t>CVR, fx.</a:t>
            </a:r>
            <a:endParaRPr b="0" lang="en-US" sz="1950" spc="-1" strike="noStrike">
              <a:latin typeface="Arial"/>
            </a:endParaRPr>
          </a:p>
          <a:p>
            <a:pPr marL="216000" indent="-215280">
              <a:lnSpc>
                <a:spcPct val="100000"/>
              </a:lnSpc>
              <a:spcAft>
                <a:spcPts val="853"/>
              </a:spcAft>
              <a:buClr>
                <a:srgbClr val="000000"/>
              </a:buClr>
              <a:buFont typeface="StarSymbol"/>
              <a:buAutoNum type="arabicParenR"/>
            </a:pPr>
            <a:r>
              <a:rPr b="1" lang="zxx" sz="1950" spc="-1" strike="noStrike">
                <a:solidFill>
                  <a:srgbClr val="1c1c1c"/>
                </a:solidFill>
                <a:latin typeface="Source Sans Pro Semibold"/>
                <a:ea typeface="DejaVu Sans"/>
              </a:rPr>
              <a:t>Danish Elite Nework 2024 (den24).</a:t>
            </a:r>
            <a:endParaRPr b="0" lang="en-US" sz="19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#Orbisdata: Tobacco and Liquor</a:t>
            </a:r>
            <a:endParaRPr b="0" lang="en-US" sz="2400" spc="-1" strike="noStrike">
              <a:latin typeface="Arial"/>
            </a:endParaRPr>
          </a:p>
        </p:txBody>
      </p:sp>
      <p:sp>
        <p:nvSpPr>
          <p:cNvPr id="130" name=""/>
          <p:cNvSpPr/>
          <p:nvPr/>
        </p:nvSpPr>
        <p:spPr>
          <a:xfrm>
            <a:off x="360000" y="1350000"/>
            <a:ext cx="6920280" cy="3509280"/>
          </a:xfrm>
          <a:prstGeom prst="rect">
            <a:avLst/>
          </a:prstGeom>
          <a:noFill/>
          <a:ln w="0">
            <a:noFill/>
          </a:ln>
        </p:spPr>
        <p:style>
          <a:lnRef idx="0"/>
          <a:fillRef idx="0"/>
          <a:effectRef idx="0"/>
          <a:fontRef idx="minor"/>
        </p:style>
        <p:txBody>
          <a:bodyPr lIns="0" rIns="0" tIns="0" bIns="0">
            <a:normAutofit fontScale="49000"/>
          </a:bodyPr>
          <a:p>
            <a:pPr>
              <a:lnSpc>
                <a:spcPct val="100000"/>
              </a:lnSpc>
              <a:spcAft>
                <a:spcPts val="853"/>
              </a:spcAft>
            </a:pPr>
            <a:r>
              <a:rPr b="1" lang="en-US" sz="1950" spc="-1" strike="noStrike" u="sng">
                <a:solidFill>
                  <a:srgbClr val="0000ff"/>
                </a:solidFill>
                <a:uFillTx/>
                <a:latin typeface="Source Sans Pro Semibold"/>
                <a:ea typeface="DejaVu Sans"/>
              </a:rPr>
              <a:t>https://www.cbs.dk/bibliotek/soeg-i-biblioteket/online-ressourcer/orbis</a:t>
            </a:r>
            <a:endParaRPr b="0" lang="en-US" sz="1950" spc="-1" strike="noStrike">
              <a:latin typeface="Arial"/>
            </a:endParaRPr>
          </a:p>
          <a:p>
            <a:pPr>
              <a:lnSpc>
                <a:spcPct val="100000"/>
              </a:lnSpc>
              <a:spcAft>
                <a:spcPts val="853"/>
              </a:spcAft>
            </a:pPr>
            <a:r>
              <a:rPr b="1" lang="en-US" sz="1950" spc="-1" strike="noStrike">
                <a:solidFill>
                  <a:srgbClr val="1c1c1c"/>
                </a:solidFill>
                <a:latin typeface="Source Sans Pro Semibold"/>
                <a:ea typeface="DejaVu Sans"/>
              </a:rPr>
              <a:t> </a:t>
            </a:r>
            <a:endParaRPr b="0" lang="en-US" sz="1950" spc="-1" strike="noStrike">
              <a:latin typeface="Arial"/>
            </a:endParaRPr>
          </a:p>
          <a:p>
            <a:pPr marL="216000" indent="-215280">
              <a:lnSpc>
                <a:spcPct val="100000"/>
              </a:lnSpc>
              <a:spcAft>
                <a:spcPts val="853"/>
              </a:spcAft>
              <a:buClr>
                <a:srgbClr val="000000"/>
              </a:buClr>
              <a:buFont typeface="StarSymbol"/>
              <a:buAutoNum type="arabicParenR"/>
            </a:pPr>
            <a:r>
              <a:rPr b="1" lang="en-US" sz="1950" spc="-1" strike="noStrike">
                <a:solidFill>
                  <a:srgbClr val="1c1c1c"/>
                </a:solidFill>
                <a:latin typeface="Source Sans Pro Semibold"/>
                <a:ea typeface="DejaVu Sans"/>
              </a:rPr>
              <a:t>Filter: </a:t>
            </a:r>
            <a:r>
              <a:rPr b="1" i="1" lang="en-US" sz="1950" spc="-1" strike="noStrike">
                <a:solidFill>
                  <a:srgbClr val="b2b2b2"/>
                </a:solidFill>
                <a:latin typeface="Source Sans Pro Semibold"/>
                <a:ea typeface="DejaVu Sans"/>
              </a:rPr>
              <a:t>legal form: Plc ; Industry: NACE 11 (-soft drinks) + 12</a:t>
            </a:r>
            <a:endParaRPr b="0" lang="en-US" sz="1950" spc="-1" strike="noStrike">
              <a:latin typeface="Arial"/>
            </a:endParaRPr>
          </a:p>
          <a:p>
            <a:pPr marL="216000" indent="-215280">
              <a:lnSpc>
                <a:spcPct val="100000"/>
              </a:lnSpc>
              <a:spcAft>
                <a:spcPts val="853"/>
              </a:spcAft>
              <a:buClr>
                <a:srgbClr val="000000"/>
              </a:buClr>
              <a:buFont typeface="StarSymbol"/>
              <a:buAutoNum type="arabicParenR"/>
            </a:pPr>
            <a:r>
              <a:rPr b="1" lang="en-US" sz="1950" spc="-1" strike="noStrike">
                <a:solidFill>
                  <a:srgbClr val="000000"/>
                </a:solidFill>
                <a:latin typeface="Source Sans Pro Semibold"/>
                <a:ea typeface="DejaVu Sans"/>
              </a:rPr>
              <a:t>View results</a:t>
            </a:r>
            <a:endParaRPr b="0" lang="en-US" sz="1950" spc="-1" strike="noStrike">
              <a:latin typeface="Arial"/>
            </a:endParaRPr>
          </a:p>
          <a:p>
            <a:pPr marL="216000" indent="-215280">
              <a:lnSpc>
                <a:spcPct val="100000"/>
              </a:lnSpc>
              <a:spcAft>
                <a:spcPts val="853"/>
              </a:spcAft>
              <a:buClr>
                <a:srgbClr val="000000"/>
              </a:buClr>
              <a:buFont typeface="StarSymbol"/>
              <a:buAutoNum type="arabicParenR"/>
            </a:pPr>
            <a:r>
              <a:rPr b="1" lang="en-US" sz="1950" spc="-1" strike="noStrike">
                <a:solidFill>
                  <a:srgbClr val="000000"/>
                </a:solidFill>
                <a:latin typeface="Source Sans Pro Semibold"/>
                <a:ea typeface="DejaVu Sans"/>
              </a:rPr>
              <a:t>Add variables [add/remove columns]: </a:t>
            </a:r>
            <a:endParaRPr b="0" lang="en-US" sz="1950" spc="-1" strike="noStrike">
              <a:latin typeface="Arial"/>
            </a:endParaRPr>
          </a:p>
          <a:p>
            <a:pPr lvl="1" marL="432000" indent="-215280">
              <a:lnSpc>
                <a:spcPct val="100000"/>
              </a:lnSpc>
              <a:spcAft>
                <a:spcPts val="848"/>
              </a:spcAft>
              <a:buClr>
                <a:srgbClr val="000000"/>
              </a:buClr>
              <a:buFont typeface="StarSymbol"/>
              <a:buAutoNum type="arabicParenR"/>
            </a:pPr>
            <a:r>
              <a:rPr b="0" i="1" lang="en-US" sz="1650" spc="-1" strike="noStrike">
                <a:solidFill>
                  <a:srgbClr val="999999"/>
                </a:solidFill>
                <a:latin typeface="Source Sans Pro Light"/>
                <a:ea typeface="DejaVu Sans"/>
              </a:rPr>
              <a:t>”</a:t>
            </a:r>
            <a:r>
              <a:rPr b="0" i="1" lang="en-US" sz="1650" spc="-1" strike="noStrike">
                <a:solidFill>
                  <a:srgbClr val="999999"/>
                </a:solidFill>
                <a:latin typeface="Source Sans Pro Light"/>
                <a:ea typeface="DejaVu Sans"/>
              </a:rPr>
              <a:t>directors and managers” &gt; full name; id; job title; Current or previous; Appointment date, Resignation date</a:t>
            </a:r>
            <a:endParaRPr b="0" lang="en-US" sz="1650" spc="-1" strike="noStrike">
              <a:latin typeface="Arial"/>
            </a:endParaRPr>
          </a:p>
          <a:p>
            <a:pPr lvl="1" marL="432000" indent="-215280">
              <a:lnSpc>
                <a:spcPct val="100000"/>
              </a:lnSpc>
              <a:spcAft>
                <a:spcPts val="848"/>
              </a:spcAft>
              <a:buClr>
                <a:srgbClr val="000000"/>
              </a:buClr>
              <a:buFont typeface="StarSymbol"/>
              <a:buAutoNum type="arabicParenR"/>
            </a:pPr>
            <a:r>
              <a:rPr b="0" i="1" lang="en-US" sz="1650" spc="-1" strike="noStrike">
                <a:solidFill>
                  <a:srgbClr val="999999"/>
                </a:solidFill>
                <a:latin typeface="Source Sans Pro Light"/>
                <a:ea typeface="DejaVu Sans"/>
              </a:rPr>
              <a:t>“</a:t>
            </a:r>
            <a:r>
              <a:rPr b="0" i="1" lang="en-US" sz="1650" spc="-1" strike="noStrike">
                <a:solidFill>
                  <a:srgbClr val="999999"/>
                </a:solidFill>
                <a:latin typeface="Source Sans Pro Light"/>
                <a:ea typeface="DejaVu Sans"/>
              </a:rPr>
              <a:t>other role information” &gt; Type of role; Board, committee or department; Level of responsibility</a:t>
            </a:r>
            <a:endParaRPr b="0" lang="en-US" sz="1650" spc="-1" strike="noStrike">
              <a:latin typeface="Arial"/>
            </a:endParaRPr>
          </a:p>
          <a:p>
            <a:pPr lvl="1" marL="432000" indent="-215280">
              <a:lnSpc>
                <a:spcPct val="100000"/>
              </a:lnSpc>
              <a:spcAft>
                <a:spcPts val="848"/>
              </a:spcAft>
              <a:buClr>
                <a:srgbClr val="000000"/>
              </a:buClr>
              <a:buFont typeface="StarSymbol"/>
              <a:buAutoNum type="arabicParenR"/>
            </a:pPr>
            <a:r>
              <a:rPr b="0" i="1" lang="en-US" sz="1650" spc="-1" strike="noStrike">
                <a:solidFill>
                  <a:srgbClr val="999999"/>
                </a:solidFill>
                <a:latin typeface="Source Sans Pro Light"/>
                <a:ea typeface="DejaVu Sans"/>
              </a:rPr>
              <a:t>“</a:t>
            </a:r>
            <a:r>
              <a:rPr b="0" i="1" lang="en-US" sz="1650" spc="-1" strike="noStrike">
                <a:solidFill>
                  <a:srgbClr val="999999"/>
                </a:solidFill>
                <a:latin typeface="Source Sans Pro Light"/>
                <a:ea typeface="DejaVu Sans"/>
              </a:rPr>
              <a:t>ownership data” &gt; Shareholders;</a:t>
            </a:r>
            <a:endParaRPr b="0" lang="en-US" sz="1650" spc="-1" strike="noStrike">
              <a:latin typeface="Arial"/>
            </a:endParaRPr>
          </a:p>
          <a:p>
            <a:pPr marL="216000" indent="-215280">
              <a:lnSpc>
                <a:spcPct val="100000"/>
              </a:lnSpc>
              <a:spcAft>
                <a:spcPts val="853"/>
              </a:spcAft>
              <a:buClr>
                <a:srgbClr val="000000"/>
              </a:buClr>
              <a:buFont typeface="StarSymbol"/>
              <a:buAutoNum type="arabicParenR"/>
            </a:pPr>
            <a:r>
              <a:rPr b="1" lang="en-US" sz="1950" spc="-1" strike="noStrike">
                <a:solidFill>
                  <a:srgbClr val="000000"/>
                </a:solidFill>
                <a:latin typeface="Source Sans Pro Semibold"/>
                <a:ea typeface="DejaVu Sans"/>
              </a:rPr>
              <a:t>Export: “</a:t>
            </a:r>
            <a:r>
              <a:rPr b="1" lang="en-US" sz="1950" spc="-1" strike="noStrike">
                <a:solidFill>
                  <a:srgbClr val="999999"/>
                </a:solidFill>
                <a:latin typeface="Source Sans Pro Semibold"/>
                <a:ea typeface="DejaVu Sans"/>
              </a:rPr>
              <a:t>Options for Excel” &gt; repeat single data item</a:t>
            </a:r>
            <a:endParaRPr b="0" lang="en-US" sz="1950" spc="-1" strike="noStrike">
              <a:latin typeface="Arial"/>
            </a:endParaRPr>
          </a:p>
          <a:p>
            <a:pPr>
              <a:lnSpc>
                <a:spcPct val="100000"/>
              </a:lnSpc>
              <a:spcAft>
                <a:spcPts val="853"/>
              </a:spcAft>
            </a:pPr>
            <a:r>
              <a:rPr b="1" lang="en-US" sz="1950" spc="-1" strike="noStrike">
                <a:solidFill>
                  <a:srgbClr val="000000"/>
                </a:solidFill>
                <a:latin typeface="Source Sans Pro Semibold"/>
                <a:ea typeface="DejaVu Sans"/>
              </a:rPr>
              <a:t> </a:t>
            </a:r>
            <a:endParaRPr b="0" lang="en-US" sz="1950" spc="-1" strike="noStrike">
              <a:latin typeface="Arial"/>
            </a:endParaRPr>
          </a:p>
          <a:p>
            <a:pPr>
              <a:lnSpc>
                <a:spcPct val="100000"/>
              </a:lnSpc>
              <a:spcAft>
                <a:spcPts val="853"/>
              </a:spcAft>
            </a:pPr>
            <a:r>
              <a:rPr b="1" i="1" lang="en-US" sz="1950" spc="-1" strike="noStrike">
                <a:solidFill>
                  <a:srgbClr val="b2b2b2"/>
                </a:solidFill>
                <a:latin typeface="Source Sans Pro Semibold"/>
                <a:ea typeface="DejaVu Sans"/>
              </a:rPr>
              <a:t> </a:t>
            </a:r>
            <a:endParaRPr b="0" lang="en-US" sz="1950" spc="-1" strike="noStrike">
              <a:latin typeface="Arial"/>
            </a:endParaRPr>
          </a:p>
          <a:p>
            <a:pPr>
              <a:lnSpc>
                <a:spcPct val="100000"/>
              </a:lnSpc>
              <a:spcAft>
                <a:spcPts val="853"/>
              </a:spcAft>
            </a:pPr>
            <a:r>
              <a:rPr b="1" lang="en-US" sz="1950" spc="-1" strike="noStrike">
                <a:solidFill>
                  <a:srgbClr val="1c1c1c"/>
                </a:solidFill>
                <a:latin typeface="Source Sans Pro Semibold"/>
                <a:ea typeface="DejaVu Sans"/>
              </a:rPr>
              <a:t> </a:t>
            </a:r>
            <a:endParaRPr b="0" lang="en-US" sz="1950" spc="-1" strike="noStrike">
              <a:latin typeface="Arial"/>
            </a:endParaRPr>
          </a:p>
        </p:txBody>
      </p:sp>
      <p:pic>
        <p:nvPicPr>
          <p:cNvPr id="131" name="" descr=""/>
          <p:cNvPicPr/>
          <p:nvPr/>
        </p:nvPicPr>
        <p:blipFill>
          <a:blip r:embed="rId1"/>
          <a:stretch/>
        </p:blipFill>
        <p:spPr>
          <a:xfrm>
            <a:off x="7461720" y="2365200"/>
            <a:ext cx="2500200" cy="3182040"/>
          </a:xfrm>
          <a:prstGeom prst="rect">
            <a:avLst/>
          </a:prstGeom>
          <a:ln w="18000">
            <a:noFill/>
          </a:ln>
        </p:spPr>
      </p:pic>
      <p:sp>
        <p:nvSpPr>
          <p:cNvPr id="132" name=""/>
          <p:cNvSpPr/>
          <p:nvPr/>
        </p:nvSpPr>
        <p:spPr>
          <a:xfrm>
            <a:off x="7772400" y="4343400"/>
            <a:ext cx="457200" cy="457200"/>
          </a:xfrm>
          <a:prstGeom prst="ellipse">
            <a:avLst/>
          </a:prstGeom>
          <a:noFill/>
          <a:ln w="18360">
            <a:solidFill>
              <a:srgbClr val="c9211e"/>
            </a:solidFill>
            <a:round/>
          </a:ln>
        </p:spPr>
        <p:style>
          <a:lnRef idx="0"/>
          <a:fillRef idx="0"/>
          <a:effectRef idx="0"/>
          <a:fontRef idx="minor"/>
        </p:style>
      </p:sp>
      <p:sp>
        <p:nvSpPr>
          <p:cNvPr id="133" name=""/>
          <p:cNvSpPr/>
          <p:nvPr/>
        </p:nvSpPr>
        <p:spPr>
          <a:xfrm>
            <a:off x="4800600" y="3886200"/>
            <a:ext cx="2971800" cy="685800"/>
          </a:xfrm>
          <a:prstGeom prst="line">
            <a:avLst/>
          </a:prstGeom>
          <a:ln w="0">
            <a:solidFill>
              <a:srgbClr val="c9211e"/>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#CVR - Det Centrale Virksomhedsregister</a:t>
            </a:r>
            <a:endParaRPr b="0" lang="en-US" sz="2400" spc="-1" strike="noStrike">
              <a:latin typeface="Arial"/>
            </a:endParaRPr>
          </a:p>
        </p:txBody>
      </p:sp>
      <p:sp>
        <p:nvSpPr>
          <p:cNvPr id="135" name=""/>
          <p:cNvSpPr/>
          <p:nvPr/>
        </p:nvSpPr>
        <p:spPr>
          <a:xfrm>
            <a:off x="360000" y="1350000"/>
            <a:ext cx="9179280" cy="3509280"/>
          </a:xfrm>
          <a:prstGeom prst="rect">
            <a:avLst/>
          </a:prstGeom>
          <a:noFill/>
          <a:ln w="0">
            <a:noFill/>
          </a:ln>
        </p:spPr>
        <p:style>
          <a:lnRef idx="0"/>
          <a:fillRef idx="0"/>
          <a:effectRef idx="0"/>
          <a:fontRef idx="minor"/>
        </p:style>
        <p:txBody>
          <a:bodyPr lIns="0" rIns="0" tIns="0" bIns="0">
            <a:normAutofit/>
          </a:bodyPr>
          <a:p>
            <a:pPr>
              <a:lnSpc>
                <a:spcPct val="100000"/>
              </a:lnSpc>
              <a:spcAft>
                <a:spcPts val="853"/>
              </a:spcAft>
            </a:pPr>
            <a:r>
              <a:rPr b="1" lang="en-US" sz="1950" spc="-1" strike="noStrike" u="sng">
                <a:solidFill>
                  <a:srgbClr val="0000ff"/>
                </a:solidFill>
                <a:uFillTx/>
                <a:latin typeface="Source Sans Pro Semibold"/>
                <a:ea typeface="DejaVu Sans"/>
                <a:hlinkClick r:id="rId1"/>
              </a:rPr>
              <a:t>https://datacvr.virk.dk/</a:t>
            </a:r>
            <a:endParaRPr b="0" lang="en-US" sz="1950" spc="-1" strike="noStrike">
              <a:latin typeface="Arial"/>
            </a:endParaRPr>
          </a:p>
          <a:p>
            <a:pPr>
              <a:lnSpc>
                <a:spcPct val="100000"/>
              </a:lnSpc>
            </a:pPr>
            <a:endParaRPr b="0" lang="en-US" sz="1950" spc="-1" strike="noStrike">
              <a:latin typeface="Arial"/>
            </a:endParaRPr>
          </a:p>
          <a:p>
            <a:pPr marL="216000" indent="-215280">
              <a:lnSpc>
                <a:spcPct val="100000"/>
              </a:lnSpc>
              <a:spcAft>
                <a:spcPts val="853"/>
              </a:spcAft>
              <a:buClr>
                <a:srgbClr val="000000"/>
              </a:buClr>
              <a:buSzPct val="45000"/>
              <a:buFont typeface="Wingdings" charset="2"/>
              <a:buChar char=""/>
            </a:pPr>
            <a:r>
              <a:rPr b="1" lang="en-US" sz="1950" spc="-1" strike="noStrike">
                <a:solidFill>
                  <a:srgbClr val="1c1c1c"/>
                </a:solidFill>
                <a:latin typeface="Source Sans Pro Semibold"/>
                <a:ea typeface="DejaVu Sans"/>
              </a:rPr>
              <a:t>Filter:</a:t>
            </a:r>
            <a:endParaRPr b="0" lang="en-US" sz="1950" spc="-1" strike="noStrike">
              <a:latin typeface="Arial"/>
            </a:endParaRPr>
          </a:p>
          <a:p>
            <a:pPr lvl="1" marL="432000" indent="-215280">
              <a:lnSpc>
                <a:spcPct val="100000"/>
              </a:lnSpc>
              <a:spcAft>
                <a:spcPts val="848"/>
              </a:spcAft>
              <a:buClr>
                <a:srgbClr val="000000"/>
              </a:buClr>
              <a:buSzPct val="45000"/>
              <a:buFont typeface="Wingdings" charset="2"/>
              <a:buChar char=""/>
            </a:pPr>
            <a:r>
              <a:rPr b="1" lang="en-US" sz="1950" spc="-1" strike="noStrike">
                <a:solidFill>
                  <a:srgbClr val="999999"/>
                </a:solidFill>
                <a:latin typeface="Source Sans Pro Semibold"/>
                <a:ea typeface="DejaVu Sans"/>
              </a:rPr>
              <a:t>Region: Grønland</a:t>
            </a:r>
            <a:endParaRPr b="0" lang="en-US" sz="1950" spc="-1" strike="noStrike">
              <a:latin typeface="Arial"/>
            </a:endParaRPr>
          </a:p>
          <a:p>
            <a:pPr lvl="1" marL="432000" indent="-215280">
              <a:lnSpc>
                <a:spcPct val="100000"/>
              </a:lnSpc>
              <a:spcAft>
                <a:spcPts val="848"/>
              </a:spcAft>
              <a:buClr>
                <a:srgbClr val="000000"/>
              </a:buClr>
              <a:buSzPct val="45000"/>
              <a:buFont typeface="Wingdings" charset="2"/>
              <a:buChar char=""/>
            </a:pPr>
            <a:r>
              <a:rPr b="1" lang="en-US" sz="1950" spc="-1" strike="noStrike">
                <a:solidFill>
                  <a:srgbClr val="999999"/>
                </a:solidFill>
                <a:latin typeface="Source Sans Pro Semibold"/>
                <a:ea typeface="DejaVu Sans"/>
              </a:rPr>
              <a:t>Virksomhedsstatus: aktive</a:t>
            </a:r>
            <a:endParaRPr b="0" lang="en-US" sz="1950" spc="-1" strike="noStrike">
              <a:latin typeface="Arial"/>
            </a:endParaRPr>
          </a:p>
          <a:p>
            <a:pPr lvl="1" marL="432000" indent="-215280">
              <a:lnSpc>
                <a:spcPct val="100000"/>
              </a:lnSpc>
              <a:spcAft>
                <a:spcPts val="848"/>
              </a:spcAft>
              <a:buClr>
                <a:srgbClr val="000000"/>
              </a:buClr>
              <a:buSzPct val="45000"/>
              <a:buFont typeface="Wingdings" charset="2"/>
              <a:buChar char=""/>
            </a:pPr>
            <a:r>
              <a:rPr b="1" lang="en-US" sz="1950" spc="-1" strike="noStrike">
                <a:solidFill>
                  <a:srgbClr val="999999"/>
                </a:solidFill>
                <a:latin typeface="Source Sans Pro Semibold"/>
                <a:ea typeface="DejaVu Sans"/>
              </a:rPr>
              <a:t>Virksomhedsform: Aktieselskab</a:t>
            </a:r>
            <a:endParaRPr b="0" lang="en-US" sz="1950" spc="-1" strike="noStrike">
              <a:latin typeface="Arial"/>
            </a:endParaRPr>
          </a:p>
          <a:p>
            <a:pPr>
              <a:lnSpc>
                <a:spcPct val="100000"/>
              </a:lnSpc>
              <a:spcAft>
                <a:spcPts val="848"/>
              </a:spcAft>
            </a:pPr>
            <a:r>
              <a:rPr b="1" lang="en-US" sz="1950" spc="-1" strike="noStrike">
                <a:solidFill>
                  <a:srgbClr val="000000"/>
                </a:solidFill>
                <a:latin typeface="Source Sans Pro Semibold"/>
                <a:ea typeface="DejaVu Sans"/>
              </a:rPr>
              <a:t>Eksporter: </a:t>
            </a:r>
            <a:r>
              <a:rPr b="1" lang="en-US" sz="1950" spc="-1" strike="noStrike">
                <a:solidFill>
                  <a:srgbClr val="999999"/>
                </a:solidFill>
                <a:latin typeface="Source Sans Pro Semibold"/>
                <a:ea typeface="DejaVu Sans"/>
              </a:rPr>
              <a:t>resultat: 203 virksomheder</a:t>
            </a:r>
            <a:endParaRPr b="0" lang="en-US" sz="1950" spc="-1" strike="noStrike">
              <a:latin typeface="Arial"/>
            </a:endParaRPr>
          </a:p>
          <a:p>
            <a:pPr marL="216000" indent="-215280">
              <a:lnSpc>
                <a:spcPct val="100000"/>
              </a:lnSpc>
              <a:spcAft>
                <a:spcPts val="853"/>
              </a:spcAft>
              <a:buClr>
                <a:srgbClr val="000000"/>
              </a:buClr>
              <a:buSzPct val="45000"/>
              <a:buFont typeface="Wingdings" charset="2"/>
              <a:buChar char=""/>
            </a:pPr>
            <a:r>
              <a:rPr b="1" lang="en-US" sz="1950" spc="-1" strike="noStrike">
                <a:solidFill>
                  <a:srgbClr val="000000"/>
                </a:solidFill>
                <a:latin typeface="Source Sans Pro Semibold"/>
                <a:ea typeface="DejaVu Sans"/>
              </a:rPr>
              <a:t>Lav bestyrelses netværk ved at slå op på CVRnumrene:</a:t>
            </a:r>
            <a:endParaRPr b="0" lang="en-US" sz="1950" spc="-1" strike="noStrike">
              <a:latin typeface="Arial"/>
            </a:endParaRPr>
          </a:p>
          <a:p>
            <a:pPr lvl="1" marL="432000" indent="-215280">
              <a:lnSpc>
                <a:spcPct val="100000"/>
              </a:lnSpc>
              <a:spcAft>
                <a:spcPts val="848"/>
              </a:spcAft>
              <a:buClr>
                <a:srgbClr val="000000"/>
              </a:buClr>
              <a:buSzPct val="45000"/>
              <a:buFont typeface="Wingdings" charset="2"/>
              <a:buChar char=""/>
            </a:pPr>
            <a:r>
              <a:rPr b="0" lang="en-US" sz="1650" spc="-1" strike="noStrike">
                <a:solidFill>
                  <a:srgbClr val="000000"/>
                </a:solidFill>
                <a:latin typeface="Source Sans Pro Light"/>
                <a:ea typeface="DejaVu Sans"/>
              </a:rPr>
              <a:t>eksempel: </a:t>
            </a:r>
            <a:r>
              <a:rPr b="0" lang="en-US" sz="1650" spc="-1" strike="noStrike" u="sng">
                <a:solidFill>
                  <a:srgbClr val="0000ff"/>
                </a:solidFill>
                <a:uFillTx/>
                <a:latin typeface="Source Sans Pro Light"/>
                <a:ea typeface="DejaVu Sans"/>
                <a:hlinkClick r:id="rId2"/>
              </a:rPr>
              <a:t>https://datacvr.virk.dk/enhed/virksomhed/61126228</a:t>
            </a:r>
            <a:endParaRPr b="0" lang="en-US" sz="16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#Danish Elite Network 2024</a:t>
            </a:r>
            <a:endParaRPr b="0" lang="en-US" sz="2400" spc="-1" strike="noStrike">
              <a:latin typeface="Arial"/>
            </a:endParaRPr>
          </a:p>
        </p:txBody>
      </p:sp>
      <p:sp>
        <p:nvSpPr>
          <p:cNvPr id="137" name=""/>
          <p:cNvSpPr txBox="1"/>
          <p:nvPr/>
        </p:nvSpPr>
        <p:spPr>
          <a:xfrm>
            <a:off x="157680" y="1141200"/>
            <a:ext cx="9349200" cy="930240"/>
          </a:xfrm>
          <a:prstGeom prst="rect">
            <a:avLst/>
          </a:prstGeom>
          <a:noFill/>
          <a:ln w="0">
            <a:noFill/>
          </a:ln>
        </p:spPr>
        <p:txBody>
          <a:bodyPr lIns="90000" rIns="90000" tIns="45000" bIns="45000">
            <a:noAutofit/>
          </a:bodyPr>
          <a:p>
            <a:pPr marL="216000" indent="-216000">
              <a:lnSpc>
                <a:spcPct val="100000"/>
              </a:lnSpc>
              <a:spcBef>
                <a:spcPts val="283"/>
              </a:spcBef>
              <a:spcAft>
                <a:spcPts val="283"/>
              </a:spcAft>
              <a:buClr>
                <a:srgbClr val="000000"/>
              </a:buClr>
              <a:buSzPct val="45000"/>
              <a:buFont typeface="Wingdings" charset="2"/>
              <a:buChar char=""/>
            </a:pPr>
            <a:r>
              <a:rPr b="0" lang="en-US" sz="1800" spc="-1" strike="noStrike">
                <a:latin typeface="Arial"/>
              </a:rPr>
              <a:t>Et affiliation-</a:t>
            </a:r>
            <a:r>
              <a:rPr b="0" lang="en-US" sz="1800" spc="-1" strike="noStrike">
                <a:latin typeface="Arial"/>
              </a:rPr>
              <a:t>datasæt med </a:t>
            </a:r>
            <a:r>
              <a:rPr b="0" lang="en-US" sz="1800" spc="-1" strike="noStrike">
                <a:latin typeface="Arial"/>
              </a:rPr>
              <a:t>57,643 </a:t>
            </a:r>
            <a:r>
              <a:rPr b="0" i="1" lang="en-US" sz="1800" spc="-1" strike="noStrike">
                <a:latin typeface="Arial"/>
              </a:rPr>
              <a:t>personers</a:t>
            </a:r>
            <a:r>
              <a:rPr b="0" lang="en-US" sz="1800" spc="-1" strike="noStrike">
                <a:latin typeface="Arial"/>
              </a:rPr>
              <a:t> i </a:t>
            </a:r>
            <a:r>
              <a:rPr b="0" lang="en-US" sz="1800" spc="-1" strike="noStrike">
                <a:latin typeface="Arial"/>
              </a:rPr>
              <a:t>alt 81,429 </a:t>
            </a:r>
            <a:r>
              <a:rPr b="0" i="1" lang="en-US" sz="1800" spc="-1" strike="noStrike">
                <a:latin typeface="Arial"/>
              </a:rPr>
              <a:t>poster</a:t>
            </a:r>
            <a:r>
              <a:rPr b="0" lang="en-US" sz="1800" spc="-1" strike="noStrike">
                <a:latin typeface="Arial"/>
              </a:rPr>
              <a:t> i </a:t>
            </a:r>
            <a:r>
              <a:rPr b="0" lang="en-US" sz="1800" spc="-1" strike="noStrike">
                <a:latin typeface="Arial"/>
              </a:rPr>
              <a:t>11,318 </a:t>
            </a:r>
            <a:r>
              <a:rPr b="0" i="1" lang="en-US" sz="1800" spc="-1" strike="noStrike">
                <a:latin typeface="Arial"/>
              </a:rPr>
              <a:t>organisationer</a:t>
            </a:r>
            <a:r>
              <a:rPr b="0" lang="en-US" sz="1800" spc="-1" strike="noStrike">
                <a:latin typeface="Arial"/>
              </a:rPr>
              <a:t> </a:t>
            </a:r>
            <a:r>
              <a:rPr b="0" lang="en-US" sz="1800" spc="-1" strike="noStrike">
                <a:latin typeface="Arial"/>
              </a:rPr>
              <a:t>(virksomheds- og </a:t>
            </a:r>
            <a:r>
              <a:rPr b="0" lang="en-US" sz="1800" spc="-1" strike="noStrike">
                <a:latin typeface="Arial"/>
              </a:rPr>
              <a:t>foreningsbestyrels</a:t>
            </a:r>
            <a:r>
              <a:rPr b="0" lang="en-US" sz="1800" spc="-1" strike="noStrike">
                <a:latin typeface="Arial"/>
              </a:rPr>
              <a:t>er; fora; nævn; </a:t>
            </a:r>
            <a:r>
              <a:rPr b="0" lang="en-US" sz="1800" spc="-1" strike="noStrike">
                <a:latin typeface="Arial"/>
              </a:rPr>
              <a:t>råd; mødesteder </a:t>
            </a:r>
            <a:r>
              <a:rPr b="0" lang="en-US" sz="1800" spc="-1" strike="noStrike">
                <a:latin typeface="Arial"/>
              </a:rPr>
              <a:t>osv.)</a:t>
            </a:r>
            <a:endParaRPr b="0" lang="en-US" sz="1800" spc="-1" strike="noStrike">
              <a:latin typeface="Arial"/>
              <a:ea typeface="Noto Sans CJK SC"/>
            </a:endParaRPr>
          </a:p>
          <a:p>
            <a:pPr lvl="2" marL="648000" indent="-216000">
              <a:lnSpc>
                <a:spcPct val="100000"/>
              </a:lnSpc>
              <a:spcBef>
                <a:spcPts val="283"/>
              </a:spcBef>
              <a:spcAft>
                <a:spcPts val="283"/>
              </a:spcAft>
              <a:buClr>
                <a:srgbClr val="000000"/>
              </a:buClr>
              <a:buSzPct val="45000"/>
              <a:buFont typeface="Wingdings" charset="2"/>
              <a:buChar char=""/>
            </a:pPr>
            <a:r>
              <a:rPr b="0" lang="en-US" sz="1800" spc="-1" strike="noStrike">
                <a:latin typeface="Arial"/>
                <a:ea typeface="Noto Sans CJK SC"/>
              </a:rPr>
              <a:t>noget er </a:t>
            </a:r>
            <a:r>
              <a:rPr b="0" lang="en-US" sz="1800" spc="-1" strike="noStrike">
                <a:latin typeface="Arial"/>
                <a:ea typeface="Noto Sans CJK SC"/>
              </a:rPr>
              <a:t>trukket fra cvr </a:t>
            </a:r>
            <a:r>
              <a:rPr b="0" lang="en-US" sz="1800" spc="-1" strike="noStrike">
                <a:latin typeface="Arial"/>
                <a:ea typeface="Noto Sans CJK SC"/>
              </a:rPr>
              <a:t>| andet er </a:t>
            </a:r>
            <a:r>
              <a:rPr b="0" lang="en-US" sz="1800" spc="-1" strike="noStrike">
                <a:latin typeface="Arial"/>
                <a:ea typeface="Noto Sans CJK SC"/>
              </a:rPr>
              <a:t>indsamlet </a:t>
            </a:r>
            <a:r>
              <a:rPr b="0" lang="en-US" sz="1800" spc="-1" strike="noStrike">
                <a:latin typeface="Arial"/>
                <a:ea typeface="Noto Sans CJK SC"/>
              </a:rPr>
              <a:t>manuelt</a:t>
            </a:r>
            <a:endParaRPr b="0" lang="en-US" sz="1800" spc="-1" strike="noStrike">
              <a:latin typeface="Arial"/>
              <a:ea typeface="Noto Sans CJK SC"/>
            </a:endParaRPr>
          </a:p>
        </p:txBody>
      </p:sp>
      <p:graphicFrame>
        <p:nvGraphicFramePr>
          <p:cNvPr id="138" name=""/>
          <p:cNvGraphicFramePr/>
          <p:nvPr/>
        </p:nvGraphicFramePr>
        <p:xfrm>
          <a:off x="4191120" y="2066760"/>
          <a:ext cx="5182920" cy="4909320"/>
        </p:xfrm>
        <a:graphic>
          <a:graphicData uri="http://schemas.openxmlformats.org/drawingml/2006/table">
            <a:tbl>
              <a:tblPr/>
              <a:tblGrid>
                <a:gridCol w="2174760"/>
                <a:gridCol w="1222200"/>
                <a:gridCol w="2278080"/>
              </a:tblGrid>
              <a:tr h="222120">
                <a:tc>
                  <a:txBody>
                    <a:bodyPr lIns="90000" rIns="90000" tIns="46800" bIns="46800">
                      <a:noAutofit/>
                    </a:bodyPr>
                    <a:p>
                      <a:r>
                        <a:rPr b="1" lang="en-US" sz="900" spc="-1" strike="noStrike">
                          <a:latin typeface="Arial"/>
                        </a:rPr>
                        <a:t>Personer</a:t>
                      </a:r>
                      <a:endParaRPr b="1"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tIns="46800" bIns="46800">
                      <a:noAutofit/>
                    </a:bodyPr>
                    <a:p>
                      <a:r>
                        <a:rPr b="1" lang="en-US" sz="900" spc="-1" strike="noStrike">
                          <a:latin typeface="Arial"/>
                        </a:rPr>
                        <a:t>Position</a:t>
                      </a:r>
                      <a:endParaRPr b="1"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tIns="46800" bIns="46800">
                      <a:noAutofit/>
                    </a:bodyPr>
                    <a:p>
                      <a:r>
                        <a:rPr b="1" lang="en-US" sz="900" spc="-1" strike="noStrike">
                          <a:latin typeface="Arial"/>
                        </a:rPr>
                        <a:t>Affilation</a:t>
                      </a:r>
                      <a:endParaRPr b="1"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216000">
                <a:tc>
                  <a:txBody>
                    <a:bodyPr lIns="90000" rIns="90000" tIns="46800" bIns="46800">
                      <a:noAutofit/>
                    </a:bodyPr>
                    <a:p>
                      <a:r>
                        <a:rPr b="0" lang="en-US" sz="900" spc="-1" strike="noStrike">
                          <a:latin typeface="Arial"/>
                        </a:rPr>
                        <a:t>person_name (unik navn+id)</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postition_rolle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xBody>
                    <a:bodyPr lIns="90000" rIns="90000" tIns="46800" bIns="46800">
                      <a:noAutofit/>
                    </a:bodyPr>
                    <a:p>
                      <a:r>
                        <a:rPr b="0" lang="en-US" sz="900" spc="-1" strike="noStrike">
                          <a:latin typeface="Arial"/>
                        </a:rPr>
                        <a:t>person_orig_navn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position_leader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affiliation_orig_name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9960">
                <a:tc>
                  <a:txBody>
                    <a:bodyPr lIns="90000" rIns="90000" tIns="46800" bIns="46800">
                      <a:noAutofit/>
                    </a:bodyPr>
                    <a:p>
                      <a:r>
                        <a:rPr b="0" lang="en-US" sz="900" spc="-1" strike="noStrike">
                          <a:latin typeface="Arial"/>
                        </a:rPr>
                        <a:t>person_køn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position_start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affiliation_cvrnummer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xBody>
                    <a:bodyPr lIns="90000" rIns="90000" tIns="46800" bIns="46800">
                      <a:noAutofit/>
                    </a:bodyPr>
                    <a:p>
                      <a:r>
                        <a:rPr b="0" lang="en-US" sz="900" spc="-1" strike="noStrike">
                          <a:latin typeface="Arial"/>
                        </a:rPr>
                        <a:t>person_land</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affiliation_parent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xBody>
                    <a:bodyPr lIns="90000" rIns="90000" tIns="46800" bIns="46800">
                      <a:noAutofit/>
                    </a:bodyPr>
                    <a:p>
                      <a:r>
                        <a:rPr b="0" lang="en-US" sz="900" spc="-1" strike="noStrike">
                          <a:latin typeface="Arial"/>
                        </a:rPr>
                        <a:t>person_postnummer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affiliation_beskrivelse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xBody>
                    <a:bodyPr lIns="90000" rIns="90000" tIns="46800" bIns="46800">
                      <a:noAutofit/>
                    </a:bodyPr>
                    <a:p>
                      <a:r>
                        <a:rPr b="0" lang="en-US" sz="900" spc="-1" strike="noStrike">
                          <a:latin typeface="Arial"/>
                        </a:rPr>
                        <a:t>person_postdistrikt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affiliation_sektor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affiliation_branchekode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affiliation_branche_niveau1-5</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affiliation_tags</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affiliation_founding_date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affiliation_land</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oAutofit/>
                    </a:bodyPr>
                    <a:p>
                      <a:r>
                        <a:rPr b="0" lang="en-US" sz="900" spc="-1" strike="noStrike">
                          <a:latin typeface="Arial"/>
                        </a:rPr>
                        <a:t>affiliation_postnummer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oAutofit/>
                    </a:bodyPr>
                    <a:p>
                      <a:r>
                        <a:rPr b="0" lang="en-US" sz="900" spc="-1" strike="noStrike">
                          <a:latin typeface="Arial"/>
                        </a:rPr>
                        <a:t>affiliation_postdistrikt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139" name=""/>
          <p:cNvSpPr txBox="1"/>
          <p:nvPr/>
        </p:nvSpPr>
        <p:spPr>
          <a:xfrm>
            <a:off x="118800" y="3532320"/>
            <a:ext cx="3865680" cy="277920"/>
          </a:xfrm>
          <a:prstGeom prst="rect">
            <a:avLst/>
          </a:prstGeom>
          <a:noFill/>
          <a:ln w="0">
            <a:noFill/>
          </a:ln>
        </p:spPr>
        <p:txBody>
          <a:bodyPr lIns="90000" rIns="90000" tIns="45000" bIns="45000">
            <a:noAutofit/>
          </a:bodyPr>
          <a:p>
            <a:r>
              <a:rPr b="0" lang="en-US" sz="1300" spc="-1" strike="noStrike">
                <a:latin typeface="Arial"/>
              </a:rPr>
              <a:t>nummerisk branche kode fra </a:t>
            </a:r>
            <a:r>
              <a:rPr b="0" lang="en-US" sz="1300" spc="-1" strike="noStrike">
                <a:latin typeface="Arial"/>
              </a:rPr>
              <a:t>cvr (når den findes)</a:t>
            </a:r>
            <a:endParaRPr b="0" lang="en-US" sz="1300" spc="-1" strike="noStrike">
              <a:latin typeface="Arial"/>
            </a:endParaRPr>
          </a:p>
        </p:txBody>
      </p:sp>
      <p:sp>
        <p:nvSpPr>
          <p:cNvPr id="140" name=""/>
          <p:cNvSpPr txBox="1"/>
          <p:nvPr/>
        </p:nvSpPr>
        <p:spPr>
          <a:xfrm>
            <a:off x="118800" y="3316680"/>
            <a:ext cx="3278160" cy="274680"/>
          </a:xfrm>
          <a:prstGeom prst="rect">
            <a:avLst/>
          </a:prstGeom>
          <a:noFill/>
          <a:ln w="0">
            <a:noFill/>
          </a:ln>
        </p:spPr>
        <p:txBody>
          <a:bodyPr lIns="90000" rIns="90000" tIns="45000" bIns="45000">
            <a:noAutofit/>
          </a:bodyPr>
          <a:p>
            <a:r>
              <a:rPr b="0" lang="en-US" sz="1300" spc="-1" strike="noStrike">
                <a:latin typeface="Arial"/>
              </a:rPr>
              <a:t>kodning af sketor ud fra </a:t>
            </a:r>
            <a:r>
              <a:rPr b="0" lang="en-US" sz="1300" spc="-1" strike="noStrike">
                <a:latin typeface="Arial"/>
              </a:rPr>
              <a:t>branchekode</a:t>
            </a:r>
            <a:endParaRPr b="0" lang="en-US" sz="1300" spc="-1" strike="noStrike">
              <a:latin typeface="Arial"/>
            </a:endParaRPr>
          </a:p>
        </p:txBody>
      </p:sp>
      <p:sp>
        <p:nvSpPr>
          <p:cNvPr id="141" name=""/>
          <p:cNvSpPr txBox="1"/>
          <p:nvPr/>
        </p:nvSpPr>
        <p:spPr>
          <a:xfrm>
            <a:off x="118800" y="3810240"/>
            <a:ext cx="3278160" cy="459000"/>
          </a:xfrm>
          <a:prstGeom prst="rect">
            <a:avLst/>
          </a:prstGeom>
          <a:noFill/>
          <a:ln w="0">
            <a:noFill/>
          </a:ln>
        </p:spPr>
        <p:txBody>
          <a:bodyPr lIns="90000" rIns="90000" tIns="45000" bIns="45000">
            <a:noAutofit/>
          </a:bodyPr>
          <a:p>
            <a:r>
              <a:rPr b="0" lang="en-US" sz="1300" spc="-1" strike="noStrike">
                <a:latin typeface="Arial"/>
              </a:rPr>
              <a:t>branchekode tekst på 5 </a:t>
            </a:r>
            <a:r>
              <a:rPr b="0" lang="en-US" sz="1300" spc="-1" strike="noStrike">
                <a:latin typeface="Arial"/>
              </a:rPr>
              <a:t>niveauer, hvor 5 er det mest </a:t>
            </a:r>
            <a:r>
              <a:rPr b="0" lang="en-US" sz="1300" spc="-1" strike="noStrike">
                <a:latin typeface="Arial"/>
              </a:rPr>
              <a:t>detaljerede</a:t>
            </a:r>
            <a:endParaRPr b="0" lang="en-US" sz="1300" spc="-1" strike="noStrike">
              <a:latin typeface="Arial"/>
            </a:endParaRPr>
          </a:p>
        </p:txBody>
      </p:sp>
      <p:sp>
        <p:nvSpPr>
          <p:cNvPr id="142" name=""/>
          <p:cNvSpPr/>
          <p:nvPr/>
        </p:nvSpPr>
        <p:spPr>
          <a:xfrm>
            <a:off x="3048120" y="3468960"/>
            <a:ext cx="4437000" cy="47520"/>
          </a:xfrm>
          <a:prstGeom prst="line">
            <a:avLst/>
          </a:prstGeom>
          <a:ln w="0">
            <a:solidFill>
              <a:srgbClr val="c9211e"/>
            </a:solidFill>
            <a:tailEnd len="med" type="triangle" w="med"/>
          </a:ln>
        </p:spPr>
        <p:style>
          <a:lnRef idx="0"/>
          <a:fillRef idx="0"/>
          <a:effectRef idx="0"/>
          <a:fontRef idx="minor"/>
        </p:style>
      </p:sp>
      <p:sp>
        <p:nvSpPr>
          <p:cNvPr id="143" name=""/>
          <p:cNvSpPr/>
          <p:nvPr/>
        </p:nvSpPr>
        <p:spPr>
          <a:xfrm>
            <a:off x="3833640" y="3659400"/>
            <a:ext cx="3723480" cy="95760"/>
          </a:xfrm>
          <a:prstGeom prst="line">
            <a:avLst/>
          </a:prstGeom>
          <a:ln w="0">
            <a:solidFill>
              <a:srgbClr val="c9211e"/>
            </a:solidFill>
            <a:tailEnd len="med" type="triangle" w="med"/>
          </a:ln>
        </p:spPr>
        <p:style>
          <a:lnRef idx="0"/>
          <a:fillRef idx="0"/>
          <a:effectRef idx="0"/>
          <a:fontRef idx="minor"/>
        </p:style>
      </p:sp>
      <p:sp>
        <p:nvSpPr>
          <p:cNvPr id="144" name=""/>
          <p:cNvSpPr/>
          <p:nvPr/>
        </p:nvSpPr>
        <p:spPr>
          <a:xfrm>
            <a:off x="3257640" y="3936960"/>
            <a:ext cx="4259160" cy="24120"/>
          </a:xfrm>
          <a:prstGeom prst="line">
            <a:avLst/>
          </a:prstGeom>
          <a:ln w="0">
            <a:solidFill>
              <a:srgbClr val="c9211e"/>
            </a:solidFill>
            <a:tailEnd len="med" type="triangle" w="med"/>
          </a:ln>
        </p:spPr>
        <p:style>
          <a:lnRef idx="0"/>
          <a:fillRef idx="0"/>
          <a:effectRef idx="0"/>
          <a:fontRef idx="minor"/>
        </p:style>
      </p:sp>
      <p:sp>
        <p:nvSpPr>
          <p:cNvPr id="145" name=""/>
          <p:cNvSpPr txBox="1"/>
          <p:nvPr/>
        </p:nvSpPr>
        <p:spPr>
          <a:xfrm>
            <a:off x="118800" y="4206600"/>
            <a:ext cx="4310280" cy="459000"/>
          </a:xfrm>
          <a:prstGeom prst="rect">
            <a:avLst/>
          </a:prstGeom>
          <a:noFill/>
          <a:ln w="0">
            <a:noFill/>
          </a:ln>
        </p:spPr>
        <p:txBody>
          <a:bodyPr lIns="90000" rIns="90000" tIns="45000" bIns="45000">
            <a:noAutofit/>
          </a:bodyPr>
          <a:p>
            <a:r>
              <a:rPr b="0" lang="en-US" sz="1300" spc="-1" strike="noStrike">
                <a:latin typeface="Arial"/>
              </a:rPr>
              <a:t>‘</a:t>
            </a:r>
            <a:r>
              <a:rPr b="0" lang="en-US" sz="1300" spc="-1" strike="noStrike">
                <a:latin typeface="Arial"/>
              </a:rPr>
              <a:t>sektor/emne’ tags for de </a:t>
            </a:r>
            <a:r>
              <a:rPr b="0" lang="en-US" sz="1300" spc="-1" strike="noStrike">
                <a:latin typeface="Arial"/>
              </a:rPr>
              <a:t>affiliations, der ikke er fra cvr</a:t>
            </a:r>
            <a:endParaRPr b="0" lang="en-US" sz="1300" spc="-1" strike="noStrike">
              <a:latin typeface="Arial"/>
            </a:endParaRPr>
          </a:p>
        </p:txBody>
      </p:sp>
      <p:sp>
        <p:nvSpPr>
          <p:cNvPr id="146" name=""/>
          <p:cNvSpPr/>
          <p:nvPr/>
        </p:nvSpPr>
        <p:spPr>
          <a:xfrm flipV="1">
            <a:off x="4265640" y="4183200"/>
            <a:ext cx="3267000" cy="161640"/>
          </a:xfrm>
          <a:prstGeom prst="line">
            <a:avLst/>
          </a:prstGeom>
          <a:ln w="0">
            <a:solidFill>
              <a:srgbClr val="c9211e"/>
            </a:solidFill>
            <a:tailEnd len="med" type="triangle" w="med"/>
          </a:ln>
        </p:spPr>
        <p:style>
          <a:lnRef idx="0"/>
          <a:fillRef idx="0"/>
          <a:effectRef idx="0"/>
          <a:fontRef idx="minor"/>
        </p:style>
      </p:sp>
      <p:sp>
        <p:nvSpPr>
          <p:cNvPr id="147" name=""/>
          <p:cNvSpPr txBox="1"/>
          <p:nvPr/>
        </p:nvSpPr>
        <p:spPr>
          <a:xfrm>
            <a:off x="118800" y="2229120"/>
            <a:ext cx="3373560" cy="643320"/>
          </a:xfrm>
          <a:prstGeom prst="rect">
            <a:avLst/>
          </a:prstGeom>
          <a:noFill/>
          <a:ln w="0">
            <a:noFill/>
          </a:ln>
        </p:spPr>
        <p:txBody>
          <a:bodyPr lIns="90000" rIns="90000" tIns="45000" bIns="45000">
            <a:noAutofit/>
          </a:bodyPr>
          <a:p>
            <a:r>
              <a:rPr b="0" lang="en-US" sz="1300" spc="-1" strike="noStrike">
                <a:latin typeface="Arial"/>
              </a:rPr>
              <a:t>TRUE/FALSE om rollen er en </a:t>
            </a:r>
            <a:r>
              <a:rPr b="0" lang="en-US" sz="1300" spc="-1" strike="noStrike">
                <a:latin typeface="Arial"/>
              </a:rPr>
              <a:t>ledelsesrolle eller ej </a:t>
            </a:r>
            <a:r>
              <a:rPr b="0" lang="en-US" sz="1300" spc="-1" strike="noStrike">
                <a:latin typeface="Arial"/>
              </a:rPr>
              <a:t>(formand, direktør osv.)</a:t>
            </a:r>
            <a:endParaRPr b="0" lang="en-US" sz="1300" spc="-1" strike="noStrike">
              <a:latin typeface="Arial"/>
            </a:endParaRPr>
          </a:p>
        </p:txBody>
      </p:sp>
      <p:sp>
        <p:nvSpPr>
          <p:cNvPr id="148" name=""/>
          <p:cNvSpPr/>
          <p:nvPr/>
        </p:nvSpPr>
        <p:spPr>
          <a:xfrm>
            <a:off x="3397320" y="2428920"/>
            <a:ext cx="3008160" cy="174600"/>
          </a:xfrm>
          <a:prstGeom prst="line">
            <a:avLst/>
          </a:prstGeom>
          <a:ln w="0">
            <a:solidFill>
              <a:srgbClr val="c9211e"/>
            </a:solidFill>
            <a:tailEnd len="med" type="triangle" w="med"/>
          </a:ln>
        </p:spPr>
        <p:style>
          <a:lnRef idx="0"/>
          <a:fillRef idx="0"/>
          <a:effectRef idx="0"/>
          <a:fontRef idx="minor"/>
        </p:style>
      </p:sp>
      <p:sp>
        <p:nvSpPr>
          <p:cNvPr id="149" name=""/>
          <p:cNvSpPr txBox="1"/>
          <p:nvPr/>
        </p:nvSpPr>
        <p:spPr>
          <a:xfrm>
            <a:off x="154800" y="2849040"/>
            <a:ext cx="3278160" cy="274680"/>
          </a:xfrm>
          <a:prstGeom prst="rect">
            <a:avLst/>
          </a:prstGeom>
          <a:noFill/>
          <a:ln w="0">
            <a:noFill/>
          </a:ln>
        </p:spPr>
        <p:txBody>
          <a:bodyPr lIns="90000" rIns="90000" tIns="45000" bIns="45000">
            <a:noAutofit/>
          </a:bodyPr>
          <a:p>
            <a:r>
              <a:rPr b="0" lang="en-US" sz="1300" spc="-1" strike="noStrike">
                <a:latin typeface="Arial"/>
              </a:rPr>
              <a:t>hører affiliation’en under en </a:t>
            </a:r>
            <a:r>
              <a:rPr b="0" lang="en-US" sz="1300" spc="-1" strike="noStrike">
                <a:latin typeface="Arial"/>
              </a:rPr>
              <a:t>større affil...</a:t>
            </a:r>
            <a:endParaRPr b="0" lang="en-US" sz="1300" spc="-1" strike="noStrike">
              <a:latin typeface="Arial"/>
            </a:endParaRPr>
          </a:p>
        </p:txBody>
      </p:sp>
      <p:sp>
        <p:nvSpPr>
          <p:cNvPr id="150" name=""/>
          <p:cNvSpPr/>
          <p:nvPr/>
        </p:nvSpPr>
        <p:spPr>
          <a:xfrm>
            <a:off x="3253320" y="2993040"/>
            <a:ext cx="4295160" cy="78840"/>
          </a:xfrm>
          <a:prstGeom prst="line">
            <a:avLst/>
          </a:prstGeom>
          <a:ln w="0">
            <a:solidFill>
              <a:srgbClr val="c9211e"/>
            </a:solidFill>
            <a:tailEnd len="med" type="triangle" w="med"/>
          </a:ln>
        </p:spPr>
        <p:style>
          <a:lnRef idx="0"/>
          <a:fillRef idx="0"/>
          <a:effectRef idx="0"/>
          <a:fontRef idx="minor"/>
        </p:style>
      </p:sp>
      <p:sp>
        <p:nvSpPr>
          <p:cNvPr id="151" name=""/>
          <p:cNvSpPr txBox="1"/>
          <p:nvPr/>
        </p:nvSpPr>
        <p:spPr>
          <a:xfrm>
            <a:off x="118800" y="3065400"/>
            <a:ext cx="3278160" cy="274680"/>
          </a:xfrm>
          <a:prstGeom prst="rect">
            <a:avLst/>
          </a:prstGeom>
          <a:noFill/>
          <a:ln w="0">
            <a:noFill/>
          </a:ln>
        </p:spPr>
        <p:txBody>
          <a:bodyPr lIns="90000" rIns="90000" tIns="45000" bIns="45000">
            <a:noAutofit/>
          </a:bodyPr>
          <a:p>
            <a:r>
              <a:rPr b="0" lang="en-US" sz="1300" spc="-1" strike="noStrike">
                <a:latin typeface="Arial"/>
              </a:rPr>
              <a:t>evt. længere beskrivelse af </a:t>
            </a:r>
            <a:r>
              <a:rPr b="0" lang="en-US" sz="1300" spc="-1" strike="noStrike">
                <a:latin typeface="Arial"/>
              </a:rPr>
              <a:t>affil...</a:t>
            </a:r>
            <a:endParaRPr b="0" lang="en-US" sz="1300" spc="-1" strike="noStrike">
              <a:latin typeface="Arial"/>
            </a:endParaRPr>
          </a:p>
        </p:txBody>
      </p:sp>
      <p:sp>
        <p:nvSpPr>
          <p:cNvPr id="152" name=""/>
          <p:cNvSpPr/>
          <p:nvPr/>
        </p:nvSpPr>
        <p:spPr>
          <a:xfrm>
            <a:off x="2821320" y="3199320"/>
            <a:ext cx="4663800" cy="94680"/>
          </a:xfrm>
          <a:prstGeom prst="line">
            <a:avLst/>
          </a:prstGeom>
          <a:ln w="0">
            <a:solidFill>
              <a:srgbClr val="c9211e"/>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p:nvPr/>
        </p:nvSpPr>
        <p:spPr>
          <a:xfrm>
            <a:off x="3083040" y="2611800"/>
            <a:ext cx="3960000" cy="4744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2400" spc="-1" strike="noStrike">
                <a:solidFill>
                  <a:srgbClr val="ffffff"/>
                </a:solidFill>
                <a:latin typeface="Source Sans Pro Black"/>
              </a:rPr>
              <a:t>#Netværks komponenter….</a:t>
            </a:r>
            <a:endParaRPr b="0" lang="en-US" sz="2400" spc="-1" strike="noStrike">
              <a:latin typeface="Arial"/>
            </a:endParaRPr>
          </a:p>
        </p:txBody>
      </p:sp>
      <p:sp>
        <p:nvSpPr>
          <p:cNvPr id="154"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#data til jeres projekt ift problemformulering...</a:t>
            </a:r>
            <a:endParaRPr b="0" lang="en-US" sz="2400" spc="-1" strike="noStrike">
              <a:latin typeface="Arial"/>
            </a:endParaRPr>
          </a:p>
        </p:txBody>
      </p:sp>
      <p:sp>
        <p:nvSpPr>
          <p:cNvPr id="155" name=""/>
          <p:cNvSpPr/>
          <p:nvPr/>
        </p:nvSpPr>
        <p:spPr>
          <a:xfrm>
            <a:off x="428760" y="1600200"/>
            <a:ext cx="9172080" cy="32000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Arial"/>
              </a:rPr>
              <a:t>Find noget data:</a:t>
            </a:r>
            <a:endParaRPr b="0" lang="en-US" sz="1800" spc="-1" strike="noStrike">
              <a:latin typeface="Arial"/>
            </a:endParaRPr>
          </a:p>
          <a:p>
            <a:pPr>
              <a:lnSpc>
                <a:spcPct val="100000"/>
              </a:lnSpc>
            </a:pPr>
            <a:r>
              <a:rPr b="0" lang="en-US" sz="1800" spc="-1" strike="noStrike">
                <a:latin typeface="Arial"/>
              </a:rPr>
              <a:t>	</a:t>
            </a:r>
            <a:r>
              <a:rPr b="0" lang="en-US" sz="1800" spc="-1" strike="noStrike">
                <a:latin typeface="Arial"/>
              </a:rPr>
              <a:t>- Har vi noget vi er særligt interesseret i? Har arbejdet med tidligere på en anden måde? Kunne forestille os at arbejde med? En branche, et særligt område (vindenergi, biler, finans...)? Et geografisk område? Danmark? Europa? </a:t>
            </a:r>
            <a:endParaRPr b="0" lang="en-US" sz="1800" spc="-1" strike="noStrike">
              <a:latin typeface="Arial"/>
            </a:endParaRPr>
          </a:p>
          <a:p>
            <a:pPr>
              <a:lnSpc>
                <a:spcPct val="100000"/>
              </a:lnSpc>
            </a:pPr>
            <a:r>
              <a:rPr b="0" lang="en-US" sz="1800" spc="-1" strike="noStrike">
                <a:solidFill>
                  <a:srgbClr val="c9211e"/>
                </a:solidFill>
                <a:latin typeface="Arial"/>
              </a:rPr>
              <a:t>	</a:t>
            </a:r>
            <a:r>
              <a:rPr b="0" lang="en-US" sz="1800" spc="-1" strike="noStrike">
                <a:solidFill>
                  <a:srgbClr val="c9211e"/>
                </a:solidFill>
                <a:latin typeface="Arial"/>
              </a:rPr>
              <a:t>Reflekter over netværks-afgrænsningen..</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c9211e"/>
                </a:solidFill>
                <a:latin typeface="Arial"/>
              </a:rPr>
              <a:t>	</a:t>
            </a:r>
            <a:r>
              <a:rPr b="0" lang="en-US" sz="1800" spc="-1" strike="noStrike">
                <a:solidFill>
                  <a:srgbClr val="c9211e"/>
                </a:solidFill>
                <a:latin typeface="Arial"/>
              </a:rPr>
              <a:t>- Hvad betyder de relationer I kigger på? Hvilken betydning tillægger I dem? Handler det om viden, indflydelse, magt?</a:t>
            </a:r>
            <a:endParaRPr b="0" lang="en-US" sz="1800" spc="-1" strike="noStrike">
              <a:latin typeface="Arial"/>
            </a:endParaRPr>
          </a:p>
          <a:p>
            <a:pPr>
              <a:lnSpc>
                <a:spcPct val="100000"/>
              </a:lnSpc>
            </a:pPr>
            <a:r>
              <a:rPr b="0" lang="en-US" sz="1800" spc="-1" strike="noStrike">
                <a:solidFill>
                  <a:srgbClr val="c9211e"/>
                </a:solidFill>
                <a:latin typeface="Arial"/>
              </a:rPr>
              <a:t>	</a:t>
            </a:r>
            <a:r>
              <a:rPr b="0" lang="en-US" sz="1800" spc="-1" strike="noStrike">
                <a:solidFill>
                  <a:srgbClr val="c9211e"/>
                </a:solidFill>
                <a:latin typeface="Arial"/>
              </a:rPr>
              <a:t>Reflekter over relationen..</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 Er det hvilket netværk er interessant? Det mellem individer? Det mellem virksomheder?</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p:nvPr/>
        </p:nvSpPr>
        <p:spPr>
          <a:xfrm>
            <a:off x="360000" y="27108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#prøv jer frem (tidligt!)</a:t>
            </a:r>
            <a:endParaRPr b="0" lang="en-US" sz="2400" spc="-1" strike="noStrike">
              <a:latin typeface="Arial"/>
            </a:endParaRPr>
          </a:p>
        </p:txBody>
      </p:sp>
      <p:sp>
        <p:nvSpPr>
          <p:cNvPr id="157" name=""/>
          <p:cNvSpPr/>
          <p:nvPr/>
        </p:nvSpPr>
        <p:spPr>
          <a:xfrm>
            <a:off x="228600" y="1371600"/>
            <a:ext cx="9143640" cy="11023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Times New Roman"/>
              </a:rPr>
              <a:t>Det kan godt betale sig at prøve noget data af tidligt…</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latin typeface="Times New Roman"/>
              </a:rPr>
              <a:t>Både fordi… ja, så er I i gang. Men også fordi det sagtens kan hænde at I gerne vil studere netværket I branche XYZ, og når I så får lavet data viser det sig at se sådan her ud:</a:t>
            </a:r>
            <a:endParaRPr b="0" lang="en-US" sz="1800" spc="-1" strike="noStrike">
              <a:latin typeface="Arial"/>
            </a:endParaRPr>
          </a:p>
        </p:txBody>
      </p:sp>
      <p:sp>
        <p:nvSpPr>
          <p:cNvPr id="158" name=""/>
          <p:cNvSpPr/>
          <p:nvPr/>
        </p:nvSpPr>
        <p:spPr>
          <a:xfrm>
            <a:off x="986400" y="2743200"/>
            <a:ext cx="228240" cy="228240"/>
          </a:xfrm>
          <a:prstGeom prst="ellipse">
            <a:avLst/>
          </a:prstGeom>
          <a:solidFill>
            <a:srgbClr val="729fcf"/>
          </a:solidFill>
          <a:ln w="0">
            <a:solidFill>
              <a:srgbClr val="3465a4"/>
            </a:solidFill>
          </a:ln>
        </p:spPr>
        <p:style>
          <a:lnRef idx="0"/>
          <a:fillRef idx="0"/>
          <a:effectRef idx="0"/>
          <a:fontRef idx="minor"/>
        </p:style>
      </p:sp>
      <p:sp>
        <p:nvSpPr>
          <p:cNvPr id="159" name=""/>
          <p:cNvSpPr/>
          <p:nvPr/>
        </p:nvSpPr>
        <p:spPr>
          <a:xfrm>
            <a:off x="2102400" y="2707200"/>
            <a:ext cx="228240" cy="228240"/>
          </a:xfrm>
          <a:prstGeom prst="ellipse">
            <a:avLst/>
          </a:prstGeom>
          <a:solidFill>
            <a:srgbClr val="729fcf"/>
          </a:solidFill>
          <a:ln w="0">
            <a:solidFill>
              <a:srgbClr val="3465a4"/>
            </a:solidFill>
          </a:ln>
        </p:spPr>
        <p:style>
          <a:lnRef idx="0"/>
          <a:fillRef idx="0"/>
          <a:effectRef idx="0"/>
          <a:fontRef idx="minor"/>
        </p:style>
      </p:sp>
      <p:sp>
        <p:nvSpPr>
          <p:cNvPr id="160" name=""/>
          <p:cNvSpPr/>
          <p:nvPr/>
        </p:nvSpPr>
        <p:spPr>
          <a:xfrm>
            <a:off x="1634400" y="3499200"/>
            <a:ext cx="228240" cy="228240"/>
          </a:xfrm>
          <a:prstGeom prst="ellipse">
            <a:avLst/>
          </a:prstGeom>
          <a:solidFill>
            <a:srgbClr val="729fcf"/>
          </a:solidFill>
          <a:ln w="0">
            <a:solidFill>
              <a:srgbClr val="3465a4"/>
            </a:solidFill>
          </a:ln>
        </p:spPr>
        <p:style>
          <a:lnRef idx="0"/>
          <a:fillRef idx="0"/>
          <a:effectRef idx="0"/>
          <a:fontRef idx="minor"/>
        </p:style>
      </p:sp>
      <p:sp>
        <p:nvSpPr>
          <p:cNvPr id="161" name=""/>
          <p:cNvSpPr/>
          <p:nvPr/>
        </p:nvSpPr>
        <p:spPr>
          <a:xfrm>
            <a:off x="2462400" y="3463200"/>
            <a:ext cx="228240" cy="228240"/>
          </a:xfrm>
          <a:prstGeom prst="ellipse">
            <a:avLst/>
          </a:prstGeom>
          <a:solidFill>
            <a:srgbClr val="729fcf"/>
          </a:solidFill>
          <a:ln w="0">
            <a:solidFill>
              <a:srgbClr val="3465a4"/>
            </a:solidFill>
          </a:ln>
        </p:spPr>
        <p:style>
          <a:lnRef idx="0"/>
          <a:fillRef idx="0"/>
          <a:effectRef idx="0"/>
          <a:fontRef idx="minor"/>
        </p:style>
      </p:sp>
      <p:sp>
        <p:nvSpPr>
          <p:cNvPr id="162" name=""/>
          <p:cNvSpPr/>
          <p:nvPr/>
        </p:nvSpPr>
        <p:spPr>
          <a:xfrm>
            <a:off x="842400" y="3643200"/>
            <a:ext cx="228240" cy="228240"/>
          </a:xfrm>
          <a:prstGeom prst="ellipse">
            <a:avLst/>
          </a:prstGeom>
          <a:solidFill>
            <a:srgbClr val="729fcf"/>
          </a:solidFill>
          <a:ln w="0">
            <a:solidFill>
              <a:srgbClr val="3465a4"/>
            </a:solidFill>
          </a:ln>
        </p:spPr>
        <p:style>
          <a:lnRef idx="0"/>
          <a:fillRef idx="0"/>
          <a:effectRef idx="0"/>
          <a:fontRef idx="minor"/>
        </p:style>
      </p:sp>
      <p:sp>
        <p:nvSpPr>
          <p:cNvPr id="163" name=""/>
          <p:cNvSpPr/>
          <p:nvPr/>
        </p:nvSpPr>
        <p:spPr>
          <a:xfrm>
            <a:off x="1346400" y="4291200"/>
            <a:ext cx="228240" cy="228240"/>
          </a:xfrm>
          <a:prstGeom prst="ellipse">
            <a:avLst/>
          </a:prstGeom>
          <a:solidFill>
            <a:srgbClr val="729fcf"/>
          </a:solidFill>
          <a:ln w="0">
            <a:solidFill>
              <a:srgbClr val="3465a4"/>
            </a:solidFill>
          </a:ln>
        </p:spPr>
        <p:style>
          <a:lnRef idx="0"/>
          <a:fillRef idx="0"/>
          <a:effectRef idx="0"/>
          <a:fontRef idx="minor"/>
        </p:style>
      </p:sp>
      <p:sp>
        <p:nvSpPr>
          <p:cNvPr id="164" name=""/>
          <p:cNvSpPr/>
          <p:nvPr/>
        </p:nvSpPr>
        <p:spPr>
          <a:xfrm>
            <a:off x="2971800" y="2743200"/>
            <a:ext cx="6171840" cy="5961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Times New Roman"/>
              </a:rPr>
              <a:t>At der ikke er de forbindelser I måske forventede/håbede!</a:t>
            </a:r>
            <a:endParaRPr b="0" lang="en-US" sz="1800" spc="-1" strike="noStrike">
              <a:latin typeface="Arial"/>
            </a:endParaRPr>
          </a:p>
        </p:txBody>
      </p:sp>
      <p:sp>
        <p:nvSpPr>
          <p:cNvPr id="165" name=""/>
          <p:cNvSpPr/>
          <p:nvPr/>
        </p:nvSpPr>
        <p:spPr>
          <a:xfrm>
            <a:off x="3886200" y="3657600"/>
            <a:ext cx="5486040" cy="13554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Times New Roman"/>
              </a:rPr>
              <a:t>Hvad gør I så?</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latin typeface="Times New Roman"/>
              </a:rPr>
              <a:t>1) Finder noget andet at studer.</a:t>
            </a:r>
            <a:endParaRPr b="0" lang="en-US" sz="1800" spc="-1" strike="noStrike">
              <a:latin typeface="Arial"/>
            </a:endParaRPr>
          </a:p>
          <a:p>
            <a:pPr>
              <a:lnSpc>
                <a:spcPct val="100000"/>
              </a:lnSpc>
            </a:pPr>
            <a:r>
              <a:rPr b="0" lang="en-US" sz="1800" spc="-1" strike="noStrike">
                <a:latin typeface="Times New Roman"/>
              </a:rPr>
              <a:t>2) Skriver om hvor vildt det er at der ikke er det netværk, man skulle forvente.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 descr=""/>
          <p:cNvPicPr/>
          <p:nvPr/>
        </p:nvPicPr>
        <p:blipFill>
          <a:blip r:embed="rId1"/>
          <a:stretch/>
        </p:blipFill>
        <p:spPr>
          <a:xfrm>
            <a:off x="74880" y="1251000"/>
            <a:ext cx="1202400" cy="1490400"/>
          </a:xfrm>
          <a:prstGeom prst="rect">
            <a:avLst/>
          </a:prstGeom>
          <a:ln w="0">
            <a:noFill/>
          </a:ln>
        </p:spPr>
      </p:pic>
      <p:pic>
        <p:nvPicPr>
          <p:cNvPr id="167" name="" descr=""/>
          <p:cNvPicPr/>
          <p:nvPr/>
        </p:nvPicPr>
        <p:blipFill>
          <a:blip r:embed="rId2"/>
          <a:stretch/>
        </p:blipFill>
        <p:spPr>
          <a:xfrm>
            <a:off x="1436400" y="1219680"/>
            <a:ext cx="4111560" cy="188280"/>
          </a:xfrm>
          <a:prstGeom prst="rect">
            <a:avLst/>
          </a:prstGeom>
          <a:ln w="0">
            <a:noFill/>
          </a:ln>
        </p:spPr>
      </p:pic>
      <p:pic>
        <p:nvPicPr>
          <p:cNvPr id="168" name="" descr=""/>
          <p:cNvPicPr/>
          <p:nvPr/>
        </p:nvPicPr>
        <p:blipFill>
          <a:blip r:embed="rId3"/>
          <a:stretch/>
        </p:blipFill>
        <p:spPr>
          <a:xfrm>
            <a:off x="1436400" y="1407960"/>
            <a:ext cx="2010600" cy="1333080"/>
          </a:xfrm>
          <a:prstGeom prst="rect">
            <a:avLst/>
          </a:prstGeom>
          <a:ln w="0">
            <a:noFill/>
          </a:ln>
        </p:spPr>
      </p:pic>
      <p:pic>
        <p:nvPicPr>
          <p:cNvPr id="169" name="" descr=""/>
          <p:cNvPicPr/>
          <p:nvPr/>
        </p:nvPicPr>
        <p:blipFill>
          <a:blip r:embed="rId4"/>
          <a:stretch/>
        </p:blipFill>
        <p:spPr>
          <a:xfrm>
            <a:off x="149040" y="3083400"/>
            <a:ext cx="2254680" cy="209880"/>
          </a:xfrm>
          <a:prstGeom prst="rect">
            <a:avLst/>
          </a:prstGeom>
          <a:ln w="0">
            <a:noFill/>
          </a:ln>
        </p:spPr>
      </p:pic>
      <p:pic>
        <p:nvPicPr>
          <p:cNvPr id="170" name="" descr=""/>
          <p:cNvPicPr/>
          <p:nvPr/>
        </p:nvPicPr>
        <p:blipFill>
          <a:blip r:embed="rId5"/>
          <a:stretch/>
        </p:blipFill>
        <p:spPr>
          <a:xfrm>
            <a:off x="154440" y="3268080"/>
            <a:ext cx="2218320" cy="1451880"/>
          </a:xfrm>
          <a:prstGeom prst="rect">
            <a:avLst/>
          </a:prstGeom>
          <a:ln w="0">
            <a:noFill/>
          </a:ln>
        </p:spPr>
      </p:pic>
      <p:pic>
        <p:nvPicPr>
          <p:cNvPr id="171" name="" descr=""/>
          <p:cNvPicPr/>
          <p:nvPr/>
        </p:nvPicPr>
        <p:blipFill>
          <a:blip r:embed="rId6"/>
          <a:stretch/>
        </p:blipFill>
        <p:spPr>
          <a:xfrm>
            <a:off x="2922120" y="3277080"/>
            <a:ext cx="2329560" cy="1033920"/>
          </a:xfrm>
          <a:prstGeom prst="rect">
            <a:avLst/>
          </a:prstGeom>
          <a:ln w="0">
            <a:noFill/>
          </a:ln>
        </p:spPr>
      </p:pic>
      <p:pic>
        <p:nvPicPr>
          <p:cNvPr id="172" name="" descr=""/>
          <p:cNvPicPr/>
          <p:nvPr/>
        </p:nvPicPr>
        <p:blipFill>
          <a:blip r:embed="rId7"/>
          <a:stretch/>
        </p:blipFill>
        <p:spPr>
          <a:xfrm>
            <a:off x="2921040" y="3068640"/>
            <a:ext cx="2526840" cy="218520"/>
          </a:xfrm>
          <a:prstGeom prst="rect">
            <a:avLst/>
          </a:prstGeom>
          <a:ln w="0">
            <a:noFill/>
          </a:ln>
        </p:spPr>
      </p:pic>
      <p:sp>
        <p:nvSpPr>
          <p:cNvPr id="173" name=""/>
          <p:cNvSpPr/>
          <p:nvPr/>
        </p:nvSpPr>
        <p:spPr>
          <a:xfrm flipV="1">
            <a:off x="498600" y="1319040"/>
            <a:ext cx="911520" cy="6840"/>
          </a:xfrm>
          <a:prstGeom prst="line">
            <a:avLst/>
          </a:prstGeom>
          <a:ln w="18360">
            <a:solidFill>
              <a:srgbClr val="c9211e"/>
            </a:solidFill>
            <a:round/>
            <a:tailEnd len="med" type="triangle" w="med"/>
          </a:ln>
        </p:spPr>
        <p:style>
          <a:lnRef idx="0"/>
          <a:fillRef idx="0"/>
          <a:effectRef idx="0"/>
          <a:fontRef idx="minor"/>
        </p:style>
      </p:sp>
      <p:sp>
        <p:nvSpPr>
          <p:cNvPr id="174" name=""/>
          <p:cNvSpPr/>
          <p:nvPr/>
        </p:nvSpPr>
        <p:spPr>
          <a:xfrm flipH="1">
            <a:off x="1090440" y="1509840"/>
            <a:ext cx="612360" cy="1530720"/>
          </a:xfrm>
          <a:prstGeom prst="line">
            <a:avLst/>
          </a:prstGeom>
          <a:ln w="18360">
            <a:solidFill>
              <a:srgbClr val="c9211e"/>
            </a:solidFill>
            <a:round/>
            <a:tailEnd len="med" type="triangle" w="med"/>
          </a:ln>
        </p:spPr>
        <p:style>
          <a:lnRef idx="0"/>
          <a:fillRef idx="0"/>
          <a:effectRef idx="0"/>
          <a:fontRef idx="minor"/>
        </p:style>
      </p:sp>
      <p:sp>
        <p:nvSpPr>
          <p:cNvPr id="175" name=""/>
          <p:cNvSpPr/>
          <p:nvPr/>
        </p:nvSpPr>
        <p:spPr>
          <a:xfrm>
            <a:off x="1784520" y="1523160"/>
            <a:ext cx="2633040" cy="1531080"/>
          </a:xfrm>
          <a:prstGeom prst="line">
            <a:avLst/>
          </a:prstGeom>
          <a:ln w="18360">
            <a:solidFill>
              <a:srgbClr val="c9211e"/>
            </a:solidFill>
            <a:round/>
            <a:tailEnd len="med" type="triangle" w="med"/>
          </a:ln>
        </p:spPr>
        <p:style>
          <a:lnRef idx="0"/>
          <a:fillRef idx="0"/>
          <a:effectRef idx="0"/>
          <a:fontRef idx="minor"/>
        </p:style>
      </p:sp>
      <p:sp>
        <p:nvSpPr>
          <p:cNvPr id="176" name=""/>
          <p:cNvSpPr txBox="1"/>
          <p:nvPr/>
        </p:nvSpPr>
        <p:spPr>
          <a:xfrm>
            <a:off x="6050880" y="1253880"/>
            <a:ext cx="1721520" cy="346320"/>
          </a:xfrm>
          <a:prstGeom prst="rect">
            <a:avLst/>
          </a:prstGeom>
          <a:noFill/>
          <a:ln w="0">
            <a:noFill/>
          </a:ln>
        </p:spPr>
        <p:txBody>
          <a:bodyPr lIns="90000" rIns="90000" tIns="45000" bIns="45000">
            <a:noAutofit/>
          </a:bodyPr>
          <a:p>
            <a:r>
              <a:rPr b="0" lang="en-US" sz="1800" spc="-1" strike="noStrike">
                <a:solidFill>
                  <a:srgbClr val="c9211e"/>
                </a:solidFill>
                <a:latin typeface="Arial"/>
              </a:rPr>
              <a:t>i r:</a:t>
            </a:r>
            <a:r>
              <a:rPr b="0" lang="en-US" sz="1800" spc="-1" strike="noStrike">
                <a:latin typeface="Arial"/>
              </a:rPr>
              <a:t>  </a:t>
            </a:r>
            <a:r>
              <a:rPr b="0" i="1" lang="en-US" sz="1800" spc="-1" strike="noStrike">
                <a:latin typeface="Arial"/>
              </a:rPr>
              <a:t>xtabs(...)</a:t>
            </a:r>
            <a:endParaRPr b="0" lang="en-US" sz="1800" spc="-1" strike="noStrike">
              <a:latin typeface="Arial"/>
            </a:endParaRPr>
          </a:p>
        </p:txBody>
      </p:sp>
      <p:sp>
        <p:nvSpPr>
          <p:cNvPr id="177" name=""/>
          <p:cNvSpPr/>
          <p:nvPr/>
        </p:nvSpPr>
        <p:spPr>
          <a:xfrm>
            <a:off x="2117520" y="1176480"/>
            <a:ext cx="326880" cy="285480"/>
          </a:xfrm>
          <a:prstGeom prst="ellipse">
            <a:avLst/>
          </a:prstGeom>
          <a:noFill/>
          <a:ln w="0">
            <a:solidFill>
              <a:srgbClr val="c9211e"/>
            </a:solidFill>
          </a:ln>
        </p:spPr>
        <p:style>
          <a:lnRef idx="0"/>
          <a:fillRef idx="0"/>
          <a:effectRef idx="0"/>
          <a:fontRef idx="minor"/>
        </p:style>
      </p:sp>
      <p:sp>
        <p:nvSpPr>
          <p:cNvPr id="178" name=""/>
          <p:cNvSpPr txBox="1"/>
          <p:nvPr/>
        </p:nvSpPr>
        <p:spPr>
          <a:xfrm>
            <a:off x="149040" y="2737080"/>
            <a:ext cx="717120" cy="602280"/>
          </a:xfrm>
          <a:prstGeom prst="rect">
            <a:avLst/>
          </a:prstGeom>
          <a:noFill/>
          <a:ln w="0">
            <a:noFill/>
          </a:ln>
        </p:spPr>
        <p:txBody>
          <a:bodyPr lIns="90000" rIns="90000" tIns="45000" bIns="45000">
            <a:noAutofit/>
          </a:bodyPr>
          <a:p>
            <a:r>
              <a:rPr b="0" lang="en-US" sz="1800" spc="-1" strike="noStrike">
                <a:latin typeface="Arial"/>
              </a:rPr>
              <a:t>AA</a:t>
            </a:r>
            <a:r>
              <a:rPr b="0" lang="en-US" sz="1800" spc="-1" strike="noStrike" baseline="33000">
                <a:latin typeface="Arial"/>
              </a:rPr>
              <a:t>T</a:t>
            </a:r>
            <a:endParaRPr b="0" lang="en-US" sz="1800" spc="-1" strike="noStrike">
              <a:latin typeface="Arial"/>
            </a:endParaRPr>
          </a:p>
        </p:txBody>
      </p:sp>
      <p:sp>
        <p:nvSpPr>
          <p:cNvPr id="179" name=""/>
          <p:cNvSpPr txBox="1"/>
          <p:nvPr/>
        </p:nvSpPr>
        <p:spPr>
          <a:xfrm>
            <a:off x="2836440" y="2716920"/>
            <a:ext cx="717120" cy="602280"/>
          </a:xfrm>
          <a:prstGeom prst="rect">
            <a:avLst/>
          </a:prstGeom>
          <a:noFill/>
          <a:ln w="0">
            <a:noFill/>
          </a:ln>
        </p:spPr>
        <p:txBody>
          <a:bodyPr lIns="90000" rIns="90000" tIns="45000" bIns="45000">
            <a:noAutofit/>
          </a:bodyPr>
          <a:p>
            <a:pPr>
              <a:lnSpc>
                <a:spcPct val="100000"/>
              </a:lnSpc>
            </a:pPr>
            <a:r>
              <a:rPr b="0" lang="en-US" sz="1800" spc="-1" strike="noStrike">
                <a:latin typeface="Arial"/>
                <a:ea typeface="Noto Sans CJK SC"/>
              </a:rPr>
              <a:t>A</a:t>
            </a:r>
            <a:r>
              <a:rPr b="0" lang="en-US" sz="1800" spc="-1" strike="noStrike" baseline="33000">
                <a:latin typeface="Arial"/>
                <a:ea typeface="Noto Sans CJK SC"/>
              </a:rPr>
              <a:t>T</a:t>
            </a:r>
            <a:r>
              <a:rPr b="0" lang="en-US" sz="1800" spc="-1" strike="noStrike">
                <a:latin typeface="Arial"/>
              </a:rPr>
              <a:t>A</a:t>
            </a:r>
            <a:endParaRPr b="0" lang="en-US" sz="1800" spc="-1" strike="noStrike">
              <a:latin typeface="Arial"/>
            </a:endParaRPr>
          </a:p>
        </p:txBody>
      </p:sp>
      <p:sp>
        <p:nvSpPr>
          <p:cNvPr id="180" name=""/>
          <p:cNvSpPr/>
          <p:nvPr/>
        </p:nvSpPr>
        <p:spPr>
          <a:xfrm>
            <a:off x="1433880" y="3048480"/>
            <a:ext cx="326880" cy="285480"/>
          </a:xfrm>
          <a:prstGeom prst="ellipse">
            <a:avLst/>
          </a:prstGeom>
          <a:noFill/>
          <a:ln w="0">
            <a:solidFill>
              <a:srgbClr val="c9211e"/>
            </a:solidFill>
          </a:ln>
        </p:spPr>
        <p:style>
          <a:lnRef idx="0"/>
          <a:fillRef idx="0"/>
          <a:effectRef idx="0"/>
          <a:fontRef idx="minor"/>
        </p:style>
      </p:sp>
      <p:sp>
        <p:nvSpPr>
          <p:cNvPr id="181" name=""/>
          <p:cNvSpPr/>
          <p:nvPr/>
        </p:nvSpPr>
        <p:spPr>
          <a:xfrm>
            <a:off x="4530240" y="3012480"/>
            <a:ext cx="326880" cy="285480"/>
          </a:xfrm>
          <a:prstGeom prst="ellipse">
            <a:avLst/>
          </a:prstGeom>
          <a:noFill/>
          <a:ln w="0">
            <a:solidFill>
              <a:srgbClr val="c9211e"/>
            </a:solidFill>
          </a:ln>
        </p:spPr>
        <p:style>
          <a:lnRef idx="0"/>
          <a:fillRef idx="0"/>
          <a:effectRef idx="0"/>
          <a:fontRef idx="minor"/>
        </p:style>
      </p:sp>
      <p:sp>
        <p:nvSpPr>
          <p:cNvPr id="182" name=""/>
          <p:cNvSpPr txBox="1"/>
          <p:nvPr/>
        </p:nvSpPr>
        <p:spPr>
          <a:xfrm>
            <a:off x="1192680" y="2724480"/>
            <a:ext cx="1802880" cy="602280"/>
          </a:xfrm>
          <a:prstGeom prst="rect">
            <a:avLst/>
          </a:prstGeom>
          <a:noFill/>
          <a:ln w="0">
            <a:noFill/>
          </a:ln>
        </p:spPr>
        <p:txBody>
          <a:bodyPr lIns="90000" rIns="90000" tIns="45000" bIns="45000">
            <a:noAutofit/>
          </a:bodyPr>
          <a:p>
            <a:r>
              <a:rPr b="0" i="1" lang="en-US" sz="1800" spc="-1" strike="noStrike">
                <a:latin typeface="Arial"/>
              </a:rPr>
              <a:t>A %*% t(A)</a:t>
            </a:r>
            <a:endParaRPr b="0" lang="en-US" sz="1800" spc="-1" strike="noStrike">
              <a:latin typeface="Arial"/>
            </a:endParaRPr>
          </a:p>
        </p:txBody>
      </p:sp>
      <p:sp>
        <p:nvSpPr>
          <p:cNvPr id="183" name=""/>
          <p:cNvSpPr txBox="1"/>
          <p:nvPr/>
        </p:nvSpPr>
        <p:spPr>
          <a:xfrm>
            <a:off x="4561920" y="2724480"/>
            <a:ext cx="2828880" cy="602280"/>
          </a:xfrm>
          <a:prstGeom prst="rect">
            <a:avLst/>
          </a:prstGeom>
          <a:noFill/>
          <a:ln w="0">
            <a:noFill/>
          </a:ln>
        </p:spPr>
        <p:txBody>
          <a:bodyPr lIns="90000" rIns="90000" tIns="45000" bIns="45000">
            <a:noAutofit/>
          </a:bodyPr>
          <a:p>
            <a:pPr>
              <a:lnSpc>
                <a:spcPct val="100000"/>
              </a:lnSpc>
            </a:pPr>
            <a:r>
              <a:rPr b="0" i="1" lang="en-US" sz="1800" spc="-1" strike="noStrike">
                <a:latin typeface="Arial"/>
                <a:ea typeface="Noto Sans CJK SC"/>
              </a:rPr>
              <a:t>t(A) %*% </a:t>
            </a:r>
            <a:r>
              <a:rPr b="0" i="1" lang="en-US" sz="1800" spc="-1" strike="noStrike">
                <a:latin typeface="Arial"/>
              </a:rPr>
              <a:t>A</a:t>
            </a:r>
            <a:endParaRPr b="0" lang="en-US" sz="1800" spc="-1" strike="noStrike">
              <a:latin typeface="Arial"/>
            </a:endParaRPr>
          </a:p>
        </p:txBody>
      </p:sp>
      <p:sp>
        <p:nvSpPr>
          <p:cNvPr id="184" name=""/>
          <p:cNvSpPr txBox="1"/>
          <p:nvPr/>
        </p:nvSpPr>
        <p:spPr>
          <a:xfrm>
            <a:off x="6409080" y="2801520"/>
            <a:ext cx="3775320" cy="858240"/>
          </a:xfrm>
          <a:prstGeom prst="rect">
            <a:avLst/>
          </a:prstGeom>
          <a:noFill/>
          <a:ln w="0">
            <a:noFill/>
          </a:ln>
        </p:spPr>
        <p:txBody>
          <a:bodyPr lIns="90000" rIns="90000" tIns="45000" bIns="45000">
            <a:noAutofit/>
          </a:bodyPr>
          <a:p>
            <a:r>
              <a:rPr b="0" lang="en-US" sz="1400" spc="-1" strike="noStrike">
                <a:latin typeface="Arial"/>
              </a:rPr>
              <a:t>%*% når man ganger to matricer</a:t>
            </a:r>
            <a:endParaRPr b="0" lang="en-US" sz="1400" spc="-1" strike="noStrike">
              <a:latin typeface="Arial"/>
            </a:endParaRPr>
          </a:p>
          <a:p>
            <a:r>
              <a:rPr b="0" lang="en-US" sz="1400" spc="-1" strike="noStrike">
                <a:latin typeface="Arial"/>
              </a:rPr>
              <a:t>t(..) når man tager den transponerede matrice</a:t>
            </a:r>
            <a:endParaRPr b="0" lang="en-US" sz="1400" spc="-1" strike="noStrike">
              <a:latin typeface="Arial"/>
            </a:endParaRPr>
          </a:p>
        </p:txBody>
      </p:sp>
      <p:sp>
        <p:nvSpPr>
          <p:cNvPr id="185" name=""/>
          <p:cNvSpPr txBox="1"/>
          <p:nvPr/>
        </p:nvSpPr>
        <p:spPr>
          <a:xfrm>
            <a:off x="260280" y="600480"/>
            <a:ext cx="7602120" cy="858600"/>
          </a:xfrm>
          <a:prstGeom prst="rect">
            <a:avLst/>
          </a:prstGeom>
          <a:noFill/>
          <a:ln w="0">
            <a:noFill/>
          </a:ln>
        </p:spPr>
        <p:txBody>
          <a:bodyPr lIns="90000" rIns="90000" tIns="45000" bIns="45000">
            <a:noAutofit/>
          </a:bodyPr>
          <a:p>
            <a:r>
              <a:rPr b="1" lang="en-US" sz="2400" spc="-1" strike="noStrike">
                <a:solidFill>
                  <a:srgbClr val="ffffff"/>
                </a:solidFill>
                <a:latin typeface="Source Sans Pro Black"/>
                <a:ea typeface="DejaVu Sans"/>
              </a:rPr>
              <a:t>#Fra medlemslister til netværksmatricer i R</a:t>
            </a:r>
            <a:endParaRPr b="0" lang="en-US" sz="2400" spc="-1" strike="noStrike">
              <a:latin typeface="Arial"/>
            </a:endParaRPr>
          </a:p>
        </p:txBody>
      </p:sp>
      <p:sp>
        <p:nvSpPr>
          <p:cNvPr id="186" name=""/>
          <p:cNvSpPr txBox="1"/>
          <p:nvPr/>
        </p:nvSpPr>
        <p:spPr>
          <a:xfrm>
            <a:off x="3413160" y="1770480"/>
            <a:ext cx="2406960" cy="602280"/>
          </a:xfrm>
          <a:prstGeom prst="rect">
            <a:avLst/>
          </a:prstGeom>
          <a:noFill/>
          <a:ln w="0">
            <a:noFill/>
          </a:ln>
        </p:spPr>
        <p:txBody>
          <a:bodyPr lIns="90000" rIns="90000" tIns="45000" bIns="45000">
            <a:noAutofit/>
          </a:bodyPr>
          <a:p>
            <a:r>
              <a:rPr b="0" lang="en-US" sz="1200" spc="-1" strike="noStrike">
                <a:solidFill>
                  <a:srgbClr val="c9211e"/>
                </a:solidFill>
                <a:latin typeface="Arial"/>
              </a:rPr>
              <a:t>‘</a:t>
            </a:r>
            <a:r>
              <a:rPr b="0" lang="en-US" sz="1200" spc="-1" strike="noStrike">
                <a:solidFill>
                  <a:srgbClr val="c9211e"/>
                </a:solidFill>
                <a:latin typeface="Arial"/>
              </a:rPr>
              <a:t>bi-adjacency matrice’ </a:t>
            </a:r>
            <a:endParaRPr b="0" lang="en-US" sz="1200" spc="-1" strike="noStrike">
              <a:latin typeface="Arial"/>
            </a:endParaRPr>
          </a:p>
          <a:p>
            <a:r>
              <a:rPr b="0" lang="en-US" sz="1200" spc="-1" strike="noStrike">
                <a:latin typeface="Arial"/>
              </a:rPr>
              <a:t>(name x affiliation)</a:t>
            </a:r>
            <a:endParaRPr b="0" lang="en-US" sz="1200" spc="-1" strike="noStrike">
              <a:latin typeface="Arial"/>
            </a:endParaRPr>
          </a:p>
        </p:txBody>
      </p:sp>
      <p:sp>
        <p:nvSpPr>
          <p:cNvPr id="187" name=""/>
          <p:cNvSpPr txBox="1"/>
          <p:nvPr/>
        </p:nvSpPr>
        <p:spPr>
          <a:xfrm>
            <a:off x="153000" y="4713120"/>
            <a:ext cx="3766680" cy="459000"/>
          </a:xfrm>
          <a:prstGeom prst="rect">
            <a:avLst/>
          </a:prstGeom>
          <a:noFill/>
          <a:ln w="0">
            <a:noFill/>
          </a:ln>
        </p:spPr>
        <p:txBody>
          <a:bodyPr lIns="90000" rIns="90000" tIns="45000" bIns="45000">
            <a:noAutofit/>
          </a:bodyPr>
          <a:p>
            <a:r>
              <a:rPr b="0" lang="en-US" sz="1300" spc="-1" strike="noStrike">
                <a:solidFill>
                  <a:srgbClr val="c9211e"/>
                </a:solidFill>
                <a:latin typeface="Arial"/>
              </a:rPr>
              <a:t>‘</a:t>
            </a:r>
            <a:r>
              <a:rPr b="0" lang="en-US" sz="1300" spc="-1" strike="noStrike">
                <a:solidFill>
                  <a:srgbClr val="c9211e"/>
                </a:solidFill>
                <a:latin typeface="Arial"/>
              </a:rPr>
              <a:t>adjacency matrice’ </a:t>
            </a:r>
            <a:endParaRPr b="0" lang="en-US" sz="1300" spc="-1" strike="noStrike">
              <a:latin typeface="Arial"/>
            </a:endParaRPr>
          </a:p>
          <a:p>
            <a:r>
              <a:rPr b="0" lang="en-US" sz="1300" spc="-1" strike="noStrike">
                <a:latin typeface="Arial"/>
              </a:rPr>
              <a:t>(name x name)</a:t>
            </a:r>
            <a:endParaRPr b="0" lang="en-US" sz="1300" spc="-1" strike="noStrike">
              <a:latin typeface="Arial"/>
            </a:endParaRPr>
          </a:p>
        </p:txBody>
      </p:sp>
      <p:sp>
        <p:nvSpPr>
          <p:cNvPr id="188" name=""/>
          <p:cNvSpPr txBox="1"/>
          <p:nvPr/>
        </p:nvSpPr>
        <p:spPr>
          <a:xfrm>
            <a:off x="2937600" y="4368240"/>
            <a:ext cx="4372200" cy="431640"/>
          </a:xfrm>
          <a:prstGeom prst="rect">
            <a:avLst/>
          </a:prstGeom>
          <a:noFill/>
          <a:ln w="0">
            <a:noFill/>
          </a:ln>
        </p:spPr>
        <p:txBody>
          <a:bodyPr lIns="90000" rIns="90000" tIns="45000" bIns="45000">
            <a:noAutofit/>
          </a:bodyPr>
          <a:p>
            <a:r>
              <a:rPr b="0" lang="en-US" sz="1200" spc="-1" strike="noStrike">
                <a:solidFill>
                  <a:srgbClr val="c9211e"/>
                </a:solidFill>
                <a:latin typeface="Arial"/>
              </a:rPr>
              <a:t>‘</a:t>
            </a:r>
            <a:r>
              <a:rPr b="0" lang="en-US" sz="1200" spc="-1" strike="noStrike">
                <a:solidFill>
                  <a:srgbClr val="c9211e"/>
                </a:solidFill>
                <a:latin typeface="Arial"/>
              </a:rPr>
              <a:t>adjacency matrice’ </a:t>
            </a:r>
            <a:endParaRPr b="0" lang="en-US" sz="1200" spc="-1" strike="noStrike">
              <a:latin typeface="Arial"/>
            </a:endParaRPr>
          </a:p>
          <a:p>
            <a:r>
              <a:rPr b="0" lang="en-US" sz="1200" spc="-1" strike="noStrike">
                <a:latin typeface="Arial"/>
              </a:rPr>
              <a:t>(affiliation x affiliation)</a:t>
            </a:r>
            <a:endParaRPr b="0" lang="en-US" sz="1200" spc="-1" strike="noStrike">
              <a:latin typeface="Arial"/>
            </a:endParaRPr>
          </a:p>
        </p:txBody>
      </p:sp>
      <p:sp>
        <p:nvSpPr>
          <p:cNvPr id="189" name=""/>
          <p:cNvSpPr txBox="1"/>
          <p:nvPr/>
        </p:nvSpPr>
        <p:spPr>
          <a:xfrm>
            <a:off x="8640" y="1035000"/>
            <a:ext cx="1887840" cy="261000"/>
          </a:xfrm>
          <a:prstGeom prst="rect">
            <a:avLst/>
          </a:prstGeom>
          <a:noFill/>
          <a:ln w="0">
            <a:noFill/>
          </a:ln>
        </p:spPr>
        <p:txBody>
          <a:bodyPr lIns="90000" rIns="90000" tIns="45000" bIns="45000">
            <a:noAutofit/>
          </a:bodyPr>
          <a:p>
            <a:r>
              <a:rPr b="0" lang="en-US" sz="1200" spc="-1" strike="noStrike">
                <a:solidFill>
                  <a:srgbClr val="c9211e"/>
                </a:solidFill>
                <a:latin typeface="Arial"/>
              </a:rPr>
              <a:t>medlemsliste</a:t>
            </a:r>
            <a:endParaRPr b="0" lang="en-US" sz="1200" spc="-1" strike="noStrike">
              <a:solidFill>
                <a:srgbClr val="c9211e"/>
              </a:solidFill>
              <a:latin typeface="Arial"/>
            </a:endParaRPr>
          </a:p>
        </p:txBody>
      </p:sp>
      <p:pic>
        <p:nvPicPr>
          <p:cNvPr id="190" name="" descr=""/>
          <p:cNvPicPr/>
          <p:nvPr/>
        </p:nvPicPr>
        <p:blipFill>
          <a:blip r:embed="rId8"/>
          <a:srcRect l="0" t="0" r="0" b="6258"/>
          <a:stretch/>
        </p:blipFill>
        <p:spPr>
          <a:xfrm>
            <a:off x="5654520" y="4362840"/>
            <a:ext cx="4385160" cy="546480"/>
          </a:xfrm>
          <a:prstGeom prst="rect">
            <a:avLst/>
          </a:prstGeom>
          <a:ln w="0">
            <a:noFill/>
          </a:ln>
        </p:spPr>
      </p:pic>
      <p:sp>
        <p:nvSpPr>
          <p:cNvPr id="191" name=""/>
          <p:cNvSpPr txBox="1"/>
          <p:nvPr/>
        </p:nvSpPr>
        <p:spPr>
          <a:xfrm>
            <a:off x="6702120" y="3931200"/>
            <a:ext cx="3099960" cy="346320"/>
          </a:xfrm>
          <a:prstGeom prst="rect">
            <a:avLst/>
          </a:prstGeom>
          <a:noFill/>
          <a:ln w="0">
            <a:noFill/>
          </a:ln>
        </p:spPr>
        <p:txBody>
          <a:bodyPr lIns="90000" rIns="90000" tIns="45000" bIns="45000">
            <a:noAutofit/>
          </a:bodyPr>
          <a:p>
            <a:r>
              <a:rPr b="0" lang="en-US" sz="1800" spc="-1" strike="noStrike">
                <a:latin typeface="Arial"/>
              </a:rPr>
              <a:t>I alt tre linjers kode...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
          <p:cNvSpPr/>
          <p:nvPr/>
        </p:nvSpPr>
        <p:spPr>
          <a:xfrm>
            <a:off x="360000" y="270000"/>
            <a:ext cx="9359280" cy="719280"/>
          </a:xfrm>
          <a:prstGeom prst="rect">
            <a:avLst/>
          </a:prstGeom>
          <a:noFill/>
          <a:ln w="0">
            <a:noFill/>
          </a:ln>
        </p:spPr>
        <p:style>
          <a:lnRef idx="0"/>
          <a:fillRef idx="0"/>
          <a:effectRef idx="0"/>
          <a:fontRef idx="minor"/>
        </p:style>
      </p:sp>
      <p:sp>
        <p:nvSpPr>
          <p:cNvPr id="193" name=""/>
          <p:cNvSpPr/>
          <p:nvPr/>
        </p:nvSpPr>
        <p:spPr>
          <a:xfrm>
            <a:off x="360000" y="1350000"/>
            <a:ext cx="9179280" cy="3509280"/>
          </a:xfrm>
          <a:prstGeom prst="rect">
            <a:avLst/>
          </a:prstGeom>
          <a:noFill/>
          <a:ln w="0">
            <a:noFill/>
          </a:ln>
        </p:spPr>
        <p:style>
          <a:lnRef idx="0"/>
          <a:fillRef idx="0"/>
          <a:effectRef idx="0"/>
          <a:fontRef idx="minor"/>
        </p:style>
      </p:sp>
      <p:sp>
        <p:nvSpPr>
          <p:cNvPr id="194"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#Fra netværksmatricer til netværksobjekter til netværksplot</a:t>
            </a:r>
            <a:endParaRPr b="0" lang="en-US" sz="2400" spc="-1" strike="noStrike">
              <a:latin typeface="Arial"/>
            </a:endParaRPr>
          </a:p>
        </p:txBody>
      </p:sp>
      <p:sp>
        <p:nvSpPr>
          <p:cNvPr id="195" name=""/>
          <p:cNvSpPr/>
          <p:nvPr/>
        </p:nvSpPr>
        <p:spPr>
          <a:xfrm>
            <a:off x="1737000" y="1545480"/>
            <a:ext cx="3287160" cy="343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rPr>
              <a:t>graph_from_biadjacency_matrix(  )</a:t>
            </a:r>
            <a:endParaRPr b="0" lang="en-US" sz="1500" spc="-1" strike="noStrike">
              <a:latin typeface="Arial"/>
            </a:endParaRPr>
          </a:p>
        </p:txBody>
      </p:sp>
      <p:sp>
        <p:nvSpPr>
          <p:cNvPr id="196" name=""/>
          <p:cNvSpPr/>
          <p:nvPr/>
        </p:nvSpPr>
        <p:spPr>
          <a:xfrm>
            <a:off x="1773000" y="2985480"/>
            <a:ext cx="2828160" cy="343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400" spc="-1" strike="noStrike">
                <a:solidFill>
                  <a:srgbClr val="808080"/>
                </a:solidFill>
                <a:latin typeface="Times New Roman"/>
              </a:rPr>
              <a:t>graph_from_adjacency_matrix(  )</a:t>
            </a:r>
            <a:endParaRPr b="0" lang="en-US" sz="1400" spc="-1" strike="noStrike">
              <a:latin typeface="Arial"/>
            </a:endParaRPr>
          </a:p>
        </p:txBody>
      </p:sp>
      <p:sp>
        <p:nvSpPr>
          <p:cNvPr id="197" name=""/>
          <p:cNvSpPr/>
          <p:nvPr/>
        </p:nvSpPr>
        <p:spPr>
          <a:xfrm>
            <a:off x="1809000" y="4101480"/>
            <a:ext cx="2784960" cy="343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400" spc="-1" strike="noStrike">
                <a:solidFill>
                  <a:srgbClr val="808080"/>
                </a:solidFill>
                <a:latin typeface="Times New Roman"/>
              </a:rPr>
              <a:t>graph_from_adjacency_matrix(  )</a:t>
            </a:r>
            <a:endParaRPr b="0" lang="en-US" sz="1400" spc="-1" strike="noStrike">
              <a:latin typeface="Arial"/>
            </a:endParaRPr>
          </a:p>
        </p:txBody>
      </p:sp>
      <p:sp>
        <p:nvSpPr>
          <p:cNvPr id="198" name=""/>
          <p:cNvSpPr txBox="1"/>
          <p:nvPr/>
        </p:nvSpPr>
        <p:spPr>
          <a:xfrm>
            <a:off x="0" y="1618920"/>
            <a:ext cx="1697400" cy="459000"/>
          </a:xfrm>
          <a:prstGeom prst="rect">
            <a:avLst/>
          </a:prstGeom>
          <a:noFill/>
          <a:ln w="0">
            <a:noFill/>
          </a:ln>
        </p:spPr>
        <p:txBody>
          <a:bodyPr lIns="90000" rIns="90000" tIns="45000" bIns="45000">
            <a:noAutofit/>
          </a:bodyPr>
          <a:p>
            <a:r>
              <a:rPr b="0" lang="en-US" sz="1300" spc="-1" strike="noStrike">
                <a:latin typeface="Arial"/>
              </a:rPr>
              <a:t>biajdacency:</a:t>
            </a:r>
            <a:endParaRPr b="0" lang="en-US" sz="1300" spc="-1" strike="noStrike">
              <a:latin typeface="Arial"/>
            </a:endParaRPr>
          </a:p>
        </p:txBody>
      </p:sp>
      <p:sp>
        <p:nvSpPr>
          <p:cNvPr id="199" name=""/>
          <p:cNvSpPr txBox="1"/>
          <p:nvPr/>
        </p:nvSpPr>
        <p:spPr>
          <a:xfrm>
            <a:off x="1116720" y="1618920"/>
            <a:ext cx="658080" cy="274680"/>
          </a:xfrm>
          <a:prstGeom prst="rect">
            <a:avLst/>
          </a:prstGeom>
          <a:noFill/>
          <a:ln w="0">
            <a:noFill/>
          </a:ln>
        </p:spPr>
        <p:txBody>
          <a:bodyPr lIns="90000" rIns="90000" tIns="45000" bIns="45000">
            <a:noAutofit/>
          </a:bodyPr>
          <a:p>
            <a:r>
              <a:rPr b="0" lang="en-US" sz="1300" spc="-1" strike="noStrike">
                <a:latin typeface="Arial"/>
              </a:rPr>
              <a:t>adj_</a:t>
            </a:r>
            <a:r>
              <a:rPr b="0" lang="en-US" sz="1300" spc="-1" strike="noStrike">
                <a:solidFill>
                  <a:srgbClr val="ff972f"/>
                </a:solidFill>
                <a:latin typeface="Arial"/>
              </a:rPr>
              <a:t>b</a:t>
            </a:r>
            <a:r>
              <a:rPr b="0" lang="en-US" sz="1300" spc="-1" strike="noStrike">
                <a:solidFill>
                  <a:srgbClr val="729fcf"/>
                </a:solidFill>
                <a:latin typeface="Arial"/>
              </a:rPr>
              <a:t>i</a:t>
            </a:r>
            <a:endParaRPr b="0" lang="en-US" sz="1300" spc="-1" strike="noStrike">
              <a:latin typeface="Arial"/>
            </a:endParaRPr>
          </a:p>
        </p:txBody>
      </p:sp>
      <p:sp>
        <p:nvSpPr>
          <p:cNvPr id="200" name=""/>
          <p:cNvSpPr txBox="1"/>
          <p:nvPr/>
        </p:nvSpPr>
        <p:spPr>
          <a:xfrm>
            <a:off x="360" y="2987280"/>
            <a:ext cx="1697400" cy="459000"/>
          </a:xfrm>
          <a:prstGeom prst="rect">
            <a:avLst/>
          </a:prstGeom>
          <a:noFill/>
          <a:ln w="0">
            <a:noFill/>
          </a:ln>
        </p:spPr>
        <p:txBody>
          <a:bodyPr lIns="90000" rIns="90000" tIns="45000" bIns="45000">
            <a:noAutofit/>
          </a:bodyPr>
          <a:p>
            <a:r>
              <a:rPr b="0" lang="en-US" sz="1300" spc="-1" strike="noStrike">
                <a:latin typeface="Arial"/>
              </a:rPr>
              <a:t>adacency:</a:t>
            </a:r>
            <a:endParaRPr b="0" lang="en-US" sz="1300" spc="-1" strike="noStrike">
              <a:latin typeface="Arial"/>
            </a:endParaRPr>
          </a:p>
        </p:txBody>
      </p:sp>
      <p:sp>
        <p:nvSpPr>
          <p:cNvPr id="201" name=""/>
          <p:cNvSpPr txBox="1"/>
          <p:nvPr/>
        </p:nvSpPr>
        <p:spPr>
          <a:xfrm>
            <a:off x="1116720" y="2994840"/>
            <a:ext cx="718560" cy="296640"/>
          </a:xfrm>
          <a:prstGeom prst="rect">
            <a:avLst/>
          </a:prstGeom>
          <a:noFill/>
          <a:ln w="0">
            <a:noFill/>
          </a:ln>
        </p:spPr>
        <p:txBody>
          <a:bodyPr lIns="90000" rIns="90000" tIns="45000" bIns="45000">
            <a:noAutofit/>
          </a:bodyPr>
          <a:p>
            <a:r>
              <a:rPr b="0" lang="en-US" sz="1300" spc="-1" strike="noStrike">
                <a:latin typeface="Arial"/>
              </a:rPr>
              <a:t>adj_</a:t>
            </a:r>
            <a:r>
              <a:rPr b="0" lang="en-US" sz="1300" spc="-1" strike="noStrike">
                <a:solidFill>
                  <a:srgbClr val="ff972f"/>
                </a:solidFill>
                <a:latin typeface="Arial"/>
              </a:rPr>
              <a:t>ind</a:t>
            </a:r>
            <a:endParaRPr b="0" lang="en-US" sz="1300" spc="-1" strike="noStrike">
              <a:latin typeface="Arial"/>
            </a:endParaRPr>
          </a:p>
        </p:txBody>
      </p:sp>
      <p:sp>
        <p:nvSpPr>
          <p:cNvPr id="202" name=""/>
          <p:cNvSpPr txBox="1"/>
          <p:nvPr/>
        </p:nvSpPr>
        <p:spPr>
          <a:xfrm>
            <a:off x="720" y="4139640"/>
            <a:ext cx="1697400" cy="459000"/>
          </a:xfrm>
          <a:prstGeom prst="rect">
            <a:avLst/>
          </a:prstGeom>
          <a:noFill/>
          <a:ln w="0">
            <a:noFill/>
          </a:ln>
        </p:spPr>
        <p:txBody>
          <a:bodyPr lIns="90000" rIns="90000" tIns="45000" bIns="45000">
            <a:noAutofit/>
          </a:bodyPr>
          <a:p>
            <a:r>
              <a:rPr b="0" lang="en-US" sz="1300" spc="-1" strike="noStrike">
                <a:latin typeface="Arial"/>
              </a:rPr>
              <a:t>adacency:</a:t>
            </a:r>
            <a:endParaRPr b="0" lang="en-US" sz="1300" spc="-1" strike="noStrike">
              <a:latin typeface="Arial"/>
            </a:endParaRPr>
          </a:p>
        </p:txBody>
      </p:sp>
      <p:sp>
        <p:nvSpPr>
          <p:cNvPr id="203" name=""/>
          <p:cNvSpPr txBox="1"/>
          <p:nvPr/>
        </p:nvSpPr>
        <p:spPr>
          <a:xfrm>
            <a:off x="1117080" y="4147200"/>
            <a:ext cx="822240" cy="459000"/>
          </a:xfrm>
          <a:prstGeom prst="rect">
            <a:avLst/>
          </a:prstGeom>
          <a:noFill/>
          <a:ln w="0">
            <a:noFill/>
          </a:ln>
        </p:spPr>
        <p:txBody>
          <a:bodyPr lIns="90000" rIns="90000" tIns="45000" bIns="45000">
            <a:noAutofit/>
          </a:bodyPr>
          <a:p>
            <a:r>
              <a:rPr b="0" lang="en-US" sz="1300" spc="-1" strike="noStrike">
                <a:latin typeface="Arial"/>
              </a:rPr>
              <a:t>adj_</a:t>
            </a:r>
            <a:r>
              <a:rPr b="0" lang="en-US" sz="1300" spc="-1" strike="noStrike">
                <a:solidFill>
                  <a:srgbClr val="729fcf"/>
                </a:solidFill>
                <a:latin typeface="Arial"/>
              </a:rPr>
              <a:t>org</a:t>
            </a:r>
            <a:endParaRPr b="0" lang="en-US" sz="1300" spc="-1" strike="noStrike">
              <a:latin typeface="Arial"/>
            </a:endParaRPr>
          </a:p>
        </p:txBody>
      </p:sp>
      <p:sp>
        <p:nvSpPr>
          <p:cNvPr id="204" name=""/>
          <p:cNvSpPr txBox="1"/>
          <p:nvPr/>
        </p:nvSpPr>
        <p:spPr>
          <a:xfrm>
            <a:off x="360" y="1187280"/>
            <a:ext cx="1697400" cy="459000"/>
          </a:xfrm>
          <a:prstGeom prst="rect">
            <a:avLst/>
          </a:prstGeom>
          <a:noFill/>
          <a:ln w="0">
            <a:noFill/>
          </a:ln>
        </p:spPr>
        <p:txBody>
          <a:bodyPr lIns="90000" rIns="90000" tIns="45000" bIns="45000">
            <a:noAutofit/>
          </a:bodyPr>
          <a:p>
            <a:r>
              <a:rPr b="0" lang="en-US" sz="1300" spc="-1" strike="noStrike" u="sng">
                <a:uFillTx/>
                <a:latin typeface="Arial"/>
              </a:rPr>
              <a:t>Netværksmatricer:</a:t>
            </a:r>
            <a:endParaRPr b="0" lang="en-US" sz="1300" spc="-1" strike="noStrike" u="sng">
              <a:uFillTx/>
              <a:latin typeface="Arial"/>
            </a:endParaRPr>
          </a:p>
        </p:txBody>
      </p:sp>
      <p:sp>
        <p:nvSpPr>
          <p:cNvPr id="205" name=""/>
          <p:cNvSpPr txBox="1"/>
          <p:nvPr/>
        </p:nvSpPr>
        <p:spPr>
          <a:xfrm>
            <a:off x="1944720" y="1187640"/>
            <a:ext cx="1697400" cy="459000"/>
          </a:xfrm>
          <a:prstGeom prst="rect">
            <a:avLst/>
          </a:prstGeom>
          <a:noFill/>
          <a:ln w="0">
            <a:noFill/>
          </a:ln>
        </p:spPr>
        <p:txBody>
          <a:bodyPr lIns="90000" rIns="90000" tIns="45000" bIns="45000">
            <a:noAutofit/>
          </a:bodyPr>
          <a:p>
            <a:r>
              <a:rPr b="1" lang="en-US" sz="1300" spc="-1" strike="noStrike" u="sng">
                <a:uFillTx/>
                <a:latin typeface="Arial"/>
              </a:rPr>
              <a:t>Igraph</a:t>
            </a:r>
            <a:r>
              <a:rPr b="0" lang="en-US" sz="1300" spc="-1" strike="noStrike" u="sng">
                <a:uFillTx/>
                <a:latin typeface="Arial"/>
              </a:rPr>
              <a:t>-funktioner:</a:t>
            </a:r>
            <a:endParaRPr b="0" lang="en-US" sz="1300" spc="-1" strike="noStrike" u="sng">
              <a:uFillTx/>
              <a:latin typeface="Arial"/>
            </a:endParaRPr>
          </a:p>
        </p:txBody>
      </p:sp>
      <p:sp>
        <p:nvSpPr>
          <p:cNvPr id="206" name=""/>
          <p:cNvSpPr txBox="1"/>
          <p:nvPr/>
        </p:nvSpPr>
        <p:spPr>
          <a:xfrm>
            <a:off x="4717080" y="1188000"/>
            <a:ext cx="1173600" cy="459000"/>
          </a:xfrm>
          <a:prstGeom prst="rect">
            <a:avLst/>
          </a:prstGeom>
          <a:noFill/>
          <a:ln w="0">
            <a:noFill/>
          </a:ln>
        </p:spPr>
        <p:txBody>
          <a:bodyPr lIns="90000" rIns="90000" tIns="45000" bIns="45000">
            <a:noAutofit/>
          </a:bodyPr>
          <a:p>
            <a:r>
              <a:rPr b="0" lang="en-US" sz="1300" spc="-1" strike="noStrike" u="sng">
                <a:uFillTx/>
                <a:latin typeface="Arial"/>
              </a:rPr>
              <a:t>graf-objekter:</a:t>
            </a:r>
            <a:endParaRPr b="0" lang="en-US" sz="1300" spc="-1" strike="noStrike" u="sng">
              <a:uFillTx/>
              <a:latin typeface="Arial"/>
            </a:endParaRPr>
          </a:p>
        </p:txBody>
      </p:sp>
      <p:sp>
        <p:nvSpPr>
          <p:cNvPr id="207" name=""/>
          <p:cNvSpPr txBox="1"/>
          <p:nvPr/>
        </p:nvSpPr>
        <p:spPr>
          <a:xfrm>
            <a:off x="4983480" y="1584360"/>
            <a:ext cx="658080" cy="274680"/>
          </a:xfrm>
          <a:prstGeom prst="rect">
            <a:avLst/>
          </a:prstGeom>
          <a:noFill/>
          <a:ln w="0">
            <a:noFill/>
          </a:ln>
        </p:spPr>
        <p:txBody>
          <a:bodyPr lIns="90000" rIns="90000" tIns="45000" bIns="45000">
            <a:noAutofit/>
          </a:bodyPr>
          <a:p>
            <a:pPr>
              <a:lnSpc>
                <a:spcPct val="100000"/>
              </a:lnSpc>
            </a:pPr>
            <a:r>
              <a:rPr b="0" lang="en-US" sz="1300" spc="-1" strike="noStrike">
                <a:latin typeface="Arial"/>
                <a:ea typeface="Noto Sans CJK SC"/>
              </a:rPr>
              <a:t>gr_</a:t>
            </a:r>
            <a:r>
              <a:rPr b="0" lang="en-US" sz="1300" spc="-1" strike="noStrike">
                <a:solidFill>
                  <a:srgbClr val="ff972f"/>
                </a:solidFill>
                <a:latin typeface="Arial"/>
              </a:rPr>
              <a:t>b</a:t>
            </a:r>
            <a:r>
              <a:rPr b="0" lang="en-US" sz="1300" spc="-1" strike="noStrike">
                <a:solidFill>
                  <a:srgbClr val="729fcf"/>
                </a:solidFill>
                <a:latin typeface="Arial"/>
              </a:rPr>
              <a:t>i</a:t>
            </a:r>
            <a:endParaRPr b="0" lang="en-US" sz="1300" spc="-1" strike="noStrike">
              <a:latin typeface="Arial"/>
            </a:endParaRPr>
          </a:p>
        </p:txBody>
      </p:sp>
      <p:sp>
        <p:nvSpPr>
          <p:cNvPr id="208" name=""/>
          <p:cNvSpPr txBox="1"/>
          <p:nvPr/>
        </p:nvSpPr>
        <p:spPr>
          <a:xfrm>
            <a:off x="4983480" y="2960280"/>
            <a:ext cx="718560" cy="296640"/>
          </a:xfrm>
          <a:prstGeom prst="rect">
            <a:avLst/>
          </a:prstGeom>
          <a:noFill/>
          <a:ln w="0">
            <a:noFill/>
          </a:ln>
        </p:spPr>
        <p:txBody>
          <a:bodyPr lIns="90000" rIns="90000" tIns="45000" bIns="45000">
            <a:noAutofit/>
          </a:bodyPr>
          <a:p>
            <a:pPr>
              <a:lnSpc>
                <a:spcPct val="100000"/>
              </a:lnSpc>
            </a:pPr>
            <a:r>
              <a:rPr b="0" lang="en-US" sz="1300" spc="-1" strike="noStrike">
                <a:latin typeface="Arial"/>
                <a:ea typeface="Noto Sans CJK SC"/>
              </a:rPr>
              <a:t>gr_</a:t>
            </a:r>
            <a:r>
              <a:rPr b="0" lang="en-US" sz="1300" spc="-1" strike="noStrike">
                <a:solidFill>
                  <a:srgbClr val="ff972f"/>
                </a:solidFill>
                <a:latin typeface="Arial"/>
              </a:rPr>
              <a:t>ind</a:t>
            </a:r>
            <a:endParaRPr b="0" lang="en-US" sz="1300" spc="-1" strike="noStrike">
              <a:latin typeface="Arial"/>
            </a:endParaRPr>
          </a:p>
        </p:txBody>
      </p:sp>
      <p:sp>
        <p:nvSpPr>
          <p:cNvPr id="209" name=""/>
          <p:cNvSpPr txBox="1"/>
          <p:nvPr/>
        </p:nvSpPr>
        <p:spPr>
          <a:xfrm>
            <a:off x="4983840" y="4112640"/>
            <a:ext cx="822240" cy="459000"/>
          </a:xfrm>
          <a:prstGeom prst="rect">
            <a:avLst/>
          </a:prstGeom>
          <a:noFill/>
          <a:ln w="0">
            <a:noFill/>
          </a:ln>
        </p:spPr>
        <p:txBody>
          <a:bodyPr lIns="90000" rIns="90000" tIns="45000" bIns="45000">
            <a:noAutofit/>
          </a:bodyPr>
          <a:p>
            <a:pPr>
              <a:lnSpc>
                <a:spcPct val="100000"/>
              </a:lnSpc>
            </a:pPr>
            <a:r>
              <a:rPr b="0" lang="en-US" sz="1300" spc="-1" strike="noStrike">
                <a:latin typeface="Arial"/>
                <a:ea typeface="Noto Sans CJK SC"/>
              </a:rPr>
              <a:t>gr_</a:t>
            </a:r>
            <a:r>
              <a:rPr b="0" lang="en-US" sz="1300" spc="-1" strike="noStrike">
                <a:solidFill>
                  <a:srgbClr val="729fcf"/>
                </a:solidFill>
                <a:latin typeface="Arial"/>
              </a:rPr>
              <a:t>org</a:t>
            </a:r>
            <a:endParaRPr b="0" lang="en-US" sz="1300" spc="-1" strike="noStrike">
              <a:latin typeface="Arial"/>
            </a:endParaRPr>
          </a:p>
        </p:txBody>
      </p:sp>
      <p:pic>
        <p:nvPicPr>
          <p:cNvPr id="210" name="Shape1" descr=""/>
          <p:cNvPicPr/>
          <p:nvPr/>
        </p:nvPicPr>
        <p:blipFill>
          <a:blip r:embed="rId1"/>
          <a:srcRect l="0" t="3384" r="0" b="4284"/>
          <a:stretch/>
        </p:blipFill>
        <p:spPr>
          <a:xfrm>
            <a:off x="7361280" y="1122120"/>
            <a:ext cx="2805840" cy="3885840"/>
          </a:xfrm>
          <a:prstGeom prst="rect">
            <a:avLst/>
          </a:prstGeom>
          <a:ln w="0">
            <a:noFill/>
          </a:ln>
        </p:spPr>
      </p:pic>
      <p:sp>
        <p:nvSpPr>
          <p:cNvPr id="211" name=""/>
          <p:cNvSpPr/>
          <p:nvPr/>
        </p:nvSpPr>
        <p:spPr>
          <a:xfrm>
            <a:off x="1497960" y="1861560"/>
            <a:ext cx="3125880" cy="110160"/>
          </a:xfrm>
          <a:custGeom>
            <a:avLst/>
            <a:gdLst/>
            <a:ahLst/>
            <a:rect l="0" t="0" r="r" b="b"/>
            <a:pathLst>
              <a:path w="8684" h="675">
                <a:moveTo>
                  <a:pt x="0" y="0"/>
                </a:moveTo>
                <a:cubicBezTo>
                  <a:pt x="4623" y="674"/>
                  <a:pt x="8683" y="25"/>
                  <a:pt x="8683" y="25"/>
                </a:cubicBezTo>
                <a:lnTo>
                  <a:pt x="8683" y="0"/>
                </a:lnTo>
              </a:path>
            </a:pathLst>
          </a:custGeom>
          <a:ln w="0">
            <a:solidFill>
              <a:srgbClr val="729fcf"/>
            </a:solidFill>
            <a:tailEnd len="med" type="triangle" w="med"/>
          </a:ln>
        </p:spPr>
      </p:sp>
      <p:sp>
        <p:nvSpPr>
          <p:cNvPr id="212" name=""/>
          <p:cNvSpPr/>
          <p:nvPr/>
        </p:nvSpPr>
        <p:spPr>
          <a:xfrm>
            <a:off x="4641480" y="1861560"/>
            <a:ext cx="779040" cy="121320"/>
          </a:xfrm>
          <a:custGeom>
            <a:avLst/>
            <a:gdLst/>
            <a:ahLst/>
            <a:rect l="0" t="0" r="r" b="b"/>
            <a:pathLst>
              <a:path w="2165" h="725">
                <a:moveTo>
                  <a:pt x="0" y="50"/>
                </a:moveTo>
                <a:cubicBezTo>
                  <a:pt x="1617" y="724"/>
                  <a:pt x="2164" y="0"/>
                  <a:pt x="2164" y="0"/>
                </a:cubicBezTo>
              </a:path>
            </a:pathLst>
          </a:custGeom>
          <a:ln w="0">
            <a:solidFill>
              <a:srgbClr val="729fcf"/>
            </a:solidFill>
            <a:tailEnd len="med" type="triangle" w="med"/>
          </a:ln>
        </p:spPr>
      </p:sp>
      <p:sp>
        <p:nvSpPr>
          <p:cNvPr id="213" name=""/>
          <p:cNvSpPr txBox="1"/>
          <p:nvPr/>
        </p:nvSpPr>
        <p:spPr>
          <a:xfrm>
            <a:off x="5846400" y="1179360"/>
            <a:ext cx="1747440" cy="459000"/>
          </a:xfrm>
          <a:prstGeom prst="rect">
            <a:avLst/>
          </a:prstGeom>
          <a:noFill/>
          <a:ln w="0">
            <a:noFill/>
          </a:ln>
        </p:spPr>
        <p:txBody>
          <a:bodyPr lIns="90000" rIns="90000" tIns="45000" bIns="45000">
            <a:noAutofit/>
          </a:bodyPr>
          <a:p>
            <a:r>
              <a:rPr b="1" lang="en-US" sz="1300" spc="-1" strike="noStrike" u="sng">
                <a:uFillTx/>
                <a:latin typeface="Arial"/>
              </a:rPr>
              <a:t>ggraph</a:t>
            </a:r>
            <a:r>
              <a:rPr b="0" lang="en-US" sz="1300" spc="-1" strike="noStrike" u="sng">
                <a:uFillTx/>
                <a:latin typeface="Arial"/>
              </a:rPr>
              <a:t>-funktioner:</a:t>
            </a:r>
            <a:endParaRPr b="0" lang="en-US" sz="1300" spc="-1" strike="noStrike">
              <a:latin typeface="Arial"/>
            </a:endParaRPr>
          </a:p>
        </p:txBody>
      </p:sp>
      <p:sp>
        <p:nvSpPr>
          <p:cNvPr id="214" name=""/>
          <p:cNvSpPr/>
          <p:nvPr/>
        </p:nvSpPr>
        <p:spPr>
          <a:xfrm>
            <a:off x="5850000" y="1545480"/>
            <a:ext cx="1518840" cy="343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rPr>
              <a:t>ggraph(  ) + ...</a:t>
            </a:r>
            <a:endParaRPr b="0" lang="en-US" sz="1500" spc="-1" strike="noStrike">
              <a:latin typeface="Arial"/>
            </a:endParaRPr>
          </a:p>
        </p:txBody>
      </p:sp>
      <p:sp>
        <p:nvSpPr>
          <p:cNvPr id="215" name=""/>
          <p:cNvSpPr/>
          <p:nvPr/>
        </p:nvSpPr>
        <p:spPr>
          <a:xfrm>
            <a:off x="5495400" y="1867320"/>
            <a:ext cx="1103040" cy="60480"/>
          </a:xfrm>
          <a:custGeom>
            <a:avLst/>
            <a:gdLst/>
            <a:ahLst/>
            <a:rect l="0" t="0" r="r" b="b"/>
            <a:pathLst>
              <a:path w="3065" h="362">
                <a:moveTo>
                  <a:pt x="0" y="25"/>
                </a:moveTo>
                <a:cubicBezTo>
                  <a:pt x="2289" y="361"/>
                  <a:pt x="3064" y="0"/>
                  <a:pt x="3064" y="0"/>
                </a:cubicBezTo>
              </a:path>
            </a:pathLst>
          </a:custGeom>
          <a:ln w="0">
            <a:solidFill>
              <a:srgbClr val="729fcf"/>
            </a:solidFill>
            <a:tailEnd len="med" type="triangle" w="med"/>
          </a:ln>
        </p:spPr>
      </p:sp>
      <p:sp>
        <p:nvSpPr>
          <p:cNvPr id="216" name=""/>
          <p:cNvSpPr/>
          <p:nvPr/>
        </p:nvSpPr>
        <p:spPr>
          <a:xfrm>
            <a:off x="1497960" y="3273480"/>
            <a:ext cx="2823120" cy="110160"/>
          </a:xfrm>
          <a:custGeom>
            <a:avLst/>
            <a:gdLst/>
            <a:ahLst/>
            <a:rect l="0" t="0" r="r" b="b"/>
            <a:pathLst>
              <a:path w="7843" h="675">
                <a:moveTo>
                  <a:pt x="0" y="0"/>
                </a:moveTo>
                <a:cubicBezTo>
                  <a:pt x="4175" y="674"/>
                  <a:pt x="7842" y="25"/>
                  <a:pt x="7842" y="25"/>
                </a:cubicBezTo>
                <a:lnTo>
                  <a:pt x="7842" y="0"/>
                </a:lnTo>
              </a:path>
            </a:pathLst>
          </a:custGeom>
          <a:ln w="0">
            <a:solidFill>
              <a:srgbClr val="ff972f"/>
            </a:solidFill>
            <a:tailEnd len="med" type="triangle" w="med"/>
          </a:ln>
        </p:spPr>
      </p:sp>
      <p:sp>
        <p:nvSpPr>
          <p:cNvPr id="217" name=""/>
          <p:cNvSpPr/>
          <p:nvPr/>
        </p:nvSpPr>
        <p:spPr>
          <a:xfrm>
            <a:off x="4372920" y="3273480"/>
            <a:ext cx="1047600" cy="121320"/>
          </a:xfrm>
          <a:custGeom>
            <a:avLst/>
            <a:gdLst/>
            <a:ahLst/>
            <a:rect l="0" t="0" r="r" b="b"/>
            <a:pathLst>
              <a:path w="2911" h="725">
                <a:moveTo>
                  <a:pt x="0" y="50"/>
                </a:moveTo>
                <a:cubicBezTo>
                  <a:pt x="2174" y="724"/>
                  <a:pt x="2910" y="0"/>
                  <a:pt x="2910" y="0"/>
                </a:cubicBezTo>
              </a:path>
            </a:pathLst>
          </a:custGeom>
          <a:ln w="0">
            <a:solidFill>
              <a:srgbClr val="ff972f"/>
            </a:solidFill>
            <a:tailEnd len="med" type="triangle" w="med"/>
          </a:ln>
        </p:spPr>
      </p:sp>
      <p:sp>
        <p:nvSpPr>
          <p:cNvPr id="218" name=""/>
          <p:cNvSpPr/>
          <p:nvPr/>
        </p:nvSpPr>
        <p:spPr>
          <a:xfrm>
            <a:off x="5495400" y="3279240"/>
            <a:ext cx="1103040" cy="60480"/>
          </a:xfrm>
          <a:custGeom>
            <a:avLst/>
            <a:gdLst/>
            <a:ahLst/>
            <a:rect l="0" t="0" r="r" b="b"/>
            <a:pathLst>
              <a:path w="3065" h="362">
                <a:moveTo>
                  <a:pt x="0" y="25"/>
                </a:moveTo>
                <a:cubicBezTo>
                  <a:pt x="2289" y="361"/>
                  <a:pt x="3064" y="0"/>
                  <a:pt x="3064" y="0"/>
                </a:cubicBezTo>
              </a:path>
            </a:pathLst>
          </a:custGeom>
          <a:ln w="0">
            <a:solidFill>
              <a:srgbClr val="ff972f"/>
            </a:solidFill>
            <a:tailEnd len="med" type="triangle" w="med"/>
          </a:ln>
        </p:spPr>
      </p:sp>
      <p:sp>
        <p:nvSpPr>
          <p:cNvPr id="219" name=""/>
          <p:cNvSpPr/>
          <p:nvPr/>
        </p:nvSpPr>
        <p:spPr>
          <a:xfrm>
            <a:off x="1461960" y="4433400"/>
            <a:ext cx="2945520" cy="110160"/>
          </a:xfrm>
          <a:custGeom>
            <a:avLst/>
            <a:gdLst/>
            <a:ahLst/>
            <a:rect l="0" t="0" r="r" b="b"/>
            <a:pathLst>
              <a:path w="8183" h="675">
                <a:moveTo>
                  <a:pt x="0" y="0"/>
                </a:moveTo>
                <a:cubicBezTo>
                  <a:pt x="4356" y="674"/>
                  <a:pt x="8182" y="25"/>
                  <a:pt x="8182" y="25"/>
                </a:cubicBezTo>
                <a:lnTo>
                  <a:pt x="8182" y="0"/>
                </a:lnTo>
              </a:path>
            </a:pathLst>
          </a:custGeom>
          <a:ln w="0">
            <a:solidFill>
              <a:srgbClr val="729fcf"/>
            </a:solidFill>
            <a:tailEnd len="med" type="triangle" w="med"/>
          </a:ln>
        </p:spPr>
      </p:sp>
      <p:sp>
        <p:nvSpPr>
          <p:cNvPr id="220" name=""/>
          <p:cNvSpPr/>
          <p:nvPr/>
        </p:nvSpPr>
        <p:spPr>
          <a:xfrm>
            <a:off x="4407480" y="4433400"/>
            <a:ext cx="977040" cy="121320"/>
          </a:xfrm>
          <a:custGeom>
            <a:avLst/>
            <a:gdLst/>
            <a:ahLst/>
            <a:rect l="0" t="0" r="r" b="b"/>
            <a:pathLst>
              <a:path w="2715" h="725">
                <a:moveTo>
                  <a:pt x="0" y="50"/>
                </a:moveTo>
                <a:cubicBezTo>
                  <a:pt x="2028" y="724"/>
                  <a:pt x="2714" y="0"/>
                  <a:pt x="2714" y="0"/>
                </a:cubicBezTo>
              </a:path>
            </a:pathLst>
          </a:custGeom>
          <a:ln w="0">
            <a:solidFill>
              <a:srgbClr val="729fcf"/>
            </a:solidFill>
            <a:tailEnd len="med" type="triangle" w="med"/>
          </a:ln>
        </p:spPr>
      </p:sp>
      <p:sp>
        <p:nvSpPr>
          <p:cNvPr id="221" name=""/>
          <p:cNvSpPr/>
          <p:nvPr/>
        </p:nvSpPr>
        <p:spPr>
          <a:xfrm>
            <a:off x="5459400" y="4439160"/>
            <a:ext cx="1103040" cy="60480"/>
          </a:xfrm>
          <a:custGeom>
            <a:avLst/>
            <a:gdLst/>
            <a:ahLst/>
            <a:rect l="0" t="0" r="r" b="b"/>
            <a:pathLst>
              <a:path w="3065" h="362">
                <a:moveTo>
                  <a:pt x="0" y="25"/>
                </a:moveTo>
                <a:cubicBezTo>
                  <a:pt x="2289" y="361"/>
                  <a:pt x="3064" y="0"/>
                  <a:pt x="3064" y="0"/>
                </a:cubicBezTo>
              </a:path>
            </a:pathLst>
          </a:custGeom>
          <a:ln w="0">
            <a:solidFill>
              <a:srgbClr val="729fcf"/>
            </a:solidFill>
            <a:tailEnd len="med" type="triangle" w="med"/>
          </a:ln>
        </p:spPr>
      </p:sp>
      <p:sp>
        <p:nvSpPr>
          <p:cNvPr id="222" name=""/>
          <p:cNvSpPr/>
          <p:nvPr/>
        </p:nvSpPr>
        <p:spPr>
          <a:xfrm flipV="1">
            <a:off x="6658920" y="1775160"/>
            <a:ext cx="1272960" cy="95400"/>
          </a:xfrm>
          <a:prstGeom prst="line">
            <a:avLst/>
          </a:prstGeom>
          <a:ln w="0">
            <a:solidFill>
              <a:srgbClr val="729fcf"/>
            </a:solidFill>
            <a:tailEnd len="med" type="triangle" w="med"/>
          </a:ln>
        </p:spPr>
        <p:style>
          <a:lnRef idx="0"/>
          <a:fillRef idx="0"/>
          <a:effectRef idx="0"/>
          <a:fontRef idx="minor"/>
        </p:style>
      </p:sp>
      <p:sp>
        <p:nvSpPr>
          <p:cNvPr id="223" name=""/>
          <p:cNvSpPr/>
          <p:nvPr/>
        </p:nvSpPr>
        <p:spPr>
          <a:xfrm>
            <a:off x="6676200" y="3290400"/>
            <a:ext cx="736200" cy="268560"/>
          </a:xfrm>
          <a:custGeom>
            <a:avLst/>
            <a:gdLst/>
            <a:ahLst/>
            <a:rect l="0" t="0" r="r" b="b"/>
            <a:pathLst>
              <a:path w="2094" h="771">
                <a:moveTo>
                  <a:pt x="0" y="0"/>
                </a:moveTo>
                <a:cubicBezTo>
                  <a:pt x="2093" y="770"/>
                  <a:pt x="2020" y="722"/>
                  <a:pt x="2045" y="746"/>
                </a:cubicBezTo>
                <a:lnTo>
                  <a:pt x="1996" y="722"/>
                </a:lnTo>
              </a:path>
            </a:pathLst>
          </a:custGeom>
          <a:ln w="0">
            <a:solidFill>
              <a:srgbClr val="ff972f"/>
            </a:solidFill>
            <a:tailEnd len="med" type="triangle" w="med"/>
          </a:ln>
        </p:spPr>
      </p:sp>
      <p:sp>
        <p:nvSpPr>
          <p:cNvPr id="224" name=""/>
          <p:cNvSpPr/>
          <p:nvPr/>
        </p:nvSpPr>
        <p:spPr>
          <a:xfrm>
            <a:off x="6667560" y="4485600"/>
            <a:ext cx="2485080" cy="357480"/>
          </a:xfrm>
          <a:custGeom>
            <a:avLst/>
            <a:gdLst/>
            <a:ahLst/>
            <a:rect l="0" t="0" r="r" b="b"/>
            <a:pathLst>
              <a:path w="6904" h="1756">
                <a:moveTo>
                  <a:pt x="0" y="0"/>
                </a:moveTo>
                <a:cubicBezTo>
                  <a:pt x="4738" y="1755"/>
                  <a:pt x="6879" y="649"/>
                  <a:pt x="6855" y="649"/>
                </a:cubicBezTo>
                <a:cubicBezTo>
                  <a:pt x="6831" y="649"/>
                  <a:pt x="6903" y="649"/>
                  <a:pt x="6855" y="649"/>
                </a:cubicBezTo>
                <a:lnTo>
                  <a:pt x="6903" y="649"/>
                </a:lnTo>
              </a:path>
            </a:pathLst>
          </a:custGeom>
          <a:ln w="0">
            <a:solidFill>
              <a:srgbClr val="729fcf"/>
            </a:solidFill>
            <a:tailEnd len="med" type="triangle" w="med"/>
          </a:ln>
        </p:spPr>
      </p:sp>
      <p:sp>
        <p:nvSpPr>
          <p:cNvPr id="225" name=""/>
          <p:cNvSpPr/>
          <p:nvPr/>
        </p:nvSpPr>
        <p:spPr>
          <a:xfrm>
            <a:off x="5850000" y="2949480"/>
            <a:ext cx="1518840" cy="343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rPr>
              <a:t>ggraph(  ) + ...</a:t>
            </a:r>
            <a:endParaRPr b="0" lang="en-US" sz="1500" spc="-1" strike="noStrike">
              <a:latin typeface="Arial"/>
            </a:endParaRPr>
          </a:p>
        </p:txBody>
      </p:sp>
      <p:sp>
        <p:nvSpPr>
          <p:cNvPr id="226" name=""/>
          <p:cNvSpPr/>
          <p:nvPr/>
        </p:nvSpPr>
        <p:spPr>
          <a:xfrm>
            <a:off x="5842080" y="4129560"/>
            <a:ext cx="1518840" cy="343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rPr>
              <a:t>ggraph(  ) + ...</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
          <p:cNvSpPr/>
          <p:nvPr/>
        </p:nvSpPr>
        <p:spPr>
          <a:xfrm>
            <a:off x="360000" y="270000"/>
            <a:ext cx="9359280" cy="71928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#Netværks komponenter….</a:t>
            </a:r>
            <a:endParaRPr b="0" lang="en-US" sz="2400" spc="-1" strike="noStrike">
              <a:latin typeface="Arial"/>
            </a:endParaRPr>
          </a:p>
        </p:txBody>
      </p:sp>
      <p:sp>
        <p:nvSpPr>
          <p:cNvPr id="228" name=""/>
          <p:cNvSpPr/>
          <p:nvPr/>
        </p:nvSpPr>
        <p:spPr>
          <a:xfrm>
            <a:off x="360000" y="1350000"/>
            <a:ext cx="9179280" cy="3509280"/>
          </a:xfrm>
          <a:prstGeom prst="rect">
            <a:avLst/>
          </a:prstGeom>
          <a:noFill/>
          <a:ln w="0">
            <a:noFill/>
          </a:ln>
        </p:spPr>
        <p:style>
          <a:lnRef idx="0"/>
          <a:fillRef idx="0"/>
          <a:effectRef idx="0"/>
          <a:fontRef idx="minor"/>
        </p:style>
      </p:sp>
      <p:pic>
        <p:nvPicPr>
          <p:cNvPr id="229" name="" descr=""/>
          <p:cNvPicPr/>
          <p:nvPr/>
        </p:nvPicPr>
        <p:blipFill>
          <a:blip r:embed="rId1"/>
          <a:stretch/>
        </p:blipFill>
        <p:spPr>
          <a:xfrm>
            <a:off x="228600" y="1350000"/>
            <a:ext cx="4316400" cy="3386880"/>
          </a:xfrm>
          <a:prstGeom prst="rect">
            <a:avLst/>
          </a:prstGeom>
          <a:ln w="18000">
            <a:noFill/>
          </a:ln>
        </p:spPr>
      </p:pic>
      <p:pic>
        <p:nvPicPr>
          <p:cNvPr id="230" name="" descr=""/>
          <p:cNvPicPr/>
          <p:nvPr/>
        </p:nvPicPr>
        <p:blipFill>
          <a:blip r:embed="rId2"/>
          <a:srcRect l="0" t="0" r="19815" b="0"/>
          <a:stretch/>
        </p:blipFill>
        <p:spPr>
          <a:xfrm>
            <a:off x="4503960" y="1143000"/>
            <a:ext cx="3953520" cy="3725640"/>
          </a:xfrm>
          <a:prstGeom prst="rect">
            <a:avLst/>
          </a:prstGeom>
          <a:ln w="18000">
            <a:noFill/>
          </a:ln>
        </p:spPr>
      </p:pic>
      <p:sp>
        <p:nvSpPr>
          <p:cNvPr id="231" name=""/>
          <p:cNvSpPr/>
          <p:nvPr/>
        </p:nvSpPr>
        <p:spPr>
          <a:xfrm flipV="1">
            <a:off x="1828800" y="2514600"/>
            <a:ext cx="2971800" cy="457200"/>
          </a:xfrm>
          <a:prstGeom prst="line">
            <a:avLst/>
          </a:prstGeom>
          <a:ln w="18000">
            <a:solidFill>
              <a:srgbClr val="000000"/>
            </a:solidFill>
            <a:round/>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720</TotalTime>
  <Application>LibreOffice/7.1.8.1$Linux_X86_64 LibreOffice_project/e1f30c802c3269a1d052614453f260e49458c82c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2024-02-21T11:25:52Z</dcterms:created>
  <dc:creator/>
  <dc:description/>
  <dc:language>en-US</dc:language>
  <cp:lastModifiedBy/>
  <dcterms:modified xsi:type="dcterms:W3CDTF">2026-02-18T12:08:48Z</dcterms:modified>
  <cp:revision>11</cp:revision>
  <dc:subject/>
  <dc:title>Alizarin</dc:title>
</cp:coreProperties>
</file>

<file path=docProps/custom.xml><?xml version="1.0" encoding="utf-8"?>
<Properties xmlns="http://schemas.openxmlformats.org/officeDocument/2006/custom-properties" xmlns:vt="http://schemas.openxmlformats.org/officeDocument/2006/docPropsVTypes"/>
</file>